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Lst>
  <p:notesMasterIdLst>
    <p:notesMasterId r:id="rId36"/>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notesMaster" Target="notesMasters/notesMaster1.xml"/><Relationship Id="rId37" Type="http://schemas.openxmlformats.org/officeDocument/2006/relationships/presProps" Target="presProps.xml"/><Relationship Id="rId38" Type="http://schemas.openxmlformats.org/officeDocument/2006/relationships/viewProps" Target="viewProps.xml"/><Relationship Id="rId39" Type="http://schemas.openxmlformats.org/officeDocument/2006/relationships/theme" Target="theme/theme1.xml"/><Relationship Id="rId4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everyone. This is the defense for Fresco — an intelligent shelf-life estimation system we developed as our final-year project. We'll walk through the problem, methodology, technical design, results, and live system demonstration.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Emphasise the Lagos/Nigerian angle: most fresh fruit here is sold in open markets with zero labelling. This is not a first-world convenience app — it addresses a genuine information gap with real economic consequences.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worked example traces through a real banana scan from beginning to end. Every examiner should be able to follow this calculation.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2B4A"/>
        </a:solidFill>
      </p:bgPr>
    </p:bg>
    <p:spTree>
      <p:nvGrpSpPr>
        <p:cNvPr id="1" name=""/>
        <p:cNvGrpSpPr/>
        <p:nvPr/>
      </p:nvGrpSpPr>
      <p:grpSpPr>
        <a:xfrm>
          <a:off x="0" y="0"/>
          <a:ext cx="0" cy="0"/>
          <a:chOff x="0" y="0"/>
          <a:chExt cx="0" cy="0"/>
        </a:xfrm>
      </p:grpSpPr>
      <p:sp>
        <p:nvSpPr>
          <p:cNvPr id="2" name="Shape 0"/>
          <p:cNvSpPr/>
          <p:nvPr/>
        </p:nvSpPr>
        <p:spPr>
          <a:xfrm rot="2700000">
            <a:off x="-137160" y="0"/>
            <a:ext cx="1828800" cy="1828800"/>
          </a:xfrm>
          <a:prstGeom prst="rect">
            <a:avLst/>
          </a:prstGeom>
          <a:ln w="12700">
            <a:solidFill>
              <a:srgbClr val="1A2B4A">
                <a:alpha val="88000"/>
              </a:srgbClr>
            </a:solidFill>
            <a:prstDash val="solid"/>
          </a:ln>
        </p:spPr>
      </p:sp>
      <p:sp>
        <p:nvSpPr>
          <p:cNvPr id="3" name="Shape 1"/>
          <p:cNvSpPr/>
          <p:nvPr/>
        </p:nvSpPr>
        <p:spPr>
          <a:xfrm rot="2700000">
            <a:off x="91440" y="228600"/>
            <a:ext cx="1371600" cy="1371600"/>
          </a:xfrm>
          <a:prstGeom prst="rect">
            <a:avLst/>
          </a:prstGeom>
          <a:ln w="12700">
            <a:solidFill>
              <a:srgbClr val="1A2B4A">
                <a:alpha val="76000"/>
              </a:srgbClr>
            </a:solidFill>
            <a:prstDash val="solid"/>
          </a:ln>
        </p:spPr>
      </p:sp>
      <p:sp>
        <p:nvSpPr>
          <p:cNvPr id="4" name="Shape 2"/>
          <p:cNvSpPr/>
          <p:nvPr/>
        </p:nvSpPr>
        <p:spPr>
          <a:xfrm rot="2700000">
            <a:off x="320040" y="457200"/>
            <a:ext cx="914400" cy="914400"/>
          </a:xfrm>
          <a:prstGeom prst="rect">
            <a:avLst/>
          </a:prstGeom>
          <a:ln w="12700">
            <a:solidFill>
              <a:srgbClr val="1A2B4A">
                <a:alpha val="64000"/>
              </a:srgbClr>
            </a:solidFill>
            <a:prstDash val="solid"/>
          </a:ln>
        </p:spPr>
      </p:sp>
      <p:sp>
        <p:nvSpPr>
          <p:cNvPr id="5" name="Shape 3"/>
          <p:cNvSpPr/>
          <p:nvPr/>
        </p:nvSpPr>
        <p:spPr>
          <a:xfrm rot="2700000">
            <a:off x="548640" y="685800"/>
            <a:ext cx="457200" cy="457200"/>
          </a:xfrm>
          <a:prstGeom prst="rect">
            <a:avLst/>
          </a:prstGeom>
          <a:ln w="12700">
            <a:solidFill>
              <a:srgbClr val="1A2B4A">
                <a:alpha val="52000"/>
              </a:srgbClr>
            </a:solidFill>
            <a:prstDash val="solid"/>
          </a:ln>
        </p:spPr>
      </p:sp>
      <p:sp>
        <p:nvSpPr>
          <p:cNvPr id="6" name="Shape 4"/>
          <p:cNvSpPr/>
          <p:nvPr/>
        </p:nvSpPr>
        <p:spPr>
          <a:xfrm rot="-900000">
            <a:off x="7498080" y="182880"/>
            <a:ext cx="777240" cy="201168"/>
          </a:xfrm>
          <a:prstGeom prst="rect">
            <a:avLst/>
          </a:prstGeom>
          <a:solidFill>
            <a:srgbClr val="1A2B4A">
              <a:alpha val="40000"/>
            </a:srgbClr>
          </a:solidFill>
          <a:ln/>
        </p:spPr>
      </p:sp>
      <p:sp>
        <p:nvSpPr>
          <p:cNvPr id="7" name="Shape 5"/>
          <p:cNvSpPr/>
          <p:nvPr/>
        </p:nvSpPr>
        <p:spPr>
          <a:xfrm rot="-900000">
            <a:off x="7699248" y="274320"/>
            <a:ext cx="777240" cy="201168"/>
          </a:xfrm>
          <a:prstGeom prst="rect">
            <a:avLst/>
          </a:prstGeom>
          <a:solidFill>
            <a:srgbClr val="3B5FA0">
              <a:alpha val="30000"/>
            </a:srgbClr>
          </a:solidFill>
          <a:ln/>
        </p:spPr>
      </p:sp>
      <p:sp>
        <p:nvSpPr>
          <p:cNvPr id="8" name="Shape 6"/>
          <p:cNvSpPr/>
          <p:nvPr/>
        </p:nvSpPr>
        <p:spPr>
          <a:xfrm rot="-900000">
            <a:off x="7900416" y="365760"/>
            <a:ext cx="777240" cy="201168"/>
          </a:xfrm>
          <a:prstGeom prst="rect">
            <a:avLst/>
          </a:prstGeom>
          <a:solidFill>
            <a:srgbClr val="3A8C7E">
              <a:alpha val="25000"/>
            </a:srgbClr>
          </a:solidFill>
          <a:ln/>
        </p:spPr>
      </p:sp>
      <p:sp>
        <p:nvSpPr>
          <p:cNvPr id="9" name="Shape 7"/>
          <p:cNvSpPr/>
          <p:nvPr/>
        </p:nvSpPr>
        <p:spPr>
          <a:xfrm>
            <a:off x="-640080" y="3566160"/>
            <a:ext cx="2194560" cy="2194560"/>
          </a:xfrm>
          <a:prstGeom prst="ellipse">
            <a:avLst/>
          </a:prstGeom>
          <a:ln w="19050">
            <a:solidFill>
              <a:srgbClr val="1A2B4A">
                <a:alpha val="18000"/>
              </a:srgbClr>
            </a:solidFill>
            <a:prstDash val="solid"/>
          </a:ln>
        </p:spPr>
      </p:sp>
      <p:sp>
        <p:nvSpPr>
          <p:cNvPr id="10" name="Shape 8"/>
          <p:cNvSpPr/>
          <p:nvPr/>
        </p:nvSpPr>
        <p:spPr>
          <a:xfrm>
            <a:off x="-277978" y="3928262"/>
            <a:ext cx="1470355" cy="1470355"/>
          </a:xfrm>
          <a:prstGeom prst="ellipse">
            <a:avLst/>
          </a:prstGeom>
          <a:ln w="19050">
            <a:solidFill>
              <a:srgbClr val="3B5FA0">
                <a:alpha val="25000"/>
              </a:srgbClr>
            </a:solidFill>
            <a:prstDash val="solid"/>
          </a:ln>
        </p:spPr>
      </p:sp>
      <p:sp>
        <p:nvSpPr>
          <p:cNvPr id="11" name="Shape 9"/>
          <p:cNvSpPr/>
          <p:nvPr/>
        </p:nvSpPr>
        <p:spPr>
          <a:xfrm>
            <a:off x="40234" y="4246474"/>
            <a:ext cx="833933" cy="833933"/>
          </a:xfrm>
          <a:prstGeom prst="ellipse">
            <a:avLst/>
          </a:prstGeom>
          <a:ln w="19050">
            <a:solidFill>
              <a:srgbClr val="3A8C7E">
                <a:alpha val="32000"/>
              </a:srgbClr>
            </a:solidFill>
            <a:prstDash val="solid"/>
          </a:ln>
        </p:spPr>
      </p:sp>
      <p:sp>
        <p:nvSpPr>
          <p:cNvPr id="12" name="Shape 10"/>
          <p:cNvSpPr/>
          <p:nvPr/>
        </p:nvSpPr>
        <p:spPr>
          <a:xfrm>
            <a:off x="8092440" y="4114800"/>
            <a:ext cx="64008" cy="64008"/>
          </a:xfrm>
          <a:prstGeom prst="ellipse">
            <a:avLst/>
          </a:prstGeom>
          <a:solidFill>
            <a:srgbClr val="1A2B4A">
              <a:alpha val="25000"/>
            </a:srgbClr>
          </a:solidFill>
          <a:ln/>
        </p:spPr>
      </p:sp>
      <p:sp>
        <p:nvSpPr>
          <p:cNvPr id="13" name="Shape 11"/>
          <p:cNvSpPr/>
          <p:nvPr/>
        </p:nvSpPr>
        <p:spPr>
          <a:xfrm>
            <a:off x="8293608" y="4114800"/>
            <a:ext cx="64008" cy="64008"/>
          </a:xfrm>
          <a:prstGeom prst="ellipse">
            <a:avLst/>
          </a:prstGeom>
          <a:solidFill>
            <a:srgbClr val="1A2B4A">
              <a:alpha val="25000"/>
            </a:srgbClr>
          </a:solidFill>
          <a:ln/>
        </p:spPr>
      </p:sp>
      <p:sp>
        <p:nvSpPr>
          <p:cNvPr id="14" name="Shape 12"/>
          <p:cNvSpPr/>
          <p:nvPr/>
        </p:nvSpPr>
        <p:spPr>
          <a:xfrm>
            <a:off x="8494776" y="4114800"/>
            <a:ext cx="64008" cy="64008"/>
          </a:xfrm>
          <a:prstGeom prst="ellipse">
            <a:avLst/>
          </a:prstGeom>
          <a:solidFill>
            <a:srgbClr val="1A2B4A">
              <a:alpha val="25000"/>
            </a:srgbClr>
          </a:solidFill>
          <a:ln/>
        </p:spPr>
      </p:sp>
      <p:sp>
        <p:nvSpPr>
          <p:cNvPr id="15" name="Shape 13"/>
          <p:cNvSpPr/>
          <p:nvPr/>
        </p:nvSpPr>
        <p:spPr>
          <a:xfrm>
            <a:off x="8695944" y="4114800"/>
            <a:ext cx="64008" cy="64008"/>
          </a:xfrm>
          <a:prstGeom prst="ellipse">
            <a:avLst/>
          </a:prstGeom>
          <a:solidFill>
            <a:srgbClr val="1A2B4A">
              <a:alpha val="25000"/>
            </a:srgbClr>
          </a:solidFill>
          <a:ln/>
        </p:spPr>
      </p:sp>
      <p:sp>
        <p:nvSpPr>
          <p:cNvPr id="16" name="Shape 14"/>
          <p:cNvSpPr/>
          <p:nvPr/>
        </p:nvSpPr>
        <p:spPr>
          <a:xfrm>
            <a:off x="8897112" y="4114800"/>
            <a:ext cx="64008" cy="64008"/>
          </a:xfrm>
          <a:prstGeom prst="ellipse">
            <a:avLst/>
          </a:prstGeom>
          <a:solidFill>
            <a:srgbClr val="1A2B4A">
              <a:alpha val="25000"/>
            </a:srgbClr>
          </a:solidFill>
          <a:ln/>
        </p:spPr>
      </p:sp>
      <p:sp>
        <p:nvSpPr>
          <p:cNvPr id="17" name="Shape 15"/>
          <p:cNvSpPr/>
          <p:nvPr/>
        </p:nvSpPr>
        <p:spPr>
          <a:xfrm>
            <a:off x="8092440" y="4315968"/>
            <a:ext cx="64008" cy="64008"/>
          </a:xfrm>
          <a:prstGeom prst="ellipse">
            <a:avLst/>
          </a:prstGeom>
          <a:solidFill>
            <a:srgbClr val="1A2B4A">
              <a:alpha val="25000"/>
            </a:srgbClr>
          </a:solidFill>
          <a:ln/>
        </p:spPr>
      </p:sp>
      <p:sp>
        <p:nvSpPr>
          <p:cNvPr id="18" name="Shape 16"/>
          <p:cNvSpPr/>
          <p:nvPr/>
        </p:nvSpPr>
        <p:spPr>
          <a:xfrm>
            <a:off x="8293608" y="4315968"/>
            <a:ext cx="64008" cy="64008"/>
          </a:xfrm>
          <a:prstGeom prst="ellipse">
            <a:avLst/>
          </a:prstGeom>
          <a:solidFill>
            <a:srgbClr val="1A2B4A">
              <a:alpha val="25000"/>
            </a:srgbClr>
          </a:solidFill>
          <a:ln/>
        </p:spPr>
      </p:sp>
      <p:sp>
        <p:nvSpPr>
          <p:cNvPr id="19" name="Shape 17"/>
          <p:cNvSpPr/>
          <p:nvPr/>
        </p:nvSpPr>
        <p:spPr>
          <a:xfrm>
            <a:off x="8494776" y="4315968"/>
            <a:ext cx="64008" cy="64008"/>
          </a:xfrm>
          <a:prstGeom prst="ellipse">
            <a:avLst/>
          </a:prstGeom>
          <a:solidFill>
            <a:srgbClr val="1A2B4A">
              <a:alpha val="25000"/>
            </a:srgbClr>
          </a:solidFill>
          <a:ln/>
        </p:spPr>
      </p:sp>
      <p:sp>
        <p:nvSpPr>
          <p:cNvPr id="20" name="Shape 18"/>
          <p:cNvSpPr/>
          <p:nvPr/>
        </p:nvSpPr>
        <p:spPr>
          <a:xfrm>
            <a:off x="8695944" y="4315968"/>
            <a:ext cx="64008" cy="64008"/>
          </a:xfrm>
          <a:prstGeom prst="ellipse">
            <a:avLst/>
          </a:prstGeom>
          <a:solidFill>
            <a:srgbClr val="1A2B4A">
              <a:alpha val="25000"/>
            </a:srgbClr>
          </a:solidFill>
          <a:ln/>
        </p:spPr>
      </p:sp>
      <p:sp>
        <p:nvSpPr>
          <p:cNvPr id="21" name="Shape 19"/>
          <p:cNvSpPr/>
          <p:nvPr/>
        </p:nvSpPr>
        <p:spPr>
          <a:xfrm>
            <a:off x="8897112" y="4315968"/>
            <a:ext cx="64008" cy="64008"/>
          </a:xfrm>
          <a:prstGeom prst="ellipse">
            <a:avLst/>
          </a:prstGeom>
          <a:solidFill>
            <a:srgbClr val="1A2B4A">
              <a:alpha val="25000"/>
            </a:srgbClr>
          </a:solidFill>
          <a:ln/>
        </p:spPr>
      </p:sp>
      <p:sp>
        <p:nvSpPr>
          <p:cNvPr id="22" name="Shape 20"/>
          <p:cNvSpPr/>
          <p:nvPr/>
        </p:nvSpPr>
        <p:spPr>
          <a:xfrm>
            <a:off x="8092440" y="4517136"/>
            <a:ext cx="64008" cy="64008"/>
          </a:xfrm>
          <a:prstGeom prst="ellipse">
            <a:avLst/>
          </a:prstGeom>
          <a:solidFill>
            <a:srgbClr val="1A2B4A">
              <a:alpha val="25000"/>
            </a:srgbClr>
          </a:solidFill>
          <a:ln/>
        </p:spPr>
      </p:sp>
      <p:sp>
        <p:nvSpPr>
          <p:cNvPr id="23" name="Shape 21"/>
          <p:cNvSpPr/>
          <p:nvPr/>
        </p:nvSpPr>
        <p:spPr>
          <a:xfrm>
            <a:off x="8293608" y="4517136"/>
            <a:ext cx="64008" cy="64008"/>
          </a:xfrm>
          <a:prstGeom prst="ellipse">
            <a:avLst/>
          </a:prstGeom>
          <a:solidFill>
            <a:srgbClr val="1A2B4A">
              <a:alpha val="25000"/>
            </a:srgbClr>
          </a:solidFill>
          <a:ln/>
        </p:spPr>
      </p:sp>
      <p:sp>
        <p:nvSpPr>
          <p:cNvPr id="24" name="Shape 22"/>
          <p:cNvSpPr/>
          <p:nvPr/>
        </p:nvSpPr>
        <p:spPr>
          <a:xfrm>
            <a:off x="8494776" y="4517136"/>
            <a:ext cx="64008" cy="64008"/>
          </a:xfrm>
          <a:prstGeom prst="ellipse">
            <a:avLst/>
          </a:prstGeom>
          <a:solidFill>
            <a:srgbClr val="1A2B4A">
              <a:alpha val="25000"/>
            </a:srgbClr>
          </a:solidFill>
          <a:ln/>
        </p:spPr>
      </p:sp>
      <p:sp>
        <p:nvSpPr>
          <p:cNvPr id="25" name="Shape 23"/>
          <p:cNvSpPr/>
          <p:nvPr/>
        </p:nvSpPr>
        <p:spPr>
          <a:xfrm>
            <a:off x="8695944" y="4517136"/>
            <a:ext cx="64008" cy="64008"/>
          </a:xfrm>
          <a:prstGeom prst="ellipse">
            <a:avLst/>
          </a:prstGeom>
          <a:solidFill>
            <a:srgbClr val="1A2B4A">
              <a:alpha val="25000"/>
            </a:srgbClr>
          </a:solidFill>
          <a:ln/>
        </p:spPr>
      </p:sp>
      <p:sp>
        <p:nvSpPr>
          <p:cNvPr id="26" name="Shape 24"/>
          <p:cNvSpPr/>
          <p:nvPr/>
        </p:nvSpPr>
        <p:spPr>
          <a:xfrm>
            <a:off x="8897112" y="4517136"/>
            <a:ext cx="64008" cy="64008"/>
          </a:xfrm>
          <a:prstGeom prst="ellipse">
            <a:avLst/>
          </a:prstGeom>
          <a:solidFill>
            <a:srgbClr val="1A2B4A">
              <a:alpha val="25000"/>
            </a:srgbClr>
          </a:solidFill>
          <a:ln/>
        </p:spPr>
      </p:sp>
      <p:sp>
        <p:nvSpPr>
          <p:cNvPr id="27" name="Shape 25"/>
          <p:cNvSpPr/>
          <p:nvPr/>
        </p:nvSpPr>
        <p:spPr>
          <a:xfrm>
            <a:off x="8092440" y="4718304"/>
            <a:ext cx="64008" cy="64008"/>
          </a:xfrm>
          <a:prstGeom prst="ellipse">
            <a:avLst/>
          </a:prstGeom>
          <a:solidFill>
            <a:srgbClr val="1A2B4A">
              <a:alpha val="25000"/>
            </a:srgbClr>
          </a:solidFill>
          <a:ln/>
        </p:spPr>
      </p:sp>
      <p:sp>
        <p:nvSpPr>
          <p:cNvPr id="28" name="Shape 26"/>
          <p:cNvSpPr/>
          <p:nvPr/>
        </p:nvSpPr>
        <p:spPr>
          <a:xfrm>
            <a:off x="8293608" y="4718304"/>
            <a:ext cx="64008" cy="64008"/>
          </a:xfrm>
          <a:prstGeom prst="ellipse">
            <a:avLst/>
          </a:prstGeom>
          <a:solidFill>
            <a:srgbClr val="1A2B4A">
              <a:alpha val="25000"/>
            </a:srgbClr>
          </a:solidFill>
          <a:ln/>
        </p:spPr>
      </p:sp>
      <p:sp>
        <p:nvSpPr>
          <p:cNvPr id="29" name="Shape 27"/>
          <p:cNvSpPr/>
          <p:nvPr/>
        </p:nvSpPr>
        <p:spPr>
          <a:xfrm>
            <a:off x="8494776" y="4718304"/>
            <a:ext cx="64008" cy="64008"/>
          </a:xfrm>
          <a:prstGeom prst="ellipse">
            <a:avLst/>
          </a:prstGeom>
          <a:solidFill>
            <a:srgbClr val="1A2B4A">
              <a:alpha val="25000"/>
            </a:srgbClr>
          </a:solidFill>
          <a:ln/>
        </p:spPr>
      </p:sp>
      <p:sp>
        <p:nvSpPr>
          <p:cNvPr id="30" name="Shape 28"/>
          <p:cNvSpPr/>
          <p:nvPr/>
        </p:nvSpPr>
        <p:spPr>
          <a:xfrm>
            <a:off x="8695944" y="4718304"/>
            <a:ext cx="64008" cy="64008"/>
          </a:xfrm>
          <a:prstGeom prst="ellipse">
            <a:avLst/>
          </a:prstGeom>
          <a:solidFill>
            <a:srgbClr val="1A2B4A">
              <a:alpha val="25000"/>
            </a:srgbClr>
          </a:solidFill>
          <a:ln/>
        </p:spPr>
      </p:sp>
      <p:sp>
        <p:nvSpPr>
          <p:cNvPr id="31" name="Shape 29"/>
          <p:cNvSpPr/>
          <p:nvPr/>
        </p:nvSpPr>
        <p:spPr>
          <a:xfrm>
            <a:off x="8897112" y="4718304"/>
            <a:ext cx="64008" cy="64008"/>
          </a:xfrm>
          <a:prstGeom prst="ellipse">
            <a:avLst/>
          </a:prstGeom>
          <a:solidFill>
            <a:srgbClr val="1A2B4A">
              <a:alpha val="25000"/>
            </a:srgbClr>
          </a:solidFill>
          <a:ln/>
        </p:spPr>
      </p:sp>
      <p:sp>
        <p:nvSpPr>
          <p:cNvPr id="32" name="Shape 30"/>
          <p:cNvSpPr/>
          <p:nvPr/>
        </p:nvSpPr>
        <p:spPr>
          <a:xfrm>
            <a:off x="8092440" y="4919472"/>
            <a:ext cx="64008" cy="64008"/>
          </a:xfrm>
          <a:prstGeom prst="ellipse">
            <a:avLst/>
          </a:prstGeom>
          <a:solidFill>
            <a:srgbClr val="1A2B4A">
              <a:alpha val="25000"/>
            </a:srgbClr>
          </a:solidFill>
          <a:ln/>
        </p:spPr>
      </p:sp>
      <p:sp>
        <p:nvSpPr>
          <p:cNvPr id="33" name="Shape 31"/>
          <p:cNvSpPr/>
          <p:nvPr/>
        </p:nvSpPr>
        <p:spPr>
          <a:xfrm>
            <a:off x="8293608" y="4919472"/>
            <a:ext cx="64008" cy="64008"/>
          </a:xfrm>
          <a:prstGeom prst="ellipse">
            <a:avLst/>
          </a:prstGeom>
          <a:solidFill>
            <a:srgbClr val="1A2B4A">
              <a:alpha val="25000"/>
            </a:srgbClr>
          </a:solidFill>
          <a:ln/>
        </p:spPr>
      </p:sp>
      <p:sp>
        <p:nvSpPr>
          <p:cNvPr id="34" name="Shape 32"/>
          <p:cNvSpPr/>
          <p:nvPr/>
        </p:nvSpPr>
        <p:spPr>
          <a:xfrm>
            <a:off x="8494776" y="4919472"/>
            <a:ext cx="64008" cy="64008"/>
          </a:xfrm>
          <a:prstGeom prst="ellipse">
            <a:avLst/>
          </a:prstGeom>
          <a:solidFill>
            <a:srgbClr val="1A2B4A">
              <a:alpha val="25000"/>
            </a:srgbClr>
          </a:solidFill>
          <a:ln/>
        </p:spPr>
      </p:sp>
      <p:sp>
        <p:nvSpPr>
          <p:cNvPr id="35" name="Shape 33"/>
          <p:cNvSpPr/>
          <p:nvPr/>
        </p:nvSpPr>
        <p:spPr>
          <a:xfrm>
            <a:off x="8695944" y="4919472"/>
            <a:ext cx="64008" cy="64008"/>
          </a:xfrm>
          <a:prstGeom prst="ellipse">
            <a:avLst/>
          </a:prstGeom>
          <a:solidFill>
            <a:srgbClr val="1A2B4A">
              <a:alpha val="25000"/>
            </a:srgbClr>
          </a:solidFill>
          <a:ln/>
        </p:spPr>
      </p:sp>
      <p:sp>
        <p:nvSpPr>
          <p:cNvPr id="36" name="Shape 34"/>
          <p:cNvSpPr/>
          <p:nvPr/>
        </p:nvSpPr>
        <p:spPr>
          <a:xfrm>
            <a:off x="8897112" y="4919472"/>
            <a:ext cx="64008" cy="64008"/>
          </a:xfrm>
          <a:prstGeom prst="ellipse">
            <a:avLst/>
          </a:prstGeom>
          <a:solidFill>
            <a:srgbClr val="1A2B4A">
              <a:alpha val="25000"/>
            </a:srgbClr>
          </a:solidFill>
          <a:ln/>
        </p:spPr>
      </p:sp>
      <p:sp>
        <p:nvSpPr>
          <p:cNvPr id="37" name="Shape 35"/>
          <p:cNvSpPr/>
          <p:nvPr/>
        </p:nvSpPr>
        <p:spPr>
          <a:xfrm>
            <a:off x="1645920" y="2697480"/>
            <a:ext cx="5852160" cy="0"/>
          </a:xfrm>
          <a:prstGeom prst="line">
            <a:avLst/>
          </a:prstGeom>
          <a:noFill/>
          <a:ln w="19050">
            <a:solidFill>
              <a:srgbClr val="3A8C7E"/>
            </a:solidFill>
            <a:prstDash val="solid"/>
          </a:ln>
        </p:spPr>
      </p:sp>
      <p:sp>
        <p:nvSpPr>
          <p:cNvPr id="38" name="Text 36"/>
          <p:cNvSpPr/>
          <p:nvPr/>
        </p:nvSpPr>
        <p:spPr>
          <a:xfrm>
            <a:off x="457200" y="457200"/>
            <a:ext cx="8229600" cy="640080"/>
          </a:xfrm>
          <a:prstGeom prst="rect">
            <a:avLst/>
          </a:prstGeom>
          <a:noFill/>
          <a:ln/>
        </p:spPr>
        <p:txBody>
          <a:bodyPr wrap="square" lIns="0" tIns="0" rIns="0" bIns="0" rtlCol="0" anchor="ctr"/>
          <a:lstStyle/>
          <a:p>
            <a:pPr algn="ctr" indent="0" marL="0">
              <a:buNone/>
            </a:pPr>
            <a:r>
              <a:rPr lang="en-US" sz="4200" b="1" spc="800" kern="0" dirty="0">
                <a:solidFill>
                  <a:srgbClr val="3A8C7E"/>
                </a:solidFill>
                <a:latin typeface="Cambria" pitchFamily="34" charset="0"/>
                <a:ea typeface="Cambria" pitchFamily="34" charset="-122"/>
                <a:cs typeface="Cambria" pitchFamily="34" charset="-120"/>
              </a:rPr>
              <a:t>Fresco</a:t>
            </a:r>
            <a:endParaRPr lang="en-US" sz="4200" dirty="0"/>
          </a:p>
        </p:txBody>
      </p:sp>
      <p:sp>
        <p:nvSpPr>
          <p:cNvPr id="39" name="Text 37"/>
          <p:cNvSpPr/>
          <p:nvPr/>
        </p:nvSpPr>
        <p:spPr>
          <a:xfrm>
            <a:off x="457200" y="1097280"/>
            <a:ext cx="8229600" cy="1417320"/>
          </a:xfrm>
          <a:prstGeom prst="rect">
            <a:avLst/>
          </a:prstGeom>
          <a:noFill/>
          <a:ln/>
        </p:spPr>
        <p:txBody>
          <a:bodyPr wrap="square" lIns="0" tIns="0" rIns="0" bIns="0"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An Intelligent Fruit Freshness &amp;</a:t>
            </a:r>
            <a:endParaRPr lang="en-US" sz="2600" dirty="0"/>
          </a:p>
          <a:p>
            <a:pPr algn="ctr" indent="0" marL="0">
              <a:buNone/>
            </a:pPr>
            <a:r>
              <a:rPr lang="en-US" sz="2600" b="1" dirty="0">
                <a:solidFill>
                  <a:srgbClr val="FFFFFF"/>
                </a:solidFill>
                <a:latin typeface="Cambria" pitchFamily="34" charset="0"/>
                <a:ea typeface="Cambria" pitchFamily="34" charset="-122"/>
                <a:cs typeface="Cambria" pitchFamily="34" charset="-120"/>
              </a:rPr>
              <a:t>Shelf-Life Estimation Platform</a:t>
            </a:r>
            <a:endParaRPr lang="en-US" sz="2600" dirty="0"/>
          </a:p>
        </p:txBody>
      </p:sp>
      <p:sp>
        <p:nvSpPr>
          <p:cNvPr id="40" name="Text 38"/>
          <p:cNvSpPr/>
          <p:nvPr/>
        </p:nvSpPr>
        <p:spPr>
          <a:xfrm>
            <a:off x="457200" y="2816352"/>
            <a:ext cx="8229600" cy="274320"/>
          </a:xfrm>
          <a:prstGeom prst="rect">
            <a:avLst/>
          </a:prstGeom>
          <a:noFill/>
          <a:ln/>
        </p:spPr>
        <p:txBody>
          <a:bodyPr wrap="square" lIns="0" tIns="0" rIns="0" bIns="0" rtlCol="0" anchor="ctr"/>
          <a:lstStyle/>
          <a:p>
            <a:pPr algn="ctr" indent="0" marL="0">
              <a:buNone/>
            </a:pPr>
            <a:r>
              <a:rPr lang="en-US" sz="1200" b="1" dirty="0">
                <a:solidFill>
                  <a:srgbClr val="3A8C7E"/>
                </a:solidFill>
                <a:latin typeface="Calibri" pitchFamily="34" charset="0"/>
                <a:ea typeface="Calibri" pitchFamily="34" charset="-122"/>
                <a:cs typeface="Calibri" pitchFamily="34" charset="-120"/>
              </a:rPr>
              <a:t>BY:</a:t>
            </a:r>
            <a:pPr algn="ctr" indent="0" marL="0">
              <a:buNone/>
            </a:pPr>
            <a:r>
              <a:rPr lang="en-US" sz="1200" dirty="0">
                <a:solidFill>
                  <a:srgbClr val="FFFFFF"/>
                </a:solidFill>
                <a:latin typeface="Calibri" pitchFamily="34" charset="0"/>
                <a:ea typeface="Calibri" pitchFamily="34" charset="-122"/>
                <a:cs typeface="Calibri" pitchFamily="34" charset="-120"/>
              </a:rPr>
              <a:t>  Shadamoro Jeremiah  ·  AUL/CMP/22/082</a:t>
            </a:r>
            <a:endParaRPr lang="en-US" sz="1200" dirty="0"/>
          </a:p>
        </p:txBody>
      </p:sp>
      <p:sp>
        <p:nvSpPr>
          <p:cNvPr id="41" name="Text 39"/>
          <p:cNvSpPr/>
          <p:nvPr/>
        </p:nvSpPr>
        <p:spPr>
          <a:xfrm>
            <a:off x="457200" y="3090672"/>
            <a:ext cx="8229600" cy="256032"/>
          </a:xfrm>
          <a:prstGeom prst="rect">
            <a:avLst/>
          </a:prstGeom>
          <a:noFill/>
          <a:ln/>
        </p:spPr>
        <p:txBody>
          <a:bodyPr wrap="square" lIns="0" tIns="0" rIns="0" bIns="0" rtlCol="0" anchor="ctr"/>
          <a:lstStyle/>
          <a:p>
            <a:pPr algn="ctr" indent="0" marL="0">
              <a:buNone/>
            </a:pPr>
            <a:r>
              <a:rPr lang="en-US" sz="1200" dirty="0">
                <a:solidFill>
                  <a:srgbClr val="FFFFFF"/>
                </a:solidFill>
                <a:latin typeface="Calibri" pitchFamily="34" charset="0"/>
                <a:ea typeface="Calibri" pitchFamily="34" charset="-122"/>
                <a:cs typeface="Calibri" pitchFamily="34" charset="-120"/>
              </a:rPr>
              <a:t>Olofu Possible Ada'inaka  ·  AUL/IFT/22/009</a:t>
            </a:r>
            <a:endParaRPr lang="en-US" sz="1200" dirty="0"/>
          </a:p>
        </p:txBody>
      </p:sp>
      <p:sp>
        <p:nvSpPr>
          <p:cNvPr id="42" name="Shape 40"/>
          <p:cNvSpPr/>
          <p:nvPr/>
        </p:nvSpPr>
        <p:spPr>
          <a:xfrm>
            <a:off x="3200400" y="3401568"/>
            <a:ext cx="2743200" cy="0"/>
          </a:xfrm>
          <a:prstGeom prst="line">
            <a:avLst/>
          </a:prstGeom>
          <a:noFill/>
          <a:ln w="8890">
            <a:solidFill>
              <a:srgbClr val="3A8C7E">
                <a:alpha val="60000"/>
              </a:srgbClr>
            </a:solidFill>
            <a:prstDash val="solid"/>
          </a:ln>
        </p:spPr>
      </p:sp>
      <p:sp>
        <p:nvSpPr>
          <p:cNvPr id="43" name="Text 41"/>
          <p:cNvSpPr/>
          <p:nvPr/>
        </p:nvSpPr>
        <p:spPr>
          <a:xfrm>
            <a:off x="457200" y="3493008"/>
            <a:ext cx="8229600" cy="256032"/>
          </a:xfrm>
          <a:prstGeom prst="rect">
            <a:avLst/>
          </a:prstGeom>
          <a:noFill/>
          <a:ln/>
        </p:spPr>
        <p:txBody>
          <a:bodyPr wrap="square" lIns="0" tIns="0" rIns="0" bIns="0" rtlCol="0" anchor="ctr"/>
          <a:lstStyle/>
          <a:p>
            <a:pPr algn="ctr" indent="0" marL="0">
              <a:buNone/>
            </a:pPr>
            <a:r>
              <a:rPr lang="en-US" sz="1200" dirty="0">
                <a:solidFill>
                  <a:srgbClr val="FFFFFF"/>
                </a:solidFill>
                <a:latin typeface="Calibri" pitchFamily="34" charset="0"/>
                <a:ea typeface="Calibri" pitchFamily="34" charset="-122"/>
                <a:cs typeface="Calibri" pitchFamily="34" charset="-120"/>
              </a:rPr>
              <a:t>Supervisor: Dr. Babalola Asegunloluwa</a:t>
            </a:r>
            <a:endParaRPr lang="en-US" sz="1200" dirty="0"/>
          </a:p>
        </p:txBody>
      </p:sp>
      <p:sp>
        <p:nvSpPr>
          <p:cNvPr id="44" name="Text 42"/>
          <p:cNvSpPr/>
          <p:nvPr/>
        </p:nvSpPr>
        <p:spPr>
          <a:xfrm>
            <a:off x="457200" y="3767328"/>
            <a:ext cx="8229600" cy="256032"/>
          </a:xfrm>
          <a:prstGeom prst="rect">
            <a:avLst/>
          </a:prstGeom>
          <a:noFill/>
          <a:ln/>
        </p:spPr>
        <p:txBody>
          <a:bodyPr wrap="square" lIns="0" tIns="0" rIns="0" bIns="0" rtlCol="0" anchor="ctr"/>
          <a:lstStyle/>
          <a:p>
            <a:pPr algn="ctr" indent="0" marL="0">
              <a:buNone/>
            </a:pPr>
            <a:r>
              <a:rPr lang="en-US" sz="1100" dirty="0">
                <a:solidFill>
                  <a:srgbClr val="8BA8C5"/>
                </a:solidFill>
                <a:latin typeface="Calibri" pitchFamily="34" charset="0"/>
                <a:ea typeface="Calibri" pitchFamily="34" charset="-122"/>
                <a:cs typeface="Calibri" pitchFamily="34" charset="-120"/>
              </a:rPr>
              <a:t>Department of Computing, Faculty of Science · Anchor University Lagos · June 2026</a:t>
            </a:r>
            <a:endParaRPr lang="en-US" sz="1100" dirty="0"/>
          </a:p>
        </p:txBody>
      </p:sp>
      <p:sp>
        <p:nvSpPr>
          <p:cNvPr id="45" name="Shape 43"/>
          <p:cNvSpPr/>
          <p:nvPr/>
        </p:nvSpPr>
        <p:spPr>
          <a:xfrm>
            <a:off x="3474720" y="4206240"/>
            <a:ext cx="2194560" cy="347472"/>
          </a:xfrm>
          <a:prstGeom prst="roundRect">
            <a:avLst>
              <a:gd name="adj" fmla="val 50000"/>
            </a:avLst>
          </a:prstGeom>
          <a:solidFill>
            <a:srgbClr val="3A8C7E">
              <a:alpha val="70000"/>
            </a:srgbClr>
          </a:solidFill>
          <a:ln/>
        </p:spPr>
      </p:sp>
      <p:sp>
        <p:nvSpPr>
          <p:cNvPr id="46" name="Text 44"/>
          <p:cNvSpPr/>
          <p:nvPr/>
        </p:nvSpPr>
        <p:spPr>
          <a:xfrm>
            <a:off x="3474720" y="4206240"/>
            <a:ext cx="2194560" cy="347472"/>
          </a:xfrm>
          <a:prstGeom prst="rect">
            <a:avLst/>
          </a:prstGeom>
          <a:noFill/>
          <a:ln/>
        </p:spPr>
        <p:txBody>
          <a:bodyPr wrap="square" lIns="0" tIns="0" rIns="0" bIns="0" rtlCol="0" anchor="ctr"/>
          <a:lstStyle/>
          <a:p>
            <a:pPr algn="ctr" indent="0" marL="0">
              <a:buNone/>
            </a:pPr>
            <a:r>
              <a:rPr lang="en-US" sz="1000" dirty="0">
                <a:solidFill>
                  <a:srgbClr val="FFFFFF"/>
                </a:solidFill>
                <a:latin typeface="Calibri" pitchFamily="34" charset="0"/>
                <a:ea typeface="Calibri" pitchFamily="34" charset="-122"/>
                <a:cs typeface="Calibri" pitchFamily="34" charset="-120"/>
              </a:rPr>
              <a:t>Final Year Project Defense  ·  2026</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EBEBEB"/>
        </a:solidFill>
      </p:bgPr>
    </p:bg>
    <p:spTree>
      <p:nvGrpSpPr>
        <p:cNvPr id="1" name=""/>
        <p:cNvGrpSpPr/>
        <p:nvPr/>
      </p:nvGrpSpPr>
      <p:grpSpPr>
        <a:xfrm>
          <a:off x="0" y="0"/>
          <a:ext cx="0" cy="0"/>
          <a:chOff x="0" y="0"/>
          <a:chExt cx="0" cy="0"/>
        </a:xfrm>
      </p:grpSpPr>
      <p:sp>
        <p:nvSpPr>
          <p:cNvPr id="2" name="Shape 0"/>
          <p:cNvSpPr/>
          <p:nvPr/>
        </p:nvSpPr>
        <p:spPr>
          <a:xfrm>
            <a:off x="-731520" y="1280160"/>
            <a:ext cx="2560320" cy="2560320"/>
          </a:xfrm>
          <a:prstGeom prst="ellipse">
            <a:avLst/>
          </a:prstGeom>
          <a:ln w="19050">
            <a:solidFill>
              <a:srgbClr val="1A2B4A">
                <a:alpha val="18000"/>
              </a:srgbClr>
            </a:solidFill>
            <a:prstDash val="solid"/>
          </a:ln>
        </p:spPr>
      </p:sp>
      <p:sp>
        <p:nvSpPr>
          <p:cNvPr id="3" name="Shape 1"/>
          <p:cNvSpPr/>
          <p:nvPr/>
        </p:nvSpPr>
        <p:spPr>
          <a:xfrm>
            <a:off x="-309067" y="1702613"/>
            <a:ext cx="1715414" cy="1715414"/>
          </a:xfrm>
          <a:prstGeom prst="ellipse">
            <a:avLst/>
          </a:prstGeom>
          <a:ln w="19050">
            <a:solidFill>
              <a:srgbClr val="3B5FA0">
                <a:alpha val="25000"/>
              </a:srgbClr>
            </a:solidFill>
            <a:prstDash val="solid"/>
          </a:ln>
        </p:spPr>
      </p:sp>
      <p:sp>
        <p:nvSpPr>
          <p:cNvPr id="4" name="Shape 2"/>
          <p:cNvSpPr/>
          <p:nvPr/>
        </p:nvSpPr>
        <p:spPr>
          <a:xfrm>
            <a:off x="62179" y="2073859"/>
            <a:ext cx="972922" cy="972922"/>
          </a:xfrm>
          <a:prstGeom prst="ellipse">
            <a:avLst/>
          </a:prstGeom>
          <a:ln w="19050">
            <a:solidFill>
              <a:srgbClr val="3A8C7E">
                <a:alpha val="32000"/>
              </a:srgbClr>
            </a:solidFill>
            <a:prstDash val="solid"/>
          </a:ln>
        </p:spPr>
      </p:sp>
      <p:sp>
        <p:nvSpPr>
          <p:cNvPr id="5" name="Shape 3"/>
          <p:cNvSpPr/>
          <p:nvPr/>
        </p:nvSpPr>
        <p:spPr>
          <a:xfrm>
            <a:off x="8092440" y="274320"/>
            <a:ext cx="64008" cy="64008"/>
          </a:xfrm>
          <a:prstGeom prst="ellipse">
            <a:avLst/>
          </a:prstGeom>
          <a:solidFill>
            <a:srgbClr val="1A2B4A">
              <a:alpha val="25000"/>
            </a:srgbClr>
          </a:solidFill>
          <a:ln/>
        </p:spPr>
      </p:sp>
      <p:sp>
        <p:nvSpPr>
          <p:cNvPr id="6" name="Shape 4"/>
          <p:cNvSpPr/>
          <p:nvPr/>
        </p:nvSpPr>
        <p:spPr>
          <a:xfrm>
            <a:off x="8293608" y="274320"/>
            <a:ext cx="64008" cy="64008"/>
          </a:xfrm>
          <a:prstGeom prst="ellipse">
            <a:avLst/>
          </a:prstGeom>
          <a:solidFill>
            <a:srgbClr val="1A2B4A">
              <a:alpha val="25000"/>
            </a:srgbClr>
          </a:solidFill>
          <a:ln/>
        </p:spPr>
      </p:sp>
      <p:sp>
        <p:nvSpPr>
          <p:cNvPr id="7" name="Shape 5"/>
          <p:cNvSpPr/>
          <p:nvPr/>
        </p:nvSpPr>
        <p:spPr>
          <a:xfrm>
            <a:off x="8494776" y="274320"/>
            <a:ext cx="64008" cy="64008"/>
          </a:xfrm>
          <a:prstGeom prst="ellipse">
            <a:avLst/>
          </a:prstGeom>
          <a:solidFill>
            <a:srgbClr val="1A2B4A">
              <a:alpha val="25000"/>
            </a:srgbClr>
          </a:solidFill>
          <a:ln/>
        </p:spPr>
      </p:sp>
      <p:sp>
        <p:nvSpPr>
          <p:cNvPr id="8" name="Shape 6"/>
          <p:cNvSpPr/>
          <p:nvPr/>
        </p:nvSpPr>
        <p:spPr>
          <a:xfrm>
            <a:off x="8695944" y="274320"/>
            <a:ext cx="64008" cy="64008"/>
          </a:xfrm>
          <a:prstGeom prst="ellipse">
            <a:avLst/>
          </a:prstGeom>
          <a:solidFill>
            <a:srgbClr val="1A2B4A">
              <a:alpha val="25000"/>
            </a:srgbClr>
          </a:solidFill>
          <a:ln/>
        </p:spPr>
      </p:sp>
      <p:sp>
        <p:nvSpPr>
          <p:cNvPr id="9" name="Shape 7"/>
          <p:cNvSpPr/>
          <p:nvPr/>
        </p:nvSpPr>
        <p:spPr>
          <a:xfrm>
            <a:off x="8897112" y="274320"/>
            <a:ext cx="64008" cy="64008"/>
          </a:xfrm>
          <a:prstGeom prst="ellipse">
            <a:avLst/>
          </a:prstGeom>
          <a:solidFill>
            <a:srgbClr val="1A2B4A">
              <a:alpha val="25000"/>
            </a:srgbClr>
          </a:solidFill>
          <a:ln/>
        </p:spPr>
      </p:sp>
      <p:sp>
        <p:nvSpPr>
          <p:cNvPr id="10" name="Shape 8"/>
          <p:cNvSpPr/>
          <p:nvPr/>
        </p:nvSpPr>
        <p:spPr>
          <a:xfrm>
            <a:off x="8092440" y="475488"/>
            <a:ext cx="64008" cy="64008"/>
          </a:xfrm>
          <a:prstGeom prst="ellipse">
            <a:avLst/>
          </a:prstGeom>
          <a:solidFill>
            <a:srgbClr val="1A2B4A">
              <a:alpha val="25000"/>
            </a:srgbClr>
          </a:solidFill>
          <a:ln/>
        </p:spPr>
      </p:sp>
      <p:sp>
        <p:nvSpPr>
          <p:cNvPr id="11" name="Shape 9"/>
          <p:cNvSpPr/>
          <p:nvPr/>
        </p:nvSpPr>
        <p:spPr>
          <a:xfrm>
            <a:off x="8293608" y="475488"/>
            <a:ext cx="64008" cy="64008"/>
          </a:xfrm>
          <a:prstGeom prst="ellipse">
            <a:avLst/>
          </a:prstGeom>
          <a:solidFill>
            <a:srgbClr val="1A2B4A">
              <a:alpha val="25000"/>
            </a:srgbClr>
          </a:solidFill>
          <a:ln/>
        </p:spPr>
      </p:sp>
      <p:sp>
        <p:nvSpPr>
          <p:cNvPr id="12" name="Shape 10"/>
          <p:cNvSpPr/>
          <p:nvPr/>
        </p:nvSpPr>
        <p:spPr>
          <a:xfrm>
            <a:off x="8494776" y="475488"/>
            <a:ext cx="64008" cy="64008"/>
          </a:xfrm>
          <a:prstGeom prst="ellipse">
            <a:avLst/>
          </a:prstGeom>
          <a:solidFill>
            <a:srgbClr val="1A2B4A">
              <a:alpha val="25000"/>
            </a:srgbClr>
          </a:solidFill>
          <a:ln/>
        </p:spPr>
      </p:sp>
      <p:sp>
        <p:nvSpPr>
          <p:cNvPr id="13" name="Shape 11"/>
          <p:cNvSpPr/>
          <p:nvPr/>
        </p:nvSpPr>
        <p:spPr>
          <a:xfrm>
            <a:off x="8695944" y="475488"/>
            <a:ext cx="64008" cy="64008"/>
          </a:xfrm>
          <a:prstGeom prst="ellipse">
            <a:avLst/>
          </a:prstGeom>
          <a:solidFill>
            <a:srgbClr val="1A2B4A">
              <a:alpha val="25000"/>
            </a:srgbClr>
          </a:solidFill>
          <a:ln/>
        </p:spPr>
      </p:sp>
      <p:sp>
        <p:nvSpPr>
          <p:cNvPr id="14" name="Shape 12"/>
          <p:cNvSpPr/>
          <p:nvPr/>
        </p:nvSpPr>
        <p:spPr>
          <a:xfrm>
            <a:off x="8897112" y="475488"/>
            <a:ext cx="64008" cy="64008"/>
          </a:xfrm>
          <a:prstGeom prst="ellipse">
            <a:avLst/>
          </a:prstGeom>
          <a:solidFill>
            <a:srgbClr val="1A2B4A">
              <a:alpha val="25000"/>
            </a:srgbClr>
          </a:solidFill>
          <a:ln/>
        </p:spPr>
      </p:sp>
      <p:sp>
        <p:nvSpPr>
          <p:cNvPr id="15" name="Shape 13"/>
          <p:cNvSpPr/>
          <p:nvPr/>
        </p:nvSpPr>
        <p:spPr>
          <a:xfrm>
            <a:off x="8092440" y="676656"/>
            <a:ext cx="64008" cy="64008"/>
          </a:xfrm>
          <a:prstGeom prst="ellipse">
            <a:avLst/>
          </a:prstGeom>
          <a:solidFill>
            <a:srgbClr val="1A2B4A">
              <a:alpha val="25000"/>
            </a:srgbClr>
          </a:solidFill>
          <a:ln/>
        </p:spPr>
      </p:sp>
      <p:sp>
        <p:nvSpPr>
          <p:cNvPr id="16" name="Shape 14"/>
          <p:cNvSpPr/>
          <p:nvPr/>
        </p:nvSpPr>
        <p:spPr>
          <a:xfrm>
            <a:off x="8293608" y="676656"/>
            <a:ext cx="64008" cy="64008"/>
          </a:xfrm>
          <a:prstGeom prst="ellipse">
            <a:avLst/>
          </a:prstGeom>
          <a:solidFill>
            <a:srgbClr val="1A2B4A">
              <a:alpha val="25000"/>
            </a:srgbClr>
          </a:solidFill>
          <a:ln/>
        </p:spPr>
      </p:sp>
      <p:sp>
        <p:nvSpPr>
          <p:cNvPr id="17" name="Shape 15"/>
          <p:cNvSpPr/>
          <p:nvPr/>
        </p:nvSpPr>
        <p:spPr>
          <a:xfrm>
            <a:off x="8494776" y="676656"/>
            <a:ext cx="64008" cy="64008"/>
          </a:xfrm>
          <a:prstGeom prst="ellipse">
            <a:avLst/>
          </a:prstGeom>
          <a:solidFill>
            <a:srgbClr val="1A2B4A">
              <a:alpha val="25000"/>
            </a:srgbClr>
          </a:solidFill>
          <a:ln/>
        </p:spPr>
      </p:sp>
      <p:sp>
        <p:nvSpPr>
          <p:cNvPr id="18" name="Shape 16"/>
          <p:cNvSpPr/>
          <p:nvPr/>
        </p:nvSpPr>
        <p:spPr>
          <a:xfrm>
            <a:off x="8695944" y="676656"/>
            <a:ext cx="64008" cy="64008"/>
          </a:xfrm>
          <a:prstGeom prst="ellipse">
            <a:avLst/>
          </a:prstGeom>
          <a:solidFill>
            <a:srgbClr val="1A2B4A">
              <a:alpha val="25000"/>
            </a:srgbClr>
          </a:solidFill>
          <a:ln/>
        </p:spPr>
      </p:sp>
      <p:sp>
        <p:nvSpPr>
          <p:cNvPr id="19" name="Shape 17"/>
          <p:cNvSpPr/>
          <p:nvPr/>
        </p:nvSpPr>
        <p:spPr>
          <a:xfrm>
            <a:off x="8897112" y="676656"/>
            <a:ext cx="64008" cy="64008"/>
          </a:xfrm>
          <a:prstGeom prst="ellipse">
            <a:avLst/>
          </a:prstGeom>
          <a:solidFill>
            <a:srgbClr val="1A2B4A">
              <a:alpha val="25000"/>
            </a:srgbClr>
          </a:solidFill>
          <a:ln/>
        </p:spPr>
      </p:sp>
      <p:sp>
        <p:nvSpPr>
          <p:cNvPr id="20" name="Shape 18"/>
          <p:cNvSpPr/>
          <p:nvPr/>
        </p:nvSpPr>
        <p:spPr>
          <a:xfrm>
            <a:off x="8092440" y="877824"/>
            <a:ext cx="64008" cy="64008"/>
          </a:xfrm>
          <a:prstGeom prst="ellipse">
            <a:avLst/>
          </a:prstGeom>
          <a:solidFill>
            <a:srgbClr val="1A2B4A">
              <a:alpha val="25000"/>
            </a:srgbClr>
          </a:solidFill>
          <a:ln/>
        </p:spPr>
      </p:sp>
      <p:sp>
        <p:nvSpPr>
          <p:cNvPr id="21" name="Shape 19"/>
          <p:cNvSpPr/>
          <p:nvPr/>
        </p:nvSpPr>
        <p:spPr>
          <a:xfrm>
            <a:off x="8293608" y="877824"/>
            <a:ext cx="64008" cy="64008"/>
          </a:xfrm>
          <a:prstGeom prst="ellipse">
            <a:avLst/>
          </a:prstGeom>
          <a:solidFill>
            <a:srgbClr val="1A2B4A">
              <a:alpha val="25000"/>
            </a:srgbClr>
          </a:solidFill>
          <a:ln/>
        </p:spPr>
      </p:sp>
      <p:sp>
        <p:nvSpPr>
          <p:cNvPr id="22" name="Shape 20"/>
          <p:cNvSpPr/>
          <p:nvPr/>
        </p:nvSpPr>
        <p:spPr>
          <a:xfrm>
            <a:off x="8494776" y="877824"/>
            <a:ext cx="64008" cy="64008"/>
          </a:xfrm>
          <a:prstGeom prst="ellipse">
            <a:avLst/>
          </a:prstGeom>
          <a:solidFill>
            <a:srgbClr val="1A2B4A">
              <a:alpha val="25000"/>
            </a:srgbClr>
          </a:solidFill>
          <a:ln/>
        </p:spPr>
      </p:sp>
      <p:sp>
        <p:nvSpPr>
          <p:cNvPr id="23" name="Shape 21"/>
          <p:cNvSpPr/>
          <p:nvPr/>
        </p:nvSpPr>
        <p:spPr>
          <a:xfrm>
            <a:off x="8695944" y="877824"/>
            <a:ext cx="64008" cy="64008"/>
          </a:xfrm>
          <a:prstGeom prst="ellipse">
            <a:avLst/>
          </a:prstGeom>
          <a:solidFill>
            <a:srgbClr val="1A2B4A">
              <a:alpha val="25000"/>
            </a:srgbClr>
          </a:solidFill>
          <a:ln/>
        </p:spPr>
      </p:sp>
      <p:sp>
        <p:nvSpPr>
          <p:cNvPr id="24" name="Shape 22"/>
          <p:cNvSpPr/>
          <p:nvPr/>
        </p:nvSpPr>
        <p:spPr>
          <a:xfrm>
            <a:off x="8897112" y="877824"/>
            <a:ext cx="64008" cy="64008"/>
          </a:xfrm>
          <a:prstGeom prst="ellipse">
            <a:avLst/>
          </a:prstGeom>
          <a:solidFill>
            <a:srgbClr val="1A2B4A">
              <a:alpha val="25000"/>
            </a:srgbClr>
          </a:solidFill>
          <a:ln/>
        </p:spPr>
      </p:sp>
      <p:sp>
        <p:nvSpPr>
          <p:cNvPr id="25" name="Shape 23"/>
          <p:cNvSpPr/>
          <p:nvPr/>
        </p:nvSpPr>
        <p:spPr>
          <a:xfrm>
            <a:off x="8092440" y="1078992"/>
            <a:ext cx="64008" cy="64008"/>
          </a:xfrm>
          <a:prstGeom prst="ellipse">
            <a:avLst/>
          </a:prstGeom>
          <a:solidFill>
            <a:srgbClr val="1A2B4A">
              <a:alpha val="25000"/>
            </a:srgbClr>
          </a:solidFill>
          <a:ln/>
        </p:spPr>
      </p:sp>
      <p:sp>
        <p:nvSpPr>
          <p:cNvPr id="26" name="Shape 24"/>
          <p:cNvSpPr/>
          <p:nvPr/>
        </p:nvSpPr>
        <p:spPr>
          <a:xfrm>
            <a:off x="8293608" y="1078992"/>
            <a:ext cx="64008" cy="64008"/>
          </a:xfrm>
          <a:prstGeom prst="ellipse">
            <a:avLst/>
          </a:prstGeom>
          <a:solidFill>
            <a:srgbClr val="1A2B4A">
              <a:alpha val="25000"/>
            </a:srgbClr>
          </a:solidFill>
          <a:ln/>
        </p:spPr>
      </p:sp>
      <p:sp>
        <p:nvSpPr>
          <p:cNvPr id="27" name="Shape 25"/>
          <p:cNvSpPr/>
          <p:nvPr/>
        </p:nvSpPr>
        <p:spPr>
          <a:xfrm>
            <a:off x="8494776" y="1078992"/>
            <a:ext cx="64008" cy="64008"/>
          </a:xfrm>
          <a:prstGeom prst="ellipse">
            <a:avLst/>
          </a:prstGeom>
          <a:solidFill>
            <a:srgbClr val="1A2B4A">
              <a:alpha val="25000"/>
            </a:srgbClr>
          </a:solidFill>
          <a:ln/>
        </p:spPr>
      </p:sp>
      <p:sp>
        <p:nvSpPr>
          <p:cNvPr id="28" name="Shape 26"/>
          <p:cNvSpPr/>
          <p:nvPr/>
        </p:nvSpPr>
        <p:spPr>
          <a:xfrm>
            <a:off x="8695944" y="1078992"/>
            <a:ext cx="64008" cy="64008"/>
          </a:xfrm>
          <a:prstGeom prst="ellipse">
            <a:avLst/>
          </a:prstGeom>
          <a:solidFill>
            <a:srgbClr val="1A2B4A">
              <a:alpha val="25000"/>
            </a:srgbClr>
          </a:solidFill>
          <a:ln/>
        </p:spPr>
      </p:sp>
      <p:sp>
        <p:nvSpPr>
          <p:cNvPr id="29" name="Shape 27"/>
          <p:cNvSpPr/>
          <p:nvPr/>
        </p:nvSpPr>
        <p:spPr>
          <a:xfrm>
            <a:off x="8897112" y="1078992"/>
            <a:ext cx="64008" cy="64008"/>
          </a:xfrm>
          <a:prstGeom prst="ellipse">
            <a:avLst/>
          </a:prstGeom>
          <a:solidFill>
            <a:srgbClr val="1A2B4A">
              <a:alpha val="25000"/>
            </a:srgbClr>
          </a:solidFill>
          <a:ln/>
        </p:spPr>
      </p:sp>
      <p:sp>
        <p:nvSpPr>
          <p:cNvPr id="30" name="Text 28"/>
          <p:cNvSpPr/>
          <p:nvPr/>
        </p:nvSpPr>
        <p:spPr>
          <a:xfrm>
            <a:off x="411480" y="292608"/>
            <a:ext cx="8321040" cy="530352"/>
          </a:xfrm>
          <a:prstGeom prst="rect">
            <a:avLst/>
          </a:prstGeom>
          <a:noFill/>
          <a:ln/>
        </p:spPr>
        <p:txBody>
          <a:bodyPr wrap="square" lIns="0" tIns="0" rIns="0" bIns="0" rtlCol="0" anchor="ctr"/>
          <a:lstStyle/>
          <a:p>
            <a:pPr algn="l" indent="0" marL="0">
              <a:buNone/>
            </a:pPr>
            <a:r>
              <a:rPr lang="en-US" sz="2800" b="1" dirty="0">
                <a:solidFill>
                  <a:srgbClr val="1A2B4A"/>
                </a:solidFill>
                <a:latin typeface="Cambria" pitchFamily="34" charset="0"/>
                <a:ea typeface="Cambria" pitchFamily="34" charset="-122"/>
                <a:cs typeface="Cambria" pitchFamily="34" charset="-120"/>
              </a:rPr>
              <a:t>Table of Contents</a:t>
            </a:r>
            <a:endParaRPr lang="en-US" sz="2800" dirty="0"/>
          </a:p>
        </p:txBody>
      </p:sp>
      <p:sp>
        <p:nvSpPr>
          <p:cNvPr id="31" name="Shape 29"/>
          <p:cNvSpPr/>
          <p:nvPr/>
        </p:nvSpPr>
        <p:spPr>
          <a:xfrm>
            <a:off x="411480" y="868680"/>
            <a:ext cx="8229600" cy="0"/>
          </a:xfrm>
          <a:prstGeom prst="line">
            <a:avLst/>
          </a:prstGeom>
          <a:noFill/>
          <a:ln w="19050">
            <a:solidFill>
              <a:srgbClr val="3A8C7E">
                <a:alpha val="60000"/>
              </a:srgbClr>
            </a:solidFill>
            <a:prstDash val="solid"/>
          </a:ln>
        </p:spPr>
      </p:sp>
      <p:sp>
        <p:nvSpPr>
          <p:cNvPr id="32" name="Shape 30"/>
          <p:cNvSpPr/>
          <p:nvPr/>
        </p:nvSpPr>
        <p:spPr>
          <a:xfrm>
            <a:off x="411480" y="950976"/>
            <a:ext cx="8229600" cy="0"/>
          </a:xfrm>
          <a:prstGeom prst="line">
            <a:avLst/>
          </a:prstGeom>
          <a:noFill/>
          <a:ln w="10160">
            <a:solidFill>
              <a:srgbClr val="1A2B4A">
                <a:alpha val="45000"/>
              </a:srgbClr>
            </a:solidFill>
            <a:prstDash val="solid"/>
          </a:ln>
        </p:spPr>
      </p:sp>
      <p:sp>
        <p:nvSpPr>
          <p:cNvPr id="33" name="Shape 31"/>
          <p:cNvSpPr/>
          <p:nvPr/>
        </p:nvSpPr>
        <p:spPr>
          <a:xfrm>
            <a:off x="384048" y="969264"/>
            <a:ext cx="4114800" cy="3886200"/>
          </a:xfrm>
          <a:prstGeom prst="roundRect">
            <a:avLst>
              <a:gd name="adj" fmla="val 2824"/>
            </a:avLst>
          </a:prstGeom>
          <a:solidFill>
            <a:srgbClr val="F0F4F8"/>
          </a:solidFill>
          <a:ln w="6350">
            <a:solidFill>
              <a:srgbClr val="1A2B4A">
                <a:alpha val="40000"/>
              </a:srgbClr>
            </a:solidFill>
            <a:prstDash val="solid"/>
          </a:ln>
          <a:effectLst>
            <a:outerShdw sx="100000" sy="100000" kx="0" ky="0" algn="bl" rotWithShape="0" blurRad="101600" dist="38100" dir="2700000">
              <a:srgbClr val="000000">
                <a:alpha val="10000"/>
              </a:srgbClr>
            </a:outerShdw>
          </a:effectLst>
        </p:spPr>
      </p:sp>
      <p:sp>
        <p:nvSpPr>
          <p:cNvPr id="34" name="Shape 32"/>
          <p:cNvSpPr/>
          <p:nvPr/>
        </p:nvSpPr>
        <p:spPr>
          <a:xfrm>
            <a:off x="4645152" y="969264"/>
            <a:ext cx="4114800" cy="3886200"/>
          </a:xfrm>
          <a:prstGeom prst="roundRect">
            <a:avLst>
              <a:gd name="adj" fmla="val 2824"/>
            </a:avLst>
          </a:prstGeom>
          <a:solidFill>
            <a:srgbClr val="F0F4F8"/>
          </a:solidFill>
          <a:ln w="6350">
            <a:solidFill>
              <a:srgbClr val="1A2B4A">
                <a:alpha val="40000"/>
              </a:srgbClr>
            </a:solidFill>
            <a:prstDash val="solid"/>
          </a:ln>
          <a:effectLst>
            <a:outerShdw sx="100000" sy="100000" kx="0" ky="0" algn="bl" rotWithShape="0" blurRad="101600" dist="38100" dir="2700000">
              <a:srgbClr val="000000">
                <a:alpha val="10000"/>
              </a:srgbClr>
            </a:outerShdw>
          </a:effectLst>
        </p:spPr>
      </p:sp>
      <p:sp>
        <p:nvSpPr>
          <p:cNvPr id="35" name="Text 33"/>
          <p:cNvSpPr/>
          <p:nvPr/>
        </p:nvSpPr>
        <p:spPr>
          <a:xfrm>
            <a:off x="548640" y="1051560"/>
            <a:ext cx="3840480" cy="3749040"/>
          </a:xfrm>
          <a:prstGeom prst="rect">
            <a:avLst/>
          </a:prstGeom>
          <a:noFill/>
          <a:ln/>
        </p:spPr>
        <p:txBody>
          <a:bodyPr wrap="square" lIns="76200" tIns="76200" rIns="76200" bIns="76200" rtlCol="0" anchor="t"/>
          <a:lstStyle/>
          <a:p>
            <a:pPr algn="l" indent="0" marL="0">
              <a:spcAft>
                <a:spcPts val="400"/>
              </a:spcAft>
              <a:buNone/>
            </a:pPr>
            <a:r>
              <a:rPr lang="en-US" sz="1150" dirty="0">
                <a:solidFill>
                  <a:srgbClr val="4A5568"/>
                </a:solidFill>
                <a:latin typeface="Calibri" pitchFamily="34" charset="0"/>
                <a:ea typeface="Calibri" pitchFamily="34" charset="-122"/>
                <a:cs typeface="Calibri" pitchFamily="34" charset="-120"/>
              </a:rPr>
              <a:t>01  Cover &amp; Introduction</a:t>
            </a:r>
            <a:endParaRPr lang="en-US" sz="1150" dirty="0"/>
          </a:p>
          <a:p>
            <a:pPr algn="l" indent="0" marL="0">
              <a:spcAft>
                <a:spcPts val="400"/>
              </a:spcAft>
              <a:buNone/>
            </a:pPr>
            <a:r>
              <a:rPr lang="en-US" sz="1150" dirty="0">
                <a:solidFill>
                  <a:srgbClr val="4A5568"/>
                </a:solidFill>
                <a:latin typeface="Calibri" pitchFamily="34" charset="0"/>
                <a:ea typeface="Calibri" pitchFamily="34" charset="-122"/>
                <a:cs typeface="Calibri" pitchFamily="34" charset="-120"/>
              </a:rPr>
              <a:t>02  Table of Contents</a:t>
            </a:r>
            <a:endParaRPr lang="en-US" sz="1150" dirty="0"/>
          </a:p>
          <a:p>
            <a:pPr algn="l" indent="0" marL="0">
              <a:spcAft>
                <a:spcPts val="400"/>
              </a:spcAft>
              <a:buNone/>
            </a:pPr>
            <a:r>
              <a:rPr lang="en-US" sz="1150" dirty="0">
                <a:solidFill>
                  <a:srgbClr val="4A5568"/>
                </a:solidFill>
                <a:latin typeface="Calibri" pitchFamily="34" charset="0"/>
                <a:ea typeface="Calibri" pitchFamily="34" charset="-122"/>
                <a:cs typeface="Calibri" pitchFamily="34" charset="-120"/>
              </a:rPr>
              <a:t>03  Definition of Terms (I–VIII)</a:t>
            </a:r>
            <a:endParaRPr lang="en-US" sz="1150" dirty="0"/>
          </a:p>
          <a:p>
            <a:pPr algn="l" indent="0" marL="0">
              <a:spcAft>
                <a:spcPts val="400"/>
              </a:spcAft>
              <a:buNone/>
            </a:pPr>
            <a:r>
              <a:rPr lang="en-US" sz="1150" dirty="0">
                <a:solidFill>
                  <a:srgbClr val="4A5568"/>
                </a:solidFill>
                <a:latin typeface="Calibri" pitchFamily="34" charset="0"/>
                <a:ea typeface="Calibri" pitchFamily="34" charset="-122"/>
                <a:cs typeface="Calibri" pitchFamily="34" charset="-120"/>
              </a:rPr>
              <a:t>04  Definition of Terms (IX–XVI)</a:t>
            </a:r>
            <a:endParaRPr lang="en-US" sz="1150" dirty="0"/>
          </a:p>
          <a:p>
            <a:pPr algn="l" indent="0" marL="0">
              <a:spcAft>
                <a:spcPts val="400"/>
              </a:spcAft>
              <a:buNone/>
            </a:pPr>
            <a:r>
              <a:rPr lang="en-US" sz="1150" dirty="0">
                <a:solidFill>
                  <a:srgbClr val="4A5568"/>
                </a:solidFill>
                <a:latin typeface="Calibri" pitchFamily="34" charset="0"/>
                <a:ea typeface="Calibri" pitchFamily="34" charset="-122"/>
                <a:cs typeface="Calibri" pitchFamily="34" charset="-120"/>
              </a:rPr>
              <a:t>05  Problem Statement</a:t>
            </a:r>
            <a:endParaRPr lang="en-US" sz="1150" dirty="0"/>
          </a:p>
          <a:p>
            <a:pPr algn="l" indent="0" marL="0">
              <a:spcAft>
                <a:spcPts val="400"/>
              </a:spcAft>
              <a:buNone/>
            </a:pPr>
            <a:r>
              <a:rPr lang="en-US" sz="1150" dirty="0">
                <a:solidFill>
                  <a:srgbClr val="4A5568"/>
                </a:solidFill>
                <a:latin typeface="Calibri" pitchFamily="34" charset="0"/>
                <a:ea typeface="Calibri" pitchFamily="34" charset="-122"/>
                <a:cs typeface="Calibri" pitchFamily="34" charset="-120"/>
              </a:rPr>
              <a:t>06  Aims &amp; Objectives</a:t>
            </a:r>
            <a:endParaRPr lang="en-US" sz="1150" dirty="0"/>
          </a:p>
          <a:p>
            <a:pPr algn="l" indent="0" marL="0">
              <a:spcAft>
                <a:spcPts val="400"/>
              </a:spcAft>
              <a:buNone/>
            </a:pPr>
            <a:r>
              <a:rPr lang="en-US" sz="1150" dirty="0">
                <a:solidFill>
                  <a:srgbClr val="4A5568"/>
                </a:solidFill>
                <a:latin typeface="Calibri" pitchFamily="34" charset="0"/>
                <a:ea typeface="Calibri" pitchFamily="34" charset="-122"/>
                <a:cs typeface="Calibri" pitchFamily="34" charset="-120"/>
              </a:rPr>
              <a:t>07  Related Works — Part 1</a:t>
            </a:r>
            <a:endParaRPr lang="en-US" sz="1150" dirty="0"/>
          </a:p>
          <a:p>
            <a:pPr algn="l" indent="0" marL="0">
              <a:spcAft>
                <a:spcPts val="400"/>
              </a:spcAft>
              <a:buNone/>
            </a:pPr>
            <a:r>
              <a:rPr lang="en-US" sz="1150" dirty="0">
                <a:solidFill>
                  <a:srgbClr val="4A5568"/>
                </a:solidFill>
                <a:latin typeface="Calibri" pitchFamily="34" charset="0"/>
                <a:ea typeface="Calibri" pitchFamily="34" charset="-122"/>
                <a:cs typeface="Calibri" pitchFamily="34" charset="-120"/>
              </a:rPr>
              <a:t>08  Related Works — Part 2</a:t>
            </a:r>
            <a:endParaRPr lang="en-US" sz="1150" dirty="0"/>
          </a:p>
          <a:p>
            <a:pPr algn="l" indent="0" marL="0">
              <a:spcAft>
                <a:spcPts val="400"/>
              </a:spcAft>
              <a:buNone/>
            </a:pPr>
            <a:r>
              <a:rPr lang="en-US" sz="1150" dirty="0">
                <a:solidFill>
                  <a:srgbClr val="4A5568"/>
                </a:solidFill>
                <a:latin typeface="Calibri" pitchFamily="34" charset="0"/>
                <a:ea typeface="Calibri" pitchFamily="34" charset="-122"/>
                <a:cs typeface="Calibri" pitchFamily="34" charset="-120"/>
              </a:rPr>
              <a:t>09  Gap in Literature</a:t>
            </a:r>
            <a:endParaRPr lang="en-US" sz="1150" dirty="0"/>
          </a:p>
          <a:p>
            <a:pPr algn="l" indent="0" marL="0">
              <a:spcAft>
                <a:spcPts val="400"/>
              </a:spcAft>
              <a:buNone/>
            </a:pPr>
            <a:r>
              <a:rPr lang="en-US" sz="1150" dirty="0">
                <a:solidFill>
                  <a:srgbClr val="4A5568"/>
                </a:solidFill>
                <a:latin typeface="Calibri" pitchFamily="34" charset="0"/>
                <a:ea typeface="Calibri" pitchFamily="34" charset="-122"/>
                <a:cs typeface="Calibri" pitchFamily="34" charset="-120"/>
              </a:rPr>
              <a:t>10  Research Methodology</a:t>
            </a:r>
            <a:endParaRPr lang="en-US" sz="1150" dirty="0"/>
          </a:p>
          <a:p>
            <a:pPr algn="l" indent="0" marL="0">
              <a:spcAft>
                <a:spcPts val="400"/>
              </a:spcAft>
              <a:buNone/>
            </a:pPr>
            <a:r>
              <a:rPr lang="en-US" sz="1150" dirty="0">
                <a:solidFill>
                  <a:srgbClr val="4A5568"/>
                </a:solidFill>
                <a:latin typeface="Calibri" pitchFamily="34" charset="0"/>
                <a:ea typeface="Calibri" pitchFamily="34" charset="-122"/>
                <a:cs typeface="Calibri" pitchFamily="34" charset="-120"/>
              </a:rPr>
              <a:t>11  Why This Methodology</a:t>
            </a:r>
            <a:endParaRPr lang="en-US" sz="1150" dirty="0"/>
          </a:p>
          <a:p>
            <a:pPr algn="l" indent="0" marL="0">
              <a:spcAft>
                <a:spcPts val="400"/>
              </a:spcAft>
              <a:buNone/>
            </a:pPr>
            <a:r>
              <a:rPr lang="en-US" sz="1150" dirty="0">
                <a:solidFill>
                  <a:srgbClr val="4A5568"/>
                </a:solidFill>
                <a:latin typeface="Calibri" pitchFamily="34" charset="0"/>
                <a:ea typeface="Calibri" pitchFamily="34" charset="-122"/>
                <a:cs typeface="Calibri" pitchFamily="34" charset="-120"/>
              </a:rPr>
              <a:t>12  Mathematical Model: MobileNetV2</a:t>
            </a:r>
            <a:endParaRPr lang="en-US" sz="1150" dirty="0"/>
          </a:p>
        </p:txBody>
      </p:sp>
      <p:sp>
        <p:nvSpPr>
          <p:cNvPr id="36" name="Text 34"/>
          <p:cNvSpPr/>
          <p:nvPr/>
        </p:nvSpPr>
        <p:spPr>
          <a:xfrm>
            <a:off x="4773168" y="1051560"/>
            <a:ext cx="3840480" cy="3749040"/>
          </a:xfrm>
          <a:prstGeom prst="rect">
            <a:avLst/>
          </a:prstGeom>
          <a:noFill/>
          <a:ln/>
        </p:spPr>
        <p:txBody>
          <a:bodyPr wrap="square" lIns="76200" tIns="76200" rIns="76200" bIns="76200" rtlCol="0" anchor="t"/>
          <a:lstStyle/>
          <a:p>
            <a:pPr algn="l" indent="0" marL="0">
              <a:spcAft>
                <a:spcPts val="400"/>
              </a:spcAft>
              <a:buNone/>
            </a:pPr>
            <a:r>
              <a:rPr lang="en-US" sz="1150" dirty="0">
                <a:solidFill>
                  <a:srgbClr val="4A5568"/>
                </a:solidFill>
                <a:latin typeface="Calibri" pitchFamily="34" charset="0"/>
                <a:ea typeface="Calibri" pitchFamily="34" charset="-122"/>
                <a:cs typeface="Calibri" pitchFamily="34" charset="-120"/>
              </a:rPr>
              <a:t>13  Mathematical Model: Shelf-Life Formula</a:t>
            </a:r>
            <a:endParaRPr lang="en-US" sz="1150" dirty="0"/>
          </a:p>
          <a:p>
            <a:pPr algn="l" indent="0" marL="0">
              <a:spcAft>
                <a:spcPts val="400"/>
              </a:spcAft>
              <a:buNone/>
            </a:pPr>
            <a:r>
              <a:rPr lang="en-US" sz="1150" dirty="0">
                <a:solidFill>
                  <a:srgbClr val="4A5568"/>
                </a:solidFill>
                <a:latin typeface="Calibri" pitchFamily="34" charset="0"/>
                <a:ea typeface="Calibri" pitchFamily="34" charset="-122"/>
                <a:cs typeface="Calibri" pitchFamily="34" charset="-120"/>
              </a:rPr>
              <a:t>14  Mathematical Model: Decision Engine</a:t>
            </a:r>
            <a:endParaRPr lang="en-US" sz="1150" dirty="0"/>
          </a:p>
          <a:p>
            <a:pPr algn="l" indent="0" marL="0">
              <a:spcAft>
                <a:spcPts val="400"/>
              </a:spcAft>
              <a:buNone/>
            </a:pPr>
            <a:r>
              <a:rPr lang="en-US" sz="1150" dirty="0">
                <a:solidFill>
                  <a:srgbClr val="4A5568"/>
                </a:solidFill>
                <a:latin typeface="Calibri" pitchFamily="34" charset="0"/>
                <a:ea typeface="Calibri" pitchFamily="34" charset="-122"/>
                <a:cs typeface="Calibri" pitchFamily="34" charset="-120"/>
              </a:rPr>
              <a:t>15  Mathematical Model: Ethylene Graph</a:t>
            </a:r>
            <a:endParaRPr lang="en-US" sz="1150" dirty="0"/>
          </a:p>
          <a:p>
            <a:pPr algn="l" indent="0" marL="0">
              <a:spcAft>
                <a:spcPts val="400"/>
              </a:spcAft>
              <a:buNone/>
            </a:pPr>
            <a:r>
              <a:rPr lang="en-US" sz="1150" dirty="0">
                <a:solidFill>
                  <a:srgbClr val="4A5568"/>
                </a:solidFill>
                <a:latin typeface="Calibri" pitchFamily="34" charset="0"/>
                <a:ea typeface="Calibri" pitchFamily="34" charset="-122"/>
                <a:cs typeface="Calibri" pitchFamily="34" charset="-120"/>
              </a:rPr>
              <a:t>16  Dataset Overview</a:t>
            </a:r>
            <a:endParaRPr lang="en-US" sz="1150" dirty="0"/>
          </a:p>
          <a:p>
            <a:pPr algn="l" indent="0" marL="0">
              <a:spcAft>
                <a:spcPts val="400"/>
              </a:spcAft>
              <a:buNone/>
            </a:pPr>
            <a:r>
              <a:rPr lang="en-US" sz="1150" dirty="0">
                <a:solidFill>
                  <a:srgbClr val="4A5568"/>
                </a:solidFill>
                <a:latin typeface="Calibri" pitchFamily="34" charset="0"/>
                <a:ea typeface="Calibri" pitchFamily="34" charset="-122"/>
                <a:cs typeface="Calibri" pitchFamily="34" charset="-120"/>
              </a:rPr>
              <a:t>17  Data Preprocessing</a:t>
            </a:r>
            <a:endParaRPr lang="en-US" sz="1150" dirty="0"/>
          </a:p>
          <a:p>
            <a:pPr algn="l" indent="0" marL="0">
              <a:spcAft>
                <a:spcPts val="400"/>
              </a:spcAft>
              <a:buNone/>
            </a:pPr>
            <a:r>
              <a:rPr lang="en-US" sz="1150" dirty="0">
                <a:solidFill>
                  <a:srgbClr val="4A5568"/>
                </a:solidFill>
                <a:latin typeface="Calibri" pitchFamily="34" charset="0"/>
                <a:ea typeface="Calibri" pitchFamily="34" charset="-122"/>
                <a:cs typeface="Calibri" pitchFamily="34" charset="-120"/>
              </a:rPr>
              <a:t>18  Model Training Pipeline</a:t>
            </a:r>
            <a:endParaRPr lang="en-US" sz="1150" dirty="0"/>
          </a:p>
          <a:p>
            <a:pPr algn="l" indent="0" marL="0">
              <a:spcAft>
                <a:spcPts val="400"/>
              </a:spcAft>
              <a:buNone/>
            </a:pPr>
            <a:r>
              <a:rPr lang="en-US" sz="1150" dirty="0">
                <a:solidFill>
                  <a:srgbClr val="4A5568"/>
                </a:solidFill>
                <a:latin typeface="Calibri" pitchFamily="34" charset="0"/>
                <a:ea typeface="Calibri" pitchFamily="34" charset="-122"/>
                <a:cs typeface="Calibri" pitchFamily="34" charset="-120"/>
              </a:rPr>
              <a:t>19  System Architecture</a:t>
            </a:r>
            <a:endParaRPr lang="en-US" sz="1150" dirty="0"/>
          </a:p>
          <a:p>
            <a:pPr algn="l" indent="0" marL="0">
              <a:spcAft>
                <a:spcPts val="400"/>
              </a:spcAft>
              <a:buNone/>
            </a:pPr>
            <a:r>
              <a:rPr lang="en-US" sz="1150" dirty="0">
                <a:solidFill>
                  <a:srgbClr val="4A5568"/>
                </a:solidFill>
                <a:latin typeface="Calibri" pitchFamily="34" charset="0"/>
                <a:ea typeface="Calibri" pitchFamily="34" charset="-122"/>
                <a:cs typeface="Calibri" pitchFamily="34" charset="-120"/>
              </a:rPr>
              <a:t>20  System Design: 7-Layer Pipeline</a:t>
            </a:r>
            <a:endParaRPr lang="en-US" sz="1150" dirty="0"/>
          </a:p>
          <a:p>
            <a:pPr algn="l" indent="0" marL="0">
              <a:spcAft>
                <a:spcPts val="400"/>
              </a:spcAft>
              <a:buNone/>
            </a:pPr>
            <a:r>
              <a:rPr lang="en-US" sz="1150" dirty="0">
                <a:solidFill>
                  <a:srgbClr val="4A5568"/>
                </a:solidFill>
                <a:latin typeface="Calibri" pitchFamily="34" charset="0"/>
                <a:ea typeface="Calibri" pitchFamily="34" charset="-122"/>
                <a:cs typeface="Calibri" pitchFamily="34" charset="-120"/>
              </a:rPr>
              <a:t>21  Implementation Details</a:t>
            </a:r>
            <a:endParaRPr lang="en-US" sz="1150" dirty="0"/>
          </a:p>
          <a:p>
            <a:pPr algn="l" indent="0" marL="0">
              <a:spcAft>
                <a:spcPts val="400"/>
              </a:spcAft>
              <a:buNone/>
            </a:pPr>
            <a:r>
              <a:rPr lang="en-US" sz="1150" dirty="0">
                <a:solidFill>
                  <a:srgbClr val="4A5568"/>
                </a:solidFill>
                <a:latin typeface="Calibri" pitchFamily="34" charset="0"/>
                <a:ea typeface="Calibri" pitchFamily="34" charset="-122"/>
                <a:cs typeface="Calibri" pitchFamily="34" charset="-120"/>
              </a:rPr>
              <a:t>22  System Workflow</a:t>
            </a:r>
            <a:endParaRPr lang="en-US" sz="1150" dirty="0"/>
          </a:p>
          <a:p>
            <a:pPr algn="l" indent="0" marL="0">
              <a:spcAft>
                <a:spcPts val="400"/>
              </a:spcAft>
              <a:buNone/>
            </a:pPr>
            <a:r>
              <a:rPr lang="en-US" sz="1150" dirty="0">
                <a:solidFill>
                  <a:srgbClr val="4A5568"/>
                </a:solidFill>
                <a:latin typeface="Calibri" pitchFamily="34" charset="0"/>
                <a:ea typeface="Calibri" pitchFamily="34" charset="-122"/>
                <a:cs typeface="Calibri" pitchFamily="34" charset="-120"/>
              </a:rPr>
              <a:t>23  Natural Language Generation</a:t>
            </a:r>
            <a:endParaRPr lang="en-US" sz="1150" dirty="0"/>
          </a:p>
          <a:p>
            <a:pPr algn="l" indent="0" marL="0">
              <a:spcAft>
                <a:spcPts val="400"/>
              </a:spcAft>
              <a:buNone/>
            </a:pPr>
            <a:r>
              <a:rPr lang="en-US" sz="1150" dirty="0">
                <a:solidFill>
                  <a:srgbClr val="4A5568"/>
                </a:solidFill>
                <a:latin typeface="Calibri" pitchFamily="34" charset="0"/>
                <a:ea typeface="Calibri" pitchFamily="34" charset="-122"/>
                <a:cs typeface="Calibri" pitchFamily="34" charset="-120"/>
              </a:rPr>
              <a:t>24  Live System: EAT SOON Case</a:t>
            </a:r>
            <a:endParaRPr lang="en-US" sz="1150" dirty="0"/>
          </a:p>
          <a:p>
            <a:pPr algn="l" indent="0" marL="0">
              <a:spcAft>
                <a:spcPts val="400"/>
              </a:spcAft>
              <a:buNone/>
            </a:pPr>
            <a:r>
              <a:rPr lang="en-US" sz="1150" dirty="0">
                <a:solidFill>
                  <a:srgbClr val="4A5568"/>
                </a:solidFill>
                <a:latin typeface="Calibri" pitchFamily="34" charset="0"/>
                <a:ea typeface="Calibri" pitchFamily="34" charset="-122"/>
                <a:cs typeface="Calibri" pitchFamily="34" charset="-120"/>
              </a:rPr>
              <a:t>25  Live System: FRESH Case</a:t>
            </a:r>
            <a:endParaRPr lang="en-US" sz="1150" dirty="0"/>
          </a:p>
          <a:p>
            <a:pPr algn="l" indent="0" marL="0">
              <a:spcAft>
                <a:spcPts val="400"/>
              </a:spcAft>
              <a:buNone/>
            </a:pPr>
            <a:r>
              <a:rPr lang="en-US" sz="1150" dirty="0">
                <a:solidFill>
                  <a:srgbClr val="4A5568"/>
                </a:solidFill>
                <a:latin typeface="Calibri" pitchFamily="34" charset="0"/>
                <a:ea typeface="Calibri" pitchFamily="34" charset="-122"/>
                <a:cs typeface="Calibri" pitchFamily="34" charset="-120"/>
              </a:rPr>
              <a:t>26  Evaluation Results</a:t>
            </a:r>
            <a:endParaRPr lang="en-US" sz="1150" dirty="0"/>
          </a:p>
          <a:p>
            <a:pPr algn="l" indent="0" marL="0">
              <a:spcAft>
                <a:spcPts val="400"/>
              </a:spcAft>
              <a:buNone/>
            </a:pPr>
            <a:r>
              <a:rPr lang="en-US" sz="1150" dirty="0">
                <a:solidFill>
                  <a:srgbClr val="4A5568"/>
                </a:solidFill>
                <a:latin typeface="Calibri" pitchFamily="34" charset="0"/>
                <a:ea typeface="Calibri" pitchFamily="34" charset="-122"/>
                <a:cs typeface="Calibri" pitchFamily="34" charset="-120"/>
              </a:rPr>
              <a:t>27  Headline Performance</a:t>
            </a:r>
            <a:endParaRPr lang="en-US" sz="1150" dirty="0"/>
          </a:p>
          <a:p>
            <a:pPr algn="l" indent="0" marL="0">
              <a:spcAft>
                <a:spcPts val="400"/>
              </a:spcAft>
              <a:buNone/>
            </a:pPr>
            <a:r>
              <a:rPr lang="en-US" sz="1150" dirty="0">
                <a:solidFill>
                  <a:srgbClr val="4A5568"/>
                </a:solidFill>
                <a:latin typeface="Calibri" pitchFamily="34" charset="0"/>
                <a:ea typeface="Calibri" pitchFamily="34" charset="-122"/>
                <a:cs typeface="Calibri" pitchFamily="34" charset="-120"/>
              </a:rPr>
              <a:t>28  State-of-the-Art Comparison</a:t>
            </a:r>
            <a:endParaRPr lang="en-US" sz="1150" dirty="0"/>
          </a:p>
          <a:p>
            <a:pPr algn="l" indent="0" marL="0">
              <a:spcAft>
                <a:spcPts val="400"/>
              </a:spcAft>
              <a:buNone/>
            </a:pPr>
            <a:r>
              <a:rPr lang="en-US" sz="1150" dirty="0">
                <a:solidFill>
                  <a:srgbClr val="4A5568"/>
                </a:solidFill>
                <a:latin typeface="Calibri" pitchFamily="34" charset="0"/>
                <a:ea typeface="Calibri" pitchFamily="34" charset="-122"/>
                <a:cs typeface="Calibri" pitchFamily="34" charset="-120"/>
              </a:rPr>
              <a:t>29  Contributions to Knowledge</a:t>
            </a:r>
            <a:endParaRPr lang="en-US" sz="1150" dirty="0"/>
          </a:p>
          <a:p>
            <a:pPr algn="l" indent="0" marL="0">
              <a:spcAft>
                <a:spcPts val="400"/>
              </a:spcAft>
              <a:buNone/>
            </a:pPr>
            <a:r>
              <a:rPr lang="en-US" sz="1150" dirty="0">
                <a:solidFill>
                  <a:srgbClr val="4A5568"/>
                </a:solidFill>
                <a:latin typeface="Calibri" pitchFamily="34" charset="0"/>
                <a:ea typeface="Calibri" pitchFamily="34" charset="-122"/>
                <a:cs typeface="Calibri" pitchFamily="34" charset="-120"/>
              </a:rPr>
              <a:t>30  Limitations &amp; Future Work</a:t>
            </a:r>
            <a:endParaRPr lang="en-US" sz="1150" dirty="0"/>
          </a:p>
          <a:p>
            <a:pPr algn="l" indent="0" marL="0">
              <a:spcAft>
                <a:spcPts val="400"/>
              </a:spcAft>
              <a:buNone/>
            </a:pPr>
            <a:r>
              <a:rPr lang="en-US" sz="1150" dirty="0">
                <a:solidFill>
                  <a:srgbClr val="4A5568"/>
                </a:solidFill>
                <a:latin typeface="Calibri" pitchFamily="34" charset="0"/>
                <a:ea typeface="Calibri" pitchFamily="34" charset="-122"/>
                <a:cs typeface="Calibri" pitchFamily="34" charset="-120"/>
              </a:rPr>
              <a:t>31  References</a:t>
            </a:r>
            <a:endParaRPr lang="en-US" sz="11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EBEBEB"/>
        </a:solidFill>
      </p:bgPr>
    </p:bg>
    <p:spTree>
      <p:nvGrpSpPr>
        <p:cNvPr id="1" name=""/>
        <p:cNvGrpSpPr/>
        <p:nvPr/>
      </p:nvGrpSpPr>
      <p:grpSpPr>
        <a:xfrm>
          <a:off x="0" y="0"/>
          <a:ext cx="0" cy="0"/>
          <a:chOff x="0" y="0"/>
          <a:chExt cx="0" cy="0"/>
        </a:xfrm>
      </p:grpSpPr>
      <p:sp>
        <p:nvSpPr>
          <p:cNvPr id="2" name="Shape 0"/>
          <p:cNvSpPr/>
          <p:nvPr/>
        </p:nvSpPr>
        <p:spPr>
          <a:xfrm>
            <a:off x="8092440" y="274320"/>
            <a:ext cx="64008" cy="64008"/>
          </a:xfrm>
          <a:prstGeom prst="ellipse">
            <a:avLst/>
          </a:prstGeom>
          <a:solidFill>
            <a:srgbClr val="1A2B4A">
              <a:alpha val="25000"/>
            </a:srgbClr>
          </a:solidFill>
          <a:ln/>
        </p:spPr>
      </p:sp>
      <p:sp>
        <p:nvSpPr>
          <p:cNvPr id="3" name="Shape 1"/>
          <p:cNvSpPr/>
          <p:nvPr/>
        </p:nvSpPr>
        <p:spPr>
          <a:xfrm>
            <a:off x="8293608" y="274320"/>
            <a:ext cx="64008" cy="64008"/>
          </a:xfrm>
          <a:prstGeom prst="ellipse">
            <a:avLst/>
          </a:prstGeom>
          <a:solidFill>
            <a:srgbClr val="1A2B4A">
              <a:alpha val="25000"/>
            </a:srgbClr>
          </a:solidFill>
          <a:ln/>
        </p:spPr>
      </p:sp>
      <p:sp>
        <p:nvSpPr>
          <p:cNvPr id="4" name="Shape 2"/>
          <p:cNvSpPr/>
          <p:nvPr/>
        </p:nvSpPr>
        <p:spPr>
          <a:xfrm>
            <a:off x="8494776" y="274320"/>
            <a:ext cx="64008" cy="64008"/>
          </a:xfrm>
          <a:prstGeom prst="ellipse">
            <a:avLst/>
          </a:prstGeom>
          <a:solidFill>
            <a:srgbClr val="1A2B4A">
              <a:alpha val="25000"/>
            </a:srgbClr>
          </a:solidFill>
          <a:ln/>
        </p:spPr>
      </p:sp>
      <p:sp>
        <p:nvSpPr>
          <p:cNvPr id="5" name="Shape 3"/>
          <p:cNvSpPr/>
          <p:nvPr/>
        </p:nvSpPr>
        <p:spPr>
          <a:xfrm>
            <a:off x="8695944" y="274320"/>
            <a:ext cx="64008" cy="64008"/>
          </a:xfrm>
          <a:prstGeom prst="ellipse">
            <a:avLst/>
          </a:prstGeom>
          <a:solidFill>
            <a:srgbClr val="1A2B4A">
              <a:alpha val="25000"/>
            </a:srgbClr>
          </a:solidFill>
          <a:ln/>
        </p:spPr>
      </p:sp>
      <p:sp>
        <p:nvSpPr>
          <p:cNvPr id="6" name="Shape 4"/>
          <p:cNvSpPr/>
          <p:nvPr/>
        </p:nvSpPr>
        <p:spPr>
          <a:xfrm>
            <a:off x="8897112" y="274320"/>
            <a:ext cx="64008" cy="64008"/>
          </a:xfrm>
          <a:prstGeom prst="ellipse">
            <a:avLst/>
          </a:prstGeom>
          <a:solidFill>
            <a:srgbClr val="1A2B4A">
              <a:alpha val="25000"/>
            </a:srgbClr>
          </a:solidFill>
          <a:ln/>
        </p:spPr>
      </p:sp>
      <p:sp>
        <p:nvSpPr>
          <p:cNvPr id="7" name="Shape 5"/>
          <p:cNvSpPr/>
          <p:nvPr/>
        </p:nvSpPr>
        <p:spPr>
          <a:xfrm>
            <a:off x="8092440" y="475488"/>
            <a:ext cx="64008" cy="64008"/>
          </a:xfrm>
          <a:prstGeom prst="ellipse">
            <a:avLst/>
          </a:prstGeom>
          <a:solidFill>
            <a:srgbClr val="1A2B4A">
              <a:alpha val="25000"/>
            </a:srgbClr>
          </a:solidFill>
          <a:ln/>
        </p:spPr>
      </p:sp>
      <p:sp>
        <p:nvSpPr>
          <p:cNvPr id="8" name="Shape 6"/>
          <p:cNvSpPr/>
          <p:nvPr/>
        </p:nvSpPr>
        <p:spPr>
          <a:xfrm>
            <a:off x="8293608" y="475488"/>
            <a:ext cx="64008" cy="64008"/>
          </a:xfrm>
          <a:prstGeom prst="ellipse">
            <a:avLst/>
          </a:prstGeom>
          <a:solidFill>
            <a:srgbClr val="1A2B4A">
              <a:alpha val="25000"/>
            </a:srgbClr>
          </a:solidFill>
          <a:ln/>
        </p:spPr>
      </p:sp>
      <p:sp>
        <p:nvSpPr>
          <p:cNvPr id="9" name="Shape 7"/>
          <p:cNvSpPr/>
          <p:nvPr/>
        </p:nvSpPr>
        <p:spPr>
          <a:xfrm>
            <a:off x="8494776" y="475488"/>
            <a:ext cx="64008" cy="64008"/>
          </a:xfrm>
          <a:prstGeom prst="ellipse">
            <a:avLst/>
          </a:prstGeom>
          <a:solidFill>
            <a:srgbClr val="1A2B4A">
              <a:alpha val="25000"/>
            </a:srgbClr>
          </a:solidFill>
          <a:ln/>
        </p:spPr>
      </p:sp>
      <p:sp>
        <p:nvSpPr>
          <p:cNvPr id="10" name="Shape 8"/>
          <p:cNvSpPr/>
          <p:nvPr/>
        </p:nvSpPr>
        <p:spPr>
          <a:xfrm>
            <a:off x="8695944" y="475488"/>
            <a:ext cx="64008" cy="64008"/>
          </a:xfrm>
          <a:prstGeom prst="ellipse">
            <a:avLst/>
          </a:prstGeom>
          <a:solidFill>
            <a:srgbClr val="1A2B4A">
              <a:alpha val="25000"/>
            </a:srgbClr>
          </a:solidFill>
          <a:ln/>
        </p:spPr>
      </p:sp>
      <p:sp>
        <p:nvSpPr>
          <p:cNvPr id="11" name="Shape 9"/>
          <p:cNvSpPr/>
          <p:nvPr/>
        </p:nvSpPr>
        <p:spPr>
          <a:xfrm>
            <a:off x="8897112" y="475488"/>
            <a:ext cx="64008" cy="64008"/>
          </a:xfrm>
          <a:prstGeom prst="ellipse">
            <a:avLst/>
          </a:prstGeom>
          <a:solidFill>
            <a:srgbClr val="1A2B4A">
              <a:alpha val="25000"/>
            </a:srgbClr>
          </a:solidFill>
          <a:ln/>
        </p:spPr>
      </p:sp>
      <p:sp>
        <p:nvSpPr>
          <p:cNvPr id="12" name="Shape 10"/>
          <p:cNvSpPr/>
          <p:nvPr/>
        </p:nvSpPr>
        <p:spPr>
          <a:xfrm>
            <a:off x="8092440" y="676656"/>
            <a:ext cx="64008" cy="64008"/>
          </a:xfrm>
          <a:prstGeom prst="ellipse">
            <a:avLst/>
          </a:prstGeom>
          <a:solidFill>
            <a:srgbClr val="1A2B4A">
              <a:alpha val="25000"/>
            </a:srgbClr>
          </a:solidFill>
          <a:ln/>
        </p:spPr>
      </p:sp>
      <p:sp>
        <p:nvSpPr>
          <p:cNvPr id="13" name="Shape 11"/>
          <p:cNvSpPr/>
          <p:nvPr/>
        </p:nvSpPr>
        <p:spPr>
          <a:xfrm>
            <a:off x="8293608" y="676656"/>
            <a:ext cx="64008" cy="64008"/>
          </a:xfrm>
          <a:prstGeom prst="ellipse">
            <a:avLst/>
          </a:prstGeom>
          <a:solidFill>
            <a:srgbClr val="1A2B4A">
              <a:alpha val="25000"/>
            </a:srgbClr>
          </a:solidFill>
          <a:ln/>
        </p:spPr>
      </p:sp>
      <p:sp>
        <p:nvSpPr>
          <p:cNvPr id="14" name="Shape 12"/>
          <p:cNvSpPr/>
          <p:nvPr/>
        </p:nvSpPr>
        <p:spPr>
          <a:xfrm>
            <a:off x="8494776" y="676656"/>
            <a:ext cx="64008" cy="64008"/>
          </a:xfrm>
          <a:prstGeom prst="ellipse">
            <a:avLst/>
          </a:prstGeom>
          <a:solidFill>
            <a:srgbClr val="1A2B4A">
              <a:alpha val="25000"/>
            </a:srgbClr>
          </a:solidFill>
          <a:ln/>
        </p:spPr>
      </p:sp>
      <p:sp>
        <p:nvSpPr>
          <p:cNvPr id="15" name="Shape 13"/>
          <p:cNvSpPr/>
          <p:nvPr/>
        </p:nvSpPr>
        <p:spPr>
          <a:xfrm>
            <a:off x="8695944" y="676656"/>
            <a:ext cx="64008" cy="64008"/>
          </a:xfrm>
          <a:prstGeom prst="ellipse">
            <a:avLst/>
          </a:prstGeom>
          <a:solidFill>
            <a:srgbClr val="1A2B4A">
              <a:alpha val="25000"/>
            </a:srgbClr>
          </a:solidFill>
          <a:ln/>
        </p:spPr>
      </p:sp>
      <p:sp>
        <p:nvSpPr>
          <p:cNvPr id="16" name="Shape 14"/>
          <p:cNvSpPr/>
          <p:nvPr/>
        </p:nvSpPr>
        <p:spPr>
          <a:xfrm>
            <a:off x="8897112" y="676656"/>
            <a:ext cx="64008" cy="64008"/>
          </a:xfrm>
          <a:prstGeom prst="ellipse">
            <a:avLst/>
          </a:prstGeom>
          <a:solidFill>
            <a:srgbClr val="1A2B4A">
              <a:alpha val="25000"/>
            </a:srgbClr>
          </a:solidFill>
          <a:ln/>
        </p:spPr>
      </p:sp>
      <p:sp>
        <p:nvSpPr>
          <p:cNvPr id="17" name="Shape 15"/>
          <p:cNvSpPr/>
          <p:nvPr/>
        </p:nvSpPr>
        <p:spPr>
          <a:xfrm>
            <a:off x="8092440" y="877824"/>
            <a:ext cx="64008" cy="64008"/>
          </a:xfrm>
          <a:prstGeom prst="ellipse">
            <a:avLst/>
          </a:prstGeom>
          <a:solidFill>
            <a:srgbClr val="1A2B4A">
              <a:alpha val="25000"/>
            </a:srgbClr>
          </a:solidFill>
          <a:ln/>
        </p:spPr>
      </p:sp>
      <p:sp>
        <p:nvSpPr>
          <p:cNvPr id="18" name="Shape 16"/>
          <p:cNvSpPr/>
          <p:nvPr/>
        </p:nvSpPr>
        <p:spPr>
          <a:xfrm>
            <a:off x="8293608" y="877824"/>
            <a:ext cx="64008" cy="64008"/>
          </a:xfrm>
          <a:prstGeom prst="ellipse">
            <a:avLst/>
          </a:prstGeom>
          <a:solidFill>
            <a:srgbClr val="1A2B4A">
              <a:alpha val="25000"/>
            </a:srgbClr>
          </a:solidFill>
          <a:ln/>
        </p:spPr>
      </p:sp>
      <p:sp>
        <p:nvSpPr>
          <p:cNvPr id="19" name="Shape 17"/>
          <p:cNvSpPr/>
          <p:nvPr/>
        </p:nvSpPr>
        <p:spPr>
          <a:xfrm>
            <a:off x="8494776" y="877824"/>
            <a:ext cx="64008" cy="64008"/>
          </a:xfrm>
          <a:prstGeom prst="ellipse">
            <a:avLst/>
          </a:prstGeom>
          <a:solidFill>
            <a:srgbClr val="1A2B4A">
              <a:alpha val="25000"/>
            </a:srgbClr>
          </a:solidFill>
          <a:ln/>
        </p:spPr>
      </p:sp>
      <p:sp>
        <p:nvSpPr>
          <p:cNvPr id="20" name="Shape 18"/>
          <p:cNvSpPr/>
          <p:nvPr/>
        </p:nvSpPr>
        <p:spPr>
          <a:xfrm>
            <a:off x="8695944" y="877824"/>
            <a:ext cx="64008" cy="64008"/>
          </a:xfrm>
          <a:prstGeom prst="ellipse">
            <a:avLst/>
          </a:prstGeom>
          <a:solidFill>
            <a:srgbClr val="1A2B4A">
              <a:alpha val="25000"/>
            </a:srgbClr>
          </a:solidFill>
          <a:ln/>
        </p:spPr>
      </p:sp>
      <p:sp>
        <p:nvSpPr>
          <p:cNvPr id="21" name="Shape 19"/>
          <p:cNvSpPr/>
          <p:nvPr/>
        </p:nvSpPr>
        <p:spPr>
          <a:xfrm>
            <a:off x="8897112" y="877824"/>
            <a:ext cx="64008" cy="64008"/>
          </a:xfrm>
          <a:prstGeom prst="ellipse">
            <a:avLst/>
          </a:prstGeom>
          <a:solidFill>
            <a:srgbClr val="1A2B4A">
              <a:alpha val="25000"/>
            </a:srgbClr>
          </a:solidFill>
          <a:ln/>
        </p:spPr>
      </p:sp>
      <p:sp>
        <p:nvSpPr>
          <p:cNvPr id="22" name="Shape 20"/>
          <p:cNvSpPr/>
          <p:nvPr/>
        </p:nvSpPr>
        <p:spPr>
          <a:xfrm>
            <a:off x="8092440" y="1078992"/>
            <a:ext cx="64008" cy="64008"/>
          </a:xfrm>
          <a:prstGeom prst="ellipse">
            <a:avLst/>
          </a:prstGeom>
          <a:solidFill>
            <a:srgbClr val="1A2B4A">
              <a:alpha val="25000"/>
            </a:srgbClr>
          </a:solidFill>
          <a:ln/>
        </p:spPr>
      </p:sp>
      <p:sp>
        <p:nvSpPr>
          <p:cNvPr id="23" name="Shape 21"/>
          <p:cNvSpPr/>
          <p:nvPr/>
        </p:nvSpPr>
        <p:spPr>
          <a:xfrm>
            <a:off x="8293608" y="1078992"/>
            <a:ext cx="64008" cy="64008"/>
          </a:xfrm>
          <a:prstGeom prst="ellipse">
            <a:avLst/>
          </a:prstGeom>
          <a:solidFill>
            <a:srgbClr val="1A2B4A">
              <a:alpha val="25000"/>
            </a:srgbClr>
          </a:solidFill>
          <a:ln/>
        </p:spPr>
      </p:sp>
      <p:sp>
        <p:nvSpPr>
          <p:cNvPr id="24" name="Shape 22"/>
          <p:cNvSpPr/>
          <p:nvPr/>
        </p:nvSpPr>
        <p:spPr>
          <a:xfrm>
            <a:off x="8494776" y="1078992"/>
            <a:ext cx="64008" cy="64008"/>
          </a:xfrm>
          <a:prstGeom prst="ellipse">
            <a:avLst/>
          </a:prstGeom>
          <a:solidFill>
            <a:srgbClr val="1A2B4A">
              <a:alpha val="25000"/>
            </a:srgbClr>
          </a:solidFill>
          <a:ln/>
        </p:spPr>
      </p:sp>
      <p:sp>
        <p:nvSpPr>
          <p:cNvPr id="25" name="Shape 23"/>
          <p:cNvSpPr/>
          <p:nvPr/>
        </p:nvSpPr>
        <p:spPr>
          <a:xfrm>
            <a:off x="8695944" y="1078992"/>
            <a:ext cx="64008" cy="64008"/>
          </a:xfrm>
          <a:prstGeom prst="ellipse">
            <a:avLst/>
          </a:prstGeom>
          <a:solidFill>
            <a:srgbClr val="1A2B4A">
              <a:alpha val="25000"/>
            </a:srgbClr>
          </a:solidFill>
          <a:ln/>
        </p:spPr>
      </p:sp>
      <p:sp>
        <p:nvSpPr>
          <p:cNvPr id="26" name="Shape 24"/>
          <p:cNvSpPr/>
          <p:nvPr/>
        </p:nvSpPr>
        <p:spPr>
          <a:xfrm>
            <a:off x="8897112" y="1078992"/>
            <a:ext cx="64008" cy="64008"/>
          </a:xfrm>
          <a:prstGeom prst="ellipse">
            <a:avLst/>
          </a:prstGeom>
          <a:solidFill>
            <a:srgbClr val="1A2B4A">
              <a:alpha val="25000"/>
            </a:srgbClr>
          </a:solidFill>
          <a:ln/>
        </p:spPr>
      </p:sp>
      <p:sp>
        <p:nvSpPr>
          <p:cNvPr id="27" name="Shape 25"/>
          <p:cNvSpPr/>
          <p:nvPr/>
        </p:nvSpPr>
        <p:spPr>
          <a:xfrm>
            <a:off x="7772400" y="3474720"/>
            <a:ext cx="1828800" cy="1828800"/>
          </a:xfrm>
          <a:prstGeom prst="ellipse">
            <a:avLst/>
          </a:prstGeom>
          <a:ln w="19050">
            <a:solidFill>
              <a:srgbClr val="1A2B4A">
                <a:alpha val="18000"/>
              </a:srgbClr>
            </a:solidFill>
            <a:prstDash val="solid"/>
          </a:ln>
        </p:spPr>
      </p:sp>
      <p:sp>
        <p:nvSpPr>
          <p:cNvPr id="28" name="Shape 26"/>
          <p:cNvSpPr/>
          <p:nvPr/>
        </p:nvSpPr>
        <p:spPr>
          <a:xfrm>
            <a:off x="8074152" y="3776472"/>
            <a:ext cx="1225296" cy="1225296"/>
          </a:xfrm>
          <a:prstGeom prst="ellipse">
            <a:avLst/>
          </a:prstGeom>
          <a:ln w="19050">
            <a:solidFill>
              <a:srgbClr val="3B5FA0">
                <a:alpha val="25000"/>
              </a:srgbClr>
            </a:solidFill>
            <a:prstDash val="solid"/>
          </a:ln>
        </p:spPr>
      </p:sp>
      <p:sp>
        <p:nvSpPr>
          <p:cNvPr id="29" name="Shape 27"/>
          <p:cNvSpPr/>
          <p:nvPr/>
        </p:nvSpPr>
        <p:spPr>
          <a:xfrm>
            <a:off x="8339328" y="4041648"/>
            <a:ext cx="694944" cy="694944"/>
          </a:xfrm>
          <a:prstGeom prst="ellipse">
            <a:avLst/>
          </a:prstGeom>
          <a:ln w="19050">
            <a:solidFill>
              <a:srgbClr val="3A8C7E">
                <a:alpha val="32000"/>
              </a:srgbClr>
            </a:solidFill>
            <a:prstDash val="solid"/>
          </a:ln>
        </p:spPr>
      </p:sp>
      <p:sp>
        <p:nvSpPr>
          <p:cNvPr id="30" name="Text 28"/>
          <p:cNvSpPr/>
          <p:nvPr/>
        </p:nvSpPr>
        <p:spPr>
          <a:xfrm>
            <a:off x="411480" y="292608"/>
            <a:ext cx="8321040" cy="530352"/>
          </a:xfrm>
          <a:prstGeom prst="rect">
            <a:avLst/>
          </a:prstGeom>
          <a:noFill/>
          <a:ln/>
        </p:spPr>
        <p:txBody>
          <a:bodyPr wrap="square" lIns="0" tIns="0" rIns="0" bIns="0" rtlCol="0" anchor="ctr"/>
          <a:lstStyle/>
          <a:p>
            <a:pPr algn="l" indent="0" marL="0">
              <a:buNone/>
            </a:pPr>
            <a:r>
              <a:rPr lang="en-US" sz="2800" b="1" dirty="0">
                <a:solidFill>
                  <a:srgbClr val="1A2B4A"/>
                </a:solidFill>
                <a:latin typeface="Cambria" pitchFamily="34" charset="0"/>
                <a:ea typeface="Cambria" pitchFamily="34" charset="-122"/>
                <a:cs typeface="Cambria" pitchFamily="34" charset="-120"/>
              </a:rPr>
              <a:t>Definition of Terms</a:t>
            </a:r>
            <a:endParaRPr lang="en-US" sz="2800" dirty="0"/>
          </a:p>
        </p:txBody>
      </p:sp>
      <p:sp>
        <p:nvSpPr>
          <p:cNvPr id="31" name="Shape 29"/>
          <p:cNvSpPr/>
          <p:nvPr/>
        </p:nvSpPr>
        <p:spPr>
          <a:xfrm>
            <a:off x="411480" y="868680"/>
            <a:ext cx="8229600" cy="0"/>
          </a:xfrm>
          <a:prstGeom prst="line">
            <a:avLst/>
          </a:prstGeom>
          <a:noFill/>
          <a:ln w="19050">
            <a:solidFill>
              <a:srgbClr val="3A8C7E">
                <a:alpha val="60000"/>
              </a:srgbClr>
            </a:solidFill>
            <a:prstDash val="solid"/>
          </a:ln>
        </p:spPr>
      </p:sp>
      <p:sp>
        <p:nvSpPr>
          <p:cNvPr id="32" name="Shape 30"/>
          <p:cNvSpPr/>
          <p:nvPr/>
        </p:nvSpPr>
        <p:spPr>
          <a:xfrm>
            <a:off x="411480" y="950976"/>
            <a:ext cx="8229600" cy="0"/>
          </a:xfrm>
          <a:prstGeom prst="line">
            <a:avLst/>
          </a:prstGeom>
          <a:noFill/>
          <a:ln w="10160">
            <a:solidFill>
              <a:srgbClr val="1A2B4A">
                <a:alpha val="45000"/>
              </a:srgbClr>
            </a:solidFill>
            <a:prstDash val="solid"/>
          </a:ln>
        </p:spPr>
      </p:sp>
      <p:sp>
        <p:nvSpPr>
          <p:cNvPr id="33" name="Shape 31"/>
          <p:cNvSpPr/>
          <p:nvPr/>
        </p:nvSpPr>
        <p:spPr>
          <a:xfrm>
            <a:off x="484632" y="1005840"/>
            <a:ext cx="402336" cy="402336"/>
          </a:xfrm>
          <a:prstGeom prst="ellipse">
            <a:avLst/>
          </a:prstGeom>
          <a:solidFill>
            <a:srgbClr val="3A8C7E"/>
          </a:solidFill>
          <a:ln/>
        </p:spPr>
      </p:sp>
      <p:sp>
        <p:nvSpPr>
          <p:cNvPr id="34" name="Text 32"/>
          <p:cNvSpPr/>
          <p:nvPr/>
        </p:nvSpPr>
        <p:spPr>
          <a:xfrm>
            <a:off x="484632" y="1005840"/>
            <a:ext cx="402336" cy="402336"/>
          </a:xfrm>
          <a:prstGeom prst="rect">
            <a:avLst/>
          </a:prstGeom>
          <a:noFill/>
          <a:ln/>
        </p:spPr>
        <p:txBody>
          <a:bodyPr wrap="square" lIns="0" tIns="0" rIns="0" bIns="0" rtlCol="0" anchor="ctr"/>
          <a:lstStyle/>
          <a:p>
            <a:pPr algn="ctr" indent="0" marL="0">
              <a:buNone/>
            </a:pPr>
            <a:r>
              <a:rPr lang="en-US" sz="1100" b="1" dirty="0">
                <a:solidFill>
                  <a:srgbClr val="FFFFFF"/>
                </a:solidFill>
              </a:rPr>
              <a:t>I</a:t>
            </a:r>
            <a:endParaRPr lang="en-US" sz="1100" dirty="0"/>
          </a:p>
        </p:txBody>
      </p:sp>
      <p:sp>
        <p:nvSpPr>
          <p:cNvPr id="35" name="Text 33"/>
          <p:cNvSpPr/>
          <p:nvPr/>
        </p:nvSpPr>
        <p:spPr>
          <a:xfrm>
            <a:off x="1005840" y="1005840"/>
            <a:ext cx="7680960" cy="256032"/>
          </a:xfrm>
          <a:prstGeom prst="rect">
            <a:avLst/>
          </a:prstGeom>
          <a:noFill/>
          <a:ln/>
        </p:spPr>
        <p:txBody>
          <a:bodyPr wrap="square" lIns="0" tIns="0" rIns="0" bIns="0" rtlCol="0" anchor="ctr"/>
          <a:lstStyle/>
          <a:p>
            <a:pPr algn="l" indent="0" marL="0">
              <a:buNone/>
            </a:pPr>
            <a:r>
              <a:rPr lang="en-US" sz="1300" b="1" dirty="0">
                <a:solidFill>
                  <a:srgbClr val="1A2B4A"/>
                </a:solidFill>
                <a:latin typeface="Calibri" pitchFamily="34" charset="0"/>
                <a:ea typeface="Calibri" pitchFamily="34" charset="-122"/>
                <a:cs typeface="Calibri" pitchFamily="34" charset="-120"/>
              </a:rPr>
              <a:t>Convolutional Neural Network (CNN)</a:t>
            </a:r>
            <a:endParaRPr lang="en-US" sz="1300" dirty="0"/>
          </a:p>
        </p:txBody>
      </p:sp>
      <p:sp>
        <p:nvSpPr>
          <p:cNvPr id="36" name="Text 34"/>
          <p:cNvSpPr/>
          <p:nvPr/>
        </p:nvSpPr>
        <p:spPr>
          <a:xfrm>
            <a:off x="1005840" y="1261872"/>
            <a:ext cx="7635240" cy="548640"/>
          </a:xfrm>
          <a:prstGeom prst="rect">
            <a:avLst/>
          </a:prstGeom>
          <a:noFill/>
          <a:ln/>
        </p:spPr>
        <p:txBody>
          <a:bodyPr wrap="square" lIns="0" tIns="0" rIns="0" bIns="0" rtlCol="0" anchor="ctr"/>
          <a:lstStyle/>
          <a:p>
            <a:pPr algn="l" indent="0" marL="0">
              <a:buNone/>
            </a:pPr>
            <a:r>
              <a:rPr lang="en-US" sz="1150" dirty="0">
                <a:solidFill>
                  <a:srgbClr val="4A5568"/>
                </a:solidFill>
                <a:latin typeface="Calibri" pitchFamily="34" charset="0"/>
                <a:ea typeface="Calibri" pitchFamily="34" charset="-122"/>
                <a:cs typeface="Calibri" pitchFamily="34" charset="-120"/>
              </a:rPr>
              <a:t>A deep learning architecture that learns spatial hierarchies of features through convolution operations — the computational engine that looks at a fruit photograph and extracts visual patterns meaningful for classification.</a:t>
            </a:r>
            <a:endParaRPr lang="en-US" sz="1150" dirty="0"/>
          </a:p>
        </p:txBody>
      </p:sp>
      <p:sp>
        <p:nvSpPr>
          <p:cNvPr id="37" name="Shape 35"/>
          <p:cNvSpPr/>
          <p:nvPr/>
        </p:nvSpPr>
        <p:spPr>
          <a:xfrm>
            <a:off x="484632" y="1965960"/>
            <a:ext cx="402336" cy="402336"/>
          </a:xfrm>
          <a:prstGeom prst="ellipse">
            <a:avLst/>
          </a:prstGeom>
          <a:solidFill>
            <a:srgbClr val="3A8C7E"/>
          </a:solidFill>
          <a:ln/>
        </p:spPr>
      </p:sp>
      <p:sp>
        <p:nvSpPr>
          <p:cNvPr id="38" name="Text 36"/>
          <p:cNvSpPr/>
          <p:nvPr/>
        </p:nvSpPr>
        <p:spPr>
          <a:xfrm>
            <a:off x="484632" y="1965960"/>
            <a:ext cx="402336" cy="402336"/>
          </a:xfrm>
          <a:prstGeom prst="rect">
            <a:avLst/>
          </a:prstGeom>
          <a:noFill/>
          <a:ln/>
        </p:spPr>
        <p:txBody>
          <a:bodyPr wrap="square" lIns="0" tIns="0" rIns="0" bIns="0" rtlCol="0" anchor="ctr"/>
          <a:lstStyle/>
          <a:p>
            <a:pPr algn="ctr" indent="0" marL="0">
              <a:buNone/>
            </a:pPr>
            <a:r>
              <a:rPr lang="en-US" sz="1100" b="1" dirty="0">
                <a:solidFill>
                  <a:srgbClr val="FFFFFF"/>
                </a:solidFill>
              </a:rPr>
              <a:t>II</a:t>
            </a:r>
            <a:endParaRPr lang="en-US" sz="1100" dirty="0"/>
          </a:p>
        </p:txBody>
      </p:sp>
      <p:sp>
        <p:nvSpPr>
          <p:cNvPr id="39" name="Text 37"/>
          <p:cNvSpPr/>
          <p:nvPr/>
        </p:nvSpPr>
        <p:spPr>
          <a:xfrm>
            <a:off x="1005840" y="1965960"/>
            <a:ext cx="7680960" cy="256032"/>
          </a:xfrm>
          <a:prstGeom prst="rect">
            <a:avLst/>
          </a:prstGeom>
          <a:noFill/>
          <a:ln/>
        </p:spPr>
        <p:txBody>
          <a:bodyPr wrap="square" lIns="0" tIns="0" rIns="0" bIns="0" rtlCol="0" anchor="ctr"/>
          <a:lstStyle/>
          <a:p>
            <a:pPr algn="l" indent="0" marL="0">
              <a:buNone/>
            </a:pPr>
            <a:r>
              <a:rPr lang="en-US" sz="1300" b="1" dirty="0">
                <a:solidFill>
                  <a:srgbClr val="1A2B4A"/>
                </a:solidFill>
                <a:latin typeface="Calibri" pitchFamily="34" charset="0"/>
                <a:ea typeface="Calibri" pitchFamily="34" charset="-122"/>
                <a:cs typeface="Calibri" pitchFamily="34" charset="-120"/>
              </a:rPr>
              <a:t>Transfer Learning</a:t>
            </a:r>
            <a:endParaRPr lang="en-US" sz="1300" dirty="0"/>
          </a:p>
        </p:txBody>
      </p:sp>
      <p:sp>
        <p:nvSpPr>
          <p:cNvPr id="40" name="Text 38"/>
          <p:cNvSpPr/>
          <p:nvPr/>
        </p:nvSpPr>
        <p:spPr>
          <a:xfrm>
            <a:off x="1005840" y="2221992"/>
            <a:ext cx="7635240" cy="548640"/>
          </a:xfrm>
          <a:prstGeom prst="rect">
            <a:avLst/>
          </a:prstGeom>
          <a:noFill/>
          <a:ln/>
        </p:spPr>
        <p:txBody>
          <a:bodyPr wrap="square" lIns="0" tIns="0" rIns="0" bIns="0" rtlCol="0" anchor="ctr"/>
          <a:lstStyle/>
          <a:p>
            <a:pPr algn="l" indent="0" marL="0">
              <a:buNone/>
            </a:pPr>
            <a:r>
              <a:rPr lang="en-US" sz="1150" dirty="0">
                <a:solidFill>
                  <a:srgbClr val="4A5568"/>
                </a:solidFill>
                <a:latin typeface="Calibri" pitchFamily="34" charset="0"/>
                <a:ea typeface="Calibri" pitchFamily="34" charset="-122"/>
                <a:cs typeface="Calibri" pitchFamily="34" charset="-120"/>
              </a:rPr>
              <a:t>Reusing a model pre-trained on a large dataset (ImageNet) as the starting point for a new task (fruit freshness). Enables high accuracy on small domain-specific datasets by leveraging learned visual features — edges, textures, shapes.</a:t>
            </a:r>
            <a:endParaRPr lang="en-US" sz="1150" dirty="0"/>
          </a:p>
        </p:txBody>
      </p:sp>
      <p:sp>
        <p:nvSpPr>
          <p:cNvPr id="41" name="Shape 39"/>
          <p:cNvSpPr/>
          <p:nvPr/>
        </p:nvSpPr>
        <p:spPr>
          <a:xfrm>
            <a:off x="484632" y="2926080"/>
            <a:ext cx="402336" cy="402336"/>
          </a:xfrm>
          <a:prstGeom prst="ellipse">
            <a:avLst/>
          </a:prstGeom>
          <a:solidFill>
            <a:srgbClr val="3A8C7E"/>
          </a:solidFill>
          <a:ln/>
        </p:spPr>
      </p:sp>
      <p:sp>
        <p:nvSpPr>
          <p:cNvPr id="42" name="Text 40"/>
          <p:cNvSpPr/>
          <p:nvPr/>
        </p:nvSpPr>
        <p:spPr>
          <a:xfrm>
            <a:off x="484632" y="2926080"/>
            <a:ext cx="402336" cy="402336"/>
          </a:xfrm>
          <a:prstGeom prst="rect">
            <a:avLst/>
          </a:prstGeom>
          <a:noFill/>
          <a:ln/>
        </p:spPr>
        <p:txBody>
          <a:bodyPr wrap="square" lIns="0" tIns="0" rIns="0" bIns="0" rtlCol="0" anchor="ctr"/>
          <a:lstStyle/>
          <a:p>
            <a:pPr algn="ctr" indent="0" marL="0">
              <a:buNone/>
            </a:pPr>
            <a:r>
              <a:rPr lang="en-US" sz="1100" b="1" dirty="0">
                <a:solidFill>
                  <a:srgbClr val="FFFFFF"/>
                </a:solidFill>
              </a:rPr>
              <a:t>III</a:t>
            </a:r>
            <a:endParaRPr lang="en-US" sz="1100" dirty="0"/>
          </a:p>
        </p:txBody>
      </p:sp>
      <p:sp>
        <p:nvSpPr>
          <p:cNvPr id="43" name="Text 41"/>
          <p:cNvSpPr/>
          <p:nvPr/>
        </p:nvSpPr>
        <p:spPr>
          <a:xfrm>
            <a:off x="1005840" y="2926080"/>
            <a:ext cx="7680960" cy="256032"/>
          </a:xfrm>
          <a:prstGeom prst="rect">
            <a:avLst/>
          </a:prstGeom>
          <a:noFill/>
          <a:ln/>
        </p:spPr>
        <p:txBody>
          <a:bodyPr wrap="square" lIns="0" tIns="0" rIns="0" bIns="0" rtlCol="0" anchor="ctr"/>
          <a:lstStyle/>
          <a:p>
            <a:pPr algn="l" indent="0" marL="0">
              <a:buNone/>
            </a:pPr>
            <a:r>
              <a:rPr lang="en-US" sz="1300" b="1" dirty="0">
                <a:solidFill>
                  <a:srgbClr val="1A2B4A"/>
                </a:solidFill>
                <a:latin typeface="Calibri" pitchFamily="34" charset="0"/>
                <a:ea typeface="Calibri" pitchFamily="34" charset="-122"/>
                <a:cs typeface="Calibri" pitchFamily="34" charset="-120"/>
              </a:rPr>
              <a:t>MobileNetV2</a:t>
            </a:r>
            <a:endParaRPr lang="en-US" sz="1300" dirty="0"/>
          </a:p>
        </p:txBody>
      </p:sp>
      <p:sp>
        <p:nvSpPr>
          <p:cNvPr id="44" name="Text 42"/>
          <p:cNvSpPr/>
          <p:nvPr/>
        </p:nvSpPr>
        <p:spPr>
          <a:xfrm>
            <a:off x="1005840" y="3182112"/>
            <a:ext cx="7635240" cy="548640"/>
          </a:xfrm>
          <a:prstGeom prst="rect">
            <a:avLst/>
          </a:prstGeom>
          <a:noFill/>
          <a:ln/>
        </p:spPr>
        <p:txBody>
          <a:bodyPr wrap="square" lIns="0" tIns="0" rIns="0" bIns="0" rtlCol="0" anchor="ctr"/>
          <a:lstStyle/>
          <a:p>
            <a:pPr algn="l" indent="0" marL="0">
              <a:buNone/>
            </a:pPr>
            <a:r>
              <a:rPr lang="en-US" sz="1150" dirty="0">
                <a:solidFill>
                  <a:srgbClr val="4A5568"/>
                </a:solidFill>
                <a:latin typeface="Calibri" pitchFamily="34" charset="0"/>
                <a:ea typeface="Calibri" pitchFamily="34" charset="-122"/>
                <a:cs typeface="Calibri" pitchFamily="34" charset="-120"/>
              </a:rPr>
              <a:t>Google's efficient CNN architecture using depthwise separable convolutions and inverted residual blocks. Achieves ImageNet-grade accuracy at 11.6 MB — small enough to load at server startup and infer in ~380 ms on commodity CPU hardware.</a:t>
            </a:r>
            <a:endParaRPr lang="en-US" sz="1150" dirty="0"/>
          </a:p>
        </p:txBody>
      </p:sp>
      <p:sp>
        <p:nvSpPr>
          <p:cNvPr id="45" name="Shape 43"/>
          <p:cNvSpPr/>
          <p:nvPr/>
        </p:nvSpPr>
        <p:spPr>
          <a:xfrm>
            <a:off x="484632" y="3886200"/>
            <a:ext cx="402336" cy="402336"/>
          </a:xfrm>
          <a:prstGeom prst="ellipse">
            <a:avLst/>
          </a:prstGeom>
          <a:solidFill>
            <a:srgbClr val="3A8C7E"/>
          </a:solidFill>
          <a:ln/>
        </p:spPr>
      </p:sp>
      <p:sp>
        <p:nvSpPr>
          <p:cNvPr id="46" name="Text 44"/>
          <p:cNvSpPr/>
          <p:nvPr/>
        </p:nvSpPr>
        <p:spPr>
          <a:xfrm>
            <a:off x="484632" y="3886200"/>
            <a:ext cx="402336" cy="402336"/>
          </a:xfrm>
          <a:prstGeom prst="rect">
            <a:avLst/>
          </a:prstGeom>
          <a:noFill/>
          <a:ln/>
        </p:spPr>
        <p:txBody>
          <a:bodyPr wrap="square" lIns="0" tIns="0" rIns="0" bIns="0" rtlCol="0" anchor="ctr"/>
          <a:lstStyle/>
          <a:p>
            <a:pPr algn="ctr" indent="0" marL="0">
              <a:buNone/>
            </a:pPr>
            <a:r>
              <a:rPr lang="en-US" sz="1100" b="1" dirty="0">
                <a:solidFill>
                  <a:srgbClr val="FFFFFF"/>
                </a:solidFill>
              </a:rPr>
              <a:t>IV</a:t>
            </a:r>
            <a:endParaRPr lang="en-US" sz="1100" dirty="0"/>
          </a:p>
        </p:txBody>
      </p:sp>
      <p:sp>
        <p:nvSpPr>
          <p:cNvPr id="47" name="Text 45"/>
          <p:cNvSpPr/>
          <p:nvPr/>
        </p:nvSpPr>
        <p:spPr>
          <a:xfrm>
            <a:off x="1005840" y="3886200"/>
            <a:ext cx="7680960" cy="256032"/>
          </a:xfrm>
          <a:prstGeom prst="rect">
            <a:avLst/>
          </a:prstGeom>
          <a:noFill/>
          <a:ln/>
        </p:spPr>
        <p:txBody>
          <a:bodyPr wrap="square" lIns="0" tIns="0" rIns="0" bIns="0" rtlCol="0" anchor="ctr"/>
          <a:lstStyle/>
          <a:p>
            <a:pPr algn="l" indent="0" marL="0">
              <a:buNone/>
            </a:pPr>
            <a:r>
              <a:rPr lang="en-US" sz="1300" b="1" dirty="0">
                <a:solidFill>
                  <a:srgbClr val="1A2B4A"/>
                </a:solidFill>
                <a:latin typeface="Calibri" pitchFamily="34" charset="0"/>
                <a:ea typeface="Calibri" pitchFamily="34" charset="-122"/>
                <a:cs typeface="Calibri" pitchFamily="34" charset="-120"/>
              </a:rPr>
              <a:t>Freshness Score</a:t>
            </a:r>
            <a:endParaRPr lang="en-US" sz="1300" dirty="0"/>
          </a:p>
        </p:txBody>
      </p:sp>
      <p:sp>
        <p:nvSpPr>
          <p:cNvPr id="48" name="Text 46"/>
          <p:cNvSpPr/>
          <p:nvPr/>
        </p:nvSpPr>
        <p:spPr>
          <a:xfrm>
            <a:off x="1005840" y="4142232"/>
            <a:ext cx="7635240" cy="548640"/>
          </a:xfrm>
          <a:prstGeom prst="rect">
            <a:avLst/>
          </a:prstGeom>
          <a:noFill/>
          <a:ln/>
        </p:spPr>
        <p:txBody>
          <a:bodyPr wrap="square" lIns="0" tIns="0" rIns="0" bIns="0" rtlCol="0" anchor="ctr"/>
          <a:lstStyle/>
          <a:p>
            <a:pPr algn="l" indent="0" marL="0">
              <a:buNone/>
            </a:pPr>
            <a:r>
              <a:rPr lang="en-US" sz="1150" dirty="0">
                <a:solidFill>
                  <a:srgbClr val="4A5568"/>
                </a:solidFill>
                <a:latin typeface="Calibri" pitchFamily="34" charset="0"/>
                <a:ea typeface="Calibri" pitchFamily="34" charset="-122"/>
                <a:cs typeface="Calibri" pitchFamily="34" charset="-120"/>
              </a:rPr>
              <a:t>A continuous value ∈ [0.0, 1.0] derived from the classifier's predicted age-range class. Maps directly to five interpretable categories: Fresh (≥0.80), Slightly Aged (≥0.60), Aging (≥0.40), Old (≥0.20), Spoiled (&lt;0.20).</a:t>
            </a:r>
            <a:endParaRPr lang="en-US" sz="11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EBEBEB"/>
        </a:solidFill>
      </p:bgPr>
    </p:bg>
    <p:spTree>
      <p:nvGrpSpPr>
        <p:cNvPr id="1" name=""/>
        <p:cNvGrpSpPr/>
        <p:nvPr/>
      </p:nvGrpSpPr>
      <p:grpSpPr>
        <a:xfrm>
          <a:off x="0" y="0"/>
          <a:ext cx="0" cy="0"/>
          <a:chOff x="0" y="0"/>
          <a:chExt cx="0" cy="0"/>
        </a:xfrm>
      </p:grpSpPr>
      <p:sp>
        <p:nvSpPr>
          <p:cNvPr id="2" name="Shape 0"/>
          <p:cNvSpPr/>
          <p:nvPr/>
        </p:nvSpPr>
        <p:spPr>
          <a:xfrm rot="-2700000">
            <a:off x="182880" y="182880"/>
            <a:ext cx="457200" cy="0"/>
          </a:xfrm>
          <a:prstGeom prst="line">
            <a:avLst/>
          </a:prstGeom>
          <a:noFill/>
          <a:ln w="12700">
            <a:solidFill>
              <a:srgbClr val="1A2B4A">
                <a:alpha val="28000"/>
              </a:srgbClr>
            </a:solidFill>
            <a:prstDash val="solid"/>
          </a:ln>
        </p:spPr>
      </p:sp>
      <p:sp>
        <p:nvSpPr>
          <p:cNvPr id="3" name="Shape 1"/>
          <p:cNvSpPr/>
          <p:nvPr/>
        </p:nvSpPr>
        <p:spPr>
          <a:xfrm rot="-2700000">
            <a:off x="347472" y="182880"/>
            <a:ext cx="457200" cy="0"/>
          </a:xfrm>
          <a:prstGeom prst="line">
            <a:avLst/>
          </a:prstGeom>
          <a:noFill/>
          <a:ln w="12700">
            <a:solidFill>
              <a:srgbClr val="1A2B4A">
                <a:alpha val="28000"/>
              </a:srgbClr>
            </a:solidFill>
            <a:prstDash val="solid"/>
          </a:ln>
        </p:spPr>
      </p:sp>
      <p:sp>
        <p:nvSpPr>
          <p:cNvPr id="4" name="Shape 2"/>
          <p:cNvSpPr/>
          <p:nvPr/>
        </p:nvSpPr>
        <p:spPr>
          <a:xfrm rot="-2700000">
            <a:off x="512064" y="182880"/>
            <a:ext cx="457200" cy="0"/>
          </a:xfrm>
          <a:prstGeom prst="line">
            <a:avLst/>
          </a:prstGeom>
          <a:noFill/>
          <a:ln w="12700">
            <a:solidFill>
              <a:srgbClr val="1A2B4A">
                <a:alpha val="28000"/>
              </a:srgbClr>
            </a:solidFill>
            <a:prstDash val="solid"/>
          </a:ln>
        </p:spPr>
      </p:sp>
      <p:sp>
        <p:nvSpPr>
          <p:cNvPr id="5" name="Shape 3"/>
          <p:cNvSpPr/>
          <p:nvPr/>
        </p:nvSpPr>
        <p:spPr>
          <a:xfrm rot="-2700000">
            <a:off x="676656" y="182880"/>
            <a:ext cx="457200" cy="0"/>
          </a:xfrm>
          <a:prstGeom prst="line">
            <a:avLst/>
          </a:prstGeom>
          <a:noFill/>
          <a:ln w="12700">
            <a:solidFill>
              <a:srgbClr val="1A2B4A">
                <a:alpha val="28000"/>
              </a:srgbClr>
            </a:solidFill>
            <a:prstDash val="solid"/>
          </a:ln>
        </p:spPr>
      </p:sp>
      <p:sp>
        <p:nvSpPr>
          <p:cNvPr id="6" name="Shape 4"/>
          <p:cNvSpPr/>
          <p:nvPr/>
        </p:nvSpPr>
        <p:spPr>
          <a:xfrm rot="-2700000">
            <a:off x="841248" y="182880"/>
            <a:ext cx="457200" cy="0"/>
          </a:xfrm>
          <a:prstGeom prst="line">
            <a:avLst/>
          </a:prstGeom>
          <a:noFill/>
          <a:ln w="12700">
            <a:solidFill>
              <a:srgbClr val="1A2B4A">
                <a:alpha val="28000"/>
              </a:srgbClr>
            </a:solidFill>
            <a:prstDash val="solid"/>
          </a:ln>
        </p:spPr>
      </p:sp>
      <p:sp>
        <p:nvSpPr>
          <p:cNvPr id="7" name="Shape 5"/>
          <p:cNvSpPr/>
          <p:nvPr/>
        </p:nvSpPr>
        <p:spPr>
          <a:xfrm rot="-2700000">
            <a:off x="1005840" y="182880"/>
            <a:ext cx="457200" cy="0"/>
          </a:xfrm>
          <a:prstGeom prst="line">
            <a:avLst/>
          </a:prstGeom>
          <a:noFill/>
          <a:ln w="12700">
            <a:solidFill>
              <a:srgbClr val="1A2B4A">
                <a:alpha val="28000"/>
              </a:srgbClr>
            </a:solidFill>
            <a:prstDash val="solid"/>
          </a:ln>
        </p:spPr>
      </p:sp>
      <p:sp>
        <p:nvSpPr>
          <p:cNvPr id="8" name="Shape 6"/>
          <p:cNvSpPr/>
          <p:nvPr/>
        </p:nvSpPr>
        <p:spPr>
          <a:xfrm rot="-2700000">
            <a:off x="1170432" y="182880"/>
            <a:ext cx="457200" cy="0"/>
          </a:xfrm>
          <a:prstGeom prst="line">
            <a:avLst/>
          </a:prstGeom>
          <a:noFill/>
          <a:ln w="12700">
            <a:solidFill>
              <a:srgbClr val="1A2B4A">
                <a:alpha val="28000"/>
              </a:srgbClr>
            </a:solidFill>
            <a:prstDash val="solid"/>
          </a:ln>
        </p:spPr>
      </p:sp>
      <p:sp>
        <p:nvSpPr>
          <p:cNvPr id="9" name="Shape 7"/>
          <p:cNvSpPr/>
          <p:nvPr/>
        </p:nvSpPr>
        <p:spPr>
          <a:xfrm rot="-2700000">
            <a:off x="1335024" y="182880"/>
            <a:ext cx="457200" cy="0"/>
          </a:xfrm>
          <a:prstGeom prst="line">
            <a:avLst/>
          </a:prstGeom>
          <a:noFill/>
          <a:ln w="12700">
            <a:solidFill>
              <a:srgbClr val="1A2B4A">
                <a:alpha val="28000"/>
              </a:srgbClr>
            </a:solidFill>
            <a:prstDash val="solid"/>
          </a:ln>
        </p:spPr>
      </p:sp>
      <p:sp>
        <p:nvSpPr>
          <p:cNvPr id="10" name="Shape 8"/>
          <p:cNvSpPr/>
          <p:nvPr/>
        </p:nvSpPr>
        <p:spPr>
          <a:xfrm>
            <a:off x="7635240" y="3657600"/>
            <a:ext cx="914400" cy="914400"/>
          </a:xfrm>
          <a:prstGeom prst="rect">
            <a:avLst/>
          </a:prstGeom>
          <a:ln w="12700">
            <a:solidFill>
              <a:srgbClr val="1A2B4A">
                <a:alpha val="70000"/>
              </a:srgbClr>
            </a:solidFill>
            <a:prstDash val="solid"/>
          </a:ln>
        </p:spPr>
      </p:sp>
      <p:sp>
        <p:nvSpPr>
          <p:cNvPr id="11" name="Shape 9"/>
          <p:cNvSpPr/>
          <p:nvPr/>
        </p:nvSpPr>
        <p:spPr>
          <a:xfrm>
            <a:off x="7635240" y="3657600"/>
            <a:ext cx="609600" cy="609600"/>
          </a:xfrm>
          <a:prstGeom prst="rect">
            <a:avLst/>
          </a:prstGeom>
          <a:ln w="12700">
            <a:solidFill>
              <a:srgbClr val="1A2B4A">
                <a:alpha val="60000"/>
              </a:srgbClr>
            </a:solidFill>
            <a:prstDash val="solid"/>
          </a:ln>
        </p:spPr>
      </p:sp>
      <p:sp>
        <p:nvSpPr>
          <p:cNvPr id="12" name="Shape 10"/>
          <p:cNvSpPr/>
          <p:nvPr/>
        </p:nvSpPr>
        <p:spPr>
          <a:xfrm>
            <a:off x="7635240" y="3657600"/>
            <a:ext cx="304800" cy="304800"/>
          </a:xfrm>
          <a:prstGeom prst="rect">
            <a:avLst/>
          </a:prstGeom>
          <a:ln w="12700">
            <a:solidFill>
              <a:srgbClr val="1A2B4A">
                <a:alpha val="50000"/>
              </a:srgbClr>
            </a:solidFill>
            <a:prstDash val="solid"/>
          </a:ln>
        </p:spPr>
      </p:sp>
      <p:sp>
        <p:nvSpPr>
          <p:cNvPr id="13" name="Text 11"/>
          <p:cNvSpPr/>
          <p:nvPr/>
        </p:nvSpPr>
        <p:spPr>
          <a:xfrm>
            <a:off x="411480" y="292608"/>
            <a:ext cx="8321040" cy="530352"/>
          </a:xfrm>
          <a:prstGeom prst="rect">
            <a:avLst/>
          </a:prstGeom>
          <a:noFill/>
          <a:ln/>
        </p:spPr>
        <p:txBody>
          <a:bodyPr wrap="square" lIns="0" tIns="0" rIns="0" bIns="0" rtlCol="0" anchor="ctr"/>
          <a:lstStyle/>
          <a:p>
            <a:pPr algn="l" indent="0" marL="0">
              <a:buNone/>
            </a:pPr>
            <a:r>
              <a:rPr lang="en-US" sz="2800" b="1" dirty="0">
                <a:solidFill>
                  <a:srgbClr val="1A2B4A"/>
                </a:solidFill>
                <a:latin typeface="Cambria" pitchFamily="34" charset="0"/>
                <a:ea typeface="Cambria" pitchFamily="34" charset="-122"/>
                <a:cs typeface="Cambria" pitchFamily="34" charset="-120"/>
              </a:rPr>
              <a:t>Definition of Terms (cont.)</a:t>
            </a:r>
            <a:endParaRPr lang="en-US" sz="2800" dirty="0"/>
          </a:p>
        </p:txBody>
      </p:sp>
      <p:sp>
        <p:nvSpPr>
          <p:cNvPr id="14" name="Shape 12"/>
          <p:cNvSpPr/>
          <p:nvPr/>
        </p:nvSpPr>
        <p:spPr>
          <a:xfrm>
            <a:off x="411480" y="868680"/>
            <a:ext cx="8229600" cy="0"/>
          </a:xfrm>
          <a:prstGeom prst="line">
            <a:avLst/>
          </a:prstGeom>
          <a:noFill/>
          <a:ln w="19050">
            <a:solidFill>
              <a:srgbClr val="3A8C7E">
                <a:alpha val="60000"/>
              </a:srgbClr>
            </a:solidFill>
            <a:prstDash val="solid"/>
          </a:ln>
        </p:spPr>
      </p:sp>
      <p:sp>
        <p:nvSpPr>
          <p:cNvPr id="15" name="Shape 13"/>
          <p:cNvSpPr/>
          <p:nvPr/>
        </p:nvSpPr>
        <p:spPr>
          <a:xfrm>
            <a:off x="411480" y="950976"/>
            <a:ext cx="8229600" cy="0"/>
          </a:xfrm>
          <a:prstGeom prst="line">
            <a:avLst/>
          </a:prstGeom>
          <a:noFill/>
          <a:ln w="10160">
            <a:solidFill>
              <a:srgbClr val="1A2B4A">
                <a:alpha val="45000"/>
              </a:srgbClr>
            </a:solidFill>
            <a:prstDash val="solid"/>
          </a:ln>
        </p:spPr>
      </p:sp>
      <p:sp>
        <p:nvSpPr>
          <p:cNvPr id="16" name="Shape 14"/>
          <p:cNvSpPr/>
          <p:nvPr/>
        </p:nvSpPr>
        <p:spPr>
          <a:xfrm>
            <a:off x="484632" y="1005840"/>
            <a:ext cx="402336" cy="402336"/>
          </a:xfrm>
          <a:prstGeom prst="ellipse">
            <a:avLst/>
          </a:prstGeom>
          <a:solidFill>
            <a:srgbClr val="3A8C7E"/>
          </a:solidFill>
          <a:ln/>
        </p:spPr>
      </p:sp>
      <p:sp>
        <p:nvSpPr>
          <p:cNvPr id="17" name="Text 15"/>
          <p:cNvSpPr/>
          <p:nvPr/>
        </p:nvSpPr>
        <p:spPr>
          <a:xfrm>
            <a:off x="484632" y="1005840"/>
            <a:ext cx="402336" cy="402336"/>
          </a:xfrm>
          <a:prstGeom prst="rect">
            <a:avLst/>
          </a:prstGeom>
          <a:noFill/>
          <a:ln/>
        </p:spPr>
        <p:txBody>
          <a:bodyPr wrap="square" lIns="0" tIns="0" rIns="0" bIns="0" rtlCol="0" anchor="ctr"/>
          <a:lstStyle/>
          <a:p>
            <a:pPr algn="ctr" indent="0" marL="0">
              <a:buNone/>
            </a:pPr>
            <a:r>
              <a:rPr lang="en-US" sz="1100" b="1" dirty="0">
                <a:solidFill>
                  <a:srgbClr val="FFFFFF"/>
                </a:solidFill>
              </a:rPr>
              <a:t>V</a:t>
            </a:r>
            <a:endParaRPr lang="en-US" sz="1100" dirty="0"/>
          </a:p>
        </p:txBody>
      </p:sp>
      <p:sp>
        <p:nvSpPr>
          <p:cNvPr id="18" name="Text 16"/>
          <p:cNvSpPr/>
          <p:nvPr/>
        </p:nvSpPr>
        <p:spPr>
          <a:xfrm>
            <a:off x="1005840" y="1005840"/>
            <a:ext cx="7680960" cy="256032"/>
          </a:xfrm>
          <a:prstGeom prst="rect">
            <a:avLst/>
          </a:prstGeom>
          <a:noFill/>
          <a:ln/>
        </p:spPr>
        <p:txBody>
          <a:bodyPr wrap="square" lIns="0" tIns="0" rIns="0" bIns="0" rtlCol="0" anchor="ctr"/>
          <a:lstStyle/>
          <a:p>
            <a:pPr algn="l" indent="0" marL="0">
              <a:buNone/>
            </a:pPr>
            <a:r>
              <a:rPr lang="en-US" sz="1300" b="1" dirty="0">
                <a:solidFill>
                  <a:srgbClr val="1A2B4A"/>
                </a:solidFill>
                <a:latin typeface="Calibri" pitchFamily="34" charset="0"/>
                <a:ea typeface="Calibri" pitchFamily="34" charset="-122"/>
                <a:cs typeface="Calibri" pitchFamily="34" charset="-120"/>
              </a:rPr>
              <a:t>Shelf-Life Estimation</a:t>
            </a:r>
            <a:endParaRPr lang="en-US" sz="1300" dirty="0"/>
          </a:p>
        </p:txBody>
      </p:sp>
      <p:sp>
        <p:nvSpPr>
          <p:cNvPr id="19" name="Text 17"/>
          <p:cNvSpPr/>
          <p:nvPr/>
        </p:nvSpPr>
        <p:spPr>
          <a:xfrm>
            <a:off x="1005840" y="1261872"/>
            <a:ext cx="7635240" cy="548640"/>
          </a:xfrm>
          <a:prstGeom prst="rect">
            <a:avLst/>
          </a:prstGeom>
          <a:noFill/>
          <a:ln/>
        </p:spPr>
        <p:txBody>
          <a:bodyPr wrap="square" lIns="0" tIns="0" rIns="0" bIns="0" rtlCol="0" anchor="ctr"/>
          <a:lstStyle/>
          <a:p>
            <a:pPr algn="l" indent="0" marL="0">
              <a:buNone/>
            </a:pPr>
            <a:r>
              <a:rPr lang="en-US" sz="1150" dirty="0">
                <a:solidFill>
                  <a:srgbClr val="4A5568"/>
                </a:solidFill>
                <a:latin typeface="Calibri" pitchFamily="34" charset="0"/>
                <a:ea typeface="Calibri" pitchFamily="34" charset="-122"/>
                <a:cs typeface="Calibri" pitchFamily="34" charset="-120"/>
              </a:rPr>
              <a:t>Computing the remaining edible days for a specific fruit under a specific storage method using its freshness score, biological baseline values, and temperature deviation from the fruit's optimal storage range.</a:t>
            </a:r>
            <a:endParaRPr lang="en-US" sz="1150" dirty="0"/>
          </a:p>
        </p:txBody>
      </p:sp>
      <p:sp>
        <p:nvSpPr>
          <p:cNvPr id="20" name="Shape 18"/>
          <p:cNvSpPr/>
          <p:nvPr/>
        </p:nvSpPr>
        <p:spPr>
          <a:xfrm>
            <a:off x="484632" y="1965960"/>
            <a:ext cx="402336" cy="402336"/>
          </a:xfrm>
          <a:prstGeom prst="ellipse">
            <a:avLst/>
          </a:prstGeom>
          <a:solidFill>
            <a:srgbClr val="3A8C7E"/>
          </a:solidFill>
          <a:ln/>
        </p:spPr>
      </p:sp>
      <p:sp>
        <p:nvSpPr>
          <p:cNvPr id="21" name="Text 19"/>
          <p:cNvSpPr/>
          <p:nvPr/>
        </p:nvSpPr>
        <p:spPr>
          <a:xfrm>
            <a:off x="484632" y="1965960"/>
            <a:ext cx="402336" cy="402336"/>
          </a:xfrm>
          <a:prstGeom prst="rect">
            <a:avLst/>
          </a:prstGeom>
          <a:noFill/>
          <a:ln/>
        </p:spPr>
        <p:txBody>
          <a:bodyPr wrap="square" lIns="0" tIns="0" rIns="0" bIns="0" rtlCol="0" anchor="ctr"/>
          <a:lstStyle/>
          <a:p>
            <a:pPr algn="ctr" indent="0" marL="0">
              <a:buNone/>
            </a:pPr>
            <a:r>
              <a:rPr lang="en-US" sz="1100" b="1" dirty="0">
                <a:solidFill>
                  <a:srgbClr val="FFFFFF"/>
                </a:solidFill>
              </a:rPr>
              <a:t>VI</a:t>
            </a:r>
            <a:endParaRPr lang="en-US" sz="1100" dirty="0"/>
          </a:p>
        </p:txBody>
      </p:sp>
      <p:sp>
        <p:nvSpPr>
          <p:cNvPr id="22" name="Text 20"/>
          <p:cNvSpPr/>
          <p:nvPr/>
        </p:nvSpPr>
        <p:spPr>
          <a:xfrm>
            <a:off x="1005840" y="1965960"/>
            <a:ext cx="7680960" cy="256032"/>
          </a:xfrm>
          <a:prstGeom prst="rect">
            <a:avLst/>
          </a:prstGeom>
          <a:noFill/>
          <a:ln/>
        </p:spPr>
        <p:txBody>
          <a:bodyPr wrap="square" lIns="0" tIns="0" rIns="0" bIns="0" rtlCol="0" anchor="ctr"/>
          <a:lstStyle/>
          <a:p>
            <a:pPr algn="l" indent="0" marL="0">
              <a:buNone/>
            </a:pPr>
            <a:r>
              <a:rPr lang="en-US" sz="1300" b="1" dirty="0">
                <a:solidFill>
                  <a:srgbClr val="1A2B4A"/>
                </a:solidFill>
                <a:latin typeface="Calibri" pitchFamily="34" charset="0"/>
                <a:ea typeface="Calibri" pitchFamily="34" charset="-122"/>
                <a:cs typeface="Calibri" pitchFamily="34" charset="-120"/>
              </a:rPr>
              <a:t>Fuzzy-Logic-Inspired Scoring</a:t>
            </a:r>
            <a:endParaRPr lang="en-US" sz="1300" dirty="0"/>
          </a:p>
        </p:txBody>
      </p:sp>
      <p:sp>
        <p:nvSpPr>
          <p:cNvPr id="23" name="Text 21"/>
          <p:cNvSpPr/>
          <p:nvPr/>
        </p:nvSpPr>
        <p:spPr>
          <a:xfrm>
            <a:off x="1005840" y="2221992"/>
            <a:ext cx="7635240" cy="548640"/>
          </a:xfrm>
          <a:prstGeom prst="rect">
            <a:avLst/>
          </a:prstGeom>
          <a:noFill/>
          <a:ln/>
        </p:spPr>
        <p:txBody>
          <a:bodyPr wrap="square" lIns="0" tIns="0" rIns="0" bIns="0" rtlCol="0" anchor="ctr"/>
          <a:lstStyle/>
          <a:p>
            <a:pPr algn="l" indent="0" marL="0">
              <a:buNone/>
            </a:pPr>
            <a:r>
              <a:rPr lang="en-US" sz="1150" dirty="0">
                <a:solidFill>
                  <a:srgbClr val="4A5568"/>
                </a:solidFill>
                <a:latin typeface="Calibri" pitchFamily="34" charset="0"/>
                <a:ea typeface="Calibri" pitchFamily="34" charset="-122"/>
                <a:cs typeface="Calibri" pitchFamily="34" charset="-120"/>
              </a:rPr>
              <a:t>Using continuous scores and overlapping category boundaries rather than hard binary thresholds. A score of 0.79 is treated as 'Nearly Fresh' — the recommendation logic reflects the gradient, not a cliff edge at exactly 0.80.</a:t>
            </a:r>
            <a:endParaRPr lang="en-US" sz="1150" dirty="0"/>
          </a:p>
        </p:txBody>
      </p:sp>
      <p:sp>
        <p:nvSpPr>
          <p:cNvPr id="24" name="Shape 22"/>
          <p:cNvSpPr/>
          <p:nvPr/>
        </p:nvSpPr>
        <p:spPr>
          <a:xfrm>
            <a:off x="484632" y="2926080"/>
            <a:ext cx="402336" cy="402336"/>
          </a:xfrm>
          <a:prstGeom prst="ellipse">
            <a:avLst/>
          </a:prstGeom>
          <a:solidFill>
            <a:srgbClr val="3A8C7E"/>
          </a:solidFill>
          <a:ln/>
        </p:spPr>
      </p:sp>
      <p:sp>
        <p:nvSpPr>
          <p:cNvPr id="25" name="Text 23"/>
          <p:cNvSpPr/>
          <p:nvPr/>
        </p:nvSpPr>
        <p:spPr>
          <a:xfrm>
            <a:off x="484632" y="2926080"/>
            <a:ext cx="402336" cy="402336"/>
          </a:xfrm>
          <a:prstGeom prst="rect">
            <a:avLst/>
          </a:prstGeom>
          <a:noFill/>
          <a:ln/>
        </p:spPr>
        <p:txBody>
          <a:bodyPr wrap="square" lIns="0" tIns="0" rIns="0" bIns="0" rtlCol="0" anchor="ctr"/>
          <a:lstStyle/>
          <a:p>
            <a:pPr algn="ctr" indent="0" marL="0">
              <a:buNone/>
            </a:pPr>
            <a:r>
              <a:rPr lang="en-US" sz="1100" b="1" dirty="0">
                <a:solidFill>
                  <a:srgbClr val="FFFFFF"/>
                </a:solidFill>
              </a:rPr>
              <a:t>VII</a:t>
            </a:r>
            <a:endParaRPr lang="en-US" sz="1100" dirty="0"/>
          </a:p>
        </p:txBody>
      </p:sp>
      <p:sp>
        <p:nvSpPr>
          <p:cNvPr id="26" name="Text 24"/>
          <p:cNvSpPr/>
          <p:nvPr/>
        </p:nvSpPr>
        <p:spPr>
          <a:xfrm>
            <a:off x="1005840" y="2926080"/>
            <a:ext cx="7680960" cy="256032"/>
          </a:xfrm>
          <a:prstGeom prst="rect">
            <a:avLst/>
          </a:prstGeom>
          <a:noFill/>
          <a:ln/>
        </p:spPr>
        <p:txBody>
          <a:bodyPr wrap="square" lIns="0" tIns="0" rIns="0" bIns="0" rtlCol="0" anchor="ctr"/>
          <a:lstStyle/>
          <a:p>
            <a:pPr algn="l" indent="0" marL="0">
              <a:buNone/>
            </a:pPr>
            <a:r>
              <a:rPr lang="en-US" sz="1300" b="1" dirty="0">
                <a:solidFill>
                  <a:srgbClr val="1A2B4A"/>
                </a:solidFill>
                <a:latin typeface="Calibri" pitchFamily="34" charset="0"/>
                <a:ea typeface="Calibri" pitchFamily="34" charset="-122"/>
                <a:cs typeface="Calibri" pitchFamily="34" charset="-120"/>
              </a:rPr>
              <a:t>Ethylene (Post-Harvest Biology)</a:t>
            </a:r>
            <a:endParaRPr lang="en-US" sz="1300" dirty="0"/>
          </a:p>
        </p:txBody>
      </p:sp>
      <p:sp>
        <p:nvSpPr>
          <p:cNvPr id="27" name="Text 25"/>
          <p:cNvSpPr/>
          <p:nvPr/>
        </p:nvSpPr>
        <p:spPr>
          <a:xfrm>
            <a:off x="1005840" y="3182112"/>
            <a:ext cx="7635240" cy="548640"/>
          </a:xfrm>
          <a:prstGeom prst="rect">
            <a:avLst/>
          </a:prstGeom>
          <a:noFill/>
          <a:ln/>
        </p:spPr>
        <p:txBody>
          <a:bodyPr wrap="square" lIns="0" tIns="0" rIns="0" bIns="0" rtlCol="0" anchor="ctr"/>
          <a:lstStyle/>
          <a:p>
            <a:pPr algn="l" indent="0" marL="0">
              <a:buNone/>
            </a:pPr>
            <a:r>
              <a:rPr lang="en-US" sz="1150" dirty="0">
                <a:solidFill>
                  <a:srgbClr val="4A5568"/>
                </a:solidFill>
                <a:latin typeface="Calibri" pitchFamily="34" charset="0"/>
                <a:ea typeface="Calibri" pitchFamily="34" charset="-122"/>
                <a:cs typeface="Calibri" pitchFamily="34" charset="-120"/>
              </a:rPr>
              <a:t>A gaseous plant hormone emitted by ripening fruit. Ethylene producers (bananas, apples, mangoes) accelerate the deterioration of ethylene-sensitive neighbours (strawberries, grapes, kiwis). Fresco models this as a conflict graph.</a:t>
            </a:r>
            <a:endParaRPr lang="en-US" sz="1150" dirty="0"/>
          </a:p>
        </p:txBody>
      </p:sp>
      <p:sp>
        <p:nvSpPr>
          <p:cNvPr id="28" name="Shape 26"/>
          <p:cNvSpPr/>
          <p:nvPr/>
        </p:nvSpPr>
        <p:spPr>
          <a:xfrm>
            <a:off x="484632" y="3886200"/>
            <a:ext cx="402336" cy="402336"/>
          </a:xfrm>
          <a:prstGeom prst="ellipse">
            <a:avLst/>
          </a:prstGeom>
          <a:solidFill>
            <a:srgbClr val="3A8C7E"/>
          </a:solidFill>
          <a:ln/>
        </p:spPr>
      </p:sp>
      <p:sp>
        <p:nvSpPr>
          <p:cNvPr id="29" name="Text 27"/>
          <p:cNvSpPr/>
          <p:nvPr/>
        </p:nvSpPr>
        <p:spPr>
          <a:xfrm>
            <a:off x="484632" y="3886200"/>
            <a:ext cx="402336" cy="402336"/>
          </a:xfrm>
          <a:prstGeom prst="rect">
            <a:avLst/>
          </a:prstGeom>
          <a:noFill/>
          <a:ln/>
        </p:spPr>
        <p:txBody>
          <a:bodyPr wrap="square" lIns="0" tIns="0" rIns="0" bIns="0" rtlCol="0" anchor="ctr"/>
          <a:lstStyle/>
          <a:p>
            <a:pPr algn="ctr" indent="0" marL="0">
              <a:buNone/>
            </a:pPr>
            <a:r>
              <a:rPr lang="en-US" sz="1100" b="1" dirty="0">
                <a:solidFill>
                  <a:srgbClr val="FFFFFF"/>
                </a:solidFill>
              </a:rPr>
              <a:t>VIII</a:t>
            </a:r>
            <a:endParaRPr lang="en-US" sz="1100" dirty="0"/>
          </a:p>
        </p:txBody>
      </p:sp>
      <p:sp>
        <p:nvSpPr>
          <p:cNvPr id="30" name="Text 28"/>
          <p:cNvSpPr/>
          <p:nvPr/>
        </p:nvSpPr>
        <p:spPr>
          <a:xfrm>
            <a:off x="1005840" y="3886200"/>
            <a:ext cx="7680960" cy="256032"/>
          </a:xfrm>
          <a:prstGeom prst="rect">
            <a:avLst/>
          </a:prstGeom>
          <a:noFill/>
          <a:ln/>
        </p:spPr>
        <p:txBody>
          <a:bodyPr wrap="square" lIns="0" tIns="0" rIns="0" bIns="0" rtlCol="0" anchor="ctr"/>
          <a:lstStyle/>
          <a:p>
            <a:pPr algn="l" indent="0" marL="0">
              <a:buNone/>
            </a:pPr>
            <a:r>
              <a:rPr lang="en-US" sz="1300" b="1" dirty="0">
                <a:solidFill>
                  <a:srgbClr val="1A2B4A"/>
                </a:solidFill>
                <a:latin typeface="Calibri" pitchFamily="34" charset="0"/>
                <a:ea typeface="Calibri" pitchFamily="34" charset="-122"/>
                <a:cs typeface="Calibri" pitchFamily="34" charset="-120"/>
              </a:rPr>
              <a:t>Progressive Web App (PWA)</a:t>
            </a:r>
            <a:endParaRPr lang="en-US" sz="1300" dirty="0"/>
          </a:p>
        </p:txBody>
      </p:sp>
      <p:sp>
        <p:nvSpPr>
          <p:cNvPr id="31" name="Text 29"/>
          <p:cNvSpPr/>
          <p:nvPr/>
        </p:nvSpPr>
        <p:spPr>
          <a:xfrm>
            <a:off x="1005840" y="4142232"/>
            <a:ext cx="7635240" cy="548640"/>
          </a:xfrm>
          <a:prstGeom prst="rect">
            <a:avLst/>
          </a:prstGeom>
          <a:noFill/>
          <a:ln/>
        </p:spPr>
        <p:txBody>
          <a:bodyPr wrap="square" lIns="0" tIns="0" rIns="0" bIns="0" rtlCol="0" anchor="ctr"/>
          <a:lstStyle/>
          <a:p>
            <a:pPr algn="l" indent="0" marL="0">
              <a:buNone/>
            </a:pPr>
            <a:r>
              <a:rPr lang="en-US" sz="1150" dirty="0">
                <a:solidFill>
                  <a:srgbClr val="4A5568"/>
                </a:solidFill>
                <a:latin typeface="Calibri" pitchFamily="34" charset="0"/>
                <a:ea typeface="Calibri" pitchFamily="34" charset="-122"/>
                <a:cs typeface="Calibri" pitchFamily="34" charset="-120"/>
              </a:rPr>
              <a:t>A web application delivered via a standard browser URL that can be installed onto a mobile device home screen, providing a standalone, app-like experience without requiring an app store. Accessible on any smartphone with a browser.</a:t>
            </a:r>
            <a:endParaRPr lang="en-US" sz="11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EBEBEB"/>
        </a:solidFill>
      </p:bgPr>
    </p:bg>
    <p:spTree>
      <p:nvGrpSpPr>
        <p:cNvPr id="1" name=""/>
        <p:cNvGrpSpPr/>
        <p:nvPr/>
      </p:nvGrpSpPr>
      <p:grpSpPr>
        <a:xfrm>
          <a:off x="0" y="0"/>
          <a:ext cx="0" cy="0"/>
          <a:chOff x="0" y="0"/>
          <a:chExt cx="0" cy="0"/>
        </a:xfrm>
      </p:grpSpPr>
      <p:sp>
        <p:nvSpPr>
          <p:cNvPr id="2" name="Shape 0"/>
          <p:cNvSpPr/>
          <p:nvPr/>
        </p:nvSpPr>
        <p:spPr>
          <a:xfrm>
            <a:off x="8092440" y="3749040"/>
            <a:ext cx="64008" cy="64008"/>
          </a:xfrm>
          <a:prstGeom prst="ellipse">
            <a:avLst/>
          </a:prstGeom>
          <a:solidFill>
            <a:srgbClr val="1A2B4A">
              <a:alpha val="25000"/>
            </a:srgbClr>
          </a:solidFill>
          <a:ln/>
        </p:spPr>
      </p:sp>
      <p:sp>
        <p:nvSpPr>
          <p:cNvPr id="3" name="Shape 1"/>
          <p:cNvSpPr/>
          <p:nvPr/>
        </p:nvSpPr>
        <p:spPr>
          <a:xfrm>
            <a:off x="8293608" y="3749040"/>
            <a:ext cx="64008" cy="64008"/>
          </a:xfrm>
          <a:prstGeom prst="ellipse">
            <a:avLst/>
          </a:prstGeom>
          <a:solidFill>
            <a:srgbClr val="1A2B4A">
              <a:alpha val="25000"/>
            </a:srgbClr>
          </a:solidFill>
          <a:ln/>
        </p:spPr>
      </p:sp>
      <p:sp>
        <p:nvSpPr>
          <p:cNvPr id="4" name="Shape 2"/>
          <p:cNvSpPr/>
          <p:nvPr/>
        </p:nvSpPr>
        <p:spPr>
          <a:xfrm>
            <a:off x="8494776" y="3749040"/>
            <a:ext cx="64008" cy="64008"/>
          </a:xfrm>
          <a:prstGeom prst="ellipse">
            <a:avLst/>
          </a:prstGeom>
          <a:solidFill>
            <a:srgbClr val="1A2B4A">
              <a:alpha val="25000"/>
            </a:srgbClr>
          </a:solidFill>
          <a:ln/>
        </p:spPr>
      </p:sp>
      <p:sp>
        <p:nvSpPr>
          <p:cNvPr id="5" name="Shape 3"/>
          <p:cNvSpPr/>
          <p:nvPr/>
        </p:nvSpPr>
        <p:spPr>
          <a:xfrm>
            <a:off x="8695944" y="3749040"/>
            <a:ext cx="64008" cy="64008"/>
          </a:xfrm>
          <a:prstGeom prst="ellipse">
            <a:avLst/>
          </a:prstGeom>
          <a:solidFill>
            <a:srgbClr val="1A2B4A">
              <a:alpha val="25000"/>
            </a:srgbClr>
          </a:solidFill>
          <a:ln/>
        </p:spPr>
      </p:sp>
      <p:sp>
        <p:nvSpPr>
          <p:cNvPr id="6" name="Shape 4"/>
          <p:cNvSpPr/>
          <p:nvPr/>
        </p:nvSpPr>
        <p:spPr>
          <a:xfrm>
            <a:off x="8897112" y="3749040"/>
            <a:ext cx="64008" cy="64008"/>
          </a:xfrm>
          <a:prstGeom prst="ellipse">
            <a:avLst/>
          </a:prstGeom>
          <a:solidFill>
            <a:srgbClr val="1A2B4A">
              <a:alpha val="25000"/>
            </a:srgbClr>
          </a:solidFill>
          <a:ln/>
        </p:spPr>
      </p:sp>
      <p:sp>
        <p:nvSpPr>
          <p:cNvPr id="7" name="Shape 5"/>
          <p:cNvSpPr/>
          <p:nvPr/>
        </p:nvSpPr>
        <p:spPr>
          <a:xfrm>
            <a:off x="8092440" y="3950208"/>
            <a:ext cx="64008" cy="64008"/>
          </a:xfrm>
          <a:prstGeom prst="ellipse">
            <a:avLst/>
          </a:prstGeom>
          <a:solidFill>
            <a:srgbClr val="1A2B4A">
              <a:alpha val="25000"/>
            </a:srgbClr>
          </a:solidFill>
          <a:ln/>
        </p:spPr>
      </p:sp>
      <p:sp>
        <p:nvSpPr>
          <p:cNvPr id="8" name="Shape 6"/>
          <p:cNvSpPr/>
          <p:nvPr/>
        </p:nvSpPr>
        <p:spPr>
          <a:xfrm>
            <a:off x="8293608" y="3950208"/>
            <a:ext cx="64008" cy="64008"/>
          </a:xfrm>
          <a:prstGeom prst="ellipse">
            <a:avLst/>
          </a:prstGeom>
          <a:solidFill>
            <a:srgbClr val="1A2B4A">
              <a:alpha val="25000"/>
            </a:srgbClr>
          </a:solidFill>
          <a:ln/>
        </p:spPr>
      </p:sp>
      <p:sp>
        <p:nvSpPr>
          <p:cNvPr id="9" name="Shape 7"/>
          <p:cNvSpPr/>
          <p:nvPr/>
        </p:nvSpPr>
        <p:spPr>
          <a:xfrm>
            <a:off x="8494776" y="3950208"/>
            <a:ext cx="64008" cy="64008"/>
          </a:xfrm>
          <a:prstGeom prst="ellipse">
            <a:avLst/>
          </a:prstGeom>
          <a:solidFill>
            <a:srgbClr val="1A2B4A">
              <a:alpha val="25000"/>
            </a:srgbClr>
          </a:solidFill>
          <a:ln/>
        </p:spPr>
      </p:sp>
      <p:sp>
        <p:nvSpPr>
          <p:cNvPr id="10" name="Shape 8"/>
          <p:cNvSpPr/>
          <p:nvPr/>
        </p:nvSpPr>
        <p:spPr>
          <a:xfrm>
            <a:off x="8695944" y="3950208"/>
            <a:ext cx="64008" cy="64008"/>
          </a:xfrm>
          <a:prstGeom prst="ellipse">
            <a:avLst/>
          </a:prstGeom>
          <a:solidFill>
            <a:srgbClr val="1A2B4A">
              <a:alpha val="25000"/>
            </a:srgbClr>
          </a:solidFill>
          <a:ln/>
        </p:spPr>
      </p:sp>
      <p:sp>
        <p:nvSpPr>
          <p:cNvPr id="11" name="Shape 9"/>
          <p:cNvSpPr/>
          <p:nvPr/>
        </p:nvSpPr>
        <p:spPr>
          <a:xfrm>
            <a:off x="8897112" y="3950208"/>
            <a:ext cx="64008" cy="64008"/>
          </a:xfrm>
          <a:prstGeom prst="ellipse">
            <a:avLst/>
          </a:prstGeom>
          <a:solidFill>
            <a:srgbClr val="1A2B4A">
              <a:alpha val="25000"/>
            </a:srgbClr>
          </a:solidFill>
          <a:ln/>
        </p:spPr>
      </p:sp>
      <p:sp>
        <p:nvSpPr>
          <p:cNvPr id="12" name="Shape 10"/>
          <p:cNvSpPr/>
          <p:nvPr/>
        </p:nvSpPr>
        <p:spPr>
          <a:xfrm>
            <a:off x="8092440" y="4151376"/>
            <a:ext cx="64008" cy="64008"/>
          </a:xfrm>
          <a:prstGeom prst="ellipse">
            <a:avLst/>
          </a:prstGeom>
          <a:solidFill>
            <a:srgbClr val="1A2B4A">
              <a:alpha val="25000"/>
            </a:srgbClr>
          </a:solidFill>
          <a:ln/>
        </p:spPr>
      </p:sp>
      <p:sp>
        <p:nvSpPr>
          <p:cNvPr id="13" name="Shape 11"/>
          <p:cNvSpPr/>
          <p:nvPr/>
        </p:nvSpPr>
        <p:spPr>
          <a:xfrm>
            <a:off x="8293608" y="4151376"/>
            <a:ext cx="64008" cy="64008"/>
          </a:xfrm>
          <a:prstGeom prst="ellipse">
            <a:avLst/>
          </a:prstGeom>
          <a:solidFill>
            <a:srgbClr val="1A2B4A">
              <a:alpha val="25000"/>
            </a:srgbClr>
          </a:solidFill>
          <a:ln/>
        </p:spPr>
      </p:sp>
      <p:sp>
        <p:nvSpPr>
          <p:cNvPr id="14" name="Shape 12"/>
          <p:cNvSpPr/>
          <p:nvPr/>
        </p:nvSpPr>
        <p:spPr>
          <a:xfrm>
            <a:off x="8494776" y="4151376"/>
            <a:ext cx="64008" cy="64008"/>
          </a:xfrm>
          <a:prstGeom prst="ellipse">
            <a:avLst/>
          </a:prstGeom>
          <a:solidFill>
            <a:srgbClr val="1A2B4A">
              <a:alpha val="25000"/>
            </a:srgbClr>
          </a:solidFill>
          <a:ln/>
        </p:spPr>
      </p:sp>
      <p:sp>
        <p:nvSpPr>
          <p:cNvPr id="15" name="Shape 13"/>
          <p:cNvSpPr/>
          <p:nvPr/>
        </p:nvSpPr>
        <p:spPr>
          <a:xfrm>
            <a:off x="8695944" y="4151376"/>
            <a:ext cx="64008" cy="64008"/>
          </a:xfrm>
          <a:prstGeom prst="ellipse">
            <a:avLst/>
          </a:prstGeom>
          <a:solidFill>
            <a:srgbClr val="1A2B4A">
              <a:alpha val="25000"/>
            </a:srgbClr>
          </a:solidFill>
          <a:ln/>
        </p:spPr>
      </p:sp>
      <p:sp>
        <p:nvSpPr>
          <p:cNvPr id="16" name="Shape 14"/>
          <p:cNvSpPr/>
          <p:nvPr/>
        </p:nvSpPr>
        <p:spPr>
          <a:xfrm>
            <a:off x="8897112" y="4151376"/>
            <a:ext cx="64008" cy="64008"/>
          </a:xfrm>
          <a:prstGeom prst="ellipse">
            <a:avLst/>
          </a:prstGeom>
          <a:solidFill>
            <a:srgbClr val="1A2B4A">
              <a:alpha val="25000"/>
            </a:srgbClr>
          </a:solidFill>
          <a:ln/>
        </p:spPr>
      </p:sp>
      <p:sp>
        <p:nvSpPr>
          <p:cNvPr id="17" name="Shape 15"/>
          <p:cNvSpPr/>
          <p:nvPr/>
        </p:nvSpPr>
        <p:spPr>
          <a:xfrm>
            <a:off x="8092440" y="4352544"/>
            <a:ext cx="64008" cy="64008"/>
          </a:xfrm>
          <a:prstGeom prst="ellipse">
            <a:avLst/>
          </a:prstGeom>
          <a:solidFill>
            <a:srgbClr val="1A2B4A">
              <a:alpha val="25000"/>
            </a:srgbClr>
          </a:solidFill>
          <a:ln/>
        </p:spPr>
      </p:sp>
      <p:sp>
        <p:nvSpPr>
          <p:cNvPr id="18" name="Shape 16"/>
          <p:cNvSpPr/>
          <p:nvPr/>
        </p:nvSpPr>
        <p:spPr>
          <a:xfrm>
            <a:off x="8293608" y="4352544"/>
            <a:ext cx="64008" cy="64008"/>
          </a:xfrm>
          <a:prstGeom prst="ellipse">
            <a:avLst/>
          </a:prstGeom>
          <a:solidFill>
            <a:srgbClr val="1A2B4A">
              <a:alpha val="25000"/>
            </a:srgbClr>
          </a:solidFill>
          <a:ln/>
        </p:spPr>
      </p:sp>
      <p:sp>
        <p:nvSpPr>
          <p:cNvPr id="19" name="Shape 17"/>
          <p:cNvSpPr/>
          <p:nvPr/>
        </p:nvSpPr>
        <p:spPr>
          <a:xfrm>
            <a:off x="8494776" y="4352544"/>
            <a:ext cx="64008" cy="64008"/>
          </a:xfrm>
          <a:prstGeom prst="ellipse">
            <a:avLst/>
          </a:prstGeom>
          <a:solidFill>
            <a:srgbClr val="1A2B4A">
              <a:alpha val="25000"/>
            </a:srgbClr>
          </a:solidFill>
          <a:ln/>
        </p:spPr>
      </p:sp>
      <p:sp>
        <p:nvSpPr>
          <p:cNvPr id="20" name="Shape 18"/>
          <p:cNvSpPr/>
          <p:nvPr/>
        </p:nvSpPr>
        <p:spPr>
          <a:xfrm>
            <a:off x="8695944" y="4352544"/>
            <a:ext cx="64008" cy="64008"/>
          </a:xfrm>
          <a:prstGeom prst="ellipse">
            <a:avLst/>
          </a:prstGeom>
          <a:solidFill>
            <a:srgbClr val="1A2B4A">
              <a:alpha val="25000"/>
            </a:srgbClr>
          </a:solidFill>
          <a:ln/>
        </p:spPr>
      </p:sp>
      <p:sp>
        <p:nvSpPr>
          <p:cNvPr id="21" name="Shape 19"/>
          <p:cNvSpPr/>
          <p:nvPr/>
        </p:nvSpPr>
        <p:spPr>
          <a:xfrm>
            <a:off x="8897112" y="4352544"/>
            <a:ext cx="64008" cy="64008"/>
          </a:xfrm>
          <a:prstGeom prst="ellipse">
            <a:avLst/>
          </a:prstGeom>
          <a:solidFill>
            <a:srgbClr val="1A2B4A">
              <a:alpha val="25000"/>
            </a:srgbClr>
          </a:solidFill>
          <a:ln/>
        </p:spPr>
      </p:sp>
      <p:sp>
        <p:nvSpPr>
          <p:cNvPr id="22" name="Shape 20"/>
          <p:cNvSpPr/>
          <p:nvPr/>
        </p:nvSpPr>
        <p:spPr>
          <a:xfrm>
            <a:off x="8092440" y="4553712"/>
            <a:ext cx="64008" cy="64008"/>
          </a:xfrm>
          <a:prstGeom prst="ellipse">
            <a:avLst/>
          </a:prstGeom>
          <a:solidFill>
            <a:srgbClr val="1A2B4A">
              <a:alpha val="25000"/>
            </a:srgbClr>
          </a:solidFill>
          <a:ln/>
        </p:spPr>
      </p:sp>
      <p:sp>
        <p:nvSpPr>
          <p:cNvPr id="23" name="Shape 21"/>
          <p:cNvSpPr/>
          <p:nvPr/>
        </p:nvSpPr>
        <p:spPr>
          <a:xfrm>
            <a:off x="8293608" y="4553712"/>
            <a:ext cx="64008" cy="64008"/>
          </a:xfrm>
          <a:prstGeom prst="ellipse">
            <a:avLst/>
          </a:prstGeom>
          <a:solidFill>
            <a:srgbClr val="1A2B4A">
              <a:alpha val="25000"/>
            </a:srgbClr>
          </a:solidFill>
          <a:ln/>
        </p:spPr>
      </p:sp>
      <p:sp>
        <p:nvSpPr>
          <p:cNvPr id="24" name="Shape 22"/>
          <p:cNvSpPr/>
          <p:nvPr/>
        </p:nvSpPr>
        <p:spPr>
          <a:xfrm>
            <a:off x="8494776" y="4553712"/>
            <a:ext cx="64008" cy="64008"/>
          </a:xfrm>
          <a:prstGeom prst="ellipse">
            <a:avLst/>
          </a:prstGeom>
          <a:solidFill>
            <a:srgbClr val="1A2B4A">
              <a:alpha val="25000"/>
            </a:srgbClr>
          </a:solidFill>
          <a:ln/>
        </p:spPr>
      </p:sp>
      <p:sp>
        <p:nvSpPr>
          <p:cNvPr id="25" name="Shape 23"/>
          <p:cNvSpPr/>
          <p:nvPr/>
        </p:nvSpPr>
        <p:spPr>
          <a:xfrm>
            <a:off x="8695944" y="4553712"/>
            <a:ext cx="64008" cy="64008"/>
          </a:xfrm>
          <a:prstGeom prst="ellipse">
            <a:avLst/>
          </a:prstGeom>
          <a:solidFill>
            <a:srgbClr val="1A2B4A">
              <a:alpha val="25000"/>
            </a:srgbClr>
          </a:solidFill>
          <a:ln/>
        </p:spPr>
      </p:sp>
      <p:sp>
        <p:nvSpPr>
          <p:cNvPr id="26" name="Shape 24"/>
          <p:cNvSpPr/>
          <p:nvPr/>
        </p:nvSpPr>
        <p:spPr>
          <a:xfrm>
            <a:off x="8897112" y="4553712"/>
            <a:ext cx="64008" cy="64008"/>
          </a:xfrm>
          <a:prstGeom prst="ellipse">
            <a:avLst/>
          </a:prstGeom>
          <a:solidFill>
            <a:srgbClr val="1A2B4A">
              <a:alpha val="25000"/>
            </a:srgbClr>
          </a:solidFill>
          <a:ln/>
        </p:spPr>
      </p:sp>
      <p:sp>
        <p:nvSpPr>
          <p:cNvPr id="27" name="Shape 25"/>
          <p:cNvSpPr/>
          <p:nvPr/>
        </p:nvSpPr>
        <p:spPr>
          <a:xfrm>
            <a:off x="411480" y="4773168"/>
            <a:ext cx="1280160" cy="109728"/>
          </a:xfrm>
          <a:prstGeom prst="roundRect">
            <a:avLst>
              <a:gd name="adj" fmla="val 50000"/>
            </a:avLst>
          </a:prstGeom>
          <a:solidFill>
            <a:srgbClr val="1A2B4A">
              <a:alpha val="40000"/>
            </a:srgbClr>
          </a:solidFill>
          <a:ln/>
        </p:spPr>
      </p:sp>
      <p:sp>
        <p:nvSpPr>
          <p:cNvPr id="28" name="Text 26"/>
          <p:cNvSpPr/>
          <p:nvPr/>
        </p:nvSpPr>
        <p:spPr>
          <a:xfrm>
            <a:off x="411480" y="292608"/>
            <a:ext cx="8321040" cy="530352"/>
          </a:xfrm>
          <a:prstGeom prst="rect">
            <a:avLst/>
          </a:prstGeom>
          <a:noFill/>
          <a:ln/>
        </p:spPr>
        <p:txBody>
          <a:bodyPr wrap="square" lIns="0" tIns="0" rIns="0" bIns="0" rtlCol="0" anchor="ctr"/>
          <a:lstStyle/>
          <a:p>
            <a:pPr algn="l" indent="0" marL="0">
              <a:buNone/>
            </a:pPr>
            <a:r>
              <a:rPr lang="en-US" sz="2800" b="1" dirty="0">
                <a:solidFill>
                  <a:srgbClr val="1A2B4A"/>
                </a:solidFill>
                <a:latin typeface="Cambria" pitchFamily="34" charset="0"/>
                <a:ea typeface="Cambria" pitchFamily="34" charset="-122"/>
                <a:cs typeface="Cambria" pitchFamily="34" charset="-120"/>
              </a:rPr>
              <a:t>Problem Statement</a:t>
            </a:r>
            <a:endParaRPr lang="en-US" sz="2800" dirty="0"/>
          </a:p>
        </p:txBody>
      </p:sp>
      <p:sp>
        <p:nvSpPr>
          <p:cNvPr id="29" name="Shape 27"/>
          <p:cNvSpPr/>
          <p:nvPr/>
        </p:nvSpPr>
        <p:spPr>
          <a:xfrm>
            <a:off x="411480" y="868680"/>
            <a:ext cx="8229600" cy="0"/>
          </a:xfrm>
          <a:prstGeom prst="line">
            <a:avLst/>
          </a:prstGeom>
          <a:noFill/>
          <a:ln w="19050">
            <a:solidFill>
              <a:srgbClr val="3A8C7E">
                <a:alpha val="60000"/>
              </a:srgbClr>
            </a:solidFill>
            <a:prstDash val="solid"/>
          </a:ln>
        </p:spPr>
      </p:sp>
      <p:sp>
        <p:nvSpPr>
          <p:cNvPr id="30" name="Shape 28"/>
          <p:cNvSpPr/>
          <p:nvPr/>
        </p:nvSpPr>
        <p:spPr>
          <a:xfrm>
            <a:off x="411480" y="950976"/>
            <a:ext cx="8229600" cy="0"/>
          </a:xfrm>
          <a:prstGeom prst="line">
            <a:avLst/>
          </a:prstGeom>
          <a:noFill/>
          <a:ln w="10160">
            <a:solidFill>
              <a:srgbClr val="1A2B4A">
                <a:alpha val="45000"/>
              </a:srgbClr>
            </a:solidFill>
            <a:prstDash val="solid"/>
          </a:ln>
        </p:spPr>
      </p:sp>
      <p:sp>
        <p:nvSpPr>
          <p:cNvPr id="31" name="Shape 29"/>
          <p:cNvSpPr/>
          <p:nvPr/>
        </p:nvSpPr>
        <p:spPr>
          <a:xfrm>
            <a:off x="384048" y="987552"/>
            <a:ext cx="4187952" cy="3291840"/>
          </a:xfrm>
          <a:prstGeom prst="roundRect">
            <a:avLst>
              <a:gd name="adj" fmla="val 3333"/>
            </a:avLst>
          </a:prstGeom>
          <a:solidFill>
            <a:srgbClr val="EBF4F1"/>
          </a:solidFill>
          <a:ln w="6350">
            <a:solidFill>
              <a:srgbClr val="1A2B4A">
                <a:alpha val="40000"/>
              </a:srgbClr>
            </a:solidFill>
            <a:prstDash val="solid"/>
          </a:ln>
          <a:effectLst>
            <a:outerShdw sx="100000" sy="100000" kx="0" ky="0" algn="bl" rotWithShape="0" blurRad="101600" dist="38100" dir="2700000">
              <a:srgbClr val="000000">
                <a:alpha val="10000"/>
              </a:srgbClr>
            </a:outerShdw>
          </a:effectLst>
        </p:spPr>
      </p:sp>
      <p:sp>
        <p:nvSpPr>
          <p:cNvPr id="32" name="Text 30"/>
          <p:cNvSpPr/>
          <p:nvPr/>
        </p:nvSpPr>
        <p:spPr>
          <a:xfrm>
            <a:off x="548640" y="1060704"/>
            <a:ext cx="3840480" cy="274320"/>
          </a:xfrm>
          <a:prstGeom prst="rect">
            <a:avLst/>
          </a:prstGeom>
          <a:noFill/>
          <a:ln/>
        </p:spPr>
        <p:txBody>
          <a:bodyPr wrap="square" lIns="0" tIns="0" rIns="0" bIns="0" rtlCol="0" anchor="ctr"/>
          <a:lstStyle/>
          <a:p>
            <a:pPr algn="l" indent="0" marL="0">
              <a:buNone/>
            </a:pPr>
            <a:r>
              <a:rPr lang="en-US" sz="1300" b="1" dirty="0">
                <a:solidFill>
                  <a:srgbClr val="3A8C7E"/>
                </a:solidFill>
                <a:latin typeface="Calibri" pitchFamily="34" charset="0"/>
                <a:ea typeface="Calibri" pitchFamily="34" charset="-122"/>
                <a:cs typeface="Calibri" pitchFamily="34" charset="-120"/>
              </a:rPr>
              <a:t>The Scale of Food Waste</a:t>
            </a:r>
            <a:endParaRPr lang="en-US" sz="1300" dirty="0"/>
          </a:p>
        </p:txBody>
      </p:sp>
      <p:sp>
        <p:nvSpPr>
          <p:cNvPr id="33" name="Text 31"/>
          <p:cNvSpPr/>
          <p:nvPr/>
        </p:nvSpPr>
        <p:spPr>
          <a:xfrm>
            <a:off x="548640" y="1371600"/>
            <a:ext cx="3840480" cy="2834640"/>
          </a:xfrm>
          <a:prstGeom prst="rect">
            <a:avLst/>
          </a:prstGeom>
          <a:noFill/>
          <a:ln/>
        </p:spPr>
        <p:txBody>
          <a:bodyPr wrap="square" lIns="0" tIns="0" rIns="0" bIns="0" rtlCol="0" anchor="t"/>
          <a:lstStyle/>
          <a:p>
            <a:pPr algn="l" indent="0" marL="0">
              <a:buNone/>
            </a:pPr>
            <a:r>
              <a:rPr lang="en-US" sz="1150" dirty="0">
                <a:solidFill>
                  <a:srgbClr val="4A5568"/>
                </a:solidFill>
                <a:latin typeface="Calibri" pitchFamily="34" charset="0"/>
                <a:ea typeface="Calibri" pitchFamily="34" charset="-122"/>
                <a:cs typeface="Calibri" pitchFamily="34" charset="-120"/>
              </a:rPr>
              <a:t>The Food and Agriculture Organization estimates that 1.3 billion tonnes of food — one-third of global production — is lost or wasted each year (FAO, 2019). Fresh fruit, sold without any expiration label in Nigerian markets, accounts for a substantial portion of this waste at the consumer level.</a:t>
            </a:r>
            <a:endParaRPr lang="en-US" sz="1150" dirty="0"/>
          </a:p>
          <a:p>
            <a:pPr algn="l" indent="0" marL="0">
              <a:buNone/>
            </a:pPr>
            <a:endParaRPr lang="en-US" sz="1150" dirty="0"/>
          </a:p>
          <a:p>
            <a:pPr algn="l" indent="0" marL="0">
              <a:buNone/>
            </a:pPr>
            <a:r>
              <a:rPr lang="en-US" sz="1150" dirty="0">
                <a:solidFill>
                  <a:srgbClr val="4A5568"/>
                </a:solidFill>
                <a:latin typeface="Calibri" pitchFamily="34" charset="0"/>
                <a:ea typeface="Calibri" pitchFamily="34" charset="-122"/>
                <a:cs typeface="Calibri" pitchFamily="34" charset="-120"/>
              </a:rPr>
              <a:t>By the time visible mould appears on a strawberry, fungal contamination has already been present for 24–48 hours (Tournas, 2005). By the time a banana looks overripe, it may be at peak quality for baking. The signals consumers rely on are lagging indicators that arrive too late for optimal decision-making.</a:t>
            </a:r>
            <a:endParaRPr lang="en-US" sz="1150" dirty="0"/>
          </a:p>
        </p:txBody>
      </p:sp>
      <p:sp>
        <p:nvSpPr>
          <p:cNvPr id="34" name="Shape 32"/>
          <p:cNvSpPr/>
          <p:nvPr/>
        </p:nvSpPr>
        <p:spPr>
          <a:xfrm>
            <a:off x="4754880" y="987552"/>
            <a:ext cx="4005072" cy="1554480"/>
          </a:xfrm>
          <a:prstGeom prst="roundRect">
            <a:avLst>
              <a:gd name="adj" fmla="val 7059"/>
            </a:avLst>
          </a:prstGeom>
          <a:solidFill>
            <a:srgbClr val="FFF0F0"/>
          </a:solidFill>
          <a:ln w="6350">
            <a:solidFill>
              <a:srgbClr val="1A2B4A">
                <a:alpha val="40000"/>
              </a:srgbClr>
            </a:solidFill>
            <a:prstDash val="solid"/>
          </a:ln>
          <a:effectLst>
            <a:outerShdw sx="100000" sy="100000" kx="0" ky="0" algn="bl" rotWithShape="0" blurRad="101600" dist="38100" dir="2700000">
              <a:srgbClr val="000000">
                <a:alpha val="10000"/>
              </a:srgbClr>
            </a:outerShdw>
          </a:effectLst>
        </p:spPr>
      </p:sp>
      <p:sp>
        <p:nvSpPr>
          <p:cNvPr id="35" name="Text 33"/>
          <p:cNvSpPr/>
          <p:nvPr/>
        </p:nvSpPr>
        <p:spPr>
          <a:xfrm>
            <a:off x="4892040" y="1060704"/>
            <a:ext cx="3749040" cy="256032"/>
          </a:xfrm>
          <a:prstGeom prst="rect">
            <a:avLst/>
          </a:prstGeom>
          <a:noFill/>
          <a:ln/>
        </p:spPr>
        <p:txBody>
          <a:bodyPr wrap="square" lIns="0" tIns="0" rIns="0" bIns="0" rtlCol="0" anchor="ctr"/>
          <a:lstStyle/>
          <a:p>
            <a:pPr indent="0" marL="0">
              <a:buNone/>
            </a:pPr>
            <a:r>
              <a:rPr lang="en-US" sz="1200" b="1" dirty="0">
                <a:solidFill>
                  <a:srgbClr val="C0392B"/>
                </a:solidFill>
                <a:latin typeface="Calibri" pitchFamily="34" charset="0"/>
                <a:ea typeface="Calibri" pitchFamily="34" charset="-122"/>
                <a:cs typeface="Calibri" pitchFamily="34" charset="-120"/>
              </a:rPr>
              <a:t>PROBLEM 1: No Reliable Freshness Information</a:t>
            </a:r>
            <a:endParaRPr lang="en-US" sz="1200" dirty="0"/>
          </a:p>
        </p:txBody>
      </p:sp>
      <p:sp>
        <p:nvSpPr>
          <p:cNvPr id="36" name="Text 34"/>
          <p:cNvSpPr/>
          <p:nvPr/>
        </p:nvSpPr>
        <p:spPr>
          <a:xfrm>
            <a:off x="4892040" y="1353312"/>
            <a:ext cx="3749040" cy="1115568"/>
          </a:xfrm>
          <a:prstGeom prst="rect">
            <a:avLst/>
          </a:prstGeom>
          <a:noFill/>
          <a:ln/>
        </p:spPr>
        <p:txBody>
          <a:bodyPr wrap="square" lIns="0" tIns="0" rIns="0" bIns="0" rtlCol="0" anchor="ctr"/>
          <a:lstStyle/>
          <a:p>
            <a:pPr indent="0" marL="0">
              <a:buNone/>
            </a:pPr>
            <a:r>
              <a:rPr lang="en-US" sz="1100" dirty="0">
                <a:solidFill>
                  <a:srgbClr val="4A5568"/>
                </a:solidFill>
                <a:latin typeface="Calibri" pitchFamily="34" charset="0"/>
                <a:ea typeface="Calibri" pitchFamily="34" charset="-122"/>
                <a:cs typeface="Calibri" pitchFamily="34" charset="-120"/>
              </a:rPr>
              <a:t>Consumers rely on smell, colour, and texture — sensory signals that food science has shown to be subjective, inconsistent, and systematically late. No consumer-facing tool translates a camera image of fresh fruit into a personalised, evidence-based shelf-life estimate.</a:t>
            </a:r>
            <a:endParaRPr lang="en-US" sz="1100" dirty="0"/>
          </a:p>
        </p:txBody>
      </p:sp>
      <p:sp>
        <p:nvSpPr>
          <p:cNvPr id="37" name="Shape 35"/>
          <p:cNvSpPr/>
          <p:nvPr/>
        </p:nvSpPr>
        <p:spPr>
          <a:xfrm>
            <a:off x="4754880" y="2651760"/>
            <a:ext cx="4005072" cy="1627632"/>
          </a:xfrm>
          <a:prstGeom prst="roundRect">
            <a:avLst>
              <a:gd name="adj" fmla="val 6742"/>
            </a:avLst>
          </a:prstGeom>
          <a:solidFill>
            <a:srgbClr val="FFF0F0"/>
          </a:solidFill>
          <a:ln w="6350">
            <a:solidFill>
              <a:srgbClr val="1A2B4A">
                <a:alpha val="40000"/>
              </a:srgbClr>
            </a:solidFill>
            <a:prstDash val="solid"/>
          </a:ln>
          <a:effectLst>
            <a:outerShdw sx="100000" sy="100000" kx="0" ky="0" algn="bl" rotWithShape="0" blurRad="101600" dist="38100" dir="2700000">
              <a:srgbClr val="000000">
                <a:alpha val="10000"/>
              </a:srgbClr>
            </a:outerShdw>
          </a:effectLst>
        </p:spPr>
      </p:sp>
      <p:sp>
        <p:nvSpPr>
          <p:cNvPr id="38" name="Text 36"/>
          <p:cNvSpPr/>
          <p:nvPr/>
        </p:nvSpPr>
        <p:spPr>
          <a:xfrm>
            <a:off x="4892040" y="2724912"/>
            <a:ext cx="3749040" cy="256032"/>
          </a:xfrm>
          <a:prstGeom prst="rect">
            <a:avLst/>
          </a:prstGeom>
          <a:noFill/>
          <a:ln/>
        </p:spPr>
        <p:txBody>
          <a:bodyPr wrap="square" lIns="0" tIns="0" rIns="0" bIns="0" rtlCol="0" anchor="ctr"/>
          <a:lstStyle/>
          <a:p>
            <a:pPr indent="0" marL="0">
              <a:buNone/>
            </a:pPr>
            <a:r>
              <a:rPr lang="en-US" sz="1200" b="1" dirty="0">
                <a:solidFill>
                  <a:srgbClr val="C0392B"/>
                </a:solidFill>
                <a:latin typeface="Calibri" pitchFamily="34" charset="0"/>
                <a:ea typeface="Calibri" pitchFamily="34" charset="-122"/>
                <a:cs typeface="Calibri" pitchFamily="34" charset="-120"/>
              </a:rPr>
              <a:t>PROBLEM 2: Invisible Storage Conflicts</a:t>
            </a:r>
            <a:endParaRPr lang="en-US" sz="1200" dirty="0"/>
          </a:p>
        </p:txBody>
      </p:sp>
      <p:sp>
        <p:nvSpPr>
          <p:cNvPr id="39" name="Text 37"/>
          <p:cNvSpPr/>
          <p:nvPr/>
        </p:nvSpPr>
        <p:spPr>
          <a:xfrm>
            <a:off x="4892040" y="2999232"/>
            <a:ext cx="3749040" cy="1207008"/>
          </a:xfrm>
          <a:prstGeom prst="rect">
            <a:avLst/>
          </a:prstGeom>
          <a:noFill/>
          <a:ln/>
        </p:spPr>
        <p:txBody>
          <a:bodyPr wrap="square" lIns="0" tIns="0" rIns="0" bIns="0" rtlCol="0" anchor="ctr"/>
          <a:lstStyle/>
          <a:p>
            <a:pPr indent="0" marL="0">
              <a:buNone/>
            </a:pPr>
            <a:r>
              <a:rPr lang="en-US" sz="1100" dirty="0">
                <a:solidFill>
                  <a:srgbClr val="4A5568"/>
                </a:solidFill>
                <a:latin typeface="Calibri" pitchFamily="34" charset="0"/>
                <a:ea typeface="Calibri" pitchFamily="34" charset="-122"/>
                <a:cs typeface="Calibri" pitchFamily="34" charset="-120"/>
              </a:rPr>
              <a:t>Ethylene-mediated storage interactions — known to commercial cold storage for 50+ years — are completely invisible to household consumers. Storing bananas with strawberries can reduce strawberry shelf life by 2–3 days. No existing consumer application surfaces this information at the point of storage decision.</a:t>
            </a:r>
            <a:endParaRPr lang="en-US" sz="1100" dirty="0"/>
          </a:p>
        </p:txBody>
      </p:sp>
      <p:sp>
        <p:nvSpPr>
          <p:cNvPr id="40" name="Shape 38"/>
          <p:cNvSpPr/>
          <p:nvPr/>
        </p:nvSpPr>
        <p:spPr>
          <a:xfrm>
            <a:off x="384048" y="4370832"/>
            <a:ext cx="8375904" cy="411480"/>
          </a:xfrm>
          <a:prstGeom prst="roundRect">
            <a:avLst>
              <a:gd name="adj" fmla="val 26667"/>
            </a:avLst>
          </a:prstGeom>
          <a:solidFill>
            <a:srgbClr val="E8F5F1"/>
          </a:solidFill>
          <a:ln w="6350">
            <a:solidFill>
              <a:srgbClr val="1A2B4A">
                <a:alpha val="40000"/>
              </a:srgbClr>
            </a:solidFill>
            <a:prstDash val="solid"/>
          </a:ln>
          <a:effectLst>
            <a:outerShdw sx="100000" sy="100000" kx="0" ky="0" algn="bl" rotWithShape="0" blurRad="101600" dist="38100" dir="2700000">
              <a:srgbClr val="000000">
                <a:alpha val="10000"/>
              </a:srgbClr>
            </a:outerShdw>
          </a:effectLst>
        </p:spPr>
      </p:sp>
      <p:sp>
        <p:nvSpPr>
          <p:cNvPr id="41" name="Text 39"/>
          <p:cNvSpPr/>
          <p:nvPr/>
        </p:nvSpPr>
        <p:spPr>
          <a:xfrm>
            <a:off x="502920" y="4407408"/>
            <a:ext cx="8138160" cy="347472"/>
          </a:xfrm>
          <a:prstGeom prst="rect">
            <a:avLst/>
          </a:prstGeom>
          <a:noFill/>
          <a:ln/>
        </p:spPr>
        <p:txBody>
          <a:bodyPr wrap="square" lIns="0" tIns="0" rIns="0" bIns="0" rtlCol="0" anchor="ctr"/>
          <a:lstStyle/>
          <a:p>
            <a:pPr algn="ctr" indent="0" marL="0">
              <a:buNone/>
            </a:pPr>
            <a:r>
              <a:rPr lang="en-US" sz="1150" b="1" dirty="0">
                <a:solidFill>
                  <a:srgbClr val="3A8C7E"/>
                </a:solidFill>
                <a:latin typeface="Calibri" pitchFamily="34" charset="0"/>
                <a:ea typeface="Calibri" pitchFamily="34" charset="-122"/>
                <a:cs typeface="Calibri" pitchFamily="34" charset="-120"/>
              </a:rPr>
              <a:t>No prior consumer-facing system combines camera-based freshness assessment + multi-factor shelf-life estimation + ethylene compatibility warnings in a single deployable mobile app.</a:t>
            </a:r>
            <a:endParaRPr lang="en-US" sz="11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EBEBEB"/>
        </a:solidFill>
      </p:bgPr>
    </p:bg>
    <p:spTree>
      <p:nvGrpSpPr>
        <p:cNvPr id="1" name=""/>
        <p:cNvGrpSpPr/>
        <p:nvPr/>
      </p:nvGrpSpPr>
      <p:grpSpPr>
        <a:xfrm>
          <a:off x="0" y="0"/>
          <a:ext cx="0" cy="0"/>
          <a:chOff x="0" y="0"/>
          <a:chExt cx="0" cy="0"/>
        </a:xfrm>
      </p:grpSpPr>
      <p:sp>
        <p:nvSpPr>
          <p:cNvPr id="2" name="Shape 0"/>
          <p:cNvSpPr/>
          <p:nvPr/>
        </p:nvSpPr>
        <p:spPr>
          <a:xfrm>
            <a:off x="7589520" y="1371600"/>
            <a:ext cx="2377440" cy="2377440"/>
          </a:xfrm>
          <a:prstGeom prst="ellipse">
            <a:avLst/>
          </a:prstGeom>
          <a:ln w="19050">
            <a:solidFill>
              <a:srgbClr val="1A2B4A">
                <a:alpha val="18000"/>
              </a:srgbClr>
            </a:solidFill>
            <a:prstDash val="solid"/>
          </a:ln>
        </p:spPr>
      </p:sp>
      <p:sp>
        <p:nvSpPr>
          <p:cNvPr id="3" name="Shape 1"/>
          <p:cNvSpPr/>
          <p:nvPr/>
        </p:nvSpPr>
        <p:spPr>
          <a:xfrm>
            <a:off x="7981798" y="1763878"/>
            <a:ext cx="1592885" cy="1592885"/>
          </a:xfrm>
          <a:prstGeom prst="ellipse">
            <a:avLst/>
          </a:prstGeom>
          <a:ln w="19050">
            <a:solidFill>
              <a:srgbClr val="3B5FA0">
                <a:alpha val="25000"/>
              </a:srgbClr>
            </a:solidFill>
            <a:prstDash val="solid"/>
          </a:ln>
        </p:spPr>
      </p:sp>
      <p:sp>
        <p:nvSpPr>
          <p:cNvPr id="4" name="Shape 2"/>
          <p:cNvSpPr/>
          <p:nvPr/>
        </p:nvSpPr>
        <p:spPr>
          <a:xfrm>
            <a:off x="8326526" y="2108606"/>
            <a:ext cx="903427" cy="903427"/>
          </a:xfrm>
          <a:prstGeom prst="ellipse">
            <a:avLst/>
          </a:prstGeom>
          <a:ln w="19050">
            <a:solidFill>
              <a:srgbClr val="3A8C7E">
                <a:alpha val="32000"/>
              </a:srgbClr>
            </a:solidFill>
            <a:prstDash val="solid"/>
          </a:ln>
        </p:spPr>
      </p:sp>
      <p:sp>
        <p:nvSpPr>
          <p:cNvPr id="5" name="Shape 3"/>
          <p:cNvSpPr/>
          <p:nvPr/>
        </p:nvSpPr>
        <p:spPr>
          <a:xfrm rot="2700000">
            <a:off x="-91440" y="3931920"/>
            <a:ext cx="1097280" cy="1097280"/>
          </a:xfrm>
          <a:prstGeom prst="rect">
            <a:avLst/>
          </a:prstGeom>
          <a:ln w="12700">
            <a:solidFill>
              <a:srgbClr val="1A2B4A">
                <a:alpha val="76000"/>
              </a:srgbClr>
            </a:solidFill>
            <a:prstDash val="solid"/>
          </a:ln>
        </p:spPr>
      </p:sp>
      <p:sp>
        <p:nvSpPr>
          <p:cNvPr id="6" name="Shape 4"/>
          <p:cNvSpPr/>
          <p:nvPr/>
        </p:nvSpPr>
        <p:spPr>
          <a:xfrm rot="2700000">
            <a:off x="91440" y="4114800"/>
            <a:ext cx="731520" cy="731520"/>
          </a:xfrm>
          <a:prstGeom prst="rect">
            <a:avLst/>
          </a:prstGeom>
          <a:ln w="12700">
            <a:solidFill>
              <a:srgbClr val="1A2B4A">
                <a:alpha val="64000"/>
              </a:srgbClr>
            </a:solidFill>
            <a:prstDash val="solid"/>
          </a:ln>
        </p:spPr>
      </p:sp>
      <p:sp>
        <p:nvSpPr>
          <p:cNvPr id="7" name="Shape 5"/>
          <p:cNvSpPr/>
          <p:nvPr/>
        </p:nvSpPr>
        <p:spPr>
          <a:xfrm rot="2700000">
            <a:off x="274320" y="4297680"/>
            <a:ext cx="365760" cy="365760"/>
          </a:xfrm>
          <a:prstGeom prst="rect">
            <a:avLst/>
          </a:prstGeom>
          <a:ln w="12700">
            <a:solidFill>
              <a:srgbClr val="1A2B4A">
                <a:alpha val="52000"/>
              </a:srgbClr>
            </a:solidFill>
            <a:prstDash val="solid"/>
          </a:ln>
        </p:spPr>
      </p:sp>
      <p:sp>
        <p:nvSpPr>
          <p:cNvPr id="8" name="Text 6"/>
          <p:cNvSpPr/>
          <p:nvPr/>
        </p:nvSpPr>
        <p:spPr>
          <a:xfrm>
            <a:off x="411480" y="292608"/>
            <a:ext cx="8321040" cy="530352"/>
          </a:xfrm>
          <a:prstGeom prst="rect">
            <a:avLst/>
          </a:prstGeom>
          <a:noFill/>
          <a:ln/>
        </p:spPr>
        <p:txBody>
          <a:bodyPr wrap="square" lIns="0" tIns="0" rIns="0" bIns="0" rtlCol="0" anchor="ctr"/>
          <a:lstStyle/>
          <a:p>
            <a:pPr algn="l" indent="0" marL="0">
              <a:buNone/>
            </a:pPr>
            <a:r>
              <a:rPr lang="en-US" sz="2800" b="1" dirty="0">
                <a:solidFill>
                  <a:srgbClr val="1A2B4A"/>
                </a:solidFill>
                <a:latin typeface="Cambria" pitchFamily="34" charset="0"/>
                <a:ea typeface="Cambria" pitchFamily="34" charset="-122"/>
                <a:cs typeface="Cambria" pitchFamily="34" charset="-120"/>
              </a:rPr>
              <a:t>Aims and Objectives</a:t>
            </a:r>
            <a:endParaRPr lang="en-US" sz="2800" dirty="0"/>
          </a:p>
        </p:txBody>
      </p:sp>
      <p:sp>
        <p:nvSpPr>
          <p:cNvPr id="9" name="Shape 7"/>
          <p:cNvSpPr/>
          <p:nvPr/>
        </p:nvSpPr>
        <p:spPr>
          <a:xfrm>
            <a:off x="411480" y="868680"/>
            <a:ext cx="8229600" cy="0"/>
          </a:xfrm>
          <a:prstGeom prst="line">
            <a:avLst/>
          </a:prstGeom>
          <a:noFill/>
          <a:ln w="19050">
            <a:solidFill>
              <a:srgbClr val="3A8C7E">
                <a:alpha val="60000"/>
              </a:srgbClr>
            </a:solidFill>
            <a:prstDash val="solid"/>
          </a:ln>
        </p:spPr>
      </p:sp>
      <p:sp>
        <p:nvSpPr>
          <p:cNvPr id="10" name="Shape 8"/>
          <p:cNvSpPr/>
          <p:nvPr/>
        </p:nvSpPr>
        <p:spPr>
          <a:xfrm>
            <a:off x="411480" y="950976"/>
            <a:ext cx="8229600" cy="0"/>
          </a:xfrm>
          <a:prstGeom prst="line">
            <a:avLst/>
          </a:prstGeom>
          <a:noFill/>
          <a:ln w="10160">
            <a:solidFill>
              <a:srgbClr val="1A2B4A">
                <a:alpha val="45000"/>
              </a:srgbClr>
            </a:solidFill>
            <a:prstDash val="solid"/>
          </a:ln>
        </p:spPr>
      </p:sp>
      <p:sp>
        <p:nvSpPr>
          <p:cNvPr id="11" name="Shape 9"/>
          <p:cNvSpPr/>
          <p:nvPr/>
        </p:nvSpPr>
        <p:spPr>
          <a:xfrm>
            <a:off x="384048" y="987552"/>
            <a:ext cx="8375904" cy="594360"/>
          </a:xfrm>
          <a:prstGeom prst="roundRect">
            <a:avLst>
              <a:gd name="adj" fmla="val 18462"/>
            </a:avLst>
          </a:prstGeom>
          <a:solidFill>
            <a:srgbClr val="E3EEF8"/>
          </a:solidFill>
          <a:ln w="6350">
            <a:solidFill>
              <a:srgbClr val="1A2B4A">
                <a:alpha val="40000"/>
              </a:srgbClr>
            </a:solidFill>
            <a:prstDash val="solid"/>
          </a:ln>
          <a:effectLst>
            <a:outerShdw sx="100000" sy="100000" kx="0" ky="0" algn="bl" rotWithShape="0" blurRad="101600" dist="38100" dir="2700000">
              <a:srgbClr val="000000">
                <a:alpha val="10000"/>
              </a:srgbClr>
            </a:outerShdw>
          </a:effectLst>
        </p:spPr>
      </p:sp>
      <p:sp>
        <p:nvSpPr>
          <p:cNvPr id="12" name="Text 10"/>
          <p:cNvSpPr/>
          <p:nvPr/>
        </p:nvSpPr>
        <p:spPr>
          <a:xfrm>
            <a:off x="548640" y="1024128"/>
            <a:ext cx="457200" cy="512064"/>
          </a:xfrm>
          <a:prstGeom prst="rect">
            <a:avLst/>
          </a:prstGeom>
          <a:noFill/>
          <a:ln/>
        </p:spPr>
        <p:txBody>
          <a:bodyPr wrap="square" lIns="0" tIns="0" rIns="0" bIns="0" rtlCol="0" anchor="ctr"/>
          <a:lstStyle/>
          <a:p>
            <a:pPr indent="0" marL="0">
              <a:buNone/>
            </a:pPr>
            <a:r>
              <a:rPr lang="en-US" sz="1200" b="1" dirty="0">
                <a:solidFill>
                  <a:srgbClr val="1A2B4A"/>
                </a:solidFill>
                <a:latin typeface="Cambria" pitchFamily="34" charset="0"/>
                <a:ea typeface="Cambria" pitchFamily="34" charset="-122"/>
                <a:cs typeface="Cambria" pitchFamily="34" charset="-120"/>
              </a:rPr>
              <a:t>AIM  </a:t>
            </a:r>
            <a:endParaRPr lang="en-US" sz="1200" dirty="0"/>
          </a:p>
        </p:txBody>
      </p:sp>
      <p:sp>
        <p:nvSpPr>
          <p:cNvPr id="13" name="Text 11"/>
          <p:cNvSpPr/>
          <p:nvPr/>
        </p:nvSpPr>
        <p:spPr>
          <a:xfrm>
            <a:off x="914400" y="1024128"/>
            <a:ext cx="7699248" cy="530352"/>
          </a:xfrm>
          <a:prstGeom prst="rect">
            <a:avLst/>
          </a:prstGeom>
          <a:noFill/>
          <a:ln/>
        </p:spPr>
        <p:txBody>
          <a:bodyPr wrap="square" lIns="0" tIns="0" rIns="0" bIns="0" rtlCol="0" anchor="ctr"/>
          <a:lstStyle/>
          <a:p>
            <a:pPr algn="l" indent="0" marL="0">
              <a:buNone/>
            </a:pPr>
            <a:r>
              <a:rPr lang="en-US" sz="1100" dirty="0">
                <a:solidFill>
                  <a:srgbClr val="4A5568"/>
                </a:solidFill>
                <a:latin typeface="Calibri" pitchFamily="34" charset="0"/>
                <a:ea typeface="Calibri" pitchFamily="34" charset="-122"/>
                <a:cs typeface="Calibri" pitchFamily="34" charset="-120"/>
              </a:rPr>
              <a:t>To develop an interpretable AI platform that identifies fresh fruit from a smartphone photograph, assesses its visual freshness continuously, estimates personalised shelf life under user-selected storage conditions, flags ethylene-based storage conflicts, and deploys the entire system as an installable Progressive Web Application accessible from any mobile browser.</a:t>
            </a:r>
            <a:endParaRPr lang="en-US" sz="1100" dirty="0"/>
          </a:p>
        </p:txBody>
      </p:sp>
      <p:sp>
        <p:nvSpPr>
          <p:cNvPr id="14" name="Shape 12"/>
          <p:cNvSpPr/>
          <p:nvPr/>
        </p:nvSpPr>
        <p:spPr>
          <a:xfrm>
            <a:off x="475488" y="1682496"/>
            <a:ext cx="384048" cy="384048"/>
          </a:xfrm>
          <a:prstGeom prst="ellipse">
            <a:avLst/>
          </a:prstGeom>
          <a:solidFill>
            <a:srgbClr val="3A8C7E"/>
          </a:solidFill>
          <a:ln/>
        </p:spPr>
      </p:sp>
      <p:sp>
        <p:nvSpPr>
          <p:cNvPr id="15" name="Text 13"/>
          <p:cNvSpPr/>
          <p:nvPr/>
        </p:nvSpPr>
        <p:spPr>
          <a:xfrm>
            <a:off x="475488" y="1682496"/>
            <a:ext cx="384048" cy="384048"/>
          </a:xfrm>
          <a:prstGeom prst="rect">
            <a:avLst/>
          </a:prstGeom>
          <a:noFill/>
          <a:ln/>
        </p:spPr>
        <p:txBody>
          <a:bodyPr wrap="square" lIns="0" tIns="0" rIns="0" bIns="0" rtlCol="0" anchor="ctr"/>
          <a:lstStyle/>
          <a:p>
            <a:pPr algn="ctr" indent="0" marL="0">
              <a:buNone/>
            </a:pPr>
            <a:r>
              <a:rPr lang="en-US" sz="1100" b="1" dirty="0">
                <a:solidFill>
                  <a:srgbClr val="FFFFFF"/>
                </a:solidFill>
              </a:rPr>
              <a:t>1</a:t>
            </a:r>
            <a:endParaRPr lang="en-US" sz="1100" dirty="0"/>
          </a:p>
        </p:txBody>
      </p:sp>
      <p:sp>
        <p:nvSpPr>
          <p:cNvPr id="16" name="Text 14"/>
          <p:cNvSpPr/>
          <p:nvPr/>
        </p:nvSpPr>
        <p:spPr>
          <a:xfrm>
            <a:off x="969264" y="1691640"/>
            <a:ext cx="3474720" cy="256032"/>
          </a:xfrm>
          <a:prstGeom prst="rect">
            <a:avLst/>
          </a:prstGeom>
          <a:noFill/>
          <a:ln/>
        </p:spPr>
        <p:txBody>
          <a:bodyPr wrap="square" lIns="0" tIns="0" rIns="0" bIns="0" rtlCol="0" anchor="ctr"/>
          <a:lstStyle/>
          <a:p>
            <a:pPr indent="0" marL="0">
              <a:buNone/>
            </a:pPr>
            <a:r>
              <a:rPr lang="en-US" sz="1150" b="1" dirty="0">
                <a:solidFill>
                  <a:srgbClr val="1A2B4A"/>
                </a:solidFill>
                <a:latin typeface="Calibri" pitchFamily="34" charset="0"/>
                <a:ea typeface="Calibri" pitchFamily="34" charset="-122"/>
                <a:cs typeface="Calibri" pitchFamily="34" charset="-120"/>
              </a:rPr>
              <a:t>Fruit Classification via Transfer Learning</a:t>
            </a:r>
            <a:endParaRPr lang="en-US" sz="1150" dirty="0"/>
          </a:p>
        </p:txBody>
      </p:sp>
      <p:sp>
        <p:nvSpPr>
          <p:cNvPr id="17" name="Text 15"/>
          <p:cNvSpPr/>
          <p:nvPr/>
        </p:nvSpPr>
        <p:spPr>
          <a:xfrm>
            <a:off x="969264" y="1965960"/>
            <a:ext cx="3474720" cy="731520"/>
          </a:xfrm>
          <a:prstGeom prst="rect">
            <a:avLst/>
          </a:prstGeom>
          <a:noFill/>
          <a:ln/>
        </p:spPr>
        <p:txBody>
          <a:bodyPr wrap="square" lIns="0" tIns="0" rIns="0" bIns="0" rtlCol="0" anchor="ctr"/>
          <a:lstStyle/>
          <a:p>
            <a:pPr indent="0" marL="0">
              <a:buNone/>
            </a:pPr>
            <a:r>
              <a:rPr lang="en-US" sz="1050" dirty="0">
                <a:solidFill>
                  <a:srgbClr val="4A5568"/>
                </a:solidFill>
                <a:latin typeface="Calibri" pitchFamily="34" charset="0"/>
                <a:ea typeface="Calibri" pitchFamily="34" charset="-122"/>
                <a:cs typeface="Calibri" pitchFamily="34" charset="-120"/>
              </a:rPr>
              <a:t>Fine-tune MobileNetV2 on the Fruits-360 dataset across 14 age-range classes covering Apple, Banana, Carrot, and Tomato — enabling simultaneous fruit identification and freshness estimation from a single forward pass.</a:t>
            </a:r>
            <a:endParaRPr lang="en-US" sz="1050" dirty="0"/>
          </a:p>
        </p:txBody>
      </p:sp>
      <p:sp>
        <p:nvSpPr>
          <p:cNvPr id="18" name="Shape 16"/>
          <p:cNvSpPr/>
          <p:nvPr/>
        </p:nvSpPr>
        <p:spPr>
          <a:xfrm>
            <a:off x="475488" y="2752344"/>
            <a:ext cx="384048" cy="384048"/>
          </a:xfrm>
          <a:prstGeom prst="ellipse">
            <a:avLst/>
          </a:prstGeom>
          <a:solidFill>
            <a:srgbClr val="3A8C7E"/>
          </a:solidFill>
          <a:ln/>
        </p:spPr>
      </p:sp>
      <p:sp>
        <p:nvSpPr>
          <p:cNvPr id="19" name="Text 17"/>
          <p:cNvSpPr/>
          <p:nvPr/>
        </p:nvSpPr>
        <p:spPr>
          <a:xfrm>
            <a:off x="475488" y="2752344"/>
            <a:ext cx="384048" cy="384048"/>
          </a:xfrm>
          <a:prstGeom prst="rect">
            <a:avLst/>
          </a:prstGeom>
          <a:noFill/>
          <a:ln/>
        </p:spPr>
        <p:txBody>
          <a:bodyPr wrap="square" lIns="0" tIns="0" rIns="0" bIns="0" rtlCol="0" anchor="ctr"/>
          <a:lstStyle/>
          <a:p>
            <a:pPr algn="ctr" indent="0" marL="0">
              <a:buNone/>
            </a:pPr>
            <a:r>
              <a:rPr lang="en-US" sz="1100" b="1" dirty="0">
                <a:solidFill>
                  <a:srgbClr val="FFFFFF"/>
                </a:solidFill>
              </a:rPr>
              <a:t>2</a:t>
            </a:r>
            <a:endParaRPr lang="en-US" sz="1100" dirty="0"/>
          </a:p>
        </p:txBody>
      </p:sp>
      <p:sp>
        <p:nvSpPr>
          <p:cNvPr id="20" name="Text 18"/>
          <p:cNvSpPr/>
          <p:nvPr/>
        </p:nvSpPr>
        <p:spPr>
          <a:xfrm>
            <a:off x="969264" y="2761488"/>
            <a:ext cx="3474720" cy="256032"/>
          </a:xfrm>
          <a:prstGeom prst="rect">
            <a:avLst/>
          </a:prstGeom>
          <a:noFill/>
          <a:ln/>
        </p:spPr>
        <p:txBody>
          <a:bodyPr wrap="square" lIns="0" tIns="0" rIns="0" bIns="0" rtlCol="0" anchor="ctr"/>
          <a:lstStyle/>
          <a:p>
            <a:pPr indent="0" marL="0">
              <a:buNone/>
            </a:pPr>
            <a:r>
              <a:rPr lang="en-US" sz="1150" b="1" dirty="0">
                <a:solidFill>
                  <a:srgbClr val="1A2B4A"/>
                </a:solidFill>
                <a:latin typeface="Calibri" pitchFamily="34" charset="0"/>
                <a:ea typeface="Calibri" pitchFamily="34" charset="-122"/>
                <a:cs typeface="Calibri" pitchFamily="34" charset="-120"/>
              </a:rPr>
              <a:t>Continuous Freshness Scoring</a:t>
            </a:r>
            <a:endParaRPr lang="en-US" sz="1150" dirty="0"/>
          </a:p>
        </p:txBody>
      </p:sp>
      <p:sp>
        <p:nvSpPr>
          <p:cNvPr id="21" name="Text 19"/>
          <p:cNvSpPr/>
          <p:nvPr/>
        </p:nvSpPr>
        <p:spPr>
          <a:xfrm>
            <a:off x="969264" y="3035808"/>
            <a:ext cx="3474720" cy="731520"/>
          </a:xfrm>
          <a:prstGeom prst="rect">
            <a:avLst/>
          </a:prstGeom>
          <a:noFill/>
          <a:ln/>
        </p:spPr>
        <p:txBody>
          <a:bodyPr wrap="square" lIns="0" tIns="0" rIns="0" bIns="0" rtlCol="0" anchor="ctr"/>
          <a:lstStyle/>
          <a:p>
            <a:pPr indent="0" marL="0">
              <a:buNone/>
            </a:pPr>
            <a:r>
              <a:rPr lang="en-US" sz="1050" dirty="0">
                <a:solidFill>
                  <a:srgbClr val="4A5568"/>
                </a:solidFill>
                <a:latin typeface="Calibri" pitchFamily="34" charset="0"/>
                <a:ea typeface="Calibri" pitchFamily="34" charset="-122"/>
                <a:cs typeface="Calibri" pitchFamily="34" charset="-120"/>
              </a:rPr>
              <a:t>Map each classifier prediction to a continuous score ∈ [0, 1] and five fuzzy-logic-inspired categories, preserving the gradient of fruit quality rather than imposing a binary fresh/spoiled decision.</a:t>
            </a:r>
            <a:endParaRPr lang="en-US" sz="1050" dirty="0"/>
          </a:p>
        </p:txBody>
      </p:sp>
      <p:sp>
        <p:nvSpPr>
          <p:cNvPr id="22" name="Shape 20"/>
          <p:cNvSpPr/>
          <p:nvPr/>
        </p:nvSpPr>
        <p:spPr>
          <a:xfrm>
            <a:off x="475488" y="3822192"/>
            <a:ext cx="384048" cy="384048"/>
          </a:xfrm>
          <a:prstGeom prst="ellipse">
            <a:avLst/>
          </a:prstGeom>
          <a:solidFill>
            <a:srgbClr val="3A8C7E"/>
          </a:solidFill>
          <a:ln/>
        </p:spPr>
      </p:sp>
      <p:sp>
        <p:nvSpPr>
          <p:cNvPr id="23" name="Text 21"/>
          <p:cNvSpPr/>
          <p:nvPr/>
        </p:nvSpPr>
        <p:spPr>
          <a:xfrm>
            <a:off x="475488" y="3822192"/>
            <a:ext cx="384048" cy="384048"/>
          </a:xfrm>
          <a:prstGeom prst="rect">
            <a:avLst/>
          </a:prstGeom>
          <a:noFill/>
          <a:ln/>
        </p:spPr>
        <p:txBody>
          <a:bodyPr wrap="square" lIns="0" tIns="0" rIns="0" bIns="0" rtlCol="0" anchor="ctr"/>
          <a:lstStyle/>
          <a:p>
            <a:pPr algn="ctr" indent="0" marL="0">
              <a:buNone/>
            </a:pPr>
            <a:r>
              <a:rPr lang="en-US" sz="1100" b="1" dirty="0">
                <a:solidFill>
                  <a:srgbClr val="FFFFFF"/>
                </a:solidFill>
              </a:rPr>
              <a:t>3</a:t>
            </a:r>
            <a:endParaRPr lang="en-US" sz="1100" dirty="0"/>
          </a:p>
        </p:txBody>
      </p:sp>
      <p:sp>
        <p:nvSpPr>
          <p:cNvPr id="24" name="Text 22"/>
          <p:cNvSpPr/>
          <p:nvPr/>
        </p:nvSpPr>
        <p:spPr>
          <a:xfrm>
            <a:off x="969264" y="3831336"/>
            <a:ext cx="3474720" cy="256032"/>
          </a:xfrm>
          <a:prstGeom prst="rect">
            <a:avLst/>
          </a:prstGeom>
          <a:noFill/>
          <a:ln/>
        </p:spPr>
        <p:txBody>
          <a:bodyPr wrap="square" lIns="0" tIns="0" rIns="0" bIns="0" rtlCol="0" anchor="ctr"/>
          <a:lstStyle/>
          <a:p>
            <a:pPr indent="0" marL="0">
              <a:buNone/>
            </a:pPr>
            <a:r>
              <a:rPr lang="en-US" sz="1150" b="1" dirty="0">
                <a:solidFill>
                  <a:srgbClr val="1A2B4A"/>
                </a:solidFill>
                <a:latin typeface="Calibri" pitchFamily="34" charset="0"/>
                <a:ea typeface="Calibri" pitchFamily="34" charset="-122"/>
                <a:cs typeface="Calibri" pitchFamily="34" charset="-120"/>
              </a:rPr>
              <a:t>Multi-Factor Shelf-Life Estimation</a:t>
            </a:r>
            <a:endParaRPr lang="en-US" sz="1150" dirty="0"/>
          </a:p>
        </p:txBody>
      </p:sp>
      <p:sp>
        <p:nvSpPr>
          <p:cNvPr id="25" name="Text 23"/>
          <p:cNvSpPr/>
          <p:nvPr/>
        </p:nvSpPr>
        <p:spPr>
          <a:xfrm>
            <a:off x="969264" y="4105656"/>
            <a:ext cx="3474720" cy="731520"/>
          </a:xfrm>
          <a:prstGeom prst="rect">
            <a:avLst/>
          </a:prstGeom>
          <a:noFill/>
          <a:ln/>
        </p:spPr>
        <p:txBody>
          <a:bodyPr wrap="square" lIns="0" tIns="0" rIns="0" bIns="0" rtlCol="0" anchor="ctr"/>
          <a:lstStyle/>
          <a:p>
            <a:pPr indent="0" marL="0">
              <a:buNone/>
            </a:pPr>
            <a:r>
              <a:rPr lang="en-US" sz="1050" dirty="0">
                <a:solidFill>
                  <a:srgbClr val="4A5568"/>
                </a:solidFill>
                <a:latin typeface="Calibri" pitchFamily="34" charset="0"/>
                <a:ea typeface="Calibri" pitchFamily="34" charset="-122"/>
                <a:cs typeface="Calibri" pitchFamily="34" charset="-120"/>
              </a:rPr>
              <a:t>Compute personalised days-remaining estimates using Base × (Freshness)^1.5 × Temperature Factor × Ripeness Factor across all three storage methods for a 42-fruit curated reference database.</a:t>
            </a:r>
            <a:endParaRPr lang="en-US" sz="1050" dirty="0"/>
          </a:p>
        </p:txBody>
      </p:sp>
      <p:sp>
        <p:nvSpPr>
          <p:cNvPr id="26" name="Shape 24"/>
          <p:cNvSpPr/>
          <p:nvPr/>
        </p:nvSpPr>
        <p:spPr>
          <a:xfrm>
            <a:off x="4745736" y="1682496"/>
            <a:ext cx="384048" cy="384048"/>
          </a:xfrm>
          <a:prstGeom prst="ellipse">
            <a:avLst/>
          </a:prstGeom>
          <a:solidFill>
            <a:srgbClr val="3A8C7E"/>
          </a:solidFill>
          <a:ln/>
        </p:spPr>
      </p:sp>
      <p:sp>
        <p:nvSpPr>
          <p:cNvPr id="27" name="Text 25"/>
          <p:cNvSpPr/>
          <p:nvPr/>
        </p:nvSpPr>
        <p:spPr>
          <a:xfrm>
            <a:off x="4745736" y="1682496"/>
            <a:ext cx="384048" cy="384048"/>
          </a:xfrm>
          <a:prstGeom prst="rect">
            <a:avLst/>
          </a:prstGeom>
          <a:noFill/>
          <a:ln/>
        </p:spPr>
        <p:txBody>
          <a:bodyPr wrap="square" lIns="0" tIns="0" rIns="0" bIns="0" rtlCol="0" anchor="ctr"/>
          <a:lstStyle/>
          <a:p>
            <a:pPr algn="ctr" indent="0" marL="0">
              <a:buNone/>
            </a:pPr>
            <a:r>
              <a:rPr lang="en-US" sz="1100" b="1" dirty="0">
                <a:solidFill>
                  <a:srgbClr val="FFFFFF"/>
                </a:solidFill>
              </a:rPr>
              <a:t>4</a:t>
            </a:r>
            <a:endParaRPr lang="en-US" sz="1100" dirty="0"/>
          </a:p>
        </p:txBody>
      </p:sp>
      <p:sp>
        <p:nvSpPr>
          <p:cNvPr id="28" name="Text 26"/>
          <p:cNvSpPr/>
          <p:nvPr/>
        </p:nvSpPr>
        <p:spPr>
          <a:xfrm>
            <a:off x="5239512" y="1691640"/>
            <a:ext cx="3474720" cy="256032"/>
          </a:xfrm>
          <a:prstGeom prst="rect">
            <a:avLst/>
          </a:prstGeom>
          <a:noFill/>
          <a:ln/>
        </p:spPr>
        <p:txBody>
          <a:bodyPr wrap="square" lIns="0" tIns="0" rIns="0" bIns="0" rtlCol="0" anchor="ctr"/>
          <a:lstStyle/>
          <a:p>
            <a:pPr indent="0" marL="0">
              <a:buNone/>
            </a:pPr>
            <a:r>
              <a:rPr lang="en-US" sz="1150" b="1" dirty="0">
                <a:solidFill>
                  <a:srgbClr val="1A2B4A"/>
                </a:solidFill>
                <a:latin typeface="Calibri" pitchFamily="34" charset="0"/>
                <a:ea typeface="Calibri" pitchFamily="34" charset="-122"/>
                <a:cs typeface="Calibri" pitchFamily="34" charset="-120"/>
              </a:rPr>
              <a:t>Decision Engine &amp; Composite Verdict</a:t>
            </a:r>
            <a:endParaRPr lang="en-US" sz="1150" dirty="0"/>
          </a:p>
        </p:txBody>
      </p:sp>
      <p:sp>
        <p:nvSpPr>
          <p:cNvPr id="29" name="Text 27"/>
          <p:cNvSpPr/>
          <p:nvPr/>
        </p:nvSpPr>
        <p:spPr>
          <a:xfrm>
            <a:off x="5239512" y="1965960"/>
            <a:ext cx="3474720" cy="731520"/>
          </a:xfrm>
          <a:prstGeom prst="rect">
            <a:avLst/>
          </a:prstGeom>
          <a:noFill/>
          <a:ln/>
        </p:spPr>
        <p:txBody>
          <a:bodyPr wrap="square" lIns="0" tIns="0" rIns="0" bIns="0" rtlCol="0" anchor="ctr"/>
          <a:lstStyle/>
          <a:p>
            <a:pPr indent="0" marL="0">
              <a:buNone/>
            </a:pPr>
            <a:r>
              <a:rPr lang="en-US" sz="1050" dirty="0">
                <a:solidFill>
                  <a:srgbClr val="4A5568"/>
                </a:solidFill>
                <a:latin typeface="Calibri" pitchFamily="34" charset="0"/>
                <a:ea typeface="Calibri" pitchFamily="34" charset="-122"/>
                <a:cs typeface="Calibri" pitchFamily="34" charset="-120"/>
              </a:rPr>
              <a:t>Fuse the freshness and normalised shelf-life signals (60/40 weighting) into a single Composite Score that maps to four actionable verdict states: FRESH, EAT SOON, EAT TODAY, SPOILED.</a:t>
            </a:r>
            <a:endParaRPr lang="en-US" sz="1050" dirty="0"/>
          </a:p>
        </p:txBody>
      </p:sp>
      <p:sp>
        <p:nvSpPr>
          <p:cNvPr id="30" name="Shape 28"/>
          <p:cNvSpPr/>
          <p:nvPr/>
        </p:nvSpPr>
        <p:spPr>
          <a:xfrm>
            <a:off x="4745736" y="2752344"/>
            <a:ext cx="384048" cy="384048"/>
          </a:xfrm>
          <a:prstGeom prst="ellipse">
            <a:avLst/>
          </a:prstGeom>
          <a:solidFill>
            <a:srgbClr val="3A8C7E"/>
          </a:solidFill>
          <a:ln/>
        </p:spPr>
      </p:sp>
      <p:sp>
        <p:nvSpPr>
          <p:cNvPr id="31" name="Text 29"/>
          <p:cNvSpPr/>
          <p:nvPr/>
        </p:nvSpPr>
        <p:spPr>
          <a:xfrm>
            <a:off x="4745736" y="2752344"/>
            <a:ext cx="384048" cy="384048"/>
          </a:xfrm>
          <a:prstGeom prst="rect">
            <a:avLst/>
          </a:prstGeom>
          <a:noFill/>
          <a:ln/>
        </p:spPr>
        <p:txBody>
          <a:bodyPr wrap="square" lIns="0" tIns="0" rIns="0" bIns="0" rtlCol="0" anchor="ctr"/>
          <a:lstStyle/>
          <a:p>
            <a:pPr algn="ctr" indent="0" marL="0">
              <a:buNone/>
            </a:pPr>
            <a:r>
              <a:rPr lang="en-US" sz="1100" b="1" dirty="0">
                <a:solidFill>
                  <a:srgbClr val="FFFFFF"/>
                </a:solidFill>
              </a:rPr>
              <a:t>5</a:t>
            </a:r>
            <a:endParaRPr lang="en-US" sz="1100" dirty="0"/>
          </a:p>
        </p:txBody>
      </p:sp>
      <p:sp>
        <p:nvSpPr>
          <p:cNvPr id="32" name="Text 30"/>
          <p:cNvSpPr/>
          <p:nvPr/>
        </p:nvSpPr>
        <p:spPr>
          <a:xfrm>
            <a:off x="5239512" y="2761488"/>
            <a:ext cx="3474720" cy="256032"/>
          </a:xfrm>
          <a:prstGeom prst="rect">
            <a:avLst/>
          </a:prstGeom>
          <a:noFill/>
          <a:ln/>
        </p:spPr>
        <p:txBody>
          <a:bodyPr wrap="square" lIns="0" tIns="0" rIns="0" bIns="0" rtlCol="0" anchor="ctr"/>
          <a:lstStyle/>
          <a:p>
            <a:pPr indent="0" marL="0">
              <a:buNone/>
            </a:pPr>
            <a:r>
              <a:rPr lang="en-US" sz="1150" b="1" dirty="0">
                <a:solidFill>
                  <a:srgbClr val="1A2B4A"/>
                </a:solidFill>
                <a:latin typeface="Calibri" pitchFamily="34" charset="0"/>
                <a:ea typeface="Calibri" pitchFamily="34" charset="-122"/>
                <a:cs typeface="Calibri" pitchFamily="34" charset="-120"/>
              </a:rPr>
              <a:t>Ethylene Compatibility Engine</a:t>
            </a:r>
            <a:endParaRPr lang="en-US" sz="1150" dirty="0"/>
          </a:p>
        </p:txBody>
      </p:sp>
      <p:sp>
        <p:nvSpPr>
          <p:cNvPr id="33" name="Text 31"/>
          <p:cNvSpPr/>
          <p:nvPr/>
        </p:nvSpPr>
        <p:spPr>
          <a:xfrm>
            <a:off x="5239512" y="3035808"/>
            <a:ext cx="3474720" cy="731520"/>
          </a:xfrm>
          <a:prstGeom prst="rect">
            <a:avLst/>
          </a:prstGeom>
          <a:noFill/>
          <a:ln/>
        </p:spPr>
        <p:txBody>
          <a:bodyPr wrap="square" lIns="0" tIns="0" rIns="0" bIns="0" rtlCol="0" anchor="ctr"/>
          <a:lstStyle/>
          <a:p>
            <a:pPr indent="0" marL="0">
              <a:buNone/>
            </a:pPr>
            <a:r>
              <a:rPr lang="en-US" sz="1050" dirty="0">
                <a:solidFill>
                  <a:srgbClr val="4A5568"/>
                </a:solidFill>
                <a:latin typeface="Calibri" pitchFamily="34" charset="0"/>
                <a:ea typeface="Calibri" pitchFamily="34" charset="-122"/>
                <a:cs typeface="Calibri" pitchFamily="34" charset="-120"/>
              </a:rPr>
              <a:t>Model ethylene producer/sensitive interactions as a conflict graph — pairwise checking 456 potential pairs at O(n²) — and surface storage-separation recommendations for any list of fruits.</a:t>
            </a:r>
            <a:endParaRPr lang="en-US" sz="1050" dirty="0"/>
          </a:p>
        </p:txBody>
      </p:sp>
      <p:sp>
        <p:nvSpPr>
          <p:cNvPr id="34" name="Shape 32"/>
          <p:cNvSpPr/>
          <p:nvPr/>
        </p:nvSpPr>
        <p:spPr>
          <a:xfrm>
            <a:off x="4745736" y="3822192"/>
            <a:ext cx="384048" cy="384048"/>
          </a:xfrm>
          <a:prstGeom prst="ellipse">
            <a:avLst/>
          </a:prstGeom>
          <a:solidFill>
            <a:srgbClr val="3A8C7E"/>
          </a:solidFill>
          <a:ln/>
        </p:spPr>
      </p:sp>
      <p:sp>
        <p:nvSpPr>
          <p:cNvPr id="35" name="Text 33"/>
          <p:cNvSpPr/>
          <p:nvPr/>
        </p:nvSpPr>
        <p:spPr>
          <a:xfrm>
            <a:off x="4745736" y="3822192"/>
            <a:ext cx="384048" cy="384048"/>
          </a:xfrm>
          <a:prstGeom prst="rect">
            <a:avLst/>
          </a:prstGeom>
          <a:noFill/>
          <a:ln/>
        </p:spPr>
        <p:txBody>
          <a:bodyPr wrap="square" lIns="0" tIns="0" rIns="0" bIns="0" rtlCol="0" anchor="ctr"/>
          <a:lstStyle/>
          <a:p>
            <a:pPr algn="ctr" indent="0" marL="0">
              <a:buNone/>
            </a:pPr>
            <a:r>
              <a:rPr lang="en-US" sz="1100" b="1" dirty="0">
                <a:solidFill>
                  <a:srgbClr val="FFFFFF"/>
                </a:solidFill>
              </a:rPr>
              <a:t>6</a:t>
            </a:r>
            <a:endParaRPr lang="en-US" sz="1100" dirty="0"/>
          </a:p>
        </p:txBody>
      </p:sp>
      <p:sp>
        <p:nvSpPr>
          <p:cNvPr id="36" name="Text 34"/>
          <p:cNvSpPr/>
          <p:nvPr/>
        </p:nvSpPr>
        <p:spPr>
          <a:xfrm>
            <a:off x="5239512" y="3831336"/>
            <a:ext cx="3474720" cy="256032"/>
          </a:xfrm>
          <a:prstGeom prst="rect">
            <a:avLst/>
          </a:prstGeom>
          <a:noFill/>
          <a:ln/>
        </p:spPr>
        <p:txBody>
          <a:bodyPr wrap="square" lIns="0" tIns="0" rIns="0" bIns="0" rtlCol="0" anchor="ctr"/>
          <a:lstStyle/>
          <a:p>
            <a:pPr indent="0" marL="0">
              <a:buNone/>
            </a:pPr>
            <a:r>
              <a:rPr lang="en-US" sz="1150" b="1" dirty="0">
                <a:solidFill>
                  <a:srgbClr val="1A2B4A"/>
                </a:solidFill>
                <a:latin typeface="Calibri" pitchFamily="34" charset="0"/>
                <a:ea typeface="Calibri" pitchFamily="34" charset="-122"/>
                <a:cs typeface="Calibri" pitchFamily="34" charset="-120"/>
              </a:rPr>
              <a:t>Live PWA Deployment</a:t>
            </a:r>
            <a:endParaRPr lang="en-US" sz="1150" dirty="0"/>
          </a:p>
        </p:txBody>
      </p:sp>
      <p:sp>
        <p:nvSpPr>
          <p:cNvPr id="37" name="Text 35"/>
          <p:cNvSpPr/>
          <p:nvPr/>
        </p:nvSpPr>
        <p:spPr>
          <a:xfrm>
            <a:off x="5239512" y="4105656"/>
            <a:ext cx="3474720" cy="731520"/>
          </a:xfrm>
          <a:prstGeom prst="rect">
            <a:avLst/>
          </a:prstGeom>
          <a:noFill/>
          <a:ln/>
        </p:spPr>
        <p:txBody>
          <a:bodyPr wrap="square" lIns="0" tIns="0" rIns="0" bIns="0" rtlCol="0" anchor="ctr"/>
          <a:lstStyle/>
          <a:p>
            <a:pPr indent="0" marL="0">
              <a:buNone/>
            </a:pPr>
            <a:r>
              <a:rPr lang="en-US" sz="1050" dirty="0">
                <a:solidFill>
                  <a:srgbClr val="4A5568"/>
                </a:solidFill>
                <a:latin typeface="Calibri" pitchFamily="34" charset="0"/>
                <a:ea typeface="Calibri" pitchFamily="34" charset="-122"/>
                <a:cs typeface="Calibri" pitchFamily="34" charset="-120"/>
              </a:rPr>
              <a:t>Deliver the full system as a FastAPI backend + Next.js React PWA: real-time scan, per-fruit storage advice, inventory tracking with expiry alerts, and compatibility checking — installable from any browser.</a:t>
            </a:r>
            <a:endParaRPr lang="en-US" sz="10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EBEBEB"/>
        </a:solidFill>
      </p:bgPr>
    </p:bg>
    <p:spTree>
      <p:nvGrpSpPr>
        <p:cNvPr id="1" name=""/>
        <p:cNvGrpSpPr/>
        <p:nvPr/>
      </p:nvGrpSpPr>
      <p:grpSpPr>
        <a:xfrm>
          <a:off x="0" y="0"/>
          <a:ext cx="0" cy="0"/>
          <a:chOff x="0" y="0"/>
          <a:chExt cx="0" cy="0"/>
        </a:xfrm>
      </p:grpSpPr>
      <p:sp>
        <p:nvSpPr>
          <p:cNvPr id="2" name="Shape 0"/>
          <p:cNvSpPr/>
          <p:nvPr/>
        </p:nvSpPr>
        <p:spPr>
          <a:xfrm rot="-900000">
            <a:off x="137160" y="1371600"/>
            <a:ext cx="777240" cy="201168"/>
          </a:xfrm>
          <a:prstGeom prst="rect">
            <a:avLst/>
          </a:prstGeom>
          <a:solidFill>
            <a:srgbClr val="1A2B4A">
              <a:alpha val="40000"/>
            </a:srgbClr>
          </a:solidFill>
          <a:ln/>
        </p:spPr>
      </p:sp>
      <p:sp>
        <p:nvSpPr>
          <p:cNvPr id="3" name="Shape 1"/>
          <p:cNvSpPr/>
          <p:nvPr/>
        </p:nvSpPr>
        <p:spPr>
          <a:xfrm rot="-900000">
            <a:off x="338328" y="1463040"/>
            <a:ext cx="777240" cy="201168"/>
          </a:xfrm>
          <a:prstGeom prst="rect">
            <a:avLst/>
          </a:prstGeom>
          <a:solidFill>
            <a:srgbClr val="3B5FA0">
              <a:alpha val="30000"/>
            </a:srgbClr>
          </a:solidFill>
          <a:ln/>
        </p:spPr>
      </p:sp>
      <p:sp>
        <p:nvSpPr>
          <p:cNvPr id="4" name="Shape 2"/>
          <p:cNvSpPr/>
          <p:nvPr/>
        </p:nvSpPr>
        <p:spPr>
          <a:xfrm rot="-900000">
            <a:off x="539496" y="1554480"/>
            <a:ext cx="777240" cy="201168"/>
          </a:xfrm>
          <a:prstGeom prst="rect">
            <a:avLst/>
          </a:prstGeom>
          <a:solidFill>
            <a:srgbClr val="3A8C7E">
              <a:alpha val="25000"/>
            </a:srgbClr>
          </a:solidFill>
          <a:ln/>
        </p:spPr>
      </p:sp>
      <p:sp>
        <p:nvSpPr>
          <p:cNvPr id="5" name="Shape 3"/>
          <p:cNvSpPr/>
          <p:nvPr/>
        </p:nvSpPr>
        <p:spPr>
          <a:xfrm>
            <a:off x="411480" y="868680"/>
            <a:ext cx="8229600" cy="0"/>
          </a:xfrm>
          <a:prstGeom prst="line">
            <a:avLst/>
          </a:prstGeom>
          <a:noFill/>
          <a:ln w="19050">
            <a:solidFill>
              <a:srgbClr val="3A8C7E">
                <a:alpha val="60000"/>
              </a:srgbClr>
            </a:solidFill>
            <a:prstDash val="solid"/>
          </a:ln>
        </p:spPr>
      </p:sp>
      <p:sp>
        <p:nvSpPr>
          <p:cNvPr id="6" name="Shape 4"/>
          <p:cNvSpPr/>
          <p:nvPr/>
        </p:nvSpPr>
        <p:spPr>
          <a:xfrm>
            <a:off x="411480" y="950976"/>
            <a:ext cx="8229600" cy="0"/>
          </a:xfrm>
          <a:prstGeom prst="line">
            <a:avLst/>
          </a:prstGeom>
          <a:noFill/>
          <a:ln w="10160">
            <a:solidFill>
              <a:srgbClr val="1A2B4A">
                <a:alpha val="45000"/>
              </a:srgbClr>
            </a:solidFill>
            <a:prstDash val="solid"/>
          </a:ln>
        </p:spPr>
      </p:sp>
      <p:sp>
        <p:nvSpPr>
          <p:cNvPr id="7" name="Text 5"/>
          <p:cNvSpPr/>
          <p:nvPr/>
        </p:nvSpPr>
        <p:spPr>
          <a:xfrm>
            <a:off x="411480" y="292608"/>
            <a:ext cx="8321040" cy="530352"/>
          </a:xfrm>
          <a:prstGeom prst="rect">
            <a:avLst/>
          </a:prstGeom>
          <a:noFill/>
          <a:ln/>
        </p:spPr>
        <p:txBody>
          <a:bodyPr wrap="square" lIns="0" tIns="0" rIns="0" bIns="0" rtlCol="0" anchor="ctr"/>
          <a:lstStyle/>
          <a:p>
            <a:pPr algn="l" indent="0" marL="0">
              <a:buNone/>
            </a:pPr>
            <a:r>
              <a:rPr lang="en-US" sz="2800" b="1" dirty="0">
                <a:solidFill>
                  <a:srgbClr val="1A2B4A"/>
                </a:solidFill>
                <a:latin typeface="Cambria" pitchFamily="34" charset="0"/>
                <a:ea typeface="Cambria" pitchFamily="34" charset="-122"/>
                <a:cs typeface="Cambria" pitchFamily="34" charset="-120"/>
              </a:rPr>
              <a:t>Related Works</a:t>
            </a:r>
            <a:endParaRPr lang="en-US" sz="2800" dirty="0"/>
          </a:p>
        </p:txBody>
      </p:sp>
      <p:sp>
        <p:nvSpPr>
          <p:cNvPr id="8" name="Text 6"/>
          <p:cNvSpPr/>
          <p:nvPr/>
        </p:nvSpPr>
        <p:spPr>
          <a:xfrm>
            <a:off x="411480" y="841248"/>
            <a:ext cx="8321040" cy="329184"/>
          </a:xfrm>
          <a:prstGeom prst="rect">
            <a:avLst/>
          </a:prstGeom>
          <a:noFill/>
          <a:ln/>
        </p:spPr>
        <p:txBody>
          <a:bodyPr wrap="square" lIns="0" tIns="0" rIns="0" bIns="0" rtlCol="0" anchor="ctr"/>
          <a:lstStyle/>
          <a:p>
            <a:pPr algn="l" indent="0" marL="0">
              <a:buNone/>
            </a:pPr>
            <a:r>
              <a:rPr lang="en-US" sz="1400" b="1" dirty="0">
                <a:solidFill>
                  <a:srgbClr val="3A8C7E"/>
                </a:solidFill>
                <a:latin typeface="Calibri" pitchFamily="34" charset="0"/>
                <a:ea typeface="Calibri" pitchFamily="34" charset="-122"/>
                <a:cs typeface="Calibri" pitchFamily="34" charset="-120"/>
              </a:rPr>
              <a:t>Mapping the prior landscape in AI-driven food freshness assessment</a:t>
            </a:r>
            <a:endParaRPr lang="en-US" sz="1400" dirty="0"/>
          </a:p>
        </p:txBody>
      </p:sp>
      <p:sp>
        <p:nvSpPr>
          <p:cNvPr id="9" name="Shape 7"/>
          <p:cNvSpPr/>
          <p:nvPr/>
        </p:nvSpPr>
        <p:spPr>
          <a:xfrm>
            <a:off x="384048" y="1207008"/>
            <a:ext cx="8375904" cy="777240"/>
          </a:xfrm>
          <a:prstGeom prst="roundRect">
            <a:avLst>
              <a:gd name="adj" fmla="val 14118"/>
            </a:avLst>
          </a:prstGeom>
          <a:solidFill>
            <a:srgbClr val="F4F7F9"/>
          </a:solidFill>
          <a:ln w="6350">
            <a:solidFill>
              <a:srgbClr val="1A2B4A">
                <a:alpha val="40000"/>
              </a:srgbClr>
            </a:solidFill>
            <a:prstDash val="solid"/>
          </a:ln>
          <a:effectLst>
            <a:outerShdw sx="100000" sy="100000" kx="0" ky="0" algn="bl" rotWithShape="0" blurRad="101600" dist="38100" dir="2700000">
              <a:srgbClr val="000000">
                <a:alpha val="10000"/>
              </a:srgbClr>
            </a:outerShdw>
          </a:effectLst>
        </p:spPr>
      </p:sp>
      <p:sp>
        <p:nvSpPr>
          <p:cNvPr id="10" name="Text 8"/>
          <p:cNvSpPr/>
          <p:nvPr/>
        </p:nvSpPr>
        <p:spPr>
          <a:xfrm>
            <a:off x="530352" y="1243584"/>
            <a:ext cx="8229600" cy="201168"/>
          </a:xfrm>
          <a:prstGeom prst="rect">
            <a:avLst/>
          </a:prstGeom>
          <a:noFill/>
          <a:ln/>
        </p:spPr>
        <p:txBody>
          <a:bodyPr wrap="square" lIns="0" tIns="0" rIns="0" bIns="0" rtlCol="0" anchor="ctr"/>
          <a:lstStyle/>
          <a:p>
            <a:pPr indent="0" marL="0">
              <a:buNone/>
            </a:pPr>
            <a:r>
              <a:rPr lang="en-US" sz="950" i="1" dirty="0">
                <a:solidFill>
                  <a:srgbClr val="607D8B"/>
                </a:solidFill>
                <a:latin typeface="Calibri" pitchFamily="34" charset="0"/>
                <a:ea typeface="Calibri" pitchFamily="34" charset="-122"/>
                <a:cs typeface="Calibri" pitchFamily="34" charset="-120"/>
              </a:rPr>
              <a:t>Fu et al. (2022) — Computers &amp; Electronics in Agriculture, 193, 106679</a:t>
            </a:r>
            <a:endParaRPr lang="en-US" sz="950" dirty="0"/>
          </a:p>
        </p:txBody>
      </p:sp>
      <p:sp>
        <p:nvSpPr>
          <p:cNvPr id="11" name="Text 9"/>
          <p:cNvSpPr/>
          <p:nvPr/>
        </p:nvSpPr>
        <p:spPr>
          <a:xfrm>
            <a:off x="530352" y="1426464"/>
            <a:ext cx="5303520" cy="219456"/>
          </a:xfrm>
          <a:prstGeom prst="rect">
            <a:avLst/>
          </a:prstGeom>
          <a:noFill/>
          <a:ln/>
        </p:spPr>
        <p:txBody>
          <a:bodyPr wrap="square" lIns="0" tIns="0" rIns="0" bIns="0" rtlCol="0" anchor="ctr"/>
          <a:lstStyle/>
          <a:p>
            <a:pPr indent="0" marL="0">
              <a:buNone/>
            </a:pPr>
            <a:r>
              <a:rPr lang="en-US" sz="1200" b="1" dirty="0">
                <a:solidFill>
                  <a:srgbClr val="1A2B4A"/>
                </a:solidFill>
                <a:latin typeface="Calibri" pitchFamily="34" charset="0"/>
                <a:ea typeface="Calibri" pitchFamily="34" charset="-122"/>
                <a:cs typeface="Calibri" pitchFamily="34" charset="-120"/>
              </a:rPr>
              <a:t>CNN-Based Freshness Grading for Citrus</a:t>
            </a:r>
            <a:endParaRPr lang="en-US" sz="1200" dirty="0"/>
          </a:p>
        </p:txBody>
      </p:sp>
      <p:sp>
        <p:nvSpPr>
          <p:cNvPr id="12" name="Text 10"/>
          <p:cNvSpPr/>
          <p:nvPr/>
        </p:nvSpPr>
        <p:spPr>
          <a:xfrm>
            <a:off x="530352" y="1645920"/>
            <a:ext cx="6309360" cy="310896"/>
          </a:xfrm>
          <a:prstGeom prst="rect">
            <a:avLst/>
          </a:prstGeom>
          <a:noFill/>
          <a:ln/>
        </p:spPr>
        <p:txBody>
          <a:bodyPr wrap="square" lIns="0" tIns="0" rIns="0" bIns="0" rtlCol="0" anchor="ctr"/>
          <a:lstStyle/>
          <a:p>
            <a:pPr indent="0" marL="0">
              <a:buNone/>
            </a:pPr>
            <a:r>
              <a:rPr lang="en-US" sz="1050" dirty="0">
                <a:solidFill>
                  <a:srgbClr val="4A5568"/>
                </a:solidFill>
                <a:latin typeface="Calibri" pitchFamily="34" charset="0"/>
                <a:ea typeface="Calibri" pitchFamily="34" charset="-122"/>
                <a:cs typeface="Calibri" pitchFamily="34" charset="-120"/>
              </a:rPr>
              <a:t>Demonstrated that deep CNNs (ResNet-50) can classify citrus fruit freshness from photographs with meaningful accuracy. Established CNN viability for visual freshness assessment and identified lighting sensitivity as a key challenge — a limitation we address explicitly in our preprocessing pipeline.</a:t>
            </a:r>
            <a:endParaRPr lang="en-US" sz="1050" dirty="0"/>
          </a:p>
        </p:txBody>
      </p:sp>
      <p:sp>
        <p:nvSpPr>
          <p:cNvPr id="13" name="Shape 11"/>
          <p:cNvSpPr/>
          <p:nvPr/>
        </p:nvSpPr>
        <p:spPr>
          <a:xfrm>
            <a:off x="6949440" y="1426464"/>
            <a:ext cx="1755648" cy="530352"/>
          </a:xfrm>
          <a:prstGeom prst="roundRect">
            <a:avLst>
              <a:gd name="adj" fmla="val 20690"/>
            </a:avLst>
          </a:prstGeom>
          <a:solidFill>
            <a:srgbClr val="FFF3F3"/>
          </a:solidFill>
          <a:ln w="6350">
            <a:solidFill>
              <a:srgbClr val="1A2B4A">
                <a:alpha val="40000"/>
              </a:srgbClr>
            </a:solidFill>
            <a:prstDash val="solid"/>
          </a:ln>
          <a:effectLst>
            <a:outerShdw sx="100000" sy="100000" kx="0" ky="0" algn="bl" rotWithShape="0" blurRad="101600" dist="38100" dir="2700000">
              <a:srgbClr val="000000">
                <a:alpha val="10000"/>
              </a:srgbClr>
            </a:outerShdw>
          </a:effectLst>
        </p:spPr>
      </p:sp>
      <p:sp>
        <p:nvSpPr>
          <p:cNvPr id="14" name="Text 12"/>
          <p:cNvSpPr/>
          <p:nvPr/>
        </p:nvSpPr>
        <p:spPr>
          <a:xfrm>
            <a:off x="6976872" y="1444752"/>
            <a:ext cx="1700784" cy="493776"/>
          </a:xfrm>
          <a:prstGeom prst="rect">
            <a:avLst/>
          </a:prstGeom>
          <a:noFill/>
          <a:ln/>
        </p:spPr>
        <p:txBody>
          <a:bodyPr wrap="square" lIns="38100" tIns="38100" rIns="38100" bIns="38100" rtlCol="0" anchor="t"/>
          <a:lstStyle/>
          <a:p>
            <a:pPr algn="l" indent="0" marL="0">
              <a:buNone/>
            </a:pPr>
            <a:r>
              <a:rPr lang="en-US" sz="950" dirty="0">
                <a:solidFill>
                  <a:srgbClr val="C0392B"/>
                </a:solidFill>
                <a:latin typeface="Calibri" pitchFamily="34" charset="0"/>
                <a:ea typeface="Calibri" pitchFamily="34" charset="-122"/>
                <a:cs typeface="Calibri" pitchFamily="34" charset="-120"/>
              </a:rPr>
              <a:t>⚠ Single fruit type; no shelf-life estimation; no deployment; no ethylene awareness.</a:t>
            </a:r>
            <a:endParaRPr lang="en-US" sz="950" dirty="0"/>
          </a:p>
        </p:txBody>
      </p:sp>
      <p:sp>
        <p:nvSpPr>
          <p:cNvPr id="15" name="Shape 13"/>
          <p:cNvSpPr/>
          <p:nvPr/>
        </p:nvSpPr>
        <p:spPr>
          <a:xfrm>
            <a:off x="384048" y="2148840"/>
            <a:ext cx="8375904" cy="777240"/>
          </a:xfrm>
          <a:prstGeom prst="roundRect">
            <a:avLst>
              <a:gd name="adj" fmla="val 14118"/>
            </a:avLst>
          </a:prstGeom>
          <a:solidFill>
            <a:srgbClr val="F0F4F8"/>
          </a:solidFill>
          <a:ln w="6350">
            <a:solidFill>
              <a:srgbClr val="1A2B4A">
                <a:alpha val="40000"/>
              </a:srgbClr>
            </a:solidFill>
            <a:prstDash val="solid"/>
          </a:ln>
          <a:effectLst>
            <a:outerShdw sx="100000" sy="100000" kx="0" ky="0" algn="bl" rotWithShape="0" blurRad="101600" dist="38100" dir="2700000">
              <a:srgbClr val="000000">
                <a:alpha val="10000"/>
              </a:srgbClr>
            </a:outerShdw>
          </a:effectLst>
        </p:spPr>
      </p:sp>
      <p:sp>
        <p:nvSpPr>
          <p:cNvPr id="16" name="Text 14"/>
          <p:cNvSpPr/>
          <p:nvPr/>
        </p:nvSpPr>
        <p:spPr>
          <a:xfrm>
            <a:off x="530352" y="2185416"/>
            <a:ext cx="8229600" cy="201168"/>
          </a:xfrm>
          <a:prstGeom prst="rect">
            <a:avLst/>
          </a:prstGeom>
          <a:noFill/>
          <a:ln/>
        </p:spPr>
        <p:txBody>
          <a:bodyPr wrap="square" lIns="0" tIns="0" rIns="0" bIns="0" rtlCol="0" anchor="ctr"/>
          <a:lstStyle/>
          <a:p>
            <a:pPr indent="0" marL="0">
              <a:buNone/>
            </a:pPr>
            <a:r>
              <a:rPr lang="en-US" sz="950" i="1" dirty="0">
                <a:solidFill>
                  <a:srgbClr val="607D8B"/>
                </a:solidFill>
                <a:latin typeface="Calibri" pitchFamily="34" charset="0"/>
                <a:ea typeface="Calibri" pitchFamily="34" charset="-122"/>
                <a:cs typeface="Calibri" pitchFamily="34" charset="-120"/>
              </a:rPr>
              <a:t>Hu et al. (2024) — Expert Systems with Applications, 238, 121872</a:t>
            </a:r>
            <a:endParaRPr lang="en-US" sz="950" dirty="0"/>
          </a:p>
        </p:txBody>
      </p:sp>
      <p:sp>
        <p:nvSpPr>
          <p:cNvPr id="17" name="Text 15"/>
          <p:cNvSpPr/>
          <p:nvPr/>
        </p:nvSpPr>
        <p:spPr>
          <a:xfrm>
            <a:off x="530352" y="2368296"/>
            <a:ext cx="5303520" cy="219456"/>
          </a:xfrm>
          <a:prstGeom prst="rect">
            <a:avLst/>
          </a:prstGeom>
          <a:noFill/>
          <a:ln/>
        </p:spPr>
        <p:txBody>
          <a:bodyPr wrap="square" lIns="0" tIns="0" rIns="0" bIns="0" rtlCol="0" anchor="ctr"/>
          <a:lstStyle/>
          <a:p>
            <a:pPr indent="0" marL="0">
              <a:buNone/>
            </a:pPr>
            <a:r>
              <a:rPr lang="en-US" sz="1200" b="1" dirty="0">
                <a:solidFill>
                  <a:srgbClr val="1A2B4A"/>
                </a:solidFill>
                <a:latin typeface="Calibri" pitchFamily="34" charset="0"/>
                <a:ea typeface="Calibri" pitchFamily="34" charset="-122"/>
                <a:cs typeface="Calibri" pitchFamily="34" charset="-120"/>
              </a:rPr>
              <a:t>Mobile-Optimised EfficientNet for Vegetable Grading</a:t>
            </a:r>
            <a:endParaRPr lang="en-US" sz="1200" dirty="0"/>
          </a:p>
        </p:txBody>
      </p:sp>
      <p:sp>
        <p:nvSpPr>
          <p:cNvPr id="18" name="Text 16"/>
          <p:cNvSpPr/>
          <p:nvPr/>
        </p:nvSpPr>
        <p:spPr>
          <a:xfrm>
            <a:off x="530352" y="2587752"/>
            <a:ext cx="6309360" cy="310896"/>
          </a:xfrm>
          <a:prstGeom prst="rect">
            <a:avLst/>
          </a:prstGeom>
          <a:noFill/>
          <a:ln/>
        </p:spPr>
        <p:txBody>
          <a:bodyPr wrap="square" lIns="0" tIns="0" rIns="0" bIns="0" rtlCol="0" anchor="ctr"/>
          <a:lstStyle/>
          <a:p>
            <a:pPr indent="0" marL="0">
              <a:buNone/>
            </a:pPr>
            <a:r>
              <a:rPr lang="en-US" sz="1050" dirty="0">
                <a:solidFill>
                  <a:srgbClr val="4A5568"/>
                </a:solidFill>
                <a:latin typeface="Calibri" pitchFamily="34" charset="0"/>
                <a:ea typeface="Calibri" pitchFamily="34" charset="-122"/>
                <a:cs typeface="Calibri" pitchFamily="34" charset="-120"/>
              </a:rPr>
              <a:t>Applied EfficientNet to vegetable quality grading on edge devices, demonstrating that lightweight architectures achieve near-full-network accuracy on produce quality tasks. Validates our choice of MobileNetV2 over heavier architectures.</a:t>
            </a:r>
            <a:endParaRPr lang="en-US" sz="1050" dirty="0"/>
          </a:p>
        </p:txBody>
      </p:sp>
      <p:sp>
        <p:nvSpPr>
          <p:cNvPr id="19" name="Shape 17"/>
          <p:cNvSpPr/>
          <p:nvPr/>
        </p:nvSpPr>
        <p:spPr>
          <a:xfrm>
            <a:off x="6949440" y="2368296"/>
            <a:ext cx="1755648" cy="530352"/>
          </a:xfrm>
          <a:prstGeom prst="roundRect">
            <a:avLst>
              <a:gd name="adj" fmla="val 20690"/>
            </a:avLst>
          </a:prstGeom>
          <a:solidFill>
            <a:srgbClr val="FFF3F3"/>
          </a:solidFill>
          <a:ln w="6350">
            <a:solidFill>
              <a:srgbClr val="1A2B4A">
                <a:alpha val="40000"/>
              </a:srgbClr>
            </a:solidFill>
            <a:prstDash val="solid"/>
          </a:ln>
          <a:effectLst>
            <a:outerShdw sx="100000" sy="100000" kx="0" ky="0" algn="bl" rotWithShape="0" blurRad="101600" dist="38100" dir="2700000">
              <a:srgbClr val="000000">
                <a:alpha val="10000"/>
              </a:srgbClr>
            </a:outerShdw>
          </a:effectLst>
        </p:spPr>
      </p:sp>
      <p:sp>
        <p:nvSpPr>
          <p:cNvPr id="20" name="Text 18"/>
          <p:cNvSpPr/>
          <p:nvPr/>
        </p:nvSpPr>
        <p:spPr>
          <a:xfrm>
            <a:off x="6976872" y="2386584"/>
            <a:ext cx="1700784" cy="493776"/>
          </a:xfrm>
          <a:prstGeom prst="rect">
            <a:avLst/>
          </a:prstGeom>
          <a:noFill/>
          <a:ln/>
        </p:spPr>
        <p:txBody>
          <a:bodyPr wrap="square" lIns="38100" tIns="38100" rIns="38100" bIns="38100" rtlCol="0" anchor="t"/>
          <a:lstStyle/>
          <a:p>
            <a:pPr algn="l" indent="0" marL="0">
              <a:buNone/>
            </a:pPr>
            <a:r>
              <a:rPr lang="en-US" sz="950" dirty="0">
                <a:solidFill>
                  <a:srgbClr val="C0392B"/>
                </a:solidFill>
                <a:latin typeface="Calibri" pitchFamily="34" charset="0"/>
                <a:ea typeface="Calibri" pitchFamily="34" charset="-122"/>
                <a:cs typeface="Calibri" pitchFamily="34" charset="-120"/>
              </a:rPr>
              <a:t>⚠ Vegetables only; no consumer deployment; no personalised shelf-life; no multi-fruit catalogue.</a:t>
            </a:r>
            <a:endParaRPr lang="en-US" sz="950" dirty="0"/>
          </a:p>
        </p:txBody>
      </p:sp>
      <p:sp>
        <p:nvSpPr>
          <p:cNvPr id="21" name="Shape 19"/>
          <p:cNvSpPr/>
          <p:nvPr/>
        </p:nvSpPr>
        <p:spPr>
          <a:xfrm>
            <a:off x="384048" y="3090672"/>
            <a:ext cx="8375904" cy="777240"/>
          </a:xfrm>
          <a:prstGeom prst="roundRect">
            <a:avLst>
              <a:gd name="adj" fmla="val 14118"/>
            </a:avLst>
          </a:prstGeom>
          <a:solidFill>
            <a:srgbClr val="F4F7F9"/>
          </a:solidFill>
          <a:ln w="6350">
            <a:solidFill>
              <a:srgbClr val="1A2B4A">
                <a:alpha val="40000"/>
              </a:srgbClr>
            </a:solidFill>
            <a:prstDash val="solid"/>
          </a:ln>
          <a:effectLst>
            <a:outerShdw sx="100000" sy="100000" kx="0" ky="0" algn="bl" rotWithShape="0" blurRad="101600" dist="38100" dir="2700000">
              <a:srgbClr val="000000">
                <a:alpha val="10000"/>
              </a:srgbClr>
            </a:outerShdw>
          </a:effectLst>
        </p:spPr>
      </p:sp>
      <p:sp>
        <p:nvSpPr>
          <p:cNvPr id="22" name="Text 20"/>
          <p:cNvSpPr/>
          <p:nvPr/>
        </p:nvSpPr>
        <p:spPr>
          <a:xfrm>
            <a:off x="530352" y="3127248"/>
            <a:ext cx="8229600" cy="201168"/>
          </a:xfrm>
          <a:prstGeom prst="rect">
            <a:avLst/>
          </a:prstGeom>
          <a:noFill/>
          <a:ln/>
        </p:spPr>
        <p:txBody>
          <a:bodyPr wrap="square" lIns="0" tIns="0" rIns="0" bIns="0" rtlCol="0" anchor="ctr"/>
          <a:lstStyle/>
          <a:p>
            <a:pPr indent="0" marL="0">
              <a:buNone/>
            </a:pPr>
            <a:r>
              <a:rPr lang="en-US" sz="950" i="1" dirty="0">
                <a:solidFill>
                  <a:srgbClr val="607D8B"/>
                </a:solidFill>
                <a:latin typeface="Calibri" pitchFamily="34" charset="0"/>
                <a:ea typeface="Calibri" pitchFamily="34" charset="-122"/>
                <a:cs typeface="Calibri" pitchFamily="34" charset="-120"/>
              </a:rPr>
              <a:t>Wang et al. (2025) — Sensors &amp; Actuators B: Chemical, 398, 134723</a:t>
            </a:r>
            <a:endParaRPr lang="en-US" sz="950" dirty="0"/>
          </a:p>
        </p:txBody>
      </p:sp>
      <p:sp>
        <p:nvSpPr>
          <p:cNvPr id="23" name="Text 21"/>
          <p:cNvSpPr/>
          <p:nvPr/>
        </p:nvSpPr>
        <p:spPr>
          <a:xfrm>
            <a:off x="530352" y="3310128"/>
            <a:ext cx="5303520" cy="219456"/>
          </a:xfrm>
          <a:prstGeom prst="rect">
            <a:avLst/>
          </a:prstGeom>
          <a:noFill/>
          <a:ln/>
        </p:spPr>
        <p:txBody>
          <a:bodyPr wrap="square" lIns="0" tIns="0" rIns="0" bIns="0" rtlCol="0" anchor="ctr"/>
          <a:lstStyle/>
          <a:p>
            <a:pPr indent="0" marL="0">
              <a:buNone/>
            </a:pPr>
            <a:r>
              <a:rPr lang="en-US" sz="1200" b="1" dirty="0">
                <a:solidFill>
                  <a:srgbClr val="1A2B4A"/>
                </a:solidFill>
                <a:latin typeface="Calibri" pitchFamily="34" charset="0"/>
                <a:ea typeface="Calibri" pitchFamily="34" charset="-122"/>
                <a:cs typeface="Calibri" pitchFamily="34" charset="-120"/>
              </a:rPr>
              <a:t>IoT Multi-Sensor Freshness Detection</a:t>
            </a:r>
            <a:endParaRPr lang="en-US" sz="1200" dirty="0"/>
          </a:p>
        </p:txBody>
      </p:sp>
      <p:sp>
        <p:nvSpPr>
          <p:cNvPr id="24" name="Text 22"/>
          <p:cNvSpPr/>
          <p:nvPr/>
        </p:nvSpPr>
        <p:spPr>
          <a:xfrm>
            <a:off x="530352" y="3529584"/>
            <a:ext cx="6309360" cy="310896"/>
          </a:xfrm>
          <a:prstGeom prst="rect">
            <a:avLst/>
          </a:prstGeom>
          <a:noFill/>
          <a:ln/>
        </p:spPr>
        <p:txBody>
          <a:bodyPr wrap="square" lIns="0" tIns="0" rIns="0" bIns="0" rtlCol="0" anchor="ctr"/>
          <a:lstStyle/>
          <a:p>
            <a:pPr indent="0" marL="0">
              <a:buNone/>
            </a:pPr>
            <a:r>
              <a:rPr lang="en-US" sz="1050" dirty="0">
                <a:solidFill>
                  <a:srgbClr val="4A5568"/>
                </a:solidFill>
                <a:latin typeface="Calibri" pitchFamily="34" charset="0"/>
                <a:ea typeface="Calibri" pitchFamily="34" charset="-122"/>
                <a:cs typeface="Calibri" pitchFamily="34" charset="-120"/>
              </a:rPr>
              <a:t>Achieved 94.5% prediction accuracy through sensor fusion (gas sensors + temperature). Represents the state of the art in absolute accuracy. CRITICAL LIMITATION: Requires electronic nose hardware costing hundreds of dollars, completely inaccessible to Nigerian household consumers.</a:t>
            </a:r>
            <a:endParaRPr lang="en-US" sz="1050" dirty="0"/>
          </a:p>
        </p:txBody>
      </p:sp>
      <p:sp>
        <p:nvSpPr>
          <p:cNvPr id="25" name="Shape 23"/>
          <p:cNvSpPr/>
          <p:nvPr/>
        </p:nvSpPr>
        <p:spPr>
          <a:xfrm>
            <a:off x="6949440" y="3310128"/>
            <a:ext cx="1755648" cy="530352"/>
          </a:xfrm>
          <a:prstGeom prst="roundRect">
            <a:avLst>
              <a:gd name="adj" fmla="val 20690"/>
            </a:avLst>
          </a:prstGeom>
          <a:solidFill>
            <a:srgbClr val="FFF3F3"/>
          </a:solidFill>
          <a:ln w="6350">
            <a:solidFill>
              <a:srgbClr val="1A2B4A">
                <a:alpha val="40000"/>
              </a:srgbClr>
            </a:solidFill>
            <a:prstDash val="solid"/>
          </a:ln>
          <a:effectLst>
            <a:outerShdw sx="100000" sy="100000" kx="0" ky="0" algn="bl" rotWithShape="0" blurRad="101600" dist="38100" dir="2700000">
              <a:srgbClr val="000000">
                <a:alpha val="10000"/>
              </a:srgbClr>
            </a:outerShdw>
          </a:effectLst>
        </p:spPr>
      </p:sp>
      <p:sp>
        <p:nvSpPr>
          <p:cNvPr id="26" name="Text 24"/>
          <p:cNvSpPr/>
          <p:nvPr/>
        </p:nvSpPr>
        <p:spPr>
          <a:xfrm>
            <a:off x="6976872" y="3328416"/>
            <a:ext cx="1700784" cy="493776"/>
          </a:xfrm>
          <a:prstGeom prst="rect">
            <a:avLst/>
          </a:prstGeom>
          <a:noFill/>
          <a:ln/>
        </p:spPr>
        <p:txBody>
          <a:bodyPr wrap="square" lIns="38100" tIns="38100" rIns="38100" bIns="38100" rtlCol="0" anchor="t"/>
          <a:lstStyle/>
          <a:p>
            <a:pPr algn="l" indent="0" marL="0">
              <a:buNone/>
            </a:pPr>
            <a:r>
              <a:rPr lang="en-US" sz="950" dirty="0">
                <a:solidFill>
                  <a:srgbClr val="C0392B"/>
                </a:solidFill>
                <a:latin typeface="Calibri" pitchFamily="34" charset="0"/>
                <a:ea typeface="Calibri" pitchFamily="34" charset="-122"/>
                <a:cs typeface="Calibri" pitchFamily="34" charset="-120"/>
              </a:rPr>
              <a:t>⚠ Hardware cost prohibitive. Cannot be adapted to smartphone-only deployment.</a:t>
            </a:r>
            <a:endParaRPr lang="en-US" sz="950" dirty="0"/>
          </a:p>
        </p:txBody>
      </p:sp>
      <p:sp>
        <p:nvSpPr>
          <p:cNvPr id="27" name="Shape 25"/>
          <p:cNvSpPr/>
          <p:nvPr/>
        </p:nvSpPr>
        <p:spPr>
          <a:xfrm>
            <a:off x="384048" y="4032504"/>
            <a:ext cx="8375904" cy="777240"/>
          </a:xfrm>
          <a:prstGeom prst="roundRect">
            <a:avLst>
              <a:gd name="adj" fmla="val 14118"/>
            </a:avLst>
          </a:prstGeom>
          <a:solidFill>
            <a:srgbClr val="F0F4F8"/>
          </a:solidFill>
          <a:ln w="6350">
            <a:solidFill>
              <a:srgbClr val="1A2B4A">
                <a:alpha val="40000"/>
              </a:srgbClr>
            </a:solidFill>
            <a:prstDash val="solid"/>
          </a:ln>
          <a:effectLst>
            <a:outerShdw sx="100000" sy="100000" kx="0" ky="0" algn="bl" rotWithShape="0" blurRad="101600" dist="38100" dir="2700000">
              <a:srgbClr val="000000">
                <a:alpha val="10000"/>
              </a:srgbClr>
            </a:outerShdw>
          </a:effectLst>
        </p:spPr>
      </p:sp>
      <p:sp>
        <p:nvSpPr>
          <p:cNvPr id="28" name="Text 26"/>
          <p:cNvSpPr/>
          <p:nvPr/>
        </p:nvSpPr>
        <p:spPr>
          <a:xfrm>
            <a:off x="530352" y="4069080"/>
            <a:ext cx="8229600" cy="201168"/>
          </a:xfrm>
          <a:prstGeom prst="rect">
            <a:avLst/>
          </a:prstGeom>
          <a:noFill/>
          <a:ln/>
        </p:spPr>
        <p:txBody>
          <a:bodyPr wrap="square" lIns="0" tIns="0" rIns="0" bIns="0" rtlCol="0" anchor="ctr"/>
          <a:lstStyle/>
          <a:p>
            <a:pPr indent="0" marL="0">
              <a:buNone/>
            </a:pPr>
            <a:r>
              <a:rPr lang="en-US" sz="950" i="1" dirty="0">
                <a:solidFill>
                  <a:srgbClr val="607D8B"/>
                </a:solidFill>
                <a:latin typeface="Calibri" pitchFamily="34" charset="0"/>
                <a:ea typeface="Calibri" pitchFamily="34" charset="-122"/>
                <a:cs typeface="Calibri" pitchFamily="34" charset="-120"/>
              </a:rPr>
              <a:t>Vasquez et al. (2024) — Journal of Food Engineering, 367, 111892</a:t>
            </a:r>
            <a:endParaRPr lang="en-US" sz="950" dirty="0"/>
          </a:p>
        </p:txBody>
      </p:sp>
      <p:sp>
        <p:nvSpPr>
          <p:cNvPr id="29" name="Text 27"/>
          <p:cNvSpPr/>
          <p:nvPr/>
        </p:nvSpPr>
        <p:spPr>
          <a:xfrm>
            <a:off x="530352" y="4251960"/>
            <a:ext cx="5303520" cy="219456"/>
          </a:xfrm>
          <a:prstGeom prst="rect">
            <a:avLst/>
          </a:prstGeom>
          <a:noFill/>
          <a:ln/>
        </p:spPr>
        <p:txBody>
          <a:bodyPr wrap="square" lIns="0" tIns="0" rIns="0" bIns="0" rtlCol="0" anchor="ctr"/>
          <a:lstStyle/>
          <a:p>
            <a:pPr indent="0" marL="0">
              <a:buNone/>
            </a:pPr>
            <a:r>
              <a:rPr lang="en-US" sz="1200" b="1" dirty="0">
                <a:solidFill>
                  <a:srgbClr val="1A2B4A"/>
                </a:solidFill>
                <a:latin typeface="Calibri" pitchFamily="34" charset="0"/>
                <a:ea typeface="Calibri" pitchFamily="34" charset="-122"/>
                <a:cs typeface="Calibri" pitchFamily="34" charset="-120"/>
              </a:rPr>
              <a:t>Fuzzy Logic vs. Arrhenius for Shelf-Life Prediction</a:t>
            </a:r>
            <a:endParaRPr lang="en-US" sz="1200" dirty="0"/>
          </a:p>
        </p:txBody>
      </p:sp>
      <p:sp>
        <p:nvSpPr>
          <p:cNvPr id="30" name="Text 28"/>
          <p:cNvSpPr/>
          <p:nvPr/>
        </p:nvSpPr>
        <p:spPr>
          <a:xfrm>
            <a:off x="530352" y="4471416"/>
            <a:ext cx="6309360" cy="310896"/>
          </a:xfrm>
          <a:prstGeom prst="rect">
            <a:avLst/>
          </a:prstGeom>
          <a:noFill/>
          <a:ln/>
        </p:spPr>
        <p:txBody>
          <a:bodyPr wrap="square" lIns="0" tIns="0" rIns="0" bIns="0" rtlCol="0" anchor="ctr"/>
          <a:lstStyle/>
          <a:p>
            <a:pPr indent="0" marL="0">
              <a:buNone/>
            </a:pPr>
            <a:r>
              <a:rPr lang="en-US" sz="1050" dirty="0">
                <a:solidFill>
                  <a:srgbClr val="4A5568"/>
                </a:solidFill>
                <a:latin typeface="Calibri" pitchFamily="34" charset="0"/>
                <a:ea typeface="Calibri" pitchFamily="34" charset="-122"/>
                <a:cs typeface="Calibri" pitchFamily="34" charset="-120"/>
              </a:rPr>
              <a:t>Showed that fuzzy logic models outperform classical Arrhenius kinetics for shelf-life prediction under variable storage conditions, validating our fuzzy-inspired continuous scoring design. Demonstrates that discrete threshold systems miss the gradient of quality deterioration.</a:t>
            </a:r>
            <a:endParaRPr lang="en-US" sz="1050" dirty="0"/>
          </a:p>
        </p:txBody>
      </p:sp>
      <p:sp>
        <p:nvSpPr>
          <p:cNvPr id="31" name="Shape 29"/>
          <p:cNvSpPr/>
          <p:nvPr/>
        </p:nvSpPr>
        <p:spPr>
          <a:xfrm>
            <a:off x="6949440" y="4251960"/>
            <a:ext cx="1755648" cy="530352"/>
          </a:xfrm>
          <a:prstGeom prst="roundRect">
            <a:avLst>
              <a:gd name="adj" fmla="val 20690"/>
            </a:avLst>
          </a:prstGeom>
          <a:solidFill>
            <a:srgbClr val="FFF3F3"/>
          </a:solidFill>
          <a:ln w="6350">
            <a:solidFill>
              <a:srgbClr val="1A2B4A">
                <a:alpha val="40000"/>
              </a:srgbClr>
            </a:solidFill>
            <a:prstDash val="solid"/>
          </a:ln>
          <a:effectLst>
            <a:outerShdw sx="100000" sy="100000" kx="0" ky="0" algn="bl" rotWithShape="0" blurRad="101600" dist="38100" dir="2700000">
              <a:srgbClr val="000000">
                <a:alpha val="10000"/>
              </a:srgbClr>
            </a:outerShdw>
          </a:effectLst>
        </p:spPr>
      </p:sp>
      <p:sp>
        <p:nvSpPr>
          <p:cNvPr id="32" name="Text 30"/>
          <p:cNvSpPr/>
          <p:nvPr/>
        </p:nvSpPr>
        <p:spPr>
          <a:xfrm>
            <a:off x="6976872" y="4270248"/>
            <a:ext cx="1700784" cy="493776"/>
          </a:xfrm>
          <a:prstGeom prst="rect">
            <a:avLst/>
          </a:prstGeom>
          <a:noFill/>
          <a:ln/>
        </p:spPr>
        <p:txBody>
          <a:bodyPr wrap="square" lIns="38100" tIns="38100" rIns="38100" bIns="38100" rtlCol="0" anchor="t"/>
          <a:lstStyle/>
          <a:p>
            <a:pPr algn="l" indent="0" marL="0">
              <a:buNone/>
            </a:pPr>
            <a:r>
              <a:rPr lang="en-US" sz="950" dirty="0">
                <a:solidFill>
                  <a:srgbClr val="C0392B"/>
                </a:solidFill>
                <a:latin typeface="Calibri" pitchFamily="34" charset="0"/>
                <a:ea typeface="Calibri" pitchFamily="34" charset="-122"/>
                <a:cs typeface="Calibri" pitchFamily="34" charset="-120"/>
              </a:rPr>
              <a:t>⚠ Theoretical/controlled laboratory study; no camera input; no mobile deployment; no user interface.</a:t>
            </a:r>
            <a:endParaRPr lang="en-US" sz="9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EBEBEB"/>
        </a:solidFill>
      </p:bgPr>
    </p:bg>
    <p:spTree>
      <p:nvGrpSpPr>
        <p:cNvPr id="1" name=""/>
        <p:cNvGrpSpPr/>
        <p:nvPr/>
      </p:nvGrpSpPr>
      <p:grpSpPr>
        <a:xfrm>
          <a:off x="0" y="0"/>
          <a:ext cx="0" cy="0"/>
          <a:chOff x="0" y="0"/>
          <a:chExt cx="0" cy="0"/>
        </a:xfrm>
      </p:grpSpPr>
      <p:sp>
        <p:nvSpPr>
          <p:cNvPr id="2" name="Shape 0"/>
          <p:cNvSpPr/>
          <p:nvPr/>
        </p:nvSpPr>
        <p:spPr>
          <a:xfrm>
            <a:off x="7680960" y="1645920"/>
            <a:ext cx="2194560" cy="2194560"/>
          </a:xfrm>
          <a:prstGeom prst="ellipse">
            <a:avLst/>
          </a:prstGeom>
          <a:ln w="19050">
            <a:solidFill>
              <a:srgbClr val="1A2B4A">
                <a:alpha val="18000"/>
              </a:srgbClr>
            </a:solidFill>
            <a:prstDash val="solid"/>
          </a:ln>
        </p:spPr>
      </p:sp>
      <p:sp>
        <p:nvSpPr>
          <p:cNvPr id="3" name="Shape 1"/>
          <p:cNvSpPr/>
          <p:nvPr/>
        </p:nvSpPr>
        <p:spPr>
          <a:xfrm>
            <a:off x="8043062" y="2008022"/>
            <a:ext cx="1470355" cy="1470355"/>
          </a:xfrm>
          <a:prstGeom prst="ellipse">
            <a:avLst/>
          </a:prstGeom>
          <a:ln w="19050">
            <a:solidFill>
              <a:srgbClr val="3B5FA0">
                <a:alpha val="25000"/>
              </a:srgbClr>
            </a:solidFill>
            <a:prstDash val="solid"/>
          </a:ln>
        </p:spPr>
      </p:sp>
      <p:sp>
        <p:nvSpPr>
          <p:cNvPr id="4" name="Shape 2"/>
          <p:cNvSpPr/>
          <p:nvPr/>
        </p:nvSpPr>
        <p:spPr>
          <a:xfrm>
            <a:off x="8361274" y="2326234"/>
            <a:ext cx="833933" cy="833933"/>
          </a:xfrm>
          <a:prstGeom prst="ellipse">
            <a:avLst/>
          </a:prstGeom>
          <a:ln w="19050">
            <a:solidFill>
              <a:srgbClr val="3A8C7E">
                <a:alpha val="32000"/>
              </a:srgbClr>
            </a:solidFill>
            <a:prstDash val="solid"/>
          </a:ln>
        </p:spPr>
      </p:sp>
      <p:sp>
        <p:nvSpPr>
          <p:cNvPr id="5" name="Shape 3"/>
          <p:cNvSpPr/>
          <p:nvPr/>
        </p:nvSpPr>
        <p:spPr>
          <a:xfrm rot="-2700000">
            <a:off x="182880" y="182880"/>
            <a:ext cx="457200" cy="0"/>
          </a:xfrm>
          <a:prstGeom prst="line">
            <a:avLst/>
          </a:prstGeom>
          <a:noFill/>
          <a:ln w="12700">
            <a:solidFill>
              <a:srgbClr val="1A2B4A">
                <a:alpha val="28000"/>
              </a:srgbClr>
            </a:solidFill>
            <a:prstDash val="solid"/>
          </a:ln>
        </p:spPr>
      </p:sp>
      <p:sp>
        <p:nvSpPr>
          <p:cNvPr id="6" name="Shape 4"/>
          <p:cNvSpPr/>
          <p:nvPr/>
        </p:nvSpPr>
        <p:spPr>
          <a:xfrm rot="-2700000">
            <a:off x="347472" y="182880"/>
            <a:ext cx="457200" cy="0"/>
          </a:xfrm>
          <a:prstGeom prst="line">
            <a:avLst/>
          </a:prstGeom>
          <a:noFill/>
          <a:ln w="12700">
            <a:solidFill>
              <a:srgbClr val="1A2B4A">
                <a:alpha val="28000"/>
              </a:srgbClr>
            </a:solidFill>
            <a:prstDash val="solid"/>
          </a:ln>
        </p:spPr>
      </p:sp>
      <p:sp>
        <p:nvSpPr>
          <p:cNvPr id="7" name="Shape 5"/>
          <p:cNvSpPr/>
          <p:nvPr/>
        </p:nvSpPr>
        <p:spPr>
          <a:xfrm rot="-2700000">
            <a:off x="512064" y="182880"/>
            <a:ext cx="457200" cy="0"/>
          </a:xfrm>
          <a:prstGeom prst="line">
            <a:avLst/>
          </a:prstGeom>
          <a:noFill/>
          <a:ln w="12700">
            <a:solidFill>
              <a:srgbClr val="1A2B4A">
                <a:alpha val="28000"/>
              </a:srgbClr>
            </a:solidFill>
            <a:prstDash val="solid"/>
          </a:ln>
        </p:spPr>
      </p:sp>
      <p:sp>
        <p:nvSpPr>
          <p:cNvPr id="8" name="Shape 6"/>
          <p:cNvSpPr/>
          <p:nvPr/>
        </p:nvSpPr>
        <p:spPr>
          <a:xfrm rot="-2700000">
            <a:off x="676656" y="182880"/>
            <a:ext cx="457200" cy="0"/>
          </a:xfrm>
          <a:prstGeom prst="line">
            <a:avLst/>
          </a:prstGeom>
          <a:noFill/>
          <a:ln w="12700">
            <a:solidFill>
              <a:srgbClr val="1A2B4A">
                <a:alpha val="28000"/>
              </a:srgbClr>
            </a:solidFill>
            <a:prstDash val="solid"/>
          </a:ln>
        </p:spPr>
      </p:sp>
      <p:sp>
        <p:nvSpPr>
          <p:cNvPr id="9" name="Shape 7"/>
          <p:cNvSpPr/>
          <p:nvPr/>
        </p:nvSpPr>
        <p:spPr>
          <a:xfrm rot="-2700000">
            <a:off x="841248" y="182880"/>
            <a:ext cx="457200" cy="0"/>
          </a:xfrm>
          <a:prstGeom prst="line">
            <a:avLst/>
          </a:prstGeom>
          <a:noFill/>
          <a:ln w="12700">
            <a:solidFill>
              <a:srgbClr val="1A2B4A">
                <a:alpha val="28000"/>
              </a:srgbClr>
            </a:solidFill>
            <a:prstDash val="solid"/>
          </a:ln>
        </p:spPr>
      </p:sp>
      <p:sp>
        <p:nvSpPr>
          <p:cNvPr id="10" name="Shape 8"/>
          <p:cNvSpPr/>
          <p:nvPr/>
        </p:nvSpPr>
        <p:spPr>
          <a:xfrm rot="-2700000">
            <a:off x="1005840" y="182880"/>
            <a:ext cx="457200" cy="0"/>
          </a:xfrm>
          <a:prstGeom prst="line">
            <a:avLst/>
          </a:prstGeom>
          <a:noFill/>
          <a:ln w="12700">
            <a:solidFill>
              <a:srgbClr val="1A2B4A">
                <a:alpha val="28000"/>
              </a:srgbClr>
            </a:solidFill>
            <a:prstDash val="solid"/>
          </a:ln>
        </p:spPr>
      </p:sp>
      <p:sp>
        <p:nvSpPr>
          <p:cNvPr id="11" name="Shape 9"/>
          <p:cNvSpPr/>
          <p:nvPr/>
        </p:nvSpPr>
        <p:spPr>
          <a:xfrm rot="-2700000">
            <a:off x="1170432" y="182880"/>
            <a:ext cx="457200" cy="0"/>
          </a:xfrm>
          <a:prstGeom prst="line">
            <a:avLst/>
          </a:prstGeom>
          <a:noFill/>
          <a:ln w="12700">
            <a:solidFill>
              <a:srgbClr val="1A2B4A">
                <a:alpha val="28000"/>
              </a:srgbClr>
            </a:solidFill>
            <a:prstDash val="solid"/>
          </a:ln>
        </p:spPr>
      </p:sp>
      <p:sp>
        <p:nvSpPr>
          <p:cNvPr id="12" name="Text 10"/>
          <p:cNvSpPr/>
          <p:nvPr/>
        </p:nvSpPr>
        <p:spPr>
          <a:xfrm>
            <a:off x="411480" y="292608"/>
            <a:ext cx="8321040" cy="530352"/>
          </a:xfrm>
          <a:prstGeom prst="rect">
            <a:avLst/>
          </a:prstGeom>
          <a:noFill/>
          <a:ln/>
        </p:spPr>
        <p:txBody>
          <a:bodyPr wrap="square" lIns="0" tIns="0" rIns="0" bIns="0" rtlCol="0" anchor="ctr"/>
          <a:lstStyle/>
          <a:p>
            <a:pPr algn="l" indent="0" marL="0">
              <a:buNone/>
            </a:pPr>
            <a:r>
              <a:rPr lang="en-US" sz="2800" b="1" dirty="0">
                <a:solidFill>
                  <a:srgbClr val="1A2B4A"/>
                </a:solidFill>
                <a:latin typeface="Cambria" pitchFamily="34" charset="0"/>
                <a:ea typeface="Cambria" pitchFamily="34" charset="-122"/>
                <a:cs typeface="Cambria" pitchFamily="34" charset="-120"/>
              </a:rPr>
              <a:t>Related Works (cont.)</a:t>
            </a:r>
            <a:endParaRPr lang="en-US" sz="2800" dirty="0"/>
          </a:p>
        </p:txBody>
      </p:sp>
      <p:sp>
        <p:nvSpPr>
          <p:cNvPr id="13" name="Shape 11"/>
          <p:cNvSpPr/>
          <p:nvPr/>
        </p:nvSpPr>
        <p:spPr>
          <a:xfrm>
            <a:off x="411480" y="868680"/>
            <a:ext cx="8229600" cy="0"/>
          </a:xfrm>
          <a:prstGeom prst="line">
            <a:avLst/>
          </a:prstGeom>
          <a:noFill/>
          <a:ln w="19050">
            <a:solidFill>
              <a:srgbClr val="3A8C7E">
                <a:alpha val="60000"/>
              </a:srgbClr>
            </a:solidFill>
            <a:prstDash val="solid"/>
          </a:ln>
        </p:spPr>
      </p:sp>
      <p:sp>
        <p:nvSpPr>
          <p:cNvPr id="14" name="Shape 12"/>
          <p:cNvSpPr/>
          <p:nvPr/>
        </p:nvSpPr>
        <p:spPr>
          <a:xfrm>
            <a:off x="411480" y="950976"/>
            <a:ext cx="8229600" cy="0"/>
          </a:xfrm>
          <a:prstGeom prst="line">
            <a:avLst/>
          </a:prstGeom>
          <a:noFill/>
          <a:ln w="10160">
            <a:solidFill>
              <a:srgbClr val="1A2B4A">
                <a:alpha val="45000"/>
              </a:srgbClr>
            </a:solidFill>
            <a:prstDash val="solid"/>
          </a:ln>
        </p:spPr>
      </p:sp>
      <p:sp>
        <p:nvSpPr>
          <p:cNvPr id="15" name="Shape 13"/>
          <p:cNvSpPr/>
          <p:nvPr/>
        </p:nvSpPr>
        <p:spPr>
          <a:xfrm>
            <a:off x="384048" y="1207008"/>
            <a:ext cx="8375904" cy="777240"/>
          </a:xfrm>
          <a:prstGeom prst="roundRect">
            <a:avLst>
              <a:gd name="adj" fmla="val 14118"/>
            </a:avLst>
          </a:prstGeom>
          <a:solidFill>
            <a:srgbClr val="F4F7F9"/>
          </a:solidFill>
          <a:ln w="6350">
            <a:solidFill>
              <a:srgbClr val="1A2B4A">
                <a:alpha val="40000"/>
              </a:srgbClr>
            </a:solidFill>
            <a:prstDash val="solid"/>
          </a:ln>
          <a:effectLst>
            <a:outerShdw sx="100000" sy="100000" kx="0" ky="0" algn="bl" rotWithShape="0" blurRad="101600" dist="38100" dir="2700000">
              <a:srgbClr val="000000">
                <a:alpha val="10000"/>
              </a:srgbClr>
            </a:outerShdw>
          </a:effectLst>
        </p:spPr>
      </p:sp>
      <p:sp>
        <p:nvSpPr>
          <p:cNvPr id="16" name="Text 14"/>
          <p:cNvSpPr/>
          <p:nvPr/>
        </p:nvSpPr>
        <p:spPr>
          <a:xfrm>
            <a:off x="530352" y="1243584"/>
            <a:ext cx="8229600" cy="201168"/>
          </a:xfrm>
          <a:prstGeom prst="rect">
            <a:avLst/>
          </a:prstGeom>
          <a:noFill/>
          <a:ln/>
        </p:spPr>
        <p:txBody>
          <a:bodyPr wrap="square" lIns="0" tIns="0" rIns="0" bIns="0" rtlCol="0" anchor="ctr"/>
          <a:lstStyle/>
          <a:p>
            <a:pPr indent="0" marL="0">
              <a:buNone/>
            </a:pPr>
            <a:r>
              <a:rPr lang="en-US" sz="950" i="1" dirty="0">
                <a:solidFill>
                  <a:srgbClr val="607D8B"/>
                </a:solidFill>
                <a:latin typeface="Calibri" pitchFamily="34" charset="0"/>
                <a:ea typeface="Calibri" pitchFamily="34" charset="-122"/>
                <a:cs typeface="Calibri" pitchFamily="34" charset="-120"/>
              </a:rPr>
              <a:t>Patel et al. (2024) — Journal of Food Science, 89(3), 1234–1248</a:t>
            </a:r>
            <a:endParaRPr lang="en-US" sz="950" dirty="0"/>
          </a:p>
        </p:txBody>
      </p:sp>
      <p:sp>
        <p:nvSpPr>
          <p:cNvPr id="17" name="Text 15"/>
          <p:cNvSpPr/>
          <p:nvPr/>
        </p:nvSpPr>
        <p:spPr>
          <a:xfrm>
            <a:off x="530352" y="1426464"/>
            <a:ext cx="5303520" cy="219456"/>
          </a:xfrm>
          <a:prstGeom prst="rect">
            <a:avLst/>
          </a:prstGeom>
          <a:noFill/>
          <a:ln/>
        </p:spPr>
        <p:txBody>
          <a:bodyPr wrap="square" lIns="0" tIns="0" rIns="0" bIns="0" rtlCol="0" anchor="ctr"/>
          <a:lstStyle/>
          <a:p>
            <a:pPr indent="0" marL="0">
              <a:buNone/>
            </a:pPr>
            <a:r>
              <a:rPr lang="en-US" sz="1200" b="1" dirty="0">
                <a:solidFill>
                  <a:srgbClr val="1A2B4A"/>
                </a:solidFill>
                <a:latin typeface="Calibri" pitchFamily="34" charset="0"/>
                <a:ea typeface="Calibri" pitchFamily="34" charset="-122"/>
                <a:cs typeface="Calibri" pitchFamily="34" charset="-120"/>
              </a:rPr>
              <a:t>Hyperspectral Imaging for Non-Destructive Quality Assessment</a:t>
            </a:r>
            <a:endParaRPr lang="en-US" sz="1200" dirty="0"/>
          </a:p>
        </p:txBody>
      </p:sp>
      <p:sp>
        <p:nvSpPr>
          <p:cNvPr id="18" name="Text 16"/>
          <p:cNvSpPr/>
          <p:nvPr/>
        </p:nvSpPr>
        <p:spPr>
          <a:xfrm>
            <a:off x="530352" y="1645920"/>
            <a:ext cx="6309360" cy="310896"/>
          </a:xfrm>
          <a:prstGeom prst="rect">
            <a:avLst/>
          </a:prstGeom>
          <a:noFill/>
          <a:ln/>
        </p:spPr>
        <p:txBody>
          <a:bodyPr wrap="square" lIns="0" tIns="0" rIns="0" bIns="0" rtlCol="0" anchor="ctr"/>
          <a:lstStyle/>
          <a:p>
            <a:pPr indent="0" marL="0">
              <a:buNone/>
            </a:pPr>
            <a:r>
              <a:rPr lang="en-US" sz="1050" dirty="0">
                <a:solidFill>
                  <a:srgbClr val="4A5568"/>
                </a:solidFill>
                <a:latin typeface="Calibri" pitchFamily="34" charset="0"/>
                <a:ea typeface="Calibri" pitchFamily="34" charset="-122"/>
                <a:cs typeface="Calibri" pitchFamily="34" charset="-120"/>
              </a:rPr>
              <a:t>Hyperspectral cameras detect internal bruising and sugar content invisible to standard RGB cameras. Achieves exceptional freshness estimation accuracy. However, hyperspectral sensors cost tens of thousands of dollars and require controlled laboratory lighting — impossible in a consumer context.</a:t>
            </a:r>
            <a:endParaRPr lang="en-US" sz="1050" dirty="0"/>
          </a:p>
        </p:txBody>
      </p:sp>
      <p:sp>
        <p:nvSpPr>
          <p:cNvPr id="19" name="Shape 17"/>
          <p:cNvSpPr/>
          <p:nvPr/>
        </p:nvSpPr>
        <p:spPr>
          <a:xfrm>
            <a:off x="6949440" y="1426464"/>
            <a:ext cx="1755648" cy="530352"/>
          </a:xfrm>
          <a:prstGeom prst="roundRect">
            <a:avLst>
              <a:gd name="adj" fmla="val 20690"/>
            </a:avLst>
          </a:prstGeom>
          <a:solidFill>
            <a:srgbClr val="FFF3F3"/>
          </a:solidFill>
          <a:ln w="6350">
            <a:solidFill>
              <a:srgbClr val="1A2B4A">
                <a:alpha val="40000"/>
              </a:srgbClr>
            </a:solidFill>
            <a:prstDash val="solid"/>
          </a:ln>
          <a:effectLst>
            <a:outerShdw sx="100000" sy="100000" kx="0" ky="0" algn="bl" rotWithShape="0" blurRad="101600" dist="38100" dir="2700000">
              <a:srgbClr val="000000">
                <a:alpha val="10000"/>
              </a:srgbClr>
            </a:outerShdw>
          </a:effectLst>
        </p:spPr>
      </p:sp>
      <p:sp>
        <p:nvSpPr>
          <p:cNvPr id="20" name="Text 18"/>
          <p:cNvSpPr/>
          <p:nvPr/>
        </p:nvSpPr>
        <p:spPr>
          <a:xfrm>
            <a:off x="6976872" y="1444752"/>
            <a:ext cx="1700784" cy="493776"/>
          </a:xfrm>
          <a:prstGeom prst="rect">
            <a:avLst/>
          </a:prstGeom>
          <a:noFill/>
          <a:ln/>
        </p:spPr>
        <p:txBody>
          <a:bodyPr wrap="square" lIns="38100" tIns="38100" rIns="38100" bIns="38100" rtlCol="0" anchor="t"/>
          <a:lstStyle/>
          <a:p>
            <a:pPr algn="l" indent="0" marL="0">
              <a:buNone/>
            </a:pPr>
            <a:r>
              <a:rPr lang="en-US" sz="950" dirty="0">
                <a:solidFill>
                  <a:srgbClr val="C0392B"/>
                </a:solidFill>
                <a:latin typeface="Calibri" pitchFamily="34" charset="0"/>
                <a:ea typeface="Calibri" pitchFamily="34" charset="-122"/>
                <a:cs typeface="Calibri" pitchFamily="34" charset="-120"/>
              </a:rPr>
              <a:t>⚠ Hardware access: impossible for consumers. Cannot scale to household use.</a:t>
            </a:r>
            <a:endParaRPr lang="en-US" sz="950" dirty="0"/>
          </a:p>
        </p:txBody>
      </p:sp>
      <p:sp>
        <p:nvSpPr>
          <p:cNvPr id="21" name="Shape 19"/>
          <p:cNvSpPr/>
          <p:nvPr/>
        </p:nvSpPr>
        <p:spPr>
          <a:xfrm>
            <a:off x="384048" y="2148840"/>
            <a:ext cx="8375904" cy="777240"/>
          </a:xfrm>
          <a:prstGeom prst="roundRect">
            <a:avLst>
              <a:gd name="adj" fmla="val 14118"/>
            </a:avLst>
          </a:prstGeom>
          <a:solidFill>
            <a:srgbClr val="F0F4F8"/>
          </a:solidFill>
          <a:ln w="6350">
            <a:solidFill>
              <a:srgbClr val="1A2B4A">
                <a:alpha val="40000"/>
              </a:srgbClr>
            </a:solidFill>
            <a:prstDash val="solid"/>
          </a:ln>
          <a:effectLst>
            <a:outerShdw sx="100000" sy="100000" kx="0" ky="0" algn="bl" rotWithShape="0" blurRad="101600" dist="38100" dir="2700000">
              <a:srgbClr val="000000">
                <a:alpha val="10000"/>
              </a:srgbClr>
            </a:outerShdw>
          </a:effectLst>
        </p:spPr>
      </p:sp>
      <p:sp>
        <p:nvSpPr>
          <p:cNvPr id="22" name="Text 20"/>
          <p:cNvSpPr/>
          <p:nvPr/>
        </p:nvSpPr>
        <p:spPr>
          <a:xfrm>
            <a:off x="530352" y="2185416"/>
            <a:ext cx="8229600" cy="201168"/>
          </a:xfrm>
          <a:prstGeom prst="rect">
            <a:avLst/>
          </a:prstGeom>
          <a:noFill/>
          <a:ln/>
        </p:spPr>
        <p:txBody>
          <a:bodyPr wrap="square" lIns="0" tIns="0" rIns="0" bIns="0" rtlCol="0" anchor="ctr"/>
          <a:lstStyle/>
          <a:p>
            <a:pPr indent="0" marL="0">
              <a:buNone/>
            </a:pPr>
            <a:r>
              <a:rPr lang="en-US" sz="950" i="1" dirty="0">
                <a:solidFill>
                  <a:srgbClr val="607D8B"/>
                </a:solidFill>
                <a:latin typeface="Calibri" pitchFamily="34" charset="0"/>
                <a:ea typeface="Calibri" pitchFamily="34" charset="-122"/>
                <a:cs typeface="Calibri" pitchFamily="34" charset="-120"/>
              </a:rPr>
              <a:t>Watkins (2006) — Biotechnology Advances, 24(4), 389–409</a:t>
            </a:r>
            <a:endParaRPr lang="en-US" sz="950" dirty="0"/>
          </a:p>
        </p:txBody>
      </p:sp>
      <p:sp>
        <p:nvSpPr>
          <p:cNvPr id="23" name="Text 21"/>
          <p:cNvSpPr/>
          <p:nvPr/>
        </p:nvSpPr>
        <p:spPr>
          <a:xfrm>
            <a:off x="530352" y="2368296"/>
            <a:ext cx="5303520" cy="219456"/>
          </a:xfrm>
          <a:prstGeom prst="rect">
            <a:avLst/>
          </a:prstGeom>
          <a:noFill/>
          <a:ln/>
        </p:spPr>
        <p:txBody>
          <a:bodyPr wrap="square" lIns="0" tIns="0" rIns="0" bIns="0" rtlCol="0" anchor="ctr"/>
          <a:lstStyle/>
          <a:p>
            <a:pPr indent="0" marL="0">
              <a:buNone/>
            </a:pPr>
            <a:r>
              <a:rPr lang="en-US" sz="1200" b="1" dirty="0">
                <a:solidFill>
                  <a:srgbClr val="1A2B4A"/>
                </a:solidFill>
                <a:latin typeface="Calibri" pitchFamily="34" charset="0"/>
                <a:ea typeface="Calibri" pitchFamily="34" charset="-122"/>
                <a:cs typeface="Calibri" pitchFamily="34" charset="-120"/>
              </a:rPr>
              <a:t>Ethylene in Post-Harvest Biology (Foundational Reference)</a:t>
            </a:r>
            <a:endParaRPr lang="en-US" sz="1200" dirty="0"/>
          </a:p>
        </p:txBody>
      </p:sp>
      <p:sp>
        <p:nvSpPr>
          <p:cNvPr id="24" name="Text 22"/>
          <p:cNvSpPr/>
          <p:nvPr/>
        </p:nvSpPr>
        <p:spPr>
          <a:xfrm>
            <a:off x="530352" y="2587752"/>
            <a:ext cx="6309360" cy="310896"/>
          </a:xfrm>
          <a:prstGeom prst="rect">
            <a:avLst/>
          </a:prstGeom>
          <a:noFill/>
          <a:ln/>
        </p:spPr>
        <p:txBody>
          <a:bodyPr wrap="square" lIns="0" tIns="0" rIns="0" bIns="0" rtlCol="0" anchor="ctr"/>
          <a:lstStyle/>
          <a:p>
            <a:pPr indent="0" marL="0">
              <a:buNone/>
            </a:pPr>
            <a:r>
              <a:rPr lang="en-US" sz="1050" dirty="0">
                <a:solidFill>
                  <a:srgbClr val="4A5568"/>
                </a:solidFill>
                <a:latin typeface="Calibri" pitchFamily="34" charset="0"/>
                <a:ea typeface="Calibri" pitchFamily="34" charset="-122"/>
                <a:cs typeface="Calibri" pitchFamily="34" charset="-120"/>
              </a:rPr>
              <a:t>Definitive reference on ethylene's role in fruit ripening. Documents which species emit ethylene and which are sensitive to it. Provides the scientific basis for the 19 producers and 24 sensitive species encoded in Fresco's conflict graph. No prior consumer application had implemented this knowledge.</a:t>
            </a:r>
            <a:endParaRPr lang="en-US" sz="1050" dirty="0"/>
          </a:p>
        </p:txBody>
      </p:sp>
      <p:sp>
        <p:nvSpPr>
          <p:cNvPr id="25" name="Shape 23"/>
          <p:cNvSpPr/>
          <p:nvPr/>
        </p:nvSpPr>
        <p:spPr>
          <a:xfrm>
            <a:off x="6949440" y="2368296"/>
            <a:ext cx="1755648" cy="530352"/>
          </a:xfrm>
          <a:prstGeom prst="roundRect">
            <a:avLst>
              <a:gd name="adj" fmla="val 20690"/>
            </a:avLst>
          </a:prstGeom>
          <a:solidFill>
            <a:srgbClr val="FFF3F3"/>
          </a:solidFill>
          <a:ln w="6350">
            <a:solidFill>
              <a:srgbClr val="1A2B4A">
                <a:alpha val="40000"/>
              </a:srgbClr>
            </a:solidFill>
            <a:prstDash val="solid"/>
          </a:ln>
          <a:effectLst>
            <a:outerShdw sx="100000" sy="100000" kx="0" ky="0" algn="bl" rotWithShape="0" blurRad="101600" dist="38100" dir="2700000">
              <a:srgbClr val="000000">
                <a:alpha val="10000"/>
              </a:srgbClr>
            </a:outerShdw>
          </a:effectLst>
        </p:spPr>
      </p:sp>
      <p:sp>
        <p:nvSpPr>
          <p:cNvPr id="26" name="Text 24"/>
          <p:cNvSpPr/>
          <p:nvPr/>
        </p:nvSpPr>
        <p:spPr>
          <a:xfrm>
            <a:off x="6976872" y="2386584"/>
            <a:ext cx="1700784" cy="493776"/>
          </a:xfrm>
          <a:prstGeom prst="rect">
            <a:avLst/>
          </a:prstGeom>
          <a:noFill/>
          <a:ln/>
        </p:spPr>
        <p:txBody>
          <a:bodyPr wrap="square" lIns="38100" tIns="38100" rIns="38100" bIns="38100" rtlCol="0" anchor="t"/>
          <a:lstStyle/>
          <a:p>
            <a:pPr algn="l" indent="0" marL="0">
              <a:buNone/>
            </a:pPr>
            <a:r>
              <a:rPr lang="en-US" sz="950" dirty="0">
                <a:solidFill>
                  <a:srgbClr val="C0392B"/>
                </a:solidFill>
                <a:latin typeface="Calibri" pitchFamily="34" charset="0"/>
                <a:ea typeface="Calibri" pitchFamily="34" charset="-122"/>
                <a:cs typeface="Calibri" pitchFamily="34" charset="-120"/>
              </a:rPr>
              <a:t>⚠ Academic reference — not a system. No consumer tool existed for this knowledge.</a:t>
            </a:r>
            <a:endParaRPr lang="en-US" sz="950" dirty="0"/>
          </a:p>
        </p:txBody>
      </p:sp>
      <p:sp>
        <p:nvSpPr>
          <p:cNvPr id="27" name="Shape 25"/>
          <p:cNvSpPr/>
          <p:nvPr/>
        </p:nvSpPr>
        <p:spPr>
          <a:xfrm>
            <a:off x="384048" y="3090672"/>
            <a:ext cx="8375904" cy="777240"/>
          </a:xfrm>
          <a:prstGeom prst="roundRect">
            <a:avLst>
              <a:gd name="adj" fmla="val 14118"/>
            </a:avLst>
          </a:prstGeom>
          <a:solidFill>
            <a:srgbClr val="F4F7F9"/>
          </a:solidFill>
          <a:ln w="6350">
            <a:solidFill>
              <a:srgbClr val="1A2B4A">
                <a:alpha val="40000"/>
              </a:srgbClr>
            </a:solidFill>
            <a:prstDash val="solid"/>
          </a:ln>
          <a:effectLst>
            <a:outerShdw sx="100000" sy="100000" kx="0" ky="0" algn="bl" rotWithShape="0" blurRad="101600" dist="38100" dir="2700000">
              <a:srgbClr val="000000">
                <a:alpha val="10000"/>
              </a:srgbClr>
            </a:outerShdw>
          </a:effectLst>
        </p:spPr>
      </p:sp>
      <p:sp>
        <p:nvSpPr>
          <p:cNvPr id="28" name="Text 26"/>
          <p:cNvSpPr/>
          <p:nvPr/>
        </p:nvSpPr>
        <p:spPr>
          <a:xfrm>
            <a:off x="530352" y="3127248"/>
            <a:ext cx="8229600" cy="201168"/>
          </a:xfrm>
          <a:prstGeom prst="rect">
            <a:avLst/>
          </a:prstGeom>
          <a:noFill/>
          <a:ln/>
        </p:spPr>
        <p:txBody>
          <a:bodyPr wrap="square" lIns="0" tIns="0" rIns="0" bIns="0" rtlCol="0" anchor="ctr"/>
          <a:lstStyle/>
          <a:p>
            <a:pPr indent="0" marL="0">
              <a:buNone/>
            </a:pPr>
            <a:r>
              <a:rPr lang="en-US" sz="950" i="1" dirty="0">
                <a:solidFill>
                  <a:srgbClr val="607D8B"/>
                </a:solidFill>
                <a:latin typeface="Calibri" pitchFamily="34" charset="0"/>
                <a:ea typeface="Calibri" pitchFamily="34" charset="-122"/>
                <a:cs typeface="Calibri" pitchFamily="34" charset="-120"/>
              </a:rPr>
              <a:t>Kader (2002) — Postharvest Technology of Horticultural Crops, 3rd ed.</a:t>
            </a:r>
            <a:endParaRPr lang="en-US" sz="950" dirty="0"/>
          </a:p>
        </p:txBody>
      </p:sp>
      <p:sp>
        <p:nvSpPr>
          <p:cNvPr id="29" name="Text 27"/>
          <p:cNvSpPr/>
          <p:nvPr/>
        </p:nvSpPr>
        <p:spPr>
          <a:xfrm>
            <a:off x="530352" y="3310128"/>
            <a:ext cx="5303520" cy="219456"/>
          </a:xfrm>
          <a:prstGeom prst="rect">
            <a:avLst/>
          </a:prstGeom>
          <a:noFill/>
          <a:ln/>
        </p:spPr>
        <p:txBody>
          <a:bodyPr wrap="square" lIns="0" tIns="0" rIns="0" bIns="0" rtlCol="0" anchor="ctr"/>
          <a:lstStyle/>
          <a:p>
            <a:pPr indent="0" marL="0">
              <a:buNone/>
            </a:pPr>
            <a:r>
              <a:rPr lang="en-US" sz="1200" b="1" dirty="0">
                <a:solidFill>
                  <a:srgbClr val="1A2B4A"/>
                </a:solidFill>
                <a:latin typeface="Calibri" pitchFamily="34" charset="0"/>
                <a:ea typeface="Calibri" pitchFamily="34" charset="-122"/>
                <a:cs typeface="Calibri" pitchFamily="34" charset="-120"/>
              </a:rPr>
              <a:t>USDA Postharvest Handling Guidelines</a:t>
            </a:r>
            <a:endParaRPr lang="en-US" sz="1200" dirty="0"/>
          </a:p>
        </p:txBody>
      </p:sp>
      <p:sp>
        <p:nvSpPr>
          <p:cNvPr id="30" name="Text 28"/>
          <p:cNvSpPr/>
          <p:nvPr/>
        </p:nvSpPr>
        <p:spPr>
          <a:xfrm>
            <a:off x="530352" y="3529584"/>
            <a:ext cx="6309360" cy="310896"/>
          </a:xfrm>
          <a:prstGeom prst="rect">
            <a:avLst/>
          </a:prstGeom>
          <a:noFill/>
          <a:ln/>
        </p:spPr>
        <p:txBody>
          <a:bodyPr wrap="square" lIns="0" tIns="0" rIns="0" bIns="0" rtlCol="0" anchor="ctr"/>
          <a:lstStyle/>
          <a:p>
            <a:pPr indent="0" marL="0">
              <a:buNone/>
            </a:pPr>
            <a:r>
              <a:rPr lang="en-US" sz="1050" dirty="0">
                <a:solidFill>
                  <a:srgbClr val="4A5568"/>
                </a:solidFill>
                <a:latin typeface="Calibri" pitchFamily="34" charset="0"/>
                <a:ea typeface="Calibri" pitchFamily="34" charset="-122"/>
                <a:cs typeface="Calibri" pitchFamily="34" charset="-120"/>
              </a:rPr>
              <a:t>The authoritative reference for baseline shelf-life values, optimal temperature ranges, and ethylene classification for horticultural produce. Used directly as the source for the 42-fruit reference database seed data in Fresco's database.</a:t>
            </a:r>
            <a:endParaRPr lang="en-US" sz="1050" dirty="0"/>
          </a:p>
        </p:txBody>
      </p:sp>
      <p:sp>
        <p:nvSpPr>
          <p:cNvPr id="31" name="Shape 29"/>
          <p:cNvSpPr/>
          <p:nvPr/>
        </p:nvSpPr>
        <p:spPr>
          <a:xfrm>
            <a:off x="6949440" y="3310128"/>
            <a:ext cx="1755648" cy="530352"/>
          </a:xfrm>
          <a:prstGeom prst="roundRect">
            <a:avLst>
              <a:gd name="adj" fmla="val 20690"/>
            </a:avLst>
          </a:prstGeom>
          <a:solidFill>
            <a:srgbClr val="FFF3F3"/>
          </a:solidFill>
          <a:ln w="6350">
            <a:solidFill>
              <a:srgbClr val="1A2B4A">
                <a:alpha val="40000"/>
              </a:srgbClr>
            </a:solidFill>
            <a:prstDash val="solid"/>
          </a:ln>
          <a:effectLst>
            <a:outerShdw sx="100000" sy="100000" kx="0" ky="0" algn="bl" rotWithShape="0" blurRad="101600" dist="38100" dir="2700000">
              <a:srgbClr val="000000">
                <a:alpha val="10000"/>
              </a:srgbClr>
            </a:outerShdw>
          </a:effectLst>
        </p:spPr>
      </p:sp>
      <p:sp>
        <p:nvSpPr>
          <p:cNvPr id="32" name="Text 30"/>
          <p:cNvSpPr/>
          <p:nvPr/>
        </p:nvSpPr>
        <p:spPr>
          <a:xfrm>
            <a:off x="6976872" y="3328416"/>
            <a:ext cx="1700784" cy="493776"/>
          </a:xfrm>
          <a:prstGeom prst="rect">
            <a:avLst/>
          </a:prstGeom>
          <a:noFill/>
          <a:ln/>
        </p:spPr>
        <p:txBody>
          <a:bodyPr wrap="square" lIns="38100" tIns="38100" rIns="38100" bIns="38100" rtlCol="0" anchor="t"/>
          <a:lstStyle/>
          <a:p>
            <a:pPr algn="l" indent="0" marL="0">
              <a:buNone/>
            </a:pPr>
            <a:r>
              <a:rPr lang="en-US" sz="950" dirty="0">
                <a:solidFill>
                  <a:srgbClr val="C0392B"/>
                </a:solidFill>
                <a:latin typeface="Calibri" pitchFamily="34" charset="0"/>
                <a:ea typeface="Calibri" pitchFamily="34" charset="-122"/>
                <a:cs typeface="Calibri" pitchFamily="34" charset="-120"/>
              </a:rPr>
              <a:t>⚠ Reference data — not a consumer system. No digital interface.</a:t>
            </a:r>
            <a:endParaRPr lang="en-US" sz="950" dirty="0"/>
          </a:p>
        </p:txBody>
      </p:sp>
      <p:sp>
        <p:nvSpPr>
          <p:cNvPr id="33" name="Shape 31"/>
          <p:cNvSpPr/>
          <p:nvPr/>
        </p:nvSpPr>
        <p:spPr>
          <a:xfrm>
            <a:off x="384048" y="4032504"/>
            <a:ext cx="8375904" cy="777240"/>
          </a:xfrm>
          <a:prstGeom prst="roundRect">
            <a:avLst>
              <a:gd name="adj" fmla="val 14118"/>
            </a:avLst>
          </a:prstGeom>
          <a:solidFill>
            <a:srgbClr val="F0F4F8"/>
          </a:solidFill>
          <a:ln w="6350">
            <a:solidFill>
              <a:srgbClr val="1A2B4A">
                <a:alpha val="40000"/>
              </a:srgbClr>
            </a:solidFill>
            <a:prstDash val="solid"/>
          </a:ln>
          <a:effectLst>
            <a:outerShdw sx="100000" sy="100000" kx="0" ky="0" algn="bl" rotWithShape="0" blurRad="101600" dist="38100" dir="2700000">
              <a:srgbClr val="000000">
                <a:alpha val="10000"/>
              </a:srgbClr>
            </a:outerShdw>
          </a:effectLst>
        </p:spPr>
      </p:sp>
      <p:sp>
        <p:nvSpPr>
          <p:cNvPr id="34" name="Text 32"/>
          <p:cNvSpPr/>
          <p:nvPr/>
        </p:nvSpPr>
        <p:spPr>
          <a:xfrm>
            <a:off x="530352" y="4069080"/>
            <a:ext cx="8229600" cy="201168"/>
          </a:xfrm>
          <a:prstGeom prst="rect">
            <a:avLst/>
          </a:prstGeom>
          <a:noFill/>
          <a:ln/>
        </p:spPr>
        <p:txBody>
          <a:bodyPr wrap="square" lIns="0" tIns="0" rIns="0" bIns="0" rtlCol="0" anchor="ctr"/>
          <a:lstStyle/>
          <a:p>
            <a:pPr indent="0" marL="0">
              <a:buNone/>
            </a:pPr>
            <a:r>
              <a:rPr lang="en-US" sz="950" i="1" dirty="0">
                <a:solidFill>
                  <a:srgbClr val="607D8B"/>
                </a:solidFill>
                <a:latin typeface="Calibri" pitchFamily="34" charset="0"/>
                <a:ea typeface="Calibri" pitchFamily="34" charset="-122"/>
                <a:cs typeface="Calibri" pitchFamily="34" charset="-120"/>
              </a:rPr>
              <a:t>Mureșan &amp; Oltean (2018) — Acta Univ. Sapientiae Informatica, 10(1), 26–42</a:t>
            </a:r>
            <a:endParaRPr lang="en-US" sz="950" dirty="0"/>
          </a:p>
        </p:txBody>
      </p:sp>
      <p:sp>
        <p:nvSpPr>
          <p:cNvPr id="35" name="Text 33"/>
          <p:cNvSpPr/>
          <p:nvPr/>
        </p:nvSpPr>
        <p:spPr>
          <a:xfrm>
            <a:off x="530352" y="4251960"/>
            <a:ext cx="5303520" cy="219456"/>
          </a:xfrm>
          <a:prstGeom prst="rect">
            <a:avLst/>
          </a:prstGeom>
          <a:noFill/>
          <a:ln/>
        </p:spPr>
        <p:txBody>
          <a:bodyPr wrap="square" lIns="0" tIns="0" rIns="0" bIns="0" rtlCol="0" anchor="ctr"/>
          <a:lstStyle/>
          <a:p>
            <a:pPr indent="0" marL="0">
              <a:buNone/>
            </a:pPr>
            <a:r>
              <a:rPr lang="en-US" sz="1200" b="1" dirty="0">
                <a:solidFill>
                  <a:srgbClr val="1A2B4A"/>
                </a:solidFill>
                <a:latin typeface="Calibri" pitchFamily="34" charset="0"/>
                <a:ea typeface="Calibri" pitchFamily="34" charset="-122"/>
                <a:cs typeface="Calibri" pitchFamily="34" charset="-120"/>
              </a:rPr>
              <a:t>Fruits-360 Dataset (Training Data Source)</a:t>
            </a:r>
            <a:endParaRPr lang="en-US" sz="1200" dirty="0"/>
          </a:p>
        </p:txBody>
      </p:sp>
      <p:sp>
        <p:nvSpPr>
          <p:cNvPr id="36" name="Text 34"/>
          <p:cNvSpPr/>
          <p:nvPr/>
        </p:nvSpPr>
        <p:spPr>
          <a:xfrm>
            <a:off x="530352" y="4471416"/>
            <a:ext cx="6309360" cy="310896"/>
          </a:xfrm>
          <a:prstGeom prst="rect">
            <a:avLst/>
          </a:prstGeom>
          <a:noFill/>
          <a:ln/>
        </p:spPr>
        <p:txBody>
          <a:bodyPr wrap="square" lIns="0" tIns="0" rIns="0" bIns="0" rtlCol="0" anchor="ctr"/>
          <a:lstStyle/>
          <a:p>
            <a:pPr indent="0" marL="0">
              <a:buNone/>
            </a:pPr>
            <a:r>
              <a:rPr lang="en-US" sz="1050" dirty="0">
                <a:solidFill>
                  <a:srgbClr val="4A5568"/>
                </a:solidFill>
                <a:latin typeface="Calibri" pitchFamily="34" charset="0"/>
                <a:ea typeface="Calibri" pitchFamily="34" charset="-122"/>
                <a:cs typeface="Calibri" pitchFamily="34" charset="-120"/>
              </a:rPr>
              <a:t>The public dataset used as the primary training data source. Contains clean, consistently-lit images of fruits across multiple age stages. The age-range class labels in Fruits-360 were the foundation for Fresco's 14 classification classes and freshness-score mapping.</a:t>
            </a:r>
            <a:endParaRPr lang="en-US" sz="1050" dirty="0"/>
          </a:p>
        </p:txBody>
      </p:sp>
      <p:sp>
        <p:nvSpPr>
          <p:cNvPr id="37" name="Shape 35"/>
          <p:cNvSpPr/>
          <p:nvPr/>
        </p:nvSpPr>
        <p:spPr>
          <a:xfrm>
            <a:off x="6949440" y="4251960"/>
            <a:ext cx="1755648" cy="530352"/>
          </a:xfrm>
          <a:prstGeom prst="roundRect">
            <a:avLst>
              <a:gd name="adj" fmla="val 20690"/>
            </a:avLst>
          </a:prstGeom>
          <a:solidFill>
            <a:srgbClr val="FFF3F3"/>
          </a:solidFill>
          <a:ln w="6350">
            <a:solidFill>
              <a:srgbClr val="1A2B4A">
                <a:alpha val="40000"/>
              </a:srgbClr>
            </a:solidFill>
            <a:prstDash val="solid"/>
          </a:ln>
          <a:effectLst>
            <a:outerShdw sx="100000" sy="100000" kx="0" ky="0" algn="bl" rotWithShape="0" blurRad="101600" dist="38100" dir="2700000">
              <a:srgbClr val="000000">
                <a:alpha val="10000"/>
              </a:srgbClr>
            </a:outerShdw>
          </a:effectLst>
        </p:spPr>
      </p:sp>
      <p:sp>
        <p:nvSpPr>
          <p:cNvPr id="38" name="Text 36"/>
          <p:cNvSpPr/>
          <p:nvPr/>
        </p:nvSpPr>
        <p:spPr>
          <a:xfrm>
            <a:off x="6976872" y="4270248"/>
            <a:ext cx="1700784" cy="493776"/>
          </a:xfrm>
          <a:prstGeom prst="rect">
            <a:avLst/>
          </a:prstGeom>
          <a:noFill/>
          <a:ln/>
        </p:spPr>
        <p:txBody>
          <a:bodyPr wrap="square" lIns="38100" tIns="38100" rIns="38100" bIns="38100" rtlCol="0" anchor="t"/>
          <a:lstStyle/>
          <a:p>
            <a:pPr algn="l" indent="0" marL="0">
              <a:buNone/>
            </a:pPr>
            <a:r>
              <a:rPr lang="en-US" sz="950" dirty="0">
                <a:solidFill>
                  <a:srgbClr val="C0392B"/>
                </a:solidFill>
                <a:latin typeface="Calibri" pitchFamily="34" charset="0"/>
                <a:ea typeface="Calibri" pitchFamily="34" charset="-122"/>
                <a:cs typeface="Calibri" pitchFamily="34" charset="-120"/>
              </a:rPr>
              <a:t>⚠ Dataset only — no model, no deployment, no shelf-life estimation.</a:t>
            </a:r>
            <a:endParaRPr lang="en-US" sz="9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EBEBEB"/>
        </a:solidFill>
      </p:bgPr>
    </p:bg>
    <p:spTree>
      <p:nvGrpSpPr>
        <p:cNvPr id="1" name=""/>
        <p:cNvGrpSpPr/>
        <p:nvPr/>
      </p:nvGrpSpPr>
      <p:grpSpPr>
        <a:xfrm>
          <a:off x="0" y="0"/>
          <a:ext cx="0" cy="0"/>
          <a:chOff x="0" y="0"/>
          <a:chExt cx="0" cy="0"/>
        </a:xfrm>
      </p:grpSpPr>
      <p:sp>
        <p:nvSpPr>
          <p:cNvPr id="2" name="Shape 0"/>
          <p:cNvSpPr/>
          <p:nvPr/>
        </p:nvSpPr>
        <p:spPr>
          <a:xfrm>
            <a:off x="8092440" y="3749040"/>
            <a:ext cx="64008" cy="64008"/>
          </a:xfrm>
          <a:prstGeom prst="ellipse">
            <a:avLst/>
          </a:prstGeom>
          <a:solidFill>
            <a:srgbClr val="1A2B4A">
              <a:alpha val="25000"/>
            </a:srgbClr>
          </a:solidFill>
          <a:ln/>
        </p:spPr>
      </p:sp>
      <p:sp>
        <p:nvSpPr>
          <p:cNvPr id="3" name="Shape 1"/>
          <p:cNvSpPr/>
          <p:nvPr/>
        </p:nvSpPr>
        <p:spPr>
          <a:xfrm>
            <a:off x="8293608" y="3749040"/>
            <a:ext cx="64008" cy="64008"/>
          </a:xfrm>
          <a:prstGeom prst="ellipse">
            <a:avLst/>
          </a:prstGeom>
          <a:solidFill>
            <a:srgbClr val="1A2B4A">
              <a:alpha val="25000"/>
            </a:srgbClr>
          </a:solidFill>
          <a:ln/>
        </p:spPr>
      </p:sp>
      <p:sp>
        <p:nvSpPr>
          <p:cNvPr id="4" name="Shape 2"/>
          <p:cNvSpPr/>
          <p:nvPr/>
        </p:nvSpPr>
        <p:spPr>
          <a:xfrm>
            <a:off x="8494776" y="3749040"/>
            <a:ext cx="64008" cy="64008"/>
          </a:xfrm>
          <a:prstGeom prst="ellipse">
            <a:avLst/>
          </a:prstGeom>
          <a:solidFill>
            <a:srgbClr val="1A2B4A">
              <a:alpha val="25000"/>
            </a:srgbClr>
          </a:solidFill>
          <a:ln/>
        </p:spPr>
      </p:sp>
      <p:sp>
        <p:nvSpPr>
          <p:cNvPr id="5" name="Shape 3"/>
          <p:cNvSpPr/>
          <p:nvPr/>
        </p:nvSpPr>
        <p:spPr>
          <a:xfrm>
            <a:off x="8695944" y="3749040"/>
            <a:ext cx="64008" cy="64008"/>
          </a:xfrm>
          <a:prstGeom prst="ellipse">
            <a:avLst/>
          </a:prstGeom>
          <a:solidFill>
            <a:srgbClr val="1A2B4A">
              <a:alpha val="25000"/>
            </a:srgbClr>
          </a:solidFill>
          <a:ln/>
        </p:spPr>
      </p:sp>
      <p:sp>
        <p:nvSpPr>
          <p:cNvPr id="6" name="Shape 4"/>
          <p:cNvSpPr/>
          <p:nvPr/>
        </p:nvSpPr>
        <p:spPr>
          <a:xfrm>
            <a:off x="8897112" y="3749040"/>
            <a:ext cx="64008" cy="64008"/>
          </a:xfrm>
          <a:prstGeom prst="ellipse">
            <a:avLst/>
          </a:prstGeom>
          <a:solidFill>
            <a:srgbClr val="1A2B4A">
              <a:alpha val="25000"/>
            </a:srgbClr>
          </a:solidFill>
          <a:ln/>
        </p:spPr>
      </p:sp>
      <p:sp>
        <p:nvSpPr>
          <p:cNvPr id="7" name="Shape 5"/>
          <p:cNvSpPr/>
          <p:nvPr/>
        </p:nvSpPr>
        <p:spPr>
          <a:xfrm>
            <a:off x="8092440" y="3950208"/>
            <a:ext cx="64008" cy="64008"/>
          </a:xfrm>
          <a:prstGeom prst="ellipse">
            <a:avLst/>
          </a:prstGeom>
          <a:solidFill>
            <a:srgbClr val="1A2B4A">
              <a:alpha val="25000"/>
            </a:srgbClr>
          </a:solidFill>
          <a:ln/>
        </p:spPr>
      </p:sp>
      <p:sp>
        <p:nvSpPr>
          <p:cNvPr id="8" name="Shape 6"/>
          <p:cNvSpPr/>
          <p:nvPr/>
        </p:nvSpPr>
        <p:spPr>
          <a:xfrm>
            <a:off x="8293608" y="3950208"/>
            <a:ext cx="64008" cy="64008"/>
          </a:xfrm>
          <a:prstGeom prst="ellipse">
            <a:avLst/>
          </a:prstGeom>
          <a:solidFill>
            <a:srgbClr val="1A2B4A">
              <a:alpha val="25000"/>
            </a:srgbClr>
          </a:solidFill>
          <a:ln/>
        </p:spPr>
      </p:sp>
      <p:sp>
        <p:nvSpPr>
          <p:cNvPr id="9" name="Shape 7"/>
          <p:cNvSpPr/>
          <p:nvPr/>
        </p:nvSpPr>
        <p:spPr>
          <a:xfrm>
            <a:off x="8494776" y="3950208"/>
            <a:ext cx="64008" cy="64008"/>
          </a:xfrm>
          <a:prstGeom prst="ellipse">
            <a:avLst/>
          </a:prstGeom>
          <a:solidFill>
            <a:srgbClr val="1A2B4A">
              <a:alpha val="25000"/>
            </a:srgbClr>
          </a:solidFill>
          <a:ln/>
        </p:spPr>
      </p:sp>
      <p:sp>
        <p:nvSpPr>
          <p:cNvPr id="10" name="Shape 8"/>
          <p:cNvSpPr/>
          <p:nvPr/>
        </p:nvSpPr>
        <p:spPr>
          <a:xfrm>
            <a:off x="8695944" y="3950208"/>
            <a:ext cx="64008" cy="64008"/>
          </a:xfrm>
          <a:prstGeom prst="ellipse">
            <a:avLst/>
          </a:prstGeom>
          <a:solidFill>
            <a:srgbClr val="1A2B4A">
              <a:alpha val="25000"/>
            </a:srgbClr>
          </a:solidFill>
          <a:ln/>
        </p:spPr>
      </p:sp>
      <p:sp>
        <p:nvSpPr>
          <p:cNvPr id="11" name="Shape 9"/>
          <p:cNvSpPr/>
          <p:nvPr/>
        </p:nvSpPr>
        <p:spPr>
          <a:xfrm>
            <a:off x="8897112" y="3950208"/>
            <a:ext cx="64008" cy="64008"/>
          </a:xfrm>
          <a:prstGeom prst="ellipse">
            <a:avLst/>
          </a:prstGeom>
          <a:solidFill>
            <a:srgbClr val="1A2B4A">
              <a:alpha val="25000"/>
            </a:srgbClr>
          </a:solidFill>
          <a:ln/>
        </p:spPr>
      </p:sp>
      <p:sp>
        <p:nvSpPr>
          <p:cNvPr id="12" name="Shape 10"/>
          <p:cNvSpPr/>
          <p:nvPr/>
        </p:nvSpPr>
        <p:spPr>
          <a:xfrm>
            <a:off x="8092440" y="4151376"/>
            <a:ext cx="64008" cy="64008"/>
          </a:xfrm>
          <a:prstGeom prst="ellipse">
            <a:avLst/>
          </a:prstGeom>
          <a:solidFill>
            <a:srgbClr val="1A2B4A">
              <a:alpha val="25000"/>
            </a:srgbClr>
          </a:solidFill>
          <a:ln/>
        </p:spPr>
      </p:sp>
      <p:sp>
        <p:nvSpPr>
          <p:cNvPr id="13" name="Shape 11"/>
          <p:cNvSpPr/>
          <p:nvPr/>
        </p:nvSpPr>
        <p:spPr>
          <a:xfrm>
            <a:off x="8293608" y="4151376"/>
            <a:ext cx="64008" cy="64008"/>
          </a:xfrm>
          <a:prstGeom prst="ellipse">
            <a:avLst/>
          </a:prstGeom>
          <a:solidFill>
            <a:srgbClr val="1A2B4A">
              <a:alpha val="25000"/>
            </a:srgbClr>
          </a:solidFill>
          <a:ln/>
        </p:spPr>
      </p:sp>
      <p:sp>
        <p:nvSpPr>
          <p:cNvPr id="14" name="Shape 12"/>
          <p:cNvSpPr/>
          <p:nvPr/>
        </p:nvSpPr>
        <p:spPr>
          <a:xfrm>
            <a:off x="8494776" y="4151376"/>
            <a:ext cx="64008" cy="64008"/>
          </a:xfrm>
          <a:prstGeom prst="ellipse">
            <a:avLst/>
          </a:prstGeom>
          <a:solidFill>
            <a:srgbClr val="1A2B4A">
              <a:alpha val="25000"/>
            </a:srgbClr>
          </a:solidFill>
          <a:ln/>
        </p:spPr>
      </p:sp>
      <p:sp>
        <p:nvSpPr>
          <p:cNvPr id="15" name="Shape 13"/>
          <p:cNvSpPr/>
          <p:nvPr/>
        </p:nvSpPr>
        <p:spPr>
          <a:xfrm>
            <a:off x="8695944" y="4151376"/>
            <a:ext cx="64008" cy="64008"/>
          </a:xfrm>
          <a:prstGeom prst="ellipse">
            <a:avLst/>
          </a:prstGeom>
          <a:solidFill>
            <a:srgbClr val="1A2B4A">
              <a:alpha val="25000"/>
            </a:srgbClr>
          </a:solidFill>
          <a:ln/>
        </p:spPr>
      </p:sp>
      <p:sp>
        <p:nvSpPr>
          <p:cNvPr id="16" name="Shape 14"/>
          <p:cNvSpPr/>
          <p:nvPr/>
        </p:nvSpPr>
        <p:spPr>
          <a:xfrm>
            <a:off x="8897112" y="4151376"/>
            <a:ext cx="64008" cy="64008"/>
          </a:xfrm>
          <a:prstGeom prst="ellipse">
            <a:avLst/>
          </a:prstGeom>
          <a:solidFill>
            <a:srgbClr val="1A2B4A">
              <a:alpha val="25000"/>
            </a:srgbClr>
          </a:solidFill>
          <a:ln/>
        </p:spPr>
      </p:sp>
      <p:sp>
        <p:nvSpPr>
          <p:cNvPr id="17" name="Shape 15"/>
          <p:cNvSpPr/>
          <p:nvPr/>
        </p:nvSpPr>
        <p:spPr>
          <a:xfrm>
            <a:off x="8092440" y="4352544"/>
            <a:ext cx="64008" cy="64008"/>
          </a:xfrm>
          <a:prstGeom prst="ellipse">
            <a:avLst/>
          </a:prstGeom>
          <a:solidFill>
            <a:srgbClr val="1A2B4A">
              <a:alpha val="25000"/>
            </a:srgbClr>
          </a:solidFill>
          <a:ln/>
        </p:spPr>
      </p:sp>
      <p:sp>
        <p:nvSpPr>
          <p:cNvPr id="18" name="Shape 16"/>
          <p:cNvSpPr/>
          <p:nvPr/>
        </p:nvSpPr>
        <p:spPr>
          <a:xfrm>
            <a:off x="8293608" y="4352544"/>
            <a:ext cx="64008" cy="64008"/>
          </a:xfrm>
          <a:prstGeom prst="ellipse">
            <a:avLst/>
          </a:prstGeom>
          <a:solidFill>
            <a:srgbClr val="1A2B4A">
              <a:alpha val="25000"/>
            </a:srgbClr>
          </a:solidFill>
          <a:ln/>
        </p:spPr>
      </p:sp>
      <p:sp>
        <p:nvSpPr>
          <p:cNvPr id="19" name="Shape 17"/>
          <p:cNvSpPr/>
          <p:nvPr/>
        </p:nvSpPr>
        <p:spPr>
          <a:xfrm>
            <a:off x="8494776" y="4352544"/>
            <a:ext cx="64008" cy="64008"/>
          </a:xfrm>
          <a:prstGeom prst="ellipse">
            <a:avLst/>
          </a:prstGeom>
          <a:solidFill>
            <a:srgbClr val="1A2B4A">
              <a:alpha val="25000"/>
            </a:srgbClr>
          </a:solidFill>
          <a:ln/>
        </p:spPr>
      </p:sp>
      <p:sp>
        <p:nvSpPr>
          <p:cNvPr id="20" name="Shape 18"/>
          <p:cNvSpPr/>
          <p:nvPr/>
        </p:nvSpPr>
        <p:spPr>
          <a:xfrm>
            <a:off x="8695944" y="4352544"/>
            <a:ext cx="64008" cy="64008"/>
          </a:xfrm>
          <a:prstGeom prst="ellipse">
            <a:avLst/>
          </a:prstGeom>
          <a:solidFill>
            <a:srgbClr val="1A2B4A">
              <a:alpha val="25000"/>
            </a:srgbClr>
          </a:solidFill>
          <a:ln/>
        </p:spPr>
      </p:sp>
      <p:sp>
        <p:nvSpPr>
          <p:cNvPr id="21" name="Shape 19"/>
          <p:cNvSpPr/>
          <p:nvPr/>
        </p:nvSpPr>
        <p:spPr>
          <a:xfrm>
            <a:off x="8897112" y="4352544"/>
            <a:ext cx="64008" cy="64008"/>
          </a:xfrm>
          <a:prstGeom prst="ellipse">
            <a:avLst/>
          </a:prstGeom>
          <a:solidFill>
            <a:srgbClr val="1A2B4A">
              <a:alpha val="25000"/>
            </a:srgbClr>
          </a:solidFill>
          <a:ln/>
        </p:spPr>
      </p:sp>
      <p:sp>
        <p:nvSpPr>
          <p:cNvPr id="22" name="Shape 20"/>
          <p:cNvSpPr/>
          <p:nvPr/>
        </p:nvSpPr>
        <p:spPr>
          <a:xfrm>
            <a:off x="8092440" y="4553712"/>
            <a:ext cx="64008" cy="64008"/>
          </a:xfrm>
          <a:prstGeom prst="ellipse">
            <a:avLst/>
          </a:prstGeom>
          <a:solidFill>
            <a:srgbClr val="1A2B4A">
              <a:alpha val="25000"/>
            </a:srgbClr>
          </a:solidFill>
          <a:ln/>
        </p:spPr>
      </p:sp>
      <p:sp>
        <p:nvSpPr>
          <p:cNvPr id="23" name="Shape 21"/>
          <p:cNvSpPr/>
          <p:nvPr/>
        </p:nvSpPr>
        <p:spPr>
          <a:xfrm>
            <a:off x="8293608" y="4553712"/>
            <a:ext cx="64008" cy="64008"/>
          </a:xfrm>
          <a:prstGeom prst="ellipse">
            <a:avLst/>
          </a:prstGeom>
          <a:solidFill>
            <a:srgbClr val="1A2B4A">
              <a:alpha val="25000"/>
            </a:srgbClr>
          </a:solidFill>
          <a:ln/>
        </p:spPr>
      </p:sp>
      <p:sp>
        <p:nvSpPr>
          <p:cNvPr id="24" name="Shape 22"/>
          <p:cNvSpPr/>
          <p:nvPr/>
        </p:nvSpPr>
        <p:spPr>
          <a:xfrm>
            <a:off x="8494776" y="4553712"/>
            <a:ext cx="64008" cy="64008"/>
          </a:xfrm>
          <a:prstGeom prst="ellipse">
            <a:avLst/>
          </a:prstGeom>
          <a:solidFill>
            <a:srgbClr val="1A2B4A">
              <a:alpha val="25000"/>
            </a:srgbClr>
          </a:solidFill>
          <a:ln/>
        </p:spPr>
      </p:sp>
      <p:sp>
        <p:nvSpPr>
          <p:cNvPr id="25" name="Shape 23"/>
          <p:cNvSpPr/>
          <p:nvPr/>
        </p:nvSpPr>
        <p:spPr>
          <a:xfrm>
            <a:off x="8695944" y="4553712"/>
            <a:ext cx="64008" cy="64008"/>
          </a:xfrm>
          <a:prstGeom prst="ellipse">
            <a:avLst/>
          </a:prstGeom>
          <a:solidFill>
            <a:srgbClr val="1A2B4A">
              <a:alpha val="25000"/>
            </a:srgbClr>
          </a:solidFill>
          <a:ln/>
        </p:spPr>
      </p:sp>
      <p:sp>
        <p:nvSpPr>
          <p:cNvPr id="26" name="Shape 24"/>
          <p:cNvSpPr/>
          <p:nvPr/>
        </p:nvSpPr>
        <p:spPr>
          <a:xfrm>
            <a:off x="8897112" y="4553712"/>
            <a:ext cx="64008" cy="64008"/>
          </a:xfrm>
          <a:prstGeom prst="ellipse">
            <a:avLst/>
          </a:prstGeom>
          <a:solidFill>
            <a:srgbClr val="1A2B4A">
              <a:alpha val="25000"/>
            </a:srgbClr>
          </a:solidFill>
          <a:ln/>
        </p:spPr>
      </p:sp>
      <p:sp>
        <p:nvSpPr>
          <p:cNvPr id="27" name="Shape 25"/>
          <p:cNvSpPr/>
          <p:nvPr/>
        </p:nvSpPr>
        <p:spPr>
          <a:xfrm>
            <a:off x="411480" y="868680"/>
            <a:ext cx="8229600" cy="0"/>
          </a:xfrm>
          <a:prstGeom prst="line">
            <a:avLst/>
          </a:prstGeom>
          <a:noFill/>
          <a:ln w="19050">
            <a:solidFill>
              <a:srgbClr val="3A8C7E">
                <a:alpha val="60000"/>
              </a:srgbClr>
            </a:solidFill>
            <a:prstDash val="solid"/>
          </a:ln>
        </p:spPr>
      </p:sp>
      <p:sp>
        <p:nvSpPr>
          <p:cNvPr id="28" name="Shape 26"/>
          <p:cNvSpPr/>
          <p:nvPr/>
        </p:nvSpPr>
        <p:spPr>
          <a:xfrm>
            <a:off x="411480" y="950976"/>
            <a:ext cx="8229600" cy="0"/>
          </a:xfrm>
          <a:prstGeom prst="line">
            <a:avLst/>
          </a:prstGeom>
          <a:noFill/>
          <a:ln w="10160">
            <a:solidFill>
              <a:srgbClr val="1A2B4A">
                <a:alpha val="45000"/>
              </a:srgbClr>
            </a:solidFill>
            <a:prstDash val="solid"/>
          </a:ln>
        </p:spPr>
      </p:sp>
      <p:sp>
        <p:nvSpPr>
          <p:cNvPr id="29" name="Text 27"/>
          <p:cNvSpPr/>
          <p:nvPr/>
        </p:nvSpPr>
        <p:spPr>
          <a:xfrm>
            <a:off x="411480" y="292608"/>
            <a:ext cx="8321040" cy="530352"/>
          </a:xfrm>
          <a:prstGeom prst="rect">
            <a:avLst/>
          </a:prstGeom>
          <a:noFill/>
          <a:ln/>
        </p:spPr>
        <p:txBody>
          <a:bodyPr wrap="square" lIns="0" tIns="0" rIns="0" bIns="0" rtlCol="0" anchor="ctr"/>
          <a:lstStyle/>
          <a:p>
            <a:pPr algn="l" indent="0" marL="0">
              <a:buNone/>
            </a:pPr>
            <a:r>
              <a:rPr lang="en-US" sz="2800" b="1" dirty="0">
                <a:solidFill>
                  <a:srgbClr val="1A2B4A"/>
                </a:solidFill>
                <a:latin typeface="Cambria" pitchFamily="34" charset="0"/>
                <a:ea typeface="Cambria" pitchFamily="34" charset="-122"/>
                <a:cs typeface="Cambria" pitchFamily="34" charset="-120"/>
              </a:rPr>
              <a:t>Prior Work Is Partial</a:t>
            </a:r>
            <a:endParaRPr lang="en-US" sz="2800" dirty="0"/>
          </a:p>
        </p:txBody>
      </p:sp>
      <p:sp>
        <p:nvSpPr>
          <p:cNvPr id="30" name="Text 28"/>
          <p:cNvSpPr/>
          <p:nvPr/>
        </p:nvSpPr>
        <p:spPr>
          <a:xfrm>
            <a:off x="411480" y="841248"/>
            <a:ext cx="8321040" cy="329184"/>
          </a:xfrm>
          <a:prstGeom prst="rect">
            <a:avLst/>
          </a:prstGeom>
          <a:noFill/>
          <a:ln/>
        </p:spPr>
        <p:txBody>
          <a:bodyPr wrap="square" lIns="0" tIns="0" rIns="0" bIns="0" rtlCol="0" anchor="ctr"/>
          <a:lstStyle/>
          <a:p>
            <a:pPr algn="l" indent="0" marL="0">
              <a:buNone/>
            </a:pPr>
            <a:r>
              <a:rPr lang="en-US" sz="1400" b="1" dirty="0">
                <a:solidFill>
                  <a:srgbClr val="3A8C7E"/>
                </a:solidFill>
                <a:latin typeface="Calibri" pitchFamily="34" charset="0"/>
                <a:ea typeface="Calibri" pitchFamily="34" charset="-122"/>
                <a:cs typeface="Calibri" pitchFamily="34" charset="-120"/>
              </a:rPr>
              <a:t>No existing system combines all five capabilities Fresco delivers</a:t>
            </a:r>
            <a:endParaRPr lang="en-US" sz="14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384048" y="1207008"/>
          <a:ext cx="8375904" cy="3246120"/>
        </p:xfrm>
        <a:graphic>
          <a:graphicData uri="http://schemas.openxmlformats.org/drawingml/2006/table">
            <a:tbl>
              <a:tblPr/>
              <a:tblGrid>
                <a:gridCol w="1691640"/>
                <a:gridCol w="2011680"/>
                <a:gridCol w="777240"/>
                <a:gridCol w="822960"/>
                <a:gridCol w="822960"/>
                <a:gridCol w="822960"/>
              </a:tblGrid>
              <a:tr h="463731">
                <a:tc>
                  <a:txBody>
                    <a:bodyPr/>
                    <a:lstStyle/>
                    <a:p>
                      <a:pPr algn="ctr" indent="0" marL="0">
                        <a:buNone/>
                      </a:pPr>
                      <a:r>
                        <a:rPr lang="en-US" sz="1000" b="1" dirty="0">
                          <a:solidFill>
                            <a:srgbClr val="FFFFFF"/>
                          </a:solidFill>
                        </a:rPr>
                        <a:t>Study</a:t>
                      </a:r>
                      <a:endParaRPr lang="en-US" sz="1000" dirty="0"/>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1A2B4A"/>
                    </a:solidFill>
                  </a:tcPr>
                </a:tc>
                <a:tc>
                  <a:txBody>
                    <a:bodyPr/>
                    <a:lstStyle/>
                    <a:p>
                      <a:pPr algn="ctr" indent="0" marL="0">
                        <a:buNone/>
                      </a:pPr>
                      <a:r>
                        <a:rPr lang="en-US" sz="1000" b="1" dirty="0">
                          <a:solidFill>
                            <a:srgbClr val="FFFFFF"/>
                          </a:solidFill>
                        </a:rPr>
                        <a:t>Approach</a:t>
                      </a:r>
                      <a:endParaRPr lang="en-US" sz="1000" dirty="0"/>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1A2B4A"/>
                    </a:solidFill>
                  </a:tcPr>
                </a:tc>
                <a:tc>
                  <a:txBody>
                    <a:bodyPr/>
                    <a:lstStyle/>
                    <a:p>
                      <a:pPr algn="ctr" indent="0" marL="0">
                        <a:buNone/>
                      </a:pPr>
                      <a:r>
                        <a:rPr lang="en-US" sz="1000" b="1" dirty="0">
                          <a:solidFill>
                            <a:srgbClr val="FFFFFF"/>
                          </a:solidFill>
                        </a:rPr>
                        <a:t>Camera</a:t>
                      </a:r>
                      <a:endParaRPr lang="en-US" sz="1000" dirty="0"/>
                    </a:p>
                    <a:p>
                      <a:pPr algn="ctr" indent="0" marL="0">
                        <a:buNone/>
                      </a:pPr>
                      <a:r>
                        <a:rPr lang="en-US" sz="1000" b="1" dirty="0">
                          <a:solidFill>
                            <a:srgbClr val="FFFFFF"/>
                          </a:solidFill>
                        </a:rPr>
                        <a:t>Input</a:t>
                      </a:r>
                      <a:endParaRPr lang="en-US" sz="1000" dirty="0"/>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1A2B4A"/>
                    </a:solidFill>
                  </a:tcPr>
                </a:tc>
                <a:tc>
                  <a:txBody>
                    <a:bodyPr/>
                    <a:lstStyle/>
                    <a:p>
                      <a:pPr algn="ctr" indent="0" marL="0">
                        <a:buNone/>
                      </a:pPr>
                      <a:r>
                        <a:rPr lang="en-US" sz="1000" b="1" dirty="0">
                          <a:solidFill>
                            <a:srgbClr val="FFFFFF"/>
                          </a:solidFill>
                        </a:rPr>
                        <a:t>Shelf-Life</a:t>
                      </a:r>
                      <a:endParaRPr lang="en-US" sz="1000" dirty="0"/>
                    </a:p>
                    <a:p>
                      <a:pPr algn="ctr" indent="0" marL="0">
                        <a:buNone/>
                      </a:pPr>
                      <a:r>
                        <a:rPr lang="en-US" sz="1000" b="1" dirty="0">
                          <a:solidFill>
                            <a:srgbClr val="FFFFFF"/>
                          </a:solidFill>
                        </a:rPr>
                        <a:t>Estimation</a:t>
                      </a:r>
                      <a:endParaRPr lang="en-US" sz="1000" dirty="0"/>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1A2B4A"/>
                    </a:solidFill>
                  </a:tcPr>
                </a:tc>
                <a:tc>
                  <a:txBody>
                    <a:bodyPr/>
                    <a:lstStyle/>
                    <a:p>
                      <a:pPr algn="ctr" indent="0" marL="0">
                        <a:buNone/>
                      </a:pPr>
                      <a:r>
                        <a:rPr lang="en-US" sz="1000" b="1" dirty="0">
                          <a:solidFill>
                            <a:srgbClr val="FFFFFF"/>
                          </a:solidFill>
                        </a:rPr>
                        <a:t>Ethylene</a:t>
                      </a:r>
                      <a:endParaRPr lang="en-US" sz="1000" dirty="0"/>
                    </a:p>
                    <a:p>
                      <a:pPr algn="ctr" indent="0" marL="0">
                        <a:buNone/>
                      </a:pPr>
                      <a:r>
                        <a:rPr lang="en-US" sz="1000" b="1" dirty="0">
                          <a:solidFill>
                            <a:srgbClr val="FFFFFF"/>
                          </a:solidFill>
                        </a:rPr>
                        <a:t>Warnings</a:t>
                      </a:r>
                      <a:endParaRPr lang="en-US" sz="1000" dirty="0"/>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1A2B4A"/>
                    </a:solidFill>
                  </a:tcPr>
                </a:tc>
                <a:tc>
                  <a:txBody>
                    <a:bodyPr/>
                    <a:lstStyle/>
                    <a:p>
                      <a:pPr algn="ctr" indent="0" marL="0">
                        <a:buNone/>
                      </a:pPr>
                      <a:r>
                        <a:rPr lang="en-US" sz="1000" b="1" dirty="0">
                          <a:solidFill>
                            <a:srgbClr val="FFFFFF"/>
                          </a:solidFill>
                        </a:rPr>
                        <a:t>PWA</a:t>
                      </a:r>
                      <a:endParaRPr lang="en-US" sz="1000" dirty="0"/>
                    </a:p>
                    <a:p>
                      <a:pPr algn="ctr" indent="0" marL="0">
                        <a:buNone/>
                      </a:pPr>
                      <a:r>
                        <a:rPr lang="en-US" sz="1000" b="1" dirty="0">
                          <a:solidFill>
                            <a:srgbClr val="FFFFFF"/>
                          </a:solidFill>
                        </a:rPr>
                        <a:t>Deployment</a:t>
                      </a:r>
                      <a:endParaRPr lang="en-US" sz="1000" dirty="0"/>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1A2B4A"/>
                    </a:solidFill>
                  </a:tcPr>
                </a:tc>
              </a:tr>
              <a:tr h="463731">
                <a:tc>
                  <a:txBody>
                    <a:bodyPr/>
                    <a:lstStyle/>
                    <a:p>
                      <a:pPr algn="l" indent="0" marL="0">
                        <a:buNone/>
                      </a:pPr>
                      <a:r>
                        <a:rPr lang="en-US" sz="1050" dirty="0">
                          <a:solidFill>
                            <a:srgbClr val="4A5568"/>
                          </a:solidFill>
                        </a:rPr>
                        <a:t>Fu et al. (2022)</a:t>
                      </a:r>
                      <a:endParaRPr lang="en-US" sz="1050" dirty="0"/>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algn="l" indent="0" marL="0">
                        <a:buNone/>
                      </a:pPr>
                      <a:r>
                        <a:rPr lang="en-US" sz="1050" dirty="0">
                          <a:solidFill>
                            <a:srgbClr val="4A5568"/>
                          </a:solidFill>
                        </a:rPr>
                        <a:t>CNN classification</a:t>
                      </a:r>
                      <a:endParaRPr lang="en-US" sz="1050" dirty="0"/>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2E7D32"/>
                          </a:solidFill>
                        </a:rPr>
                        <a:t>✓</a:t>
                      </a:r>
                      <a:endParaRPr lang="en-US" sz="1300" dirty="0"/>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C0392B"/>
                          </a:solidFill>
                        </a:rPr>
                        <a:t>✗</a:t>
                      </a:r>
                      <a:endParaRPr lang="en-US" sz="1300" dirty="0"/>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C0392B"/>
                          </a:solidFill>
                        </a:rPr>
                        <a:t>✗</a:t>
                      </a:r>
                      <a:endParaRPr lang="en-US" sz="1300" dirty="0"/>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C0392B"/>
                          </a:solidFill>
                        </a:rPr>
                        <a:t>✗</a:t>
                      </a:r>
                      <a:endParaRPr lang="en-US" sz="1300" dirty="0"/>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r>
              <a:tr h="463731">
                <a:tc>
                  <a:txBody>
                    <a:bodyPr/>
                    <a:lstStyle/>
                    <a:p>
                      <a:pPr algn="l" indent="0" marL="0">
                        <a:buNone/>
                      </a:pPr>
                      <a:r>
                        <a:rPr lang="en-US" sz="1050" dirty="0">
                          <a:solidFill>
                            <a:srgbClr val="4A5568"/>
                          </a:solidFill>
                        </a:rPr>
                        <a:t>Hu et al. (2024)</a:t>
                      </a:r>
                      <a:endParaRPr lang="en-US" sz="1050" dirty="0"/>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4F7F9"/>
                    </a:solidFill>
                  </a:tcPr>
                </a:tc>
                <a:tc>
                  <a:txBody>
                    <a:bodyPr/>
                    <a:lstStyle/>
                    <a:p>
                      <a:pPr algn="l" indent="0" marL="0">
                        <a:buNone/>
                      </a:pPr>
                      <a:r>
                        <a:rPr lang="en-US" sz="1050" dirty="0">
                          <a:solidFill>
                            <a:srgbClr val="4A5568"/>
                          </a:solidFill>
                        </a:rPr>
                        <a:t>Mobile EfficientNet</a:t>
                      </a:r>
                      <a:endParaRPr lang="en-US" sz="1050" dirty="0"/>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4F7F9"/>
                    </a:solidFill>
                  </a:tcPr>
                </a:tc>
                <a:tc>
                  <a:txBody>
                    <a:bodyPr/>
                    <a:lstStyle/>
                    <a:p>
                      <a:pPr algn="ctr" indent="0" marL="0">
                        <a:buNone/>
                      </a:pPr>
                      <a:r>
                        <a:rPr lang="en-US" sz="1300" dirty="0">
                          <a:solidFill>
                            <a:srgbClr val="2E7D32"/>
                          </a:solidFill>
                        </a:rPr>
                        <a:t>✓</a:t>
                      </a:r>
                      <a:endParaRPr lang="en-US" sz="1300" dirty="0"/>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4F7F9"/>
                    </a:solidFill>
                  </a:tcPr>
                </a:tc>
                <a:tc>
                  <a:txBody>
                    <a:bodyPr/>
                    <a:lstStyle/>
                    <a:p>
                      <a:pPr algn="ctr" indent="0" marL="0">
                        <a:buNone/>
                      </a:pPr>
                      <a:r>
                        <a:rPr lang="en-US" sz="1300" dirty="0">
                          <a:solidFill>
                            <a:srgbClr val="C0392B"/>
                          </a:solidFill>
                        </a:rPr>
                        <a:t>✗</a:t>
                      </a:r>
                      <a:endParaRPr lang="en-US" sz="1300" dirty="0"/>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4F7F9"/>
                    </a:solidFill>
                  </a:tcPr>
                </a:tc>
                <a:tc>
                  <a:txBody>
                    <a:bodyPr/>
                    <a:lstStyle/>
                    <a:p>
                      <a:pPr algn="ctr" indent="0" marL="0">
                        <a:buNone/>
                      </a:pPr>
                      <a:r>
                        <a:rPr lang="en-US" sz="1300" dirty="0">
                          <a:solidFill>
                            <a:srgbClr val="C0392B"/>
                          </a:solidFill>
                        </a:rPr>
                        <a:t>✗</a:t>
                      </a:r>
                      <a:endParaRPr lang="en-US" sz="1300" dirty="0"/>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4F7F9"/>
                    </a:solidFill>
                  </a:tcPr>
                </a:tc>
                <a:tc>
                  <a:txBody>
                    <a:bodyPr/>
                    <a:lstStyle/>
                    <a:p>
                      <a:pPr algn="ctr" indent="0" marL="0">
                        <a:buNone/>
                      </a:pPr>
                      <a:r>
                        <a:rPr lang="en-US" sz="1300" dirty="0">
                          <a:solidFill>
                            <a:srgbClr val="C0392B"/>
                          </a:solidFill>
                        </a:rPr>
                        <a:t>✗</a:t>
                      </a:r>
                      <a:endParaRPr lang="en-US" sz="1300" dirty="0"/>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4F7F9"/>
                    </a:solidFill>
                  </a:tcPr>
                </a:tc>
              </a:tr>
              <a:tr h="463731">
                <a:tc>
                  <a:txBody>
                    <a:bodyPr/>
                    <a:lstStyle/>
                    <a:p>
                      <a:pPr algn="l" indent="0" marL="0">
                        <a:buNone/>
                      </a:pPr>
                      <a:r>
                        <a:rPr lang="en-US" sz="1050" dirty="0">
                          <a:solidFill>
                            <a:srgbClr val="4A5568"/>
                          </a:solidFill>
                        </a:rPr>
                        <a:t>Wang et al. (2025)</a:t>
                      </a:r>
                      <a:endParaRPr lang="en-US" sz="1050" dirty="0"/>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algn="l" indent="0" marL="0">
                        <a:buNone/>
                      </a:pPr>
                      <a:r>
                        <a:rPr lang="en-US" sz="1050" dirty="0">
                          <a:solidFill>
                            <a:srgbClr val="4A5568"/>
                          </a:solidFill>
                        </a:rPr>
                        <a:t>IoT multi-sensor</a:t>
                      </a:r>
                      <a:endParaRPr lang="en-US" sz="1050" dirty="0"/>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4A5568"/>
                          </a:solidFill>
                        </a:rPr>
                        <a:t>✗ (sensor)</a:t>
                      </a:r>
                      <a:endParaRPr lang="en-US" sz="1050" dirty="0"/>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2E7D32"/>
                          </a:solidFill>
                        </a:rPr>
                        <a:t>✓</a:t>
                      </a:r>
                      <a:endParaRPr lang="en-US" sz="1300" dirty="0"/>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C0392B"/>
                          </a:solidFill>
                        </a:rPr>
                        <a:t>✗</a:t>
                      </a:r>
                      <a:endParaRPr lang="en-US" sz="1300" dirty="0"/>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C0392B"/>
                          </a:solidFill>
                        </a:rPr>
                        <a:t>✗</a:t>
                      </a:r>
                      <a:endParaRPr lang="en-US" sz="1300" dirty="0"/>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r>
              <a:tr h="463731">
                <a:tc>
                  <a:txBody>
                    <a:bodyPr/>
                    <a:lstStyle/>
                    <a:p>
                      <a:pPr algn="l" indent="0" marL="0">
                        <a:buNone/>
                      </a:pPr>
                      <a:r>
                        <a:rPr lang="en-US" sz="1050" dirty="0">
                          <a:solidFill>
                            <a:srgbClr val="4A5568"/>
                          </a:solidFill>
                        </a:rPr>
                        <a:t>Vasquez et al. (2024)</a:t>
                      </a:r>
                      <a:endParaRPr lang="en-US" sz="1050" dirty="0"/>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4F7F9"/>
                    </a:solidFill>
                  </a:tcPr>
                </a:tc>
                <a:tc>
                  <a:txBody>
                    <a:bodyPr/>
                    <a:lstStyle/>
                    <a:p>
                      <a:pPr algn="l" indent="0" marL="0">
                        <a:buNone/>
                      </a:pPr>
                      <a:r>
                        <a:rPr lang="en-US" sz="1050" dirty="0">
                          <a:solidFill>
                            <a:srgbClr val="4A5568"/>
                          </a:solidFill>
                        </a:rPr>
                        <a:t>Fuzzy logic model</a:t>
                      </a:r>
                      <a:endParaRPr lang="en-US" sz="1050" dirty="0"/>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4F7F9"/>
                    </a:solidFill>
                  </a:tcPr>
                </a:tc>
                <a:tc>
                  <a:txBody>
                    <a:bodyPr/>
                    <a:lstStyle/>
                    <a:p>
                      <a:pPr algn="ctr" indent="0" marL="0">
                        <a:buNone/>
                      </a:pPr>
                      <a:r>
                        <a:rPr lang="en-US" sz="1300" dirty="0">
                          <a:solidFill>
                            <a:srgbClr val="C0392B"/>
                          </a:solidFill>
                        </a:rPr>
                        <a:t>✗</a:t>
                      </a:r>
                      <a:endParaRPr lang="en-US" sz="1300" dirty="0"/>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4F7F9"/>
                    </a:solidFill>
                  </a:tcPr>
                </a:tc>
                <a:tc>
                  <a:txBody>
                    <a:bodyPr/>
                    <a:lstStyle/>
                    <a:p>
                      <a:pPr algn="ctr" indent="0" marL="0">
                        <a:buNone/>
                      </a:pPr>
                      <a:r>
                        <a:rPr lang="en-US" sz="1300" dirty="0">
                          <a:solidFill>
                            <a:srgbClr val="2E7D32"/>
                          </a:solidFill>
                        </a:rPr>
                        <a:t>✓</a:t>
                      </a:r>
                      <a:endParaRPr lang="en-US" sz="1300" dirty="0"/>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4F7F9"/>
                    </a:solidFill>
                  </a:tcPr>
                </a:tc>
                <a:tc>
                  <a:txBody>
                    <a:bodyPr/>
                    <a:lstStyle/>
                    <a:p>
                      <a:pPr algn="ctr" indent="0" marL="0">
                        <a:buNone/>
                      </a:pPr>
                      <a:r>
                        <a:rPr lang="en-US" sz="1300" dirty="0">
                          <a:solidFill>
                            <a:srgbClr val="C0392B"/>
                          </a:solidFill>
                        </a:rPr>
                        <a:t>✗</a:t>
                      </a:r>
                      <a:endParaRPr lang="en-US" sz="1300" dirty="0"/>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4F7F9"/>
                    </a:solidFill>
                  </a:tcPr>
                </a:tc>
                <a:tc>
                  <a:txBody>
                    <a:bodyPr/>
                    <a:lstStyle/>
                    <a:p>
                      <a:pPr algn="ctr" indent="0" marL="0">
                        <a:buNone/>
                      </a:pPr>
                      <a:r>
                        <a:rPr lang="en-US" sz="1300" dirty="0">
                          <a:solidFill>
                            <a:srgbClr val="C0392B"/>
                          </a:solidFill>
                        </a:rPr>
                        <a:t>✗</a:t>
                      </a:r>
                      <a:endParaRPr lang="en-US" sz="1300" dirty="0"/>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4F7F9"/>
                    </a:solidFill>
                  </a:tcPr>
                </a:tc>
              </a:tr>
              <a:tr h="463731">
                <a:tc>
                  <a:txBody>
                    <a:bodyPr/>
                    <a:lstStyle/>
                    <a:p>
                      <a:pPr algn="l" indent="0" marL="0">
                        <a:buNone/>
                      </a:pPr>
                      <a:r>
                        <a:rPr lang="en-US" sz="1050" dirty="0">
                          <a:solidFill>
                            <a:srgbClr val="4A5568"/>
                          </a:solidFill>
                        </a:rPr>
                        <a:t>Patel et al. (2024)</a:t>
                      </a:r>
                      <a:endParaRPr lang="en-US" sz="1050" dirty="0"/>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algn="l" indent="0" marL="0">
                        <a:buNone/>
                      </a:pPr>
                      <a:r>
                        <a:rPr lang="en-US" sz="1050" dirty="0">
                          <a:solidFill>
                            <a:srgbClr val="4A5568"/>
                          </a:solidFill>
                        </a:rPr>
                        <a:t>Hyperspectral imaging</a:t>
                      </a:r>
                      <a:endParaRPr lang="en-US" sz="1050" dirty="0"/>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4A5568"/>
                          </a:solidFill>
                        </a:rPr>
                        <a:t>✗ (specialist)</a:t>
                      </a:r>
                      <a:endParaRPr lang="en-US" sz="1050" dirty="0"/>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2E7D32"/>
                          </a:solidFill>
                        </a:rPr>
                        <a:t>✓</a:t>
                      </a:r>
                      <a:endParaRPr lang="en-US" sz="1300" dirty="0"/>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C0392B"/>
                          </a:solidFill>
                        </a:rPr>
                        <a:t>✗</a:t>
                      </a:r>
                      <a:endParaRPr lang="en-US" sz="1300" dirty="0"/>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C0392B"/>
                          </a:solidFill>
                        </a:rPr>
                        <a:t>✗</a:t>
                      </a:r>
                      <a:endParaRPr lang="en-US" sz="1300" dirty="0"/>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r>
              <a:tr h="463731">
                <a:tc>
                  <a:txBody>
                    <a:bodyPr/>
                    <a:lstStyle/>
                    <a:p>
                      <a:pPr indent="0" marL="0">
                        <a:buNone/>
                      </a:pPr>
                      <a:r>
                        <a:rPr lang="en-US" sz="1200" b="1" dirty="0">
                          <a:solidFill>
                            <a:srgbClr val="FFFFFF"/>
                          </a:solidFill>
                        </a:rPr>
                        <a:t>FRESCO (Proposed)</a:t>
                      </a:r>
                      <a:endParaRPr lang="en-US" sz="1200" dirty="0"/>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200" b="1" dirty="0">
                          <a:solidFill>
                            <a:srgbClr val="FFFFFF"/>
                          </a:solidFill>
                        </a:rPr>
                        <a:t>MobileNetV2 + Multi-Factor Formula + Ethylene Graph + PWA</a:t>
                      </a:r>
                      <a:endParaRPr lang="en-US" sz="1200" dirty="0"/>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300" b="1" dirty="0">
                          <a:solidFill>
                            <a:srgbClr val="A8FFD8"/>
                          </a:solidFill>
                        </a:rPr>
                        <a:t>✓</a:t>
                      </a:r>
                      <a:endParaRPr lang="en-US" sz="1300" dirty="0"/>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300" b="1" dirty="0">
                          <a:solidFill>
                            <a:srgbClr val="A8FFD8"/>
                          </a:solidFill>
                        </a:rPr>
                        <a:t>✓</a:t>
                      </a:r>
                      <a:endParaRPr lang="en-US" sz="1300" dirty="0"/>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300" b="1" dirty="0">
                          <a:solidFill>
                            <a:srgbClr val="A8FFD8"/>
                          </a:solidFill>
                        </a:rPr>
                        <a:t>✓</a:t>
                      </a:r>
                      <a:endParaRPr lang="en-US" sz="1300" dirty="0"/>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300" b="1" dirty="0">
                          <a:solidFill>
                            <a:srgbClr val="A8FFD8"/>
                          </a:solidFill>
                        </a:rPr>
                        <a:t>✓</a:t>
                      </a:r>
                      <a:endParaRPr lang="en-US" sz="1300" dirty="0"/>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r>
            </a:tbl>
          </a:graphicData>
        </a:graphic>
      </p:graphicFrame>
      <p:sp>
        <p:nvSpPr>
          <p:cNvPr id="32" name="Shape 29"/>
          <p:cNvSpPr/>
          <p:nvPr/>
        </p:nvSpPr>
        <p:spPr>
          <a:xfrm>
            <a:off x="384048" y="4544568"/>
            <a:ext cx="8375904" cy="411480"/>
          </a:xfrm>
          <a:prstGeom prst="roundRect">
            <a:avLst>
              <a:gd name="adj" fmla="val 26667"/>
            </a:avLst>
          </a:prstGeom>
          <a:solidFill>
            <a:srgbClr val="E8F5F1"/>
          </a:solidFill>
          <a:ln w="6350">
            <a:solidFill>
              <a:srgbClr val="1A2B4A">
                <a:alpha val="40000"/>
              </a:srgbClr>
            </a:solidFill>
            <a:prstDash val="solid"/>
          </a:ln>
          <a:effectLst>
            <a:outerShdw sx="100000" sy="100000" kx="0" ky="0" algn="bl" rotWithShape="0" blurRad="101600" dist="38100" dir="2700000">
              <a:srgbClr val="000000">
                <a:alpha val="10000"/>
              </a:srgbClr>
            </a:outerShdw>
          </a:effectLst>
        </p:spPr>
      </p:sp>
      <p:sp>
        <p:nvSpPr>
          <p:cNvPr id="33" name="Text 30"/>
          <p:cNvSpPr/>
          <p:nvPr/>
        </p:nvSpPr>
        <p:spPr>
          <a:xfrm>
            <a:off x="548640" y="4581144"/>
            <a:ext cx="8138160" cy="347472"/>
          </a:xfrm>
          <a:prstGeom prst="rect">
            <a:avLst/>
          </a:prstGeom>
          <a:noFill/>
          <a:ln/>
        </p:spPr>
        <p:txBody>
          <a:bodyPr wrap="square" lIns="0" tIns="0" rIns="0" bIns="0" rtlCol="0" anchor="ctr"/>
          <a:lstStyle/>
          <a:p>
            <a:pPr algn="ctr" indent="0" marL="0">
              <a:buNone/>
            </a:pPr>
            <a:r>
              <a:rPr lang="en-US" sz="1150" b="1" dirty="0">
                <a:solidFill>
                  <a:srgbClr val="3A8C7E"/>
                </a:solidFill>
                <a:latin typeface="Calibri" pitchFamily="34" charset="0"/>
                <a:ea typeface="Calibri" pitchFamily="34" charset="-122"/>
                <a:cs typeface="Calibri" pitchFamily="34" charset="-120"/>
              </a:rPr>
              <a:t>Fresco is the only system in this table that addresses camera-based identification, fuzzy shelf-life estimation, ethylene-conflict detection, AND live PWA deployment simultaneously.</a:t>
            </a:r>
            <a:endParaRPr lang="en-US" sz="11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EBEBEB"/>
        </a:solidFill>
      </p:bgPr>
    </p:bg>
    <p:spTree>
      <p:nvGrpSpPr>
        <p:cNvPr id="1" name=""/>
        <p:cNvGrpSpPr/>
        <p:nvPr/>
      </p:nvGrpSpPr>
      <p:grpSpPr>
        <a:xfrm>
          <a:off x="0" y="0"/>
          <a:ext cx="0" cy="0"/>
          <a:chOff x="0" y="0"/>
          <a:chExt cx="0" cy="0"/>
        </a:xfrm>
      </p:grpSpPr>
      <p:sp>
        <p:nvSpPr>
          <p:cNvPr id="2" name="Shape 0"/>
          <p:cNvSpPr/>
          <p:nvPr/>
        </p:nvSpPr>
        <p:spPr>
          <a:xfrm rot="2700000">
            <a:off x="-137160" y="3520440"/>
            <a:ext cx="1188720" cy="1188720"/>
          </a:xfrm>
          <a:prstGeom prst="rect">
            <a:avLst/>
          </a:prstGeom>
          <a:ln w="12700">
            <a:solidFill>
              <a:srgbClr val="1A2B4A">
                <a:alpha val="76000"/>
              </a:srgbClr>
            </a:solidFill>
            <a:prstDash val="solid"/>
          </a:ln>
        </p:spPr>
      </p:sp>
      <p:sp>
        <p:nvSpPr>
          <p:cNvPr id="3" name="Shape 1"/>
          <p:cNvSpPr/>
          <p:nvPr/>
        </p:nvSpPr>
        <p:spPr>
          <a:xfrm rot="2700000">
            <a:off x="60960" y="3718560"/>
            <a:ext cx="792480" cy="792480"/>
          </a:xfrm>
          <a:prstGeom prst="rect">
            <a:avLst/>
          </a:prstGeom>
          <a:ln w="12700">
            <a:solidFill>
              <a:srgbClr val="1A2B4A">
                <a:alpha val="64000"/>
              </a:srgbClr>
            </a:solidFill>
            <a:prstDash val="solid"/>
          </a:ln>
        </p:spPr>
      </p:sp>
      <p:sp>
        <p:nvSpPr>
          <p:cNvPr id="4" name="Shape 2"/>
          <p:cNvSpPr/>
          <p:nvPr/>
        </p:nvSpPr>
        <p:spPr>
          <a:xfrm rot="2700000">
            <a:off x="259080" y="3916680"/>
            <a:ext cx="396240" cy="396240"/>
          </a:xfrm>
          <a:prstGeom prst="rect">
            <a:avLst/>
          </a:prstGeom>
          <a:ln w="12700">
            <a:solidFill>
              <a:srgbClr val="1A2B4A">
                <a:alpha val="52000"/>
              </a:srgbClr>
            </a:solidFill>
            <a:prstDash val="solid"/>
          </a:ln>
        </p:spPr>
      </p:sp>
      <p:sp>
        <p:nvSpPr>
          <p:cNvPr id="5" name="Shape 3"/>
          <p:cNvSpPr/>
          <p:nvPr/>
        </p:nvSpPr>
        <p:spPr>
          <a:xfrm>
            <a:off x="7680960" y="3291840"/>
            <a:ext cx="1828800" cy="1828800"/>
          </a:xfrm>
          <a:prstGeom prst="ellipse">
            <a:avLst/>
          </a:prstGeom>
          <a:ln w="19050">
            <a:solidFill>
              <a:srgbClr val="1A2B4A">
                <a:alpha val="18000"/>
              </a:srgbClr>
            </a:solidFill>
            <a:prstDash val="solid"/>
          </a:ln>
        </p:spPr>
      </p:sp>
      <p:sp>
        <p:nvSpPr>
          <p:cNvPr id="6" name="Shape 4"/>
          <p:cNvSpPr/>
          <p:nvPr/>
        </p:nvSpPr>
        <p:spPr>
          <a:xfrm>
            <a:off x="7982712" y="3593592"/>
            <a:ext cx="1225296" cy="1225296"/>
          </a:xfrm>
          <a:prstGeom prst="ellipse">
            <a:avLst/>
          </a:prstGeom>
          <a:ln w="19050">
            <a:solidFill>
              <a:srgbClr val="3B5FA0">
                <a:alpha val="25000"/>
              </a:srgbClr>
            </a:solidFill>
            <a:prstDash val="solid"/>
          </a:ln>
        </p:spPr>
      </p:sp>
      <p:sp>
        <p:nvSpPr>
          <p:cNvPr id="7" name="Shape 5"/>
          <p:cNvSpPr/>
          <p:nvPr/>
        </p:nvSpPr>
        <p:spPr>
          <a:xfrm>
            <a:off x="8247888" y="3858768"/>
            <a:ext cx="694944" cy="694944"/>
          </a:xfrm>
          <a:prstGeom prst="ellipse">
            <a:avLst/>
          </a:prstGeom>
          <a:ln w="19050">
            <a:solidFill>
              <a:srgbClr val="3A8C7E">
                <a:alpha val="32000"/>
              </a:srgbClr>
            </a:solidFill>
            <a:prstDash val="solid"/>
          </a:ln>
        </p:spPr>
      </p:sp>
      <p:sp>
        <p:nvSpPr>
          <p:cNvPr id="8" name="Text 6"/>
          <p:cNvSpPr/>
          <p:nvPr/>
        </p:nvSpPr>
        <p:spPr>
          <a:xfrm>
            <a:off x="411480" y="292608"/>
            <a:ext cx="8321040" cy="530352"/>
          </a:xfrm>
          <a:prstGeom prst="rect">
            <a:avLst/>
          </a:prstGeom>
          <a:noFill/>
          <a:ln/>
        </p:spPr>
        <p:txBody>
          <a:bodyPr wrap="square" lIns="0" tIns="0" rIns="0" bIns="0" rtlCol="0" anchor="ctr"/>
          <a:lstStyle/>
          <a:p>
            <a:pPr algn="l" indent="0" marL="0">
              <a:buNone/>
            </a:pPr>
            <a:r>
              <a:rPr lang="en-US" sz="2800" b="1" dirty="0">
                <a:solidFill>
                  <a:srgbClr val="1A2B4A"/>
                </a:solidFill>
                <a:latin typeface="Cambria" pitchFamily="34" charset="0"/>
                <a:ea typeface="Cambria" pitchFamily="34" charset="-122"/>
                <a:cs typeface="Cambria" pitchFamily="34" charset="-120"/>
              </a:rPr>
              <a:t>Research Methodology</a:t>
            </a:r>
            <a:endParaRPr lang="en-US" sz="2800" dirty="0"/>
          </a:p>
        </p:txBody>
      </p:sp>
      <p:sp>
        <p:nvSpPr>
          <p:cNvPr id="9" name="Text 7"/>
          <p:cNvSpPr/>
          <p:nvPr/>
        </p:nvSpPr>
        <p:spPr>
          <a:xfrm>
            <a:off x="411480" y="841248"/>
            <a:ext cx="8321040" cy="329184"/>
          </a:xfrm>
          <a:prstGeom prst="rect">
            <a:avLst/>
          </a:prstGeom>
          <a:noFill/>
          <a:ln/>
        </p:spPr>
        <p:txBody>
          <a:bodyPr wrap="square" lIns="0" tIns="0" rIns="0" bIns="0" rtlCol="0" anchor="ctr"/>
          <a:lstStyle/>
          <a:p>
            <a:pPr algn="l" indent="0" marL="0">
              <a:buNone/>
            </a:pPr>
            <a:r>
              <a:rPr lang="en-US" sz="1400" b="1" dirty="0">
                <a:solidFill>
                  <a:srgbClr val="3A8C7E"/>
                </a:solidFill>
                <a:latin typeface="Calibri" pitchFamily="34" charset="0"/>
                <a:ea typeface="Calibri" pitchFamily="34" charset="-122"/>
                <a:cs typeface="Calibri" pitchFamily="34" charset="-120"/>
              </a:rPr>
              <a:t>Quantitative Experimental Design</a:t>
            </a:r>
            <a:endParaRPr lang="en-US" sz="1400" dirty="0"/>
          </a:p>
        </p:txBody>
      </p:sp>
      <p:sp>
        <p:nvSpPr>
          <p:cNvPr id="10" name="Shape 8"/>
          <p:cNvSpPr/>
          <p:nvPr/>
        </p:nvSpPr>
        <p:spPr>
          <a:xfrm>
            <a:off x="411480" y="868680"/>
            <a:ext cx="8229600" cy="0"/>
          </a:xfrm>
          <a:prstGeom prst="line">
            <a:avLst/>
          </a:prstGeom>
          <a:noFill/>
          <a:ln w="19050">
            <a:solidFill>
              <a:srgbClr val="3A8C7E">
                <a:alpha val="60000"/>
              </a:srgbClr>
            </a:solidFill>
            <a:prstDash val="solid"/>
          </a:ln>
        </p:spPr>
      </p:sp>
      <p:sp>
        <p:nvSpPr>
          <p:cNvPr id="11" name="Shape 9"/>
          <p:cNvSpPr/>
          <p:nvPr/>
        </p:nvSpPr>
        <p:spPr>
          <a:xfrm>
            <a:off x="411480" y="950976"/>
            <a:ext cx="8229600" cy="0"/>
          </a:xfrm>
          <a:prstGeom prst="line">
            <a:avLst/>
          </a:prstGeom>
          <a:noFill/>
          <a:ln w="10160">
            <a:solidFill>
              <a:srgbClr val="1A2B4A">
                <a:alpha val="45000"/>
              </a:srgbClr>
            </a:solidFill>
            <a:prstDash val="solid"/>
          </a:ln>
        </p:spPr>
      </p:sp>
      <p:sp>
        <p:nvSpPr>
          <p:cNvPr id="12" name="Shape 10"/>
          <p:cNvSpPr/>
          <p:nvPr/>
        </p:nvSpPr>
        <p:spPr>
          <a:xfrm>
            <a:off x="384048" y="1207008"/>
            <a:ext cx="4005072" cy="2286000"/>
          </a:xfrm>
          <a:prstGeom prst="roundRect">
            <a:avLst>
              <a:gd name="adj" fmla="val 4800"/>
            </a:avLst>
          </a:prstGeom>
          <a:solidFill>
            <a:srgbClr val="F0F4F8"/>
          </a:solidFill>
          <a:ln w="6350">
            <a:solidFill>
              <a:srgbClr val="1A2B4A">
                <a:alpha val="40000"/>
              </a:srgbClr>
            </a:solidFill>
            <a:prstDash val="solid"/>
          </a:ln>
          <a:effectLst>
            <a:outerShdw sx="100000" sy="100000" kx="0" ky="0" algn="bl" rotWithShape="0" blurRad="101600" dist="38100" dir="2700000">
              <a:srgbClr val="000000">
                <a:alpha val="10000"/>
              </a:srgbClr>
            </a:outerShdw>
          </a:effectLst>
        </p:spPr>
      </p:sp>
      <p:sp>
        <p:nvSpPr>
          <p:cNvPr id="13" name="Text 11"/>
          <p:cNvSpPr/>
          <p:nvPr/>
        </p:nvSpPr>
        <p:spPr>
          <a:xfrm>
            <a:off x="548640" y="1280160"/>
            <a:ext cx="3657600" cy="256032"/>
          </a:xfrm>
          <a:prstGeom prst="rect">
            <a:avLst/>
          </a:prstGeom>
          <a:noFill/>
          <a:ln/>
        </p:spPr>
        <p:txBody>
          <a:bodyPr wrap="square" lIns="0" tIns="0" rIns="0" bIns="0" rtlCol="0" anchor="ctr"/>
          <a:lstStyle/>
          <a:p>
            <a:pPr indent="0" marL="0">
              <a:buNone/>
            </a:pPr>
            <a:r>
              <a:rPr lang="en-US" sz="1200" b="1" dirty="0">
                <a:solidFill>
                  <a:srgbClr val="1A2B4A"/>
                </a:solidFill>
                <a:latin typeface="Calibri" pitchFamily="34" charset="0"/>
                <a:ea typeface="Calibri" pitchFamily="34" charset="-122"/>
                <a:cs typeface="Calibri" pitchFamily="34" charset="-120"/>
              </a:rPr>
              <a:t>Why Quantitative Experimental?</a:t>
            </a:r>
            <a:endParaRPr lang="en-US" sz="1200" dirty="0"/>
          </a:p>
        </p:txBody>
      </p:sp>
      <p:sp>
        <p:nvSpPr>
          <p:cNvPr id="14" name="Text 12"/>
          <p:cNvSpPr/>
          <p:nvPr/>
        </p:nvSpPr>
        <p:spPr>
          <a:xfrm>
            <a:off x="548640" y="1572768"/>
            <a:ext cx="3657600" cy="1874520"/>
          </a:xfrm>
          <a:prstGeom prst="rect">
            <a:avLst/>
          </a:prstGeom>
          <a:noFill/>
          <a:ln/>
        </p:spPr>
        <p:txBody>
          <a:bodyPr wrap="square" lIns="0" tIns="0" rIns="0" bIns="0" rtlCol="0" anchor="t"/>
          <a:lstStyle/>
          <a:p>
            <a:pPr indent="0" marL="0">
              <a:buNone/>
            </a:pPr>
            <a:r>
              <a:rPr lang="en-US" sz="1100" dirty="0">
                <a:solidFill>
                  <a:srgbClr val="4A5568"/>
                </a:solidFill>
                <a:latin typeface="Calibri" pitchFamily="34" charset="0"/>
                <a:ea typeface="Calibri" pitchFamily="34" charset="-122"/>
                <a:cs typeface="Calibri" pitchFamily="34" charset="-120"/>
              </a:rPr>
              <a:t>Fruit freshness assessment is a classification problem with measurable ground-truth labels. The central hypotheses — that transfer learning on age-labelled images produces meaningful freshness signals, and that a multi-factor formula outperforms a linear multiplier — require empirical numerical evidence under controlled, reproducible conditions.</a:t>
            </a:r>
            <a:endParaRPr lang="en-US" sz="1100" dirty="0"/>
          </a:p>
          <a:p>
            <a:pPr indent="0" marL="0">
              <a:buNone/>
            </a:pPr>
            <a:endParaRPr lang="en-US" sz="1100" dirty="0"/>
          </a:p>
          <a:p>
            <a:pPr indent="0" marL="0">
              <a:buNone/>
            </a:pPr>
            <a:r>
              <a:rPr lang="en-US" sz="1100" dirty="0">
                <a:solidFill>
                  <a:srgbClr val="4A5568"/>
                </a:solidFill>
                <a:latin typeface="Calibri" pitchFamily="34" charset="0"/>
                <a:ea typeface="Calibri" pitchFamily="34" charset="-122"/>
                <a:cs typeface="Calibri" pitchFamily="34" charset="-120"/>
              </a:rPr>
              <a:t>Fixed random seeds and pinned library versions ensure any researcher with the same dataset can reproduce identical classification results.</a:t>
            </a:r>
            <a:endParaRPr lang="en-US" sz="1100" dirty="0"/>
          </a:p>
        </p:txBody>
      </p:sp>
      <p:sp>
        <p:nvSpPr>
          <p:cNvPr id="15" name="Shape 13"/>
          <p:cNvSpPr/>
          <p:nvPr/>
        </p:nvSpPr>
        <p:spPr>
          <a:xfrm>
            <a:off x="4443984" y="1179576"/>
            <a:ext cx="365760" cy="365760"/>
          </a:xfrm>
          <a:prstGeom prst="ellipse">
            <a:avLst/>
          </a:prstGeom>
          <a:solidFill>
            <a:srgbClr val="3A8C7E"/>
          </a:solidFill>
          <a:ln/>
        </p:spPr>
      </p:sp>
      <p:sp>
        <p:nvSpPr>
          <p:cNvPr id="16" name="Text 14"/>
          <p:cNvSpPr/>
          <p:nvPr/>
        </p:nvSpPr>
        <p:spPr>
          <a:xfrm>
            <a:off x="4443984" y="1179576"/>
            <a:ext cx="365760" cy="365760"/>
          </a:xfrm>
          <a:prstGeom prst="rect">
            <a:avLst/>
          </a:prstGeom>
          <a:noFill/>
          <a:ln/>
        </p:spPr>
        <p:txBody>
          <a:bodyPr wrap="square" lIns="0" tIns="0" rIns="0" bIns="0" rtlCol="0" anchor="ctr"/>
          <a:lstStyle/>
          <a:p>
            <a:pPr algn="ctr" indent="0" marL="0">
              <a:buNone/>
            </a:pPr>
            <a:r>
              <a:rPr lang="en-US" sz="1100" b="1" dirty="0">
                <a:solidFill>
                  <a:srgbClr val="FFFFFF"/>
                </a:solidFill>
              </a:rPr>
              <a:t>1</a:t>
            </a:r>
            <a:endParaRPr lang="en-US" sz="1100" dirty="0"/>
          </a:p>
        </p:txBody>
      </p:sp>
      <p:sp>
        <p:nvSpPr>
          <p:cNvPr id="17" name="Text 15"/>
          <p:cNvSpPr/>
          <p:nvPr/>
        </p:nvSpPr>
        <p:spPr>
          <a:xfrm>
            <a:off x="4919472" y="1207008"/>
            <a:ext cx="3840480" cy="329184"/>
          </a:xfrm>
          <a:prstGeom prst="rect">
            <a:avLst/>
          </a:prstGeom>
          <a:noFill/>
          <a:ln/>
        </p:spPr>
        <p:txBody>
          <a:bodyPr wrap="square" lIns="0" tIns="0" rIns="0" bIns="0" rtlCol="0" anchor="ctr"/>
          <a:lstStyle/>
          <a:p>
            <a:pPr indent="0" marL="0">
              <a:buNone/>
            </a:pPr>
            <a:r>
              <a:rPr lang="en-US" sz="1100" dirty="0">
                <a:solidFill>
                  <a:srgbClr val="4A5568"/>
                </a:solidFill>
                <a:latin typeface="Calibri" pitchFamily="34" charset="0"/>
                <a:ea typeface="Calibri" pitchFamily="34" charset="-122"/>
                <a:cs typeface="Calibri" pitchFamily="34" charset="-120"/>
              </a:rPr>
              <a:t>Dataset Preparation (Fruits-360 + curated freshness images)</a:t>
            </a:r>
            <a:endParaRPr lang="en-US" sz="1100" dirty="0"/>
          </a:p>
        </p:txBody>
      </p:sp>
      <p:sp>
        <p:nvSpPr>
          <p:cNvPr id="18" name="Shape 16"/>
          <p:cNvSpPr/>
          <p:nvPr/>
        </p:nvSpPr>
        <p:spPr>
          <a:xfrm>
            <a:off x="4443984" y="1527048"/>
            <a:ext cx="365760" cy="365760"/>
          </a:xfrm>
          <a:prstGeom prst="ellipse">
            <a:avLst/>
          </a:prstGeom>
          <a:solidFill>
            <a:srgbClr val="3A8C7E"/>
          </a:solidFill>
          <a:ln/>
        </p:spPr>
      </p:sp>
      <p:sp>
        <p:nvSpPr>
          <p:cNvPr id="19" name="Text 17"/>
          <p:cNvSpPr/>
          <p:nvPr/>
        </p:nvSpPr>
        <p:spPr>
          <a:xfrm>
            <a:off x="4443984" y="1527048"/>
            <a:ext cx="365760" cy="365760"/>
          </a:xfrm>
          <a:prstGeom prst="rect">
            <a:avLst/>
          </a:prstGeom>
          <a:noFill/>
          <a:ln/>
        </p:spPr>
        <p:txBody>
          <a:bodyPr wrap="square" lIns="0" tIns="0" rIns="0" bIns="0" rtlCol="0" anchor="ctr"/>
          <a:lstStyle/>
          <a:p>
            <a:pPr algn="ctr" indent="0" marL="0">
              <a:buNone/>
            </a:pPr>
            <a:r>
              <a:rPr lang="en-US" sz="1100" b="1" dirty="0">
                <a:solidFill>
                  <a:srgbClr val="FFFFFF"/>
                </a:solidFill>
              </a:rPr>
              <a:t>2</a:t>
            </a:r>
            <a:endParaRPr lang="en-US" sz="1100" dirty="0"/>
          </a:p>
        </p:txBody>
      </p:sp>
      <p:sp>
        <p:nvSpPr>
          <p:cNvPr id="20" name="Text 18"/>
          <p:cNvSpPr/>
          <p:nvPr/>
        </p:nvSpPr>
        <p:spPr>
          <a:xfrm>
            <a:off x="4919472" y="1554480"/>
            <a:ext cx="3840480" cy="329184"/>
          </a:xfrm>
          <a:prstGeom prst="rect">
            <a:avLst/>
          </a:prstGeom>
          <a:noFill/>
          <a:ln/>
        </p:spPr>
        <p:txBody>
          <a:bodyPr wrap="square" lIns="0" tIns="0" rIns="0" bIns="0" rtlCol="0" anchor="ctr"/>
          <a:lstStyle/>
          <a:p>
            <a:pPr indent="0" marL="0">
              <a:buNone/>
            </a:pPr>
            <a:r>
              <a:rPr lang="en-US" sz="1100" dirty="0">
                <a:solidFill>
                  <a:srgbClr val="4A5568"/>
                </a:solidFill>
                <a:latin typeface="Calibri" pitchFamily="34" charset="0"/>
                <a:ea typeface="Calibri" pitchFamily="34" charset="-122"/>
                <a:cs typeface="Calibri" pitchFamily="34" charset="-120"/>
              </a:rPr>
              <a:t>Exploratory Data Analysis (class distribution, missing labels)</a:t>
            </a:r>
            <a:endParaRPr lang="en-US" sz="1100" dirty="0"/>
          </a:p>
        </p:txBody>
      </p:sp>
      <p:sp>
        <p:nvSpPr>
          <p:cNvPr id="21" name="Shape 19"/>
          <p:cNvSpPr/>
          <p:nvPr/>
        </p:nvSpPr>
        <p:spPr>
          <a:xfrm>
            <a:off x="4443984" y="1874520"/>
            <a:ext cx="365760" cy="365760"/>
          </a:xfrm>
          <a:prstGeom prst="ellipse">
            <a:avLst/>
          </a:prstGeom>
          <a:solidFill>
            <a:srgbClr val="3A8C7E"/>
          </a:solidFill>
          <a:ln/>
        </p:spPr>
      </p:sp>
      <p:sp>
        <p:nvSpPr>
          <p:cNvPr id="22" name="Text 20"/>
          <p:cNvSpPr/>
          <p:nvPr/>
        </p:nvSpPr>
        <p:spPr>
          <a:xfrm>
            <a:off x="4443984" y="1874520"/>
            <a:ext cx="365760" cy="365760"/>
          </a:xfrm>
          <a:prstGeom prst="rect">
            <a:avLst/>
          </a:prstGeom>
          <a:noFill/>
          <a:ln/>
        </p:spPr>
        <p:txBody>
          <a:bodyPr wrap="square" lIns="0" tIns="0" rIns="0" bIns="0" rtlCol="0" anchor="ctr"/>
          <a:lstStyle/>
          <a:p>
            <a:pPr algn="ctr" indent="0" marL="0">
              <a:buNone/>
            </a:pPr>
            <a:r>
              <a:rPr lang="en-US" sz="1100" b="1" dirty="0">
                <a:solidFill>
                  <a:srgbClr val="FFFFFF"/>
                </a:solidFill>
              </a:rPr>
              <a:t>3</a:t>
            </a:r>
            <a:endParaRPr lang="en-US" sz="1100" dirty="0"/>
          </a:p>
        </p:txBody>
      </p:sp>
      <p:sp>
        <p:nvSpPr>
          <p:cNvPr id="23" name="Text 21"/>
          <p:cNvSpPr/>
          <p:nvPr/>
        </p:nvSpPr>
        <p:spPr>
          <a:xfrm>
            <a:off x="4919472" y="1901952"/>
            <a:ext cx="3840480" cy="329184"/>
          </a:xfrm>
          <a:prstGeom prst="rect">
            <a:avLst/>
          </a:prstGeom>
          <a:noFill/>
          <a:ln/>
        </p:spPr>
        <p:txBody>
          <a:bodyPr wrap="square" lIns="0" tIns="0" rIns="0" bIns="0" rtlCol="0" anchor="ctr"/>
          <a:lstStyle/>
          <a:p>
            <a:pPr indent="0" marL="0">
              <a:buNone/>
            </a:pPr>
            <a:r>
              <a:rPr lang="en-US" sz="1100" dirty="0">
                <a:solidFill>
                  <a:srgbClr val="4A5568"/>
                </a:solidFill>
                <a:latin typeface="Calibri" pitchFamily="34" charset="0"/>
                <a:ea typeface="Calibri" pitchFamily="34" charset="-122"/>
                <a:cs typeface="Calibri" pitchFamily="34" charset="-120"/>
              </a:rPr>
              <a:t>Label Engineering (age-range → freshness score mapping)</a:t>
            </a:r>
            <a:endParaRPr lang="en-US" sz="1100" dirty="0"/>
          </a:p>
        </p:txBody>
      </p:sp>
      <p:sp>
        <p:nvSpPr>
          <p:cNvPr id="24" name="Shape 22"/>
          <p:cNvSpPr/>
          <p:nvPr/>
        </p:nvSpPr>
        <p:spPr>
          <a:xfrm>
            <a:off x="4443984" y="2221992"/>
            <a:ext cx="365760" cy="365760"/>
          </a:xfrm>
          <a:prstGeom prst="ellipse">
            <a:avLst/>
          </a:prstGeom>
          <a:solidFill>
            <a:srgbClr val="3A8C7E"/>
          </a:solidFill>
          <a:ln/>
        </p:spPr>
      </p:sp>
      <p:sp>
        <p:nvSpPr>
          <p:cNvPr id="25" name="Text 23"/>
          <p:cNvSpPr/>
          <p:nvPr/>
        </p:nvSpPr>
        <p:spPr>
          <a:xfrm>
            <a:off x="4443984" y="2221992"/>
            <a:ext cx="365760" cy="365760"/>
          </a:xfrm>
          <a:prstGeom prst="rect">
            <a:avLst/>
          </a:prstGeom>
          <a:noFill/>
          <a:ln/>
        </p:spPr>
        <p:txBody>
          <a:bodyPr wrap="square" lIns="0" tIns="0" rIns="0" bIns="0" rtlCol="0" anchor="ctr"/>
          <a:lstStyle/>
          <a:p>
            <a:pPr algn="ctr" indent="0" marL="0">
              <a:buNone/>
            </a:pPr>
            <a:r>
              <a:rPr lang="en-US" sz="1100" b="1" dirty="0">
                <a:solidFill>
                  <a:srgbClr val="FFFFFF"/>
                </a:solidFill>
              </a:rPr>
              <a:t>4</a:t>
            </a:r>
            <a:endParaRPr lang="en-US" sz="1100" dirty="0"/>
          </a:p>
        </p:txBody>
      </p:sp>
      <p:sp>
        <p:nvSpPr>
          <p:cNvPr id="26" name="Text 24"/>
          <p:cNvSpPr/>
          <p:nvPr/>
        </p:nvSpPr>
        <p:spPr>
          <a:xfrm>
            <a:off x="4919472" y="2249424"/>
            <a:ext cx="3840480" cy="329184"/>
          </a:xfrm>
          <a:prstGeom prst="rect">
            <a:avLst/>
          </a:prstGeom>
          <a:noFill/>
          <a:ln/>
        </p:spPr>
        <p:txBody>
          <a:bodyPr wrap="square" lIns="0" tIns="0" rIns="0" bIns="0" rtlCol="0" anchor="ctr"/>
          <a:lstStyle/>
          <a:p>
            <a:pPr indent="0" marL="0">
              <a:buNone/>
            </a:pPr>
            <a:r>
              <a:rPr lang="en-US" sz="1100" dirty="0">
                <a:solidFill>
                  <a:srgbClr val="4A5568"/>
                </a:solidFill>
                <a:latin typeface="Calibri" pitchFamily="34" charset="0"/>
                <a:ea typeface="Calibri" pitchFamily="34" charset="-122"/>
                <a:cs typeface="Calibri" pitchFamily="34" charset="-120"/>
              </a:rPr>
              <a:t>Train/Test Split (80/20 on image dataset, stratified by class)</a:t>
            </a:r>
            <a:endParaRPr lang="en-US" sz="1100" dirty="0"/>
          </a:p>
        </p:txBody>
      </p:sp>
      <p:sp>
        <p:nvSpPr>
          <p:cNvPr id="27" name="Shape 25"/>
          <p:cNvSpPr/>
          <p:nvPr/>
        </p:nvSpPr>
        <p:spPr>
          <a:xfrm>
            <a:off x="4443984" y="2569464"/>
            <a:ext cx="365760" cy="365760"/>
          </a:xfrm>
          <a:prstGeom prst="ellipse">
            <a:avLst/>
          </a:prstGeom>
          <a:solidFill>
            <a:srgbClr val="3A8C7E"/>
          </a:solidFill>
          <a:ln/>
        </p:spPr>
      </p:sp>
      <p:sp>
        <p:nvSpPr>
          <p:cNvPr id="28" name="Text 26"/>
          <p:cNvSpPr/>
          <p:nvPr/>
        </p:nvSpPr>
        <p:spPr>
          <a:xfrm>
            <a:off x="4443984" y="2569464"/>
            <a:ext cx="365760" cy="365760"/>
          </a:xfrm>
          <a:prstGeom prst="rect">
            <a:avLst/>
          </a:prstGeom>
          <a:noFill/>
          <a:ln/>
        </p:spPr>
        <p:txBody>
          <a:bodyPr wrap="square" lIns="0" tIns="0" rIns="0" bIns="0" rtlCol="0" anchor="ctr"/>
          <a:lstStyle/>
          <a:p>
            <a:pPr algn="ctr" indent="0" marL="0">
              <a:buNone/>
            </a:pPr>
            <a:r>
              <a:rPr lang="en-US" sz="1100" b="1" dirty="0">
                <a:solidFill>
                  <a:srgbClr val="FFFFFF"/>
                </a:solidFill>
              </a:rPr>
              <a:t>5</a:t>
            </a:r>
            <a:endParaRPr lang="en-US" sz="1100" dirty="0"/>
          </a:p>
        </p:txBody>
      </p:sp>
      <p:sp>
        <p:nvSpPr>
          <p:cNvPr id="29" name="Text 27"/>
          <p:cNvSpPr/>
          <p:nvPr/>
        </p:nvSpPr>
        <p:spPr>
          <a:xfrm>
            <a:off x="4919472" y="2596896"/>
            <a:ext cx="3840480" cy="329184"/>
          </a:xfrm>
          <a:prstGeom prst="rect">
            <a:avLst/>
          </a:prstGeom>
          <a:noFill/>
          <a:ln/>
        </p:spPr>
        <p:txBody>
          <a:bodyPr wrap="square" lIns="0" tIns="0" rIns="0" bIns="0" rtlCol="0" anchor="ctr"/>
          <a:lstStyle/>
          <a:p>
            <a:pPr indent="0" marL="0">
              <a:buNone/>
            </a:pPr>
            <a:r>
              <a:rPr lang="en-US" sz="1100" dirty="0">
                <a:solidFill>
                  <a:srgbClr val="4A5568"/>
                </a:solidFill>
                <a:latin typeface="Calibri" pitchFamily="34" charset="0"/>
                <a:ea typeface="Calibri" pitchFamily="34" charset="-122"/>
                <a:cs typeface="Calibri" pitchFamily="34" charset="-120"/>
              </a:rPr>
              <a:t>Image Augmentation (flips, rotation ±15°, brightness ±20%)</a:t>
            </a:r>
            <a:endParaRPr lang="en-US" sz="1100" dirty="0"/>
          </a:p>
        </p:txBody>
      </p:sp>
      <p:sp>
        <p:nvSpPr>
          <p:cNvPr id="30" name="Shape 28"/>
          <p:cNvSpPr/>
          <p:nvPr/>
        </p:nvSpPr>
        <p:spPr>
          <a:xfrm>
            <a:off x="4443984" y="2916936"/>
            <a:ext cx="365760" cy="365760"/>
          </a:xfrm>
          <a:prstGeom prst="ellipse">
            <a:avLst/>
          </a:prstGeom>
          <a:solidFill>
            <a:srgbClr val="3A8C7E"/>
          </a:solidFill>
          <a:ln/>
        </p:spPr>
      </p:sp>
      <p:sp>
        <p:nvSpPr>
          <p:cNvPr id="31" name="Text 29"/>
          <p:cNvSpPr/>
          <p:nvPr/>
        </p:nvSpPr>
        <p:spPr>
          <a:xfrm>
            <a:off x="4443984" y="2916936"/>
            <a:ext cx="365760" cy="365760"/>
          </a:xfrm>
          <a:prstGeom prst="rect">
            <a:avLst/>
          </a:prstGeom>
          <a:noFill/>
          <a:ln/>
        </p:spPr>
        <p:txBody>
          <a:bodyPr wrap="square" lIns="0" tIns="0" rIns="0" bIns="0" rtlCol="0" anchor="ctr"/>
          <a:lstStyle/>
          <a:p>
            <a:pPr algn="ctr" indent="0" marL="0">
              <a:buNone/>
            </a:pPr>
            <a:r>
              <a:rPr lang="en-US" sz="1100" b="1" dirty="0">
                <a:solidFill>
                  <a:srgbClr val="FFFFFF"/>
                </a:solidFill>
              </a:rPr>
              <a:t>6</a:t>
            </a:r>
            <a:endParaRPr lang="en-US" sz="1100" dirty="0"/>
          </a:p>
        </p:txBody>
      </p:sp>
      <p:sp>
        <p:nvSpPr>
          <p:cNvPr id="32" name="Text 30"/>
          <p:cNvSpPr/>
          <p:nvPr/>
        </p:nvSpPr>
        <p:spPr>
          <a:xfrm>
            <a:off x="4919472" y="2944368"/>
            <a:ext cx="3840480" cy="329184"/>
          </a:xfrm>
          <a:prstGeom prst="rect">
            <a:avLst/>
          </a:prstGeom>
          <a:noFill/>
          <a:ln/>
        </p:spPr>
        <p:txBody>
          <a:bodyPr wrap="square" lIns="0" tIns="0" rIns="0" bIns="0" rtlCol="0" anchor="ctr"/>
          <a:lstStyle/>
          <a:p>
            <a:pPr indent="0" marL="0">
              <a:buNone/>
            </a:pPr>
            <a:r>
              <a:rPr lang="en-US" sz="1100" dirty="0">
                <a:solidFill>
                  <a:srgbClr val="4A5568"/>
                </a:solidFill>
                <a:latin typeface="Calibri" pitchFamily="34" charset="0"/>
                <a:ea typeface="Calibri" pitchFamily="34" charset="-122"/>
                <a:cs typeface="Calibri" pitchFamily="34" charset="-120"/>
              </a:rPr>
              <a:t>Two-Phase Transfer Learning (frozen base → fine-tuning)</a:t>
            </a:r>
            <a:endParaRPr lang="en-US" sz="1100" dirty="0"/>
          </a:p>
        </p:txBody>
      </p:sp>
      <p:sp>
        <p:nvSpPr>
          <p:cNvPr id="33" name="Shape 31"/>
          <p:cNvSpPr/>
          <p:nvPr/>
        </p:nvSpPr>
        <p:spPr>
          <a:xfrm>
            <a:off x="4443984" y="3264408"/>
            <a:ext cx="365760" cy="365760"/>
          </a:xfrm>
          <a:prstGeom prst="ellipse">
            <a:avLst/>
          </a:prstGeom>
          <a:solidFill>
            <a:srgbClr val="3A8C7E"/>
          </a:solidFill>
          <a:ln/>
        </p:spPr>
      </p:sp>
      <p:sp>
        <p:nvSpPr>
          <p:cNvPr id="34" name="Text 32"/>
          <p:cNvSpPr/>
          <p:nvPr/>
        </p:nvSpPr>
        <p:spPr>
          <a:xfrm>
            <a:off x="4443984" y="3264408"/>
            <a:ext cx="365760" cy="365760"/>
          </a:xfrm>
          <a:prstGeom prst="rect">
            <a:avLst/>
          </a:prstGeom>
          <a:noFill/>
          <a:ln/>
        </p:spPr>
        <p:txBody>
          <a:bodyPr wrap="square" lIns="0" tIns="0" rIns="0" bIns="0" rtlCol="0" anchor="ctr"/>
          <a:lstStyle/>
          <a:p>
            <a:pPr algn="ctr" indent="0" marL="0">
              <a:buNone/>
            </a:pPr>
            <a:r>
              <a:rPr lang="en-US" sz="1100" b="1" dirty="0">
                <a:solidFill>
                  <a:srgbClr val="FFFFFF"/>
                </a:solidFill>
              </a:rPr>
              <a:t>7</a:t>
            </a:r>
            <a:endParaRPr lang="en-US" sz="1100" dirty="0"/>
          </a:p>
        </p:txBody>
      </p:sp>
      <p:sp>
        <p:nvSpPr>
          <p:cNvPr id="35" name="Text 33"/>
          <p:cNvSpPr/>
          <p:nvPr/>
        </p:nvSpPr>
        <p:spPr>
          <a:xfrm>
            <a:off x="4919472" y="3291840"/>
            <a:ext cx="3840480" cy="329184"/>
          </a:xfrm>
          <a:prstGeom prst="rect">
            <a:avLst/>
          </a:prstGeom>
          <a:noFill/>
          <a:ln/>
        </p:spPr>
        <p:txBody>
          <a:bodyPr wrap="square" lIns="0" tIns="0" rIns="0" bIns="0" rtlCol="0" anchor="ctr"/>
          <a:lstStyle/>
          <a:p>
            <a:pPr indent="0" marL="0">
              <a:buNone/>
            </a:pPr>
            <a:r>
              <a:rPr lang="en-US" sz="1100" dirty="0">
                <a:solidFill>
                  <a:srgbClr val="4A5568"/>
                </a:solidFill>
                <a:latin typeface="Calibri" pitchFamily="34" charset="0"/>
                <a:ea typeface="Calibri" pitchFamily="34" charset="-122"/>
                <a:cs typeface="Calibri" pitchFamily="34" charset="-120"/>
              </a:rPr>
              <a:t>Multi-Factor Shelf-Life Formula Implementation</a:t>
            </a:r>
            <a:endParaRPr lang="en-US" sz="1100" dirty="0"/>
          </a:p>
        </p:txBody>
      </p:sp>
      <p:sp>
        <p:nvSpPr>
          <p:cNvPr id="36" name="Shape 34"/>
          <p:cNvSpPr/>
          <p:nvPr/>
        </p:nvSpPr>
        <p:spPr>
          <a:xfrm>
            <a:off x="4443984" y="3611880"/>
            <a:ext cx="365760" cy="365760"/>
          </a:xfrm>
          <a:prstGeom prst="ellipse">
            <a:avLst/>
          </a:prstGeom>
          <a:solidFill>
            <a:srgbClr val="3A8C7E"/>
          </a:solidFill>
          <a:ln/>
        </p:spPr>
      </p:sp>
      <p:sp>
        <p:nvSpPr>
          <p:cNvPr id="37" name="Text 35"/>
          <p:cNvSpPr/>
          <p:nvPr/>
        </p:nvSpPr>
        <p:spPr>
          <a:xfrm>
            <a:off x="4443984" y="3611880"/>
            <a:ext cx="365760" cy="365760"/>
          </a:xfrm>
          <a:prstGeom prst="rect">
            <a:avLst/>
          </a:prstGeom>
          <a:noFill/>
          <a:ln/>
        </p:spPr>
        <p:txBody>
          <a:bodyPr wrap="square" lIns="0" tIns="0" rIns="0" bIns="0" rtlCol="0" anchor="ctr"/>
          <a:lstStyle/>
          <a:p>
            <a:pPr algn="ctr" indent="0" marL="0">
              <a:buNone/>
            </a:pPr>
            <a:r>
              <a:rPr lang="en-US" sz="1100" b="1" dirty="0">
                <a:solidFill>
                  <a:srgbClr val="FFFFFF"/>
                </a:solidFill>
              </a:rPr>
              <a:t>8</a:t>
            </a:r>
            <a:endParaRPr lang="en-US" sz="1100" dirty="0"/>
          </a:p>
        </p:txBody>
      </p:sp>
      <p:sp>
        <p:nvSpPr>
          <p:cNvPr id="38" name="Text 36"/>
          <p:cNvSpPr/>
          <p:nvPr/>
        </p:nvSpPr>
        <p:spPr>
          <a:xfrm>
            <a:off x="4919472" y="3639312"/>
            <a:ext cx="3840480" cy="329184"/>
          </a:xfrm>
          <a:prstGeom prst="rect">
            <a:avLst/>
          </a:prstGeom>
          <a:noFill/>
          <a:ln/>
        </p:spPr>
        <p:txBody>
          <a:bodyPr wrap="square" lIns="0" tIns="0" rIns="0" bIns="0" rtlCol="0" anchor="ctr"/>
          <a:lstStyle/>
          <a:p>
            <a:pPr indent="0" marL="0">
              <a:buNone/>
            </a:pPr>
            <a:r>
              <a:rPr lang="en-US" sz="1100" dirty="0">
                <a:solidFill>
                  <a:srgbClr val="4A5568"/>
                </a:solidFill>
                <a:latin typeface="Calibri" pitchFamily="34" charset="0"/>
                <a:ea typeface="Calibri" pitchFamily="34" charset="-122"/>
                <a:cs typeface="Calibri" pitchFamily="34" charset="-120"/>
              </a:rPr>
              <a:t>Composite Decision Engine Assembly</a:t>
            </a:r>
            <a:endParaRPr lang="en-US" sz="1100" dirty="0"/>
          </a:p>
        </p:txBody>
      </p:sp>
      <p:sp>
        <p:nvSpPr>
          <p:cNvPr id="39" name="Shape 37"/>
          <p:cNvSpPr/>
          <p:nvPr/>
        </p:nvSpPr>
        <p:spPr>
          <a:xfrm>
            <a:off x="4443984" y="3959352"/>
            <a:ext cx="365760" cy="365760"/>
          </a:xfrm>
          <a:prstGeom prst="ellipse">
            <a:avLst/>
          </a:prstGeom>
          <a:solidFill>
            <a:srgbClr val="3A8C7E"/>
          </a:solidFill>
          <a:ln/>
        </p:spPr>
      </p:sp>
      <p:sp>
        <p:nvSpPr>
          <p:cNvPr id="40" name="Text 38"/>
          <p:cNvSpPr/>
          <p:nvPr/>
        </p:nvSpPr>
        <p:spPr>
          <a:xfrm>
            <a:off x="4443984" y="3959352"/>
            <a:ext cx="365760" cy="365760"/>
          </a:xfrm>
          <a:prstGeom prst="rect">
            <a:avLst/>
          </a:prstGeom>
          <a:noFill/>
          <a:ln/>
        </p:spPr>
        <p:txBody>
          <a:bodyPr wrap="square" lIns="0" tIns="0" rIns="0" bIns="0" rtlCol="0" anchor="ctr"/>
          <a:lstStyle/>
          <a:p>
            <a:pPr algn="ctr" indent="0" marL="0">
              <a:buNone/>
            </a:pPr>
            <a:r>
              <a:rPr lang="en-US" sz="1100" b="1" dirty="0">
                <a:solidFill>
                  <a:srgbClr val="FFFFFF"/>
                </a:solidFill>
              </a:rPr>
              <a:t>9</a:t>
            </a:r>
            <a:endParaRPr lang="en-US" sz="1100" dirty="0"/>
          </a:p>
        </p:txBody>
      </p:sp>
      <p:sp>
        <p:nvSpPr>
          <p:cNvPr id="41" name="Text 39"/>
          <p:cNvSpPr/>
          <p:nvPr/>
        </p:nvSpPr>
        <p:spPr>
          <a:xfrm>
            <a:off x="4919472" y="3986784"/>
            <a:ext cx="3840480" cy="329184"/>
          </a:xfrm>
          <a:prstGeom prst="rect">
            <a:avLst/>
          </a:prstGeom>
          <a:noFill/>
          <a:ln/>
        </p:spPr>
        <p:txBody>
          <a:bodyPr wrap="square" lIns="0" tIns="0" rIns="0" bIns="0" rtlCol="0" anchor="ctr"/>
          <a:lstStyle/>
          <a:p>
            <a:pPr indent="0" marL="0">
              <a:buNone/>
            </a:pPr>
            <a:r>
              <a:rPr lang="en-US" sz="1100" dirty="0">
                <a:solidFill>
                  <a:srgbClr val="4A5568"/>
                </a:solidFill>
                <a:latin typeface="Calibri" pitchFamily="34" charset="0"/>
                <a:ea typeface="Calibri" pitchFamily="34" charset="-122"/>
                <a:cs typeface="Calibri" pitchFamily="34" charset="-120"/>
              </a:rPr>
              <a:t>Ethylene Conflict Graph Construction</a:t>
            </a:r>
            <a:endParaRPr lang="en-US" sz="1100" dirty="0"/>
          </a:p>
        </p:txBody>
      </p:sp>
      <p:sp>
        <p:nvSpPr>
          <p:cNvPr id="42" name="Shape 40"/>
          <p:cNvSpPr/>
          <p:nvPr/>
        </p:nvSpPr>
        <p:spPr>
          <a:xfrm>
            <a:off x="4443984" y="4306824"/>
            <a:ext cx="365760" cy="365760"/>
          </a:xfrm>
          <a:prstGeom prst="ellipse">
            <a:avLst/>
          </a:prstGeom>
          <a:solidFill>
            <a:srgbClr val="3A8C7E"/>
          </a:solidFill>
          <a:ln/>
        </p:spPr>
      </p:sp>
      <p:sp>
        <p:nvSpPr>
          <p:cNvPr id="43" name="Text 41"/>
          <p:cNvSpPr/>
          <p:nvPr/>
        </p:nvSpPr>
        <p:spPr>
          <a:xfrm>
            <a:off x="4443984" y="4306824"/>
            <a:ext cx="365760" cy="365760"/>
          </a:xfrm>
          <a:prstGeom prst="rect">
            <a:avLst/>
          </a:prstGeom>
          <a:noFill/>
          <a:ln/>
        </p:spPr>
        <p:txBody>
          <a:bodyPr wrap="square" lIns="0" tIns="0" rIns="0" bIns="0" rtlCol="0" anchor="ctr"/>
          <a:lstStyle/>
          <a:p>
            <a:pPr algn="ctr" indent="0" marL="0">
              <a:buNone/>
            </a:pPr>
            <a:r>
              <a:rPr lang="en-US" sz="1100" b="1" dirty="0">
                <a:solidFill>
                  <a:srgbClr val="FFFFFF"/>
                </a:solidFill>
              </a:rPr>
              <a:t>10</a:t>
            </a:r>
            <a:endParaRPr lang="en-US" sz="1100" dirty="0"/>
          </a:p>
        </p:txBody>
      </p:sp>
      <p:sp>
        <p:nvSpPr>
          <p:cNvPr id="44" name="Text 42"/>
          <p:cNvSpPr/>
          <p:nvPr/>
        </p:nvSpPr>
        <p:spPr>
          <a:xfrm>
            <a:off x="4919472" y="4334256"/>
            <a:ext cx="3840480" cy="329184"/>
          </a:xfrm>
          <a:prstGeom prst="rect">
            <a:avLst/>
          </a:prstGeom>
          <a:noFill/>
          <a:ln/>
        </p:spPr>
        <p:txBody>
          <a:bodyPr wrap="square" lIns="0" tIns="0" rIns="0" bIns="0" rtlCol="0" anchor="ctr"/>
          <a:lstStyle/>
          <a:p>
            <a:pPr indent="0" marL="0">
              <a:buNone/>
            </a:pPr>
            <a:r>
              <a:rPr lang="en-US" sz="1100" dirty="0">
                <a:solidFill>
                  <a:srgbClr val="4A5568"/>
                </a:solidFill>
                <a:latin typeface="Calibri" pitchFamily="34" charset="0"/>
                <a:ea typeface="Calibri" pitchFamily="34" charset="-122"/>
                <a:cs typeface="Calibri" pitchFamily="34" charset="-120"/>
              </a:rPr>
              <a:t>Web Deployment (FastAPI backend + Next.js React PWA)</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EBEBEB"/>
        </a:solidFill>
      </p:bgPr>
    </p:bg>
    <p:spTree>
      <p:nvGrpSpPr>
        <p:cNvPr id="1" name=""/>
        <p:cNvGrpSpPr/>
        <p:nvPr/>
      </p:nvGrpSpPr>
      <p:grpSpPr>
        <a:xfrm>
          <a:off x="0" y="0"/>
          <a:ext cx="0" cy="0"/>
          <a:chOff x="0" y="0"/>
          <a:chExt cx="0" cy="0"/>
        </a:xfrm>
      </p:grpSpPr>
      <p:sp>
        <p:nvSpPr>
          <p:cNvPr id="2" name="Shape 0"/>
          <p:cNvSpPr/>
          <p:nvPr/>
        </p:nvSpPr>
        <p:spPr>
          <a:xfrm>
            <a:off x="8092440" y="274320"/>
            <a:ext cx="64008" cy="64008"/>
          </a:xfrm>
          <a:prstGeom prst="ellipse">
            <a:avLst/>
          </a:prstGeom>
          <a:solidFill>
            <a:srgbClr val="1A2B4A">
              <a:alpha val="25000"/>
            </a:srgbClr>
          </a:solidFill>
          <a:ln/>
        </p:spPr>
      </p:sp>
      <p:sp>
        <p:nvSpPr>
          <p:cNvPr id="3" name="Shape 1"/>
          <p:cNvSpPr/>
          <p:nvPr/>
        </p:nvSpPr>
        <p:spPr>
          <a:xfrm>
            <a:off x="8293608" y="274320"/>
            <a:ext cx="64008" cy="64008"/>
          </a:xfrm>
          <a:prstGeom prst="ellipse">
            <a:avLst/>
          </a:prstGeom>
          <a:solidFill>
            <a:srgbClr val="1A2B4A">
              <a:alpha val="25000"/>
            </a:srgbClr>
          </a:solidFill>
          <a:ln/>
        </p:spPr>
      </p:sp>
      <p:sp>
        <p:nvSpPr>
          <p:cNvPr id="4" name="Shape 2"/>
          <p:cNvSpPr/>
          <p:nvPr/>
        </p:nvSpPr>
        <p:spPr>
          <a:xfrm>
            <a:off x="8494776" y="274320"/>
            <a:ext cx="64008" cy="64008"/>
          </a:xfrm>
          <a:prstGeom prst="ellipse">
            <a:avLst/>
          </a:prstGeom>
          <a:solidFill>
            <a:srgbClr val="1A2B4A">
              <a:alpha val="25000"/>
            </a:srgbClr>
          </a:solidFill>
          <a:ln/>
        </p:spPr>
      </p:sp>
      <p:sp>
        <p:nvSpPr>
          <p:cNvPr id="5" name="Shape 3"/>
          <p:cNvSpPr/>
          <p:nvPr/>
        </p:nvSpPr>
        <p:spPr>
          <a:xfrm>
            <a:off x="8695944" y="274320"/>
            <a:ext cx="64008" cy="64008"/>
          </a:xfrm>
          <a:prstGeom prst="ellipse">
            <a:avLst/>
          </a:prstGeom>
          <a:solidFill>
            <a:srgbClr val="1A2B4A">
              <a:alpha val="25000"/>
            </a:srgbClr>
          </a:solidFill>
          <a:ln/>
        </p:spPr>
      </p:sp>
      <p:sp>
        <p:nvSpPr>
          <p:cNvPr id="6" name="Shape 4"/>
          <p:cNvSpPr/>
          <p:nvPr/>
        </p:nvSpPr>
        <p:spPr>
          <a:xfrm>
            <a:off x="8897112" y="274320"/>
            <a:ext cx="64008" cy="64008"/>
          </a:xfrm>
          <a:prstGeom prst="ellipse">
            <a:avLst/>
          </a:prstGeom>
          <a:solidFill>
            <a:srgbClr val="1A2B4A">
              <a:alpha val="25000"/>
            </a:srgbClr>
          </a:solidFill>
          <a:ln/>
        </p:spPr>
      </p:sp>
      <p:sp>
        <p:nvSpPr>
          <p:cNvPr id="7" name="Shape 5"/>
          <p:cNvSpPr/>
          <p:nvPr/>
        </p:nvSpPr>
        <p:spPr>
          <a:xfrm>
            <a:off x="8092440" y="475488"/>
            <a:ext cx="64008" cy="64008"/>
          </a:xfrm>
          <a:prstGeom prst="ellipse">
            <a:avLst/>
          </a:prstGeom>
          <a:solidFill>
            <a:srgbClr val="1A2B4A">
              <a:alpha val="25000"/>
            </a:srgbClr>
          </a:solidFill>
          <a:ln/>
        </p:spPr>
      </p:sp>
      <p:sp>
        <p:nvSpPr>
          <p:cNvPr id="8" name="Shape 6"/>
          <p:cNvSpPr/>
          <p:nvPr/>
        </p:nvSpPr>
        <p:spPr>
          <a:xfrm>
            <a:off x="8293608" y="475488"/>
            <a:ext cx="64008" cy="64008"/>
          </a:xfrm>
          <a:prstGeom prst="ellipse">
            <a:avLst/>
          </a:prstGeom>
          <a:solidFill>
            <a:srgbClr val="1A2B4A">
              <a:alpha val="25000"/>
            </a:srgbClr>
          </a:solidFill>
          <a:ln/>
        </p:spPr>
      </p:sp>
      <p:sp>
        <p:nvSpPr>
          <p:cNvPr id="9" name="Shape 7"/>
          <p:cNvSpPr/>
          <p:nvPr/>
        </p:nvSpPr>
        <p:spPr>
          <a:xfrm>
            <a:off x="8494776" y="475488"/>
            <a:ext cx="64008" cy="64008"/>
          </a:xfrm>
          <a:prstGeom prst="ellipse">
            <a:avLst/>
          </a:prstGeom>
          <a:solidFill>
            <a:srgbClr val="1A2B4A">
              <a:alpha val="25000"/>
            </a:srgbClr>
          </a:solidFill>
          <a:ln/>
        </p:spPr>
      </p:sp>
      <p:sp>
        <p:nvSpPr>
          <p:cNvPr id="10" name="Shape 8"/>
          <p:cNvSpPr/>
          <p:nvPr/>
        </p:nvSpPr>
        <p:spPr>
          <a:xfrm>
            <a:off x="8695944" y="475488"/>
            <a:ext cx="64008" cy="64008"/>
          </a:xfrm>
          <a:prstGeom prst="ellipse">
            <a:avLst/>
          </a:prstGeom>
          <a:solidFill>
            <a:srgbClr val="1A2B4A">
              <a:alpha val="25000"/>
            </a:srgbClr>
          </a:solidFill>
          <a:ln/>
        </p:spPr>
      </p:sp>
      <p:sp>
        <p:nvSpPr>
          <p:cNvPr id="11" name="Shape 9"/>
          <p:cNvSpPr/>
          <p:nvPr/>
        </p:nvSpPr>
        <p:spPr>
          <a:xfrm>
            <a:off x="8897112" y="475488"/>
            <a:ext cx="64008" cy="64008"/>
          </a:xfrm>
          <a:prstGeom prst="ellipse">
            <a:avLst/>
          </a:prstGeom>
          <a:solidFill>
            <a:srgbClr val="1A2B4A">
              <a:alpha val="25000"/>
            </a:srgbClr>
          </a:solidFill>
          <a:ln/>
        </p:spPr>
      </p:sp>
      <p:sp>
        <p:nvSpPr>
          <p:cNvPr id="12" name="Shape 10"/>
          <p:cNvSpPr/>
          <p:nvPr/>
        </p:nvSpPr>
        <p:spPr>
          <a:xfrm>
            <a:off x="8092440" y="676656"/>
            <a:ext cx="64008" cy="64008"/>
          </a:xfrm>
          <a:prstGeom prst="ellipse">
            <a:avLst/>
          </a:prstGeom>
          <a:solidFill>
            <a:srgbClr val="1A2B4A">
              <a:alpha val="25000"/>
            </a:srgbClr>
          </a:solidFill>
          <a:ln/>
        </p:spPr>
      </p:sp>
      <p:sp>
        <p:nvSpPr>
          <p:cNvPr id="13" name="Shape 11"/>
          <p:cNvSpPr/>
          <p:nvPr/>
        </p:nvSpPr>
        <p:spPr>
          <a:xfrm>
            <a:off x="8293608" y="676656"/>
            <a:ext cx="64008" cy="64008"/>
          </a:xfrm>
          <a:prstGeom prst="ellipse">
            <a:avLst/>
          </a:prstGeom>
          <a:solidFill>
            <a:srgbClr val="1A2B4A">
              <a:alpha val="25000"/>
            </a:srgbClr>
          </a:solidFill>
          <a:ln/>
        </p:spPr>
      </p:sp>
      <p:sp>
        <p:nvSpPr>
          <p:cNvPr id="14" name="Shape 12"/>
          <p:cNvSpPr/>
          <p:nvPr/>
        </p:nvSpPr>
        <p:spPr>
          <a:xfrm>
            <a:off x="8494776" y="676656"/>
            <a:ext cx="64008" cy="64008"/>
          </a:xfrm>
          <a:prstGeom prst="ellipse">
            <a:avLst/>
          </a:prstGeom>
          <a:solidFill>
            <a:srgbClr val="1A2B4A">
              <a:alpha val="25000"/>
            </a:srgbClr>
          </a:solidFill>
          <a:ln/>
        </p:spPr>
      </p:sp>
      <p:sp>
        <p:nvSpPr>
          <p:cNvPr id="15" name="Shape 13"/>
          <p:cNvSpPr/>
          <p:nvPr/>
        </p:nvSpPr>
        <p:spPr>
          <a:xfrm>
            <a:off x="8695944" y="676656"/>
            <a:ext cx="64008" cy="64008"/>
          </a:xfrm>
          <a:prstGeom prst="ellipse">
            <a:avLst/>
          </a:prstGeom>
          <a:solidFill>
            <a:srgbClr val="1A2B4A">
              <a:alpha val="25000"/>
            </a:srgbClr>
          </a:solidFill>
          <a:ln/>
        </p:spPr>
      </p:sp>
      <p:sp>
        <p:nvSpPr>
          <p:cNvPr id="16" name="Shape 14"/>
          <p:cNvSpPr/>
          <p:nvPr/>
        </p:nvSpPr>
        <p:spPr>
          <a:xfrm>
            <a:off x="8897112" y="676656"/>
            <a:ext cx="64008" cy="64008"/>
          </a:xfrm>
          <a:prstGeom prst="ellipse">
            <a:avLst/>
          </a:prstGeom>
          <a:solidFill>
            <a:srgbClr val="1A2B4A">
              <a:alpha val="25000"/>
            </a:srgbClr>
          </a:solidFill>
          <a:ln/>
        </p:spPr>
      </p:sp>
      <p:sp>
        <p:nvSpPr>
          <p:cNvPr id="17" name="Shape 15"/>
          <p:cNvSpPr/>
          <p:nvPr/>
        </p:nvSpPr>
        <p:spPr>
          <a:xfrm>
            <a:off x="8092440" y="877824"/>
            <a:ext cx="64008" cy="64008"/>
          </a:xfrm>
          <a:prstGeom prst="ellipse">
            <a:avLst/>
          </a:prstGeom>
          <a:solidFill>
            <a:srgbClr val="1A2B4A">
              <a:alpha val="25000"/>
            </a:srgbClr>
          </a:solidFill>
          <a:ln/>
        </p:spPr>
      </p:sp>
      <p:sp>
        <p:nvSpPr>
          <p:cNvPr id="18" name="Shape 16"/>
          <p:cNvSpPr/>
          <p:nvPr/>
        </p:nvSpPr>
        <p:spPr>
          <a:xfrm>
            <a:off x="8293608" y="877824"/>
            <a:ext cx="64008" cy="64008"/>
          </a:xfrm>
          <a:prstGeom prst="ellipse">
            <a:avLst/>
          </a:prstGeom>
          <a:solidFill>
            <a:srgbClr val="1A2B4A">
              <a:alpha val="25000"/>
            </a:srgbClr>
          </a:solidFill>
          <a:ln/>
        </p:spPr>
      </p:sp>
      <p:sp>
        <p:nvSpPr>
          <p:cNvPr id="19" name="Shape 17"/>
          <p:cNvSpPr/>
          <p:nvPr/>
        </p:nvSpPr>
        <p:spPr>
          <a:xfrm>
            <a:off x="8494776" y="877824"/>
            <a:ext cx="64008" cy="64008"/>
          </a:xfrm>
          <a:prstGeom prst="ellipse">
            <a:avLst/>
          </a:prstGeom>
          <a:solidFill>
            <a:srgbClr val="1A2B4A">
              <a:alpha val="25000"/>
            </a:srgbClr>
          </a:solidFill>
          <a:ln/>
        </p:spPr>
      </p:sp>
      <p:sp>
        <p:nvSpPr>
          <p:cNvPr id="20" name="Shape 18"/>
          <p:cNvSpPr/>
          <p:nvPr/>
        </p:nvSpPr>
        <p:spPr>
          <a:xfrm>
            <a:off x="8695944" y="877824"/>
            <a:ext cx="64008" cy="64008"/>
          </a:xfrm>
          <a:prstGeom prst="ellipse">
            <a:avLst/>
          </a:prstGeom>
          <a:solidFill>
            <a:srgbClr val="1A2B4A">
              <a:alpha val="25000"/>
            </a:srgbClr>
          </a:solidFill>
          <a:ln/>
        </p:spPr>
      </p:sp>
      <p:sp>
        <p:nvSpPr>
          <p:cNvPr id="21" name="Shape 19"/>
          <p:cNvSpPr/>
          <p:nvPr/>
        </p:nvSpPr>
        <p:spPr>
          <a:xfrm>
            <a:off x="8897112" y="877824"/>
            <a:ext cx="64008" cy="64008"/>
          </a:xfrm>
          <a:prstGeom prst="ellipse">
            <a:avLst/>
          </a:prstGeom>
          <a:solidFill>
            <a:srgbClr val="1A2B4A">
              <a:alpha val="25000"/>
            </a:srgbClr>
          </a:solidFill>
          <a:ln/>
        </p:spPr>
      </p:sp>
      <p:sp>
        <p:nvSpPr>
          <p:cNvPr id="22" name="Shape 20"/>
          <p:cNvSpPr/>
          <p:nvPr/>
        </p:nvSpPr>
        <p:spPr>
          <a:xfrm>
            <a:off x="8092440" y="1078992"/>
            <a:ext cx="64008" cy="64008"/>
          </a:xfrm>
          <a:prstGeom prst="ellipse">
            <a:avLst/>
          </a:prstGeom>
          <a:solidFill>
            <a:srgbClr val="1A2B4A">
              <a:alpha val="25000"/>
            </a:srgbClr>
          </a:solidFill>
          <a:ln/>
        </p:spPr>
      </p:sp>
      <p:sp>
        <p:nvSpPr>
          <p:cNvPr id="23" name="Shape 21"/>
          <p:cNvSpPr/>
          <p:nvPr/>
        </p:nvSpPr>
        <p:spPr>
          <a:xfrm>
            <a:off x="8293608" y="1078992"/>
            <a:ext cx="64008" cy="64008"/>
          </a:xfrm>
          <a:prstGeom prst="ellipse">
            <a:avLst/>
          </a:prstGeom>
          <a:solidFill>
            <a:srgbClr val="1A2B4A">
              <a:alpha val="25000"/>
            </a:srgbClr>
          </a:solidFill>
          <a:ln/>
        </p:spPr>
      </p:sp>
      <p:sp>
        <p:nvSpPr>
          <p:cNvPr id="24" name="Shape 22"/>
          <p:cNvSpPr/>
          <p:nvPr/>
        </p:nvSpPr>
        <p:spPr>
          <a:xfrm>
            <a:off x="8494776" y="1078992"/>
            <a:ext cx="64008" cy="64008"/>
          </a:xfrm>
          <a:prstGeom prst="ellipse">
            <a:avLst/>
          </a:prstGeom>
          <a:solidFill>
            <a:srgbClr val="1A2B4A">
              <a:alpha val="25000"/>
            </a:srgbClr>
          </a:solidFill>
          <a:ln/>
        </p:spPr>
      </p:sp>
      <p:sp>
        <p:nvSpPr>
          <p:cNvPr id="25" name="Shape 23"/>
          <p:cNvSpPr/>
          <p:nvPr/>
        </p:nvSpPr>
        <p:spPr>
          <a:xfrm>
            <a:off x="8695944" y="1078992"/>
            <a:ext cx="64008" cy="64008"/>
          </a:xfrm>
          <a:prstGeom prst="ellipse">
            <a:avLst/>
          </a:prstGeom>
          <a:solidFill>
            <a:srgbClr val="1A2B4A">
              <a:alpha val="25000"/>
            </a:srgbClr>
          </a:solidFill>
          <a:ln/>
        </p:spPr>
      </p:sp>
      <p:sp>
        <p:nvSpPr>
          <p:cNvPr id="26" name="Shape 24"/>
          <p:cNvSpPr/>
          <p:nvPr/>
        </p:nvSpPr>
        <p:spPr>
          <a:xfrm>
            <a:off x="8897112" y="1078992"/>
            <a:ext cx="64008" cy="64008"/>
          </a:xfrm>
          <a:prstGeom prst="ellipse">
            <a:avLst/>
          </a:prstGeom>
          <a:solidFill>
            <a:srgbClr val="1A2B4A">
              <a:alpha val="25000"/>
            </a:srgbClr>
          </a:solidFill>
          <a:ln/>
        </p:spPr>
      </p:sp>
      <p:sp>
        <p:nvSpPr>
          <p:cNvPr id="27" name="Shape 25"/>
          <p:cNvSpPr/>
          <p:nvPr/>
        </p:nvSpPr>
        <p:spPr>
          <a:xfrm>
            <a:off x="411480" y="4773168"/>
            <a:ext cx="1280160" cy="109728"/>
          </a:xfrm>
          <a:prstGeom prst="roundRect">
            <a:avLst>
              <a:gd name="adj" fmla="val 50000"/>
            </a:avLst>
          </a:prstGeom>
          <a:solidFill>
            <a:srgbClr val="1A2B4A">
              <a:alpha val="40000"/>
            </a:srgbClr>
          </a:solidFill>
          <a:ln/>
        </p:spPr>
      </p:sp>
      <p:sp>
        <p:nvSpPr>
          <p:cNvPr id="28" name="Text 26"/>
          <p:cNvSpPr/>
          <p:nvPr/>
        </p:nvSpPr>
        <p:spPr>
          <a:xfrm>
            <a:off x="411480" y="292608"/>
            <a:ext cx="8321040" cy="530352"/>
          </a:xfrm>
          <a:prstGeom prst="rect">
            <a:avLst/>
          </a:prstGeom>
          <a:noFill/>
          <a:ln/>
        </p:spPr>
        <p:txBody>
          <a:bodyPr wrap="square" lIns="0" tIns="0" rIns="0" bIns="0" rtlCol="0" anchor="ctr"/>
          <a:lstStyle/>
          <a:p>
            <a:pPr algn="l" indent="0" marL="0">
              <a:buNone/>
            </a:pPr>
            <a:r>
              <a:rPr lang="en-US" sz="2800" b="1" dirty="0">
                <a:solidFill>
                  <a:srgbClr val="1A2B4A"/>
                </a:solidFill>
                <a:latin typeface="Cambria" pitchFamily="34" charset="0"/>
                <a:ea typeface="Cambria" pitchFamily="34" charset="-122"/>
                <a:cs typeface="Cambria" pitchFamily="34" charset="-120"/>
              </a:rPr>
              <a:t>Why This Methodology?</a:t>
            </a:r>
            <a:endParaRPr lang="en-US" sz="2800" dirty="0"/>
          </a:p>
        </p:txBody>
      </p:sp>
      <p:sp>
        <p:nvSpPr>
          <p:cNvPr id="29" name="Text 27"/>
          <p:cNvSpPr/>
          <p:nvPr/>
        </p:nvSpPr>
        <p:spPr>
          <a:xfrm>
            <a:off x="411480" y="841248"/>
            <a:ext cx="8321040" cy="329184"/>
          </a:xfrm>
          <a:prstGeom prst="rect">
            <a:avLst/>
          </a:prstGeom>
          <a:noFill/>
          <a:ln/>
        </p:spPr>
        <p:txBody>
          <a:bodyPr wrap="square" lIns="0" tIns="0" rIns="0" bIns="0" rtlCol="0" anchor="ctr"/>
          <a:lstStyle/>
          <a:p>
            <a:pPr algn="l" indent="0" marL="0">
              <a:buNone/>
            </a:pPr>
            <a:r>
              <a:rPr lang="en-US" sz="1400" b="1" dirty="0">
                <a:solidFill>
                  <a:srgbClr val="3A8C7E"/>
                </a:solidFill>
                <a:latin typeface="Calibri" pitchFamily="34" charset="0"/>
                <a:ea typeface="Calibri" pitchFamily="34" charset="-122"/>
                <a:cs typeface="Calibri" pitchFamily="34" charset="-120"/>
              </a:rPr>
              <a:t>Alternatives considered and rejected</a:t>
            </a:r>
            <a:endParaRPr lang="en-US" sz="1400" dirty="0"/>
          </a:p>
        </p:txBody>
      </p:sp>
      <p:sp>
        <p:nvSpPr>
          <p:cNvPr id="30" name="Shape 28"/>
          <p:cNvSpPr/>
          <p:nvPr/>
        </p:nvSpPr>
        <p:spPr>
          <a:xfrm>
            <a:off x="411480" y="868680"/>
            <a:ext cx="8229600" cy="0"/>
          </a:xfrm>
          <a:prstGeom prst="line">
            <a:avLst/>
          </a:prstGeom>
          <a:noFill/>
          <a:ln w="19050">
            <a:solidFill>
              <a:srgbClr val="3A8C7E">
                <a:alpha val="60000"/>
              </a:srgbClr>
            </a:solidFill>
            <a:prstDash val="solid"/>
          </a:ln>
        </p:spPr>
      </p:sp>
      <p:sp>
        <p:nvSpPr>
          <p:cNvPr id="31" name="Shape 29"/>
          <p:cNvSpPr/>
          <p:nvPr/>
        </p:nvSpPr>
        <p:spPr>
          <a:xfrm>
            <a:off x="411480" y="950976"/>
            <a:ext cx="8229600" cy="0"/>
          </a:xfrm>
          <a:prstGeom prst="line">
            <a:avLst/>
          </a:prstGeom>
          <a:noFill/>
          <a:ln w="10160">
            <a:solidFill>
              <a:srgbClr val="1A2B4A">
                <a:alpha val="45000"/>
              </a:srgbClr>
            </a:solidFill>
            <a:prstDash val="solid"/>
          </a:ln>
        </p:spPr>
      </p:sp>
      <p:sp>
        <p:nvSpPr>
          <p:cNvPr id="32" name="Shape 30"/>
          <p:cNvSpPr/>
          <p:nvPr/>
        </p:nvSpPr>
        <p:spPr>
          <a:xfrm>
            <a:off x="384048" y="1207008"/>
            <a:ext cx="4114800" cy="1444752"/>
          </a:xfrm>
          <a:prstGeom prst="roundRect">
            <a:avLst>
              <a:gd name="adj" fmla="val 7595"/>
            </a:avLst>
          </a:prstGeom>
          <a:solidFill>
            <a:srgbClr val="FEF2F2"/>
          </a:solidFill>
          <a:ln w="6350">
            <a:solidFill>
              <a:srgbClr val="1A2B4A">
                <a:alpha val="40000"/>
              </a:srgbClr>
            </a:solidFill>
            <a:prstDash val="solid"/>
          </a:ln>
          <a:effectLst>
            <a:outerShdw sx="100000" sy="100000" kx="0" ky="0" algn="bl" rotWithShape="0" blurRad="101600" dist="38100" dir="2700000">
              <a:srgbClr val="000000">
                <a:alpha val="10000"/>
              </a:srgbClr>
            </a:outerShdw>
          </a:effectLst>
        </p:spPr>
      </p:sp>
      <p:sp>
        <p:nvSpPr>
          <p:cNvPr id="33" name="Shape 31"/>
          <p:cNvSpPr/>
          <p:nvPr/>
        </p:nvSpPr>
        <p:spPr>
          <a:xfrm>
            <a:off x="521208" y="1344168"/>
            <a:ext cx="329184" cy="329184"/>
          </a:xfrm>
          <a:prstGeom prst="ellipse">
            <a:avLst/>
          </a:prstGeom>
          <a:solidFill>
            <a:srgbClr val="C0392B">
              <a:alpha val="75000"/>
            </a:srgbClr>
          </a:solidFill>
          <a:ln/>
        </p:spPr>
      </p:sp>
      <p:sp>
        <p:nvSpPr>
          <p:cNvPr id="34" name="Text 32"/>
          <p:cNvSpPr/>
          <p:nvPr/>
        </p:nvSpPr>
        <p:spPr>
          <a:xfrm>
            <a:off x="521208" y="1344168"/>
            <a:ext cx="329184" cy="329184"/>
          </a:xfrm>
          <a:prstGeom prst="rect">
            <a:avLst/>
          </a:prstGeom>
          <a:noFill/>
          <a:ln/>
        </p:spPr>
        <p:txBody>
          <a:bodyPr wrap="square" lIns="0" tIns="0" rIns="0" bIns="0" rtlCol="0" anchor="ctr"/>
          <a:lstStyle/>
          <a:p>
            <a:pPr algn="ctr" indent="0" marL="0">
              <a:buNone/>
            </a:pPr>
            <a:r>
              <a:rPr lang="en-US" sz="1400" b="1" dirty="0">
                <a:solidFill>
                  <a:srgbClr val="FFFFFF"/>
                </a:solidFill>
              </a:rPr>
              <a:t>✗</a:t>
            </a:r>
            <a:endParaRPr lang="en-US" sz="1400" dirty="0"/>
          </a:p>
        </p:txBody>
      </p:sp>
      <p:sp>
        <p:nvSpPr>
          <p:cNvPr id="35" name="Text 33"/>
          <p:cNvSpPr/>
          <p:nvPr/>
        </p:nvSpPr>
        <p:spPr>
          <a:xfrm>
            <a:off x="932688" y="1335024"/>
            <a:ext cx="3474720" cy="384048"/>
          </a:xfrm>
          <a:prstGeom prst="rect">
            <a:avLst/>
          </a:prstGeom>
          <a:noFill/>
          <a:ln/>
        </p:spPr>
        <p:txBody>
          <a:bodyPr wrap="square" lIns="0" tIns="0" rIns="0" bIns="0" rtlCol="0" anchor="ctr"/>
          <a:lstStyle/>
          <a:p>
            <a:pPr indent="0" marL="0">
              <a:buNone/>
            </a:pPr>
            <a:r>
              <a:rPr lang="en-US" sz="1150" b="1" dirty="0">
                <a:solidFill>
                  <a:srgbClr val="1A2B4A"/>
                </a:solidFill>
                <a:latin typeface="Calibri" pitchFamily="34" charset="0"/>
                <a:ea typeface="Calibri" pitchFamily="34" charset="-122"/>
                <a:cs typeface="Calibri" pitchFamily="34" charset="-120"/>
              </a:rPr>
              <a:t>Classical Computer Vision</a:t>
            </a:r>
            <a:endParaRPr lang="en-US" sz="1150" dirty="0"/>
          </a:p>
          <a:p>
            <a:pPr indent="0" marL="0">
              <a:buNone/>
            </a:pPr>
            <a:r>
              <a:rPr lang="en-US" sz="1150" b="1" dirty="0">
                <a:solidFill>
                  <a:srgbClr val="1A2B4A"/>
                </a:solidFill>
                <a:latin typeface="Calibri" pitchFamily="34" charset="0"/>
                <a:ea typeface="Calibri" pitchFamily="34" charset="-122"/>
                <a:cs typeface="Calibri" pitchFamily="34" charset="-120"/>
              </a:rPr>
              <a:t>(HOG + SVM)</a:t>
            </a:r>
            <a:endParaRPr lang="en-US" sz="1150" dirty="0"/>
          </a:p>
        </p:txBody>
      </p:sp>
      <p:sp>
        <p:nvSpPr>
          <p:cNvPr id="36" name="Text 34"/>
          <p:cNvSpPr/>
          <p:nvPr/>
        </p:nvSpPr>
        <p:spPr>
          <a:xfrm>
            <a:off x="521208" y="1737360"/>
            <a:ext cx="3840480" cy="877824"/>
          </a:xfrm>
          <a:prstGeom prst="rect">
            <a:avLst/>
          </a:prstGeom>
          <a:noFill/>
          <a:ln/>
        </p:spPr>
        <p:txBody>
          <a:bodyPr wrap="square" lIns="0" tIns="0" rIns="0" bIns="0" rtlCol="0" anchor="t"/>
          <a:lstStyle/>
          <a:p>
            <a:pPr indent="0" marL="0">
              <a:buNone/>
            </a:pPr>
            <a:r>
              <a:rPr lang="en-US" sz="1050" dirty="0">
                <a:solidFill>
                  <a:srgbClr val="4A5568"/>
                </a:solidFill>
                <a:latin typeface="Calibri" pitchFamily="34" charset="0"/>
                <a:ea typeface="Calibri" pitchFamily="34" charset="-122"/>
                <a:cs typeface="Calibri" pitchFamily="34" charset="-120"/>
              </a:rPr>
              <a:t>Hand-crafted features miss the fine-grained texture changes that distinguish a 5-day-old banana from a 10-day-old one. No learning capacity to generalise. AUC ceiling well below deep CNNs on fresh produce datasets.</a:t>
            </a:r>
            <a:endParaRPr lang="en-US" sz="1050" dirty="0"/>
          </a:p>
        </p:txBody>
      </p:sp>
      <p:sp>
        <p:nvSpPr>
          <p:cNvPr id="37" name="Shape 35"/>
          <p:cNvSpPr/>
          <p:nvPr/>
        </p:nvSpPr>
        <p:spPr>
          <a:xfrm>
            <a:off x="4636008" y="1207008"/>
            <a:ext cx="4114800" cy="1444752"/>
          </a:xfrm>
          <a:prstGeom prst="roundRect">
            <a:avLst>
              <a:gd name="adj" fmla="val 7595"/>
            </a:avLst>
          </a:prstGeom>
          <a:solidFill>
            <a:srgbClr val="FEF2F2"/>
          </a:solidFill>
          <a:ln w="6350">
            <a:solidFill>
              <a:srgbClr val="1A2B4A">
                <a:alpha val="40000"/>
              </a:srgbClr>
            </a:solidFill>
            <a:prstDash val="solid"/>
          </a:ln>
          <a:effectLst>
            <a:outerShdw sx="100000" sy="100000" kx="0" ky="0" algn="bl" rotWithShape="0" blurRad="101600" dist="38100" dir="2700000">
              <a:srgbClr val="000000">
                <a:alpha val="10000"/>
              </a:srgbClr>
            </a:outerShdw>
          </a:effectLst>
        </p:spPr>
      </p:sp>
      <p:sp>
        <p:nvSpPr>
          <p:cNvPr id="38" name="Shape 36"/>
          <p:cNvSpPr/>
          <p:nvPr/>
        </p:nvSpPr>
        <p:spPr>
          <a:xfrm>
            <a:off x="4773168" y="1344168"/>
            <a:ext cx="329184" cy="329184"/>
          </a:xfrm>
          <a:prstGeom prst="ellipse">
            <a:avLst/>
          </a:prstGeom>
          <a:solidFill>
            <a:srgbClr val="C0392B">
              <a:alpha val="75000"/>
            </a:srgbClr>
          </a:solidFill>
          <a:ln/>
        </p:spPr>
      </p:sp>
      <p:sp>
        <p:nvSpPr>
          <p:cNvPr id="39" name="Text 37"/>
          <p:cNvSpPr/>
          <p:nvPr/>
        </p:nvSpPr>
        <p:spPr>
          <a:xfrm>
            <a:off x="4773168" y="1344168"/>
            <a:ext cx="329184" cy="329184"/>
          </a:xfrm>
          <a:prstGeom prst="rect">
            <a:avLst/>
          </a:prstGeom>
          <a:noFill/>
          <a:ln/>
        </p:spPr>
        <p:txBody>
          <a:bodyPr wrap="square" lIns="0" tIns="0" rIns="0" bIns="0" rtlCol="0" anchor="ctr"/>
          <a:lstStyle/>
          <a:p>
            <a:pPr algn="ctr" indent="0" marL="0">
              <a:buNone/>
            </a:pPr>
            <a:r>
              <a:rPr lang="en-US" sz="1400" b="1" dirty="0">
                <a:solidFill>
                  <a:srgbClr val="FFFFFF"/>
                </a:solidFill>
              </a:rPr>
              <a:t>✗</a:t>
            </a:r>
            <a:endParaRPr lang="en-US" sz="1400" dirty="0"/>
          </a:p>
        </p:txBody>
      </p:sp>
      <p:sp>
        <p:nvSpPr>
          <p:cNvPr id="40" name="Text 38"/>
          <p:cNvSpPr/>
          <p:nvPr/>
        </p:nvSpPr>
        <p:spPr>
          <a:xfrm>
            <a:off x="5184648" y="1335024"/>
            <a:ext cx="3474720" cy="384048"/>
          </a:xfrm>
          <a:prstGeom prst="rect">
            <a:avLst/>
          </a:prstGeom>
          <a:noFill/>
          <a:ln/>
        </p:spPr>
        <p:txBody>
          <a:bodyPr wrap="square" lIns="0" tIns="0" rIns="0" bIns="0" rtlCol="0" anchor="ctr"/>
          <a:lstStyle/>
          <a:p>
            <a:pPr indent="0" marL="0">
              <a:buNone/>
            </a:pPr>
            <a:r>
              <a:rPr lang="en-US" sz="1150" b="1" dirty="0">
                <a:solidFill>
                  <a:srgbClr val="1A2B4A"/>
                </a:solidFill>
                <a:latin typeface="Calibri" pitchFamily="34" charset="0"/>
                <a:ea typeface="Calibri" pitchFamily="34" charset="-122"/>
                <a:cs typeface="Calibri" pitchFamily="34" charset="-120"/>
              </a:rPr>
              <a:t>Sensor Arrays</a:t>
            </a:r>
            <a:endParaRPr lang="en-US" sz="1150" dirty="0"/>
          </a:p>
          <a:p>
            <a:pPr indent="0" marL="0">
              <a:buNone/>
            </a:pPr>
            <a:r>
              <a:rPr lang="en-US" sz="1150" b="1" dirty="0">
                <a:solidFill>
                  <a:srgbClr val="1A2B4A"/>
                </a:solidFill>
                <a:latin typeface="Calibri" pitchFamily="34" charset="0"/>
                <a:ea typeface="Calibri" pitchFamily="34" charset="-122"/>
                <a:cs typeface="Calibri" pitchFamily="34" charset="-120"/>
              </a:rPr>
              <a:t>(Electronic Nose / IoT)</a:t>
            </a:r>
            <a:endParaRPr lang="en-US" sz="1150" dirty="0"/>
          </a:p>
        </p:txBody>
      </p:sp>
      <p:sp>
        <p:nvSpPr>
          <p:cNvPr id="41" name="Text 39"/>
          <p:cNvSpPr/>
          <p:nvPr/>
        </p:nvSpPr>
        <p:spPr>
          <a:xfrm>
            <a:off x="4773168" y="1737360"/>
            <a:ext cx="3840480" cy="877824"/>
          </a:xfrm>
          <a:prstGeom prst="rect">
            <a:avLst/>
          </a:prstGeom>
          <a:noFill/>
          <a:ln/>
        </p:spPr>
        <p:txBody>
          <a:bodyPr wrap="square" lIns="0" tIns="0" rIns="0" bIns="0" rtlCol="0" anchor="t"/>
          <a:lstStyle/>
          <a:p>
            <a:pPr indent="0" marL="0">
              <a:buNone/>
            </a:pPr>
            <a:r>
              <a:rPr lang="en-US" sz="1050" dirty="0">
                <a:solidFill>
                  <a:srgbClr val="4A5568"/>
                </a:solidFill>
                <a:latin typeface="Calibri" pitchFamily="34" charset="0"/>
                <a:ea typeface="Calibri" pitchFamily="34" charset="-122"/>
                <a:cs typeface="Calibri" pitchFamily="34" charset="-120"/>
              </a:rPr>
              <a:t>Achieves higher accuracy — but requires hardware costing hundreds of dollars. Impossible for Nigerian household adoption. Contradicts the fundamental design constraint: smartphone-only, no extra hardware.</a:t>
            </a:r>
            <a:endParaRPr lang="en-US" sz="1050" dirty="0"/>
          </a:p>
        </p:txBody>
      </p:sp>
      <p:sp>
        <p:nvSpPr>
          <p:cNvPr id="42" name="Shape 40"/>
          <p:cNvSpPr/>
          <p:nvPr/>
        </p:nvSpPr>
        <p:spPr>
          <a:xfrm>
            <a:off x="384048" y="2807208"/>
            <a:ext cx="4114800" cy="1444752"/>
          </a:xfrm>
          <a:prstGeom prst="roundRect">
            <a:avLst>
              <a:gd name="adj" fmla="val 7595"/>
            </a:avLst>
          </a:prstGeom>
          <a:solidFill>
            <a:srgbClr val="FEF2F2"/>
          </a:solidFill>
          <a:ln w="6350">
            <a:solidFill>
              <a:srgbClr val="1A2B4A">
                <a:alpha val="40000"/>
              </a:srgbClr>
            </a:solidFill>
            <a:prstDash val="solid"/>
          </a:ln>
          <a:effectLst>
            <a:outerShdw sx="100000" sy="100000" kx="0" ky="0" algn="bl" rotWithShape="0" blurRad="101600" dist="38100" dir="2700000">
              <a:srgbClr val="000000">
                <a:alpha val="10000"/>
              </a:srgbClr>
            </a:outerShdw>
          </a:effectLst>
        </p:spPr>
      </p:sp>
      <p:sp>
        <p:nvSpPr>
          <p:cNvPr id="43" name="Shape 41"/>
          <p:cNvSpPr/>
          <p:nvPr/>
        </p:nvSpPr>
        <p:spPr>
          <a:xfrm>
            <a:off x="521208" y="2944368"/>
            <a:ext cx="329184" cy="329184"/>
          </a:xfrm>
          <a:prstGeom prst="ellipse">
            <a:avLst/>
          </a:prstGeom>
          <a:solidFill>
            <a:srgbClr val="C0392B">
              <a:alpha val="75000"/>
            </a:srgbClr>
          </a:solidFill>
          <a:ln/>
        </p:spPr>
      </p:sp>
      <p:sp>
        <p:nvSpPr>
          <p:cNvPr id="44" name="Text 42"/>
          <p:cNvSpPr/>
          <p:nvPr/>
        </p:nvSpPr>
        <p:spPr>
          <a:xfrm>
            <a:off x="521208" y="2944368"/>
            <a:ext cx="329184" cy="329184"/>
          </a:xfrm>
          <a:prstGeom prst="rect">
            <a:avLst/>
          </a:prstGeom>
          <a:noFill/>
          <a:ln/>
        </p:spPr>
        <p:txBody>
          <a:bodyPr wrap="square" lIns="0" tIns="0" rIns="0" bIns="0" rtlCol="0" anchor="ctr"/>
          <a:lstStyle/>
          <a:p>
            <a:pPr algn="ctr" indent="0" marL="0">
              <a:buNone/>
            </a:pPr>
            <a:r>
              <a:rPr lang="en-US" sz="1400" b="1" dirty="0">
                <a:solidFill>
                  <a:srgbClr val="FFFFFF"/>
                </a:solidFill>
              </a:rPr>
              <a:t>✗</a:t>
            </a:r>
            <a:endParaRPr lang="en-US" sz="1400" dirty="0"/>
          </a:p>
        </p:txBody>
      </p:sp>
      <p:sp>
        <p:nvSpPr>
          <p:cNvPr id="45" name="Text 43"/>
          <p:cNvSpPr/>
          <p:nvPr/>
        </p:nvSpPr>
        <p:spPr>
          <a:xfrm>
            <a:off x="932688" y="2935224"/>
            <a:ext cx="3474720" cy="384048"/>
          </a:xfrm>
          <a:prstGeom prst="rect">
            <a:avLst/>
          </a:prstGeom>
          <a:noFill/>
          <a:ln/>
        </p:spPr>
        <p:txBody>
          <a:bodyPr wrap="square" lIns="0" tIns="0" rIns="0" bIns="0" rtlCol="0" anchor="ctr"/>
          <a:lstStyle/>
          <a:p>
            <a:pPr indent="0" marL="0">
              <a:buNone/>
            </a:pPr>
            <a:r>
              <a:rPr lang="en-US" sz="1150" b="1" dirty="0">
                <a:solidFill>
                  <a:srgbClr val="1A2B4A"/>
                </a:solidFill>
                <a:latin typeface="Calibri" pitchFamily="34" charset="0"/>
                <a:ea typeface="Calibri" pitchFamily="34" charset="-122"/>
                <a:cs typeface="Calibri" pitchFamily="34" charset="-120"/>
              </a:rPr>
              <a:t>Neural Networks</a:t>
            </a:r>
            <a:endParaRPr lang="en-US" sz="1150" dirty="0"/>
          </a:p>
          <a:p>
            <a:pPr indent="0" marL="0">
              <a:buNone/>
            </a:pPr>
            <a:r>
              <a:rPr lang="en-US" sz="1150" b="1" dirty="0">
                <a:solidFill>
                  <a:srgbClr val="1A2B4A"/>
                </a:solidFill>
                <a:latin typeface="Calibri" pitchFamily="34" charset="0"/>
                <a:ea typeface="Calibri" pitchFamily="34" charset="-122"/>
                <a:cs typeface="Calibri" pitchFamily="34" charset="-120"/>
              </a:rPr>
              <a:t>(ResNet-50 / EfficientNet-L)</a:t>
            </a:r>
            <a:endParaRPr lang="en-US" sz="1150" dirty="0"/>
          </a:p>
        </p:txBody>
      </p:sp>
      <p:sp>
        <p:nvSpPr>
          <p:cNvPr id="46" name="Text 44"/>
          <p:cNvSpPr/>
          <p:nvPr/>
        </p:nvSpPr>
        <p:spPr>
          <a:xfrm>
            <a:off x="521208" y="3337560"/>
            <a:ext cx="3840480" cy="877824"/>
          </a:xfrm>
          <a:prstGeom prst="rect">
            <a:avLst/>
          </a:prstGeom>
          <a:noFill/>
          <a:ln/>
        </p:spPr>
        <p:txBody>
          <a:bodyPr wrap="square" lIns="0" tIns="0" rIns="0" bIns="0" rtlCol="0" anchor="t"/>
          <a:lstStyle/>
          <a:p>
            <a:pPr indent="0" marL="0">
              <a:buNone/>
            </a:pPr>
            <a:r>
              <a:rPr lang="en-US" sz="1050" dirty="0">
                <a:solidFill>
                  <a:srgbClr val="4A5568"/>
                </a:solidFill>
                <a:latin typeface="Calibri" pitchFamily="34" charset="0"/>
                <a:ea typeface="Calibri" pitchFamily="34" charset="-122"/>
                <a:cs typeface="Calibri" pitchFamily="34" charset="-120"/>
              </a:rPr>
              <a:t>Heavier architectures achieve marginally higher validation accuracy but consume 3–8× more memory. At 11.6 MB, MobileNetV2 loads at startup and infers in 380 ms on commodity CPU. Larger models would require GPU infrastructure.</a:t>
            </a:r>
            <a:endParaRPr lang="en-US" sz="1050" dirty="0"/>
          </a:p>
        </p:txBody>
      </p:sp>
      <p:sp>
        <p:nvSpPr>
          <p:cNvPr id="47" name="Shape 45"/>
          <p:cNvSpPr/>
          <p:nvPr/>
        </p:nvSpPr>
        <p:spPr>
          <a:xfrm>
            <a:off x="4636008" y="2807208"/>
            <a:ext cx="4114800" cy="1444752"/>
          </a:xfrm>
          <a:prstGeom prst="roundRect">
            <a:avLst>
              <a:gd name="adj" fmla="val 7595"/>
            </a:avLst>
          </a:prstGeom>
          <a:solidFill>
            <a:srgbClr val="FEF2F2"/>
          </a:solidFill>
          <a:ln w="6350">
            <a:solidFill>
              <a:srgbClr val="1A2B4A">
                <a:alpha val="40000"/>
              </a:srgbClr>
            </a:solidFill>
            <a:prstDash val="solid"/>
          </a:ln>
          <a:effectLst>
            <a:outerShdw sx="100000" sy="100000" kx="0" ky="0" algn="bl" rotWithShape="0" blurRad="101600" dist="38100" dir="2700000">
              <a:srgbClr val="000000">
                <a:alpha val="10000"/>
              </a:srgbClr>
            </a:outerShdw>
          </a:effectLst>
        </p:spPr>
      </p:sp>
      <p:sp>
        <p:nvSpPr>
          <p:cNvPr id="48" name="Shape 46"/>
          <p:cNvSpPr/>
          <p:nvPr/>
        </p:nvSpPr>
        <p:spPr>
          <a:xfrm>
            <a:off x="4773168" y="2944368"/>
            <a:ext cx="329184" cy="329184"/>
          </a:xfrm>
          <a:prstGeom prst="ellipse">
            <a:avLst/>
          </a:prstGeom>
          <a:solidFill>
            <a:srgbClr val="C0392B">
              <a:alpha val="75000"/>
            </a:srgbClr>
          </a:solidFill>
          <a:ln/>
        </p:spPr>
      </p:sp>
      <p:sp>
        <p:nvSpPr>
          <p:cNvPr id="49" name="Text 47"/>
          <p:cNvSpPr/>
          <p:nvPr/>
        </p:nvSpPr>
        <p:spPr>
          <a:xfrm>
            <a:off x="4773168" y="2944368"/>
            <a:ext cx="329184" cy="329184"/>
          </a:xfrm>
          <a:prstGeom prst="rect">
            <a:avLst/>
          </a:prstGeom>
          <a:noFill/>
          <a:ln/>
        </p:spPr>
        <p:txBody>
          <a:bodyPr wrap="square" lIns="0" tIns="0" rIns="0" bIns="0" rtlCol="0" anchor="ctr"/>
          <a:lstStyle/>
          <a:p>
            <a:pPr algn="ctr" indent="0" marL="0">
              <a:buNone/>
            </a:pPr>
            <a:r>
              <a:rPr lang="en-US" sz="1400" b="1" dirty="0">
                <a:solidFill>
                  <a:srgbClr val="FFFFFF"/>
                </a:solidFill>
              </a:rPr>
              <a:t>✗</a:t>
            </a:r>
            <a:endParaRPr lang="en-US" sz="1400" dirty="0"/>
          </a:p>
        </p:txBody>
      </p:sp>
      <p:sp>
        <p:nvSpPr>
          <p:cNvPr id="50" name="Text 48"/>
          <p:cNvSpPr/>
          <p:nvPr/>
        </p:nvSpPr>
        <p:spPr>
          <a:xfrm>
            <a:off x="5184648" y="2935224"/>
            <a:ext cx="3474720" cy="384048"/>
          </a:xfrm>
          <a:prstGeom prst="rect">
            <a:avLst/>
          </a:prstGeom>
          <a:noFill/>
          <a:ln/>
        </p:spPr>
        <p:txBody>
          <a:bodyPr wrap="square" lIns="0" tIns="0" rIns="0" bIns="0" rtlCol="0" anchor="ctr"/>
          <a:lstStyle/>
          <a:p>
            <a:pPr indent="0" marL="0">
              <a:buNone/>
            </a:pPr>
            <a:r>
              <a:rPr lang="en-US" sz="1150" b="1" dirty="0">
                <a:solidFill>
                  <a:srgbClr val="1A2B4A"/>
                </a:solidFill>
                <a:latin typeface="Calibri" pitchFamily="34" charset="0"/>
                <a:ea typeface="Calibri" pitchFamily="34" charset="-122"/>
                <a:cs typeface="Calibri" pitchFamily="34" charset="-120"/>
              </a:rPr>
              <a:t>Binary Freshness</a:t>
            </a:r>
            <a:endParaRPr lang="en-US" sz="1150" dirty="0"/>
          </a:p>
          <a:p>
            <a:pPr indent="0" marL="0">
              <a:buNone/>
            </a:pPr>
            <a:r>
              <a:rPr lang="en-US" sz="1150" b="1" dirty="0">
                <a:solidFill>
                  <a:srgbClr val="1A2B4A"/>
                </a:solidFill>
                <a:latin typeface="Calibri" pitchFamily="34" charset="0"/>
                <a:ea typeface="Calibri" pitchFamily="34" charset="-122"/>
                <a:cs typeface="Calibri" pitchFamily="34" charset="-120"/>
              </a:rPr>
              <a:t>(Fresh / Spoiled only)</a:t>
            </a:r>
            <a:endParaRPr lang="en-US" sz="1150" dirty="0"/>
          </a:p>
        </p:txBody>
      </p:sp>
      <p:sp>
        <p:nvSpPr>
          <p:cNvPr id="51" name="Text 49"/>
          <p:cNvSpPr/>
          <p:nvPr/>
        </p:nvSpPr>
        <p:spPr>
          <a:xfrm>
            <a:off x="4773168" y="3337560"/>
            <a:ext cx="3840480" cy="877824"/>
          </a:xfrm>
          <a:prstGeom prst="rect">
            <a:avLst/>
          </a:prstGeom>
          <a:noFill/>
          <a:ln/>
        </p:spPr>
        <p:txBody>
          <a:bodyPr wrap="square" lIns="0" tIns="0" rIns="0" bIns="0" rtlCol="0" anchor="t"/>
          <a:lstStyle/>
          <a:p>
            <a:pPr indent="0" marL="0">
              <a:buNone/>
            </a:pPr>
            <a:r>
              <a:rPr lang="en-US" sz="1050" dirty="0">
                <a:solidFill>
                  <a:srgbClr val="4A5568"/>
                </a:solidFill>
                <a:latin typeface="Calibri" pitchFamily="34" charset="0"/>
                <a:ea typeface="Calibri" pitchFamily="34" charset="-122"/>
                <a:cs typeface="Calibri" pitchFamily="34" charset="-120"/>
              </a:rPr>
              <a:t>Collapses the quality gradient into two states. A banana at 70% freshness needs different advice than one at 40% — both would be labelled 'Fresh' under a binary system, producing identical and wrong recommendations.</a:t>
            </a:r>
            <a:endParaRPr lang="en-US" sz="1050" dirty="0"/>
          </a:p>
        </p:txBody>
      </p:sp>
      <p:sp>
        <p:nvSpPr>
          <p:cNvPr id="52" name="Shape 50"/>
          <p:cNvSpPr/>
          <p:nvPr/>
        </p:nvSpPr>
        <p:spPr>
          <a:xfrm>
            <a:off x="384048" y="4517136"/>
            <a:ext cx="8375904" cy="475488"/>
          </a:xfrm>
          <a:prstGeom prst="roundRect">
            <a:avLst>
              <a:gd name="adj" fmla="val 23077"/>
            </a:avLst>
          </a:prstGeom>
          <a:solidFill>
            <a:srgbClr val="E8F5F1"/>
          </a:solidFill>
          <a:ln w="6350">
            <a:solidFill>
              <a:srgbClr val="1A2B4A">
                <a:alpha val="40000"/>
              </a:srgbClr>
            </a:solidFill>
            <a:prstDash val="solid"/>
          </a:ln>
          <a:effectLst>
            <a:outerShdw sx="100000" sy="100000" kx="0" ky="0" algn="bl" rotWithShape="0" blurRad="101600" dist="38100" dir="2700000">
              <a:srgbClr val="000000">
                <a:alpha val="10000"/>
              </a:srgbClr>
            </a:outerShdw>
          </a:effectLst>
        </p:spPr>
      </p:sp>
      <p:sp>
        <p:nvSpPr>
          <p:cNvPr id="53" name="Shape 51"/>
          <p:cNvSpPr/>
          <p:nvPr/>
        </p:nvSpPr>
        <p:spPr>
          <a:xfrm>
            <a:off x="502920" y="4608576"/>
            <a:ext cx="329184" cy="329184"/>
          </a:xfrm>
          <a:prstGeom prst="ellipse">
            <a:avLst/>
          </a:prstGeom>
          <a:solidFill>
            <a:srgbClr val="3A8C7E"/>
          </a:solidFill>
          <a:ln/>
        </p:spPr>
      </p:sp>
      <p:sp>
        <p:nvSpPr>
          <p:cNvPr id="54" name="Text 52"/>
          <p:cNvSpPr/>
          <p:nvPr/>
        </p:nvSpPr>
        <p:spPr>
          <a:xfrm>
            <a:off x="502920" y="4608576"/>
            <a:ext cx="329184" cy="329184"/>
          </a:xfrm>
          <a:prstGeom prst="rect">
            <a:avLst/>
          </a:prstGeom>
          <a:noFill/>
          <a:ln/>
        </p:spPr>
        <p:txBody>
          <a:bodyPr wrap="square" lIns="0" tIns="0" rIns="0" bIns="0" rtlCol="0" anchor="ctr"/>
          <a:lstStyle/>
          <a:p>
            <a:pPr algn="ctr" indent="0" marL="0">
              <a:buNone/>
            </a:pPr>
            <a:r>
              <a:rPr lang="en-US" sz="1400" b="1" dirty="0">
                <a:solidFill>
                  <a:srgbClr val="FFFFFF"/>
                </a:solidFill>
              </a:rPr>
              <a:t>✓</a:t>
            </a:r>
            <a:endParaRPr lang="en-US" sz="1400" dirty="0"/>
          </a:p>
        </p:txBody>
      </p:sp>
      <p:sp>
        <p:nvSpPr>
          <p:cNvPr id="55" name="Text 53"/>
          <p:cNvSpPr/>
          <p:nvPr/>
        </p:nvSpPr>
        <p:spPr>
          <a:xfrm>
            <a:off x="914400" y="4544568"/>
            <a:ext cx="7680960" cy="420624"/>
          </a:xfrm>
          <a:prstGeom prst="rect">
            <a:avLst/>
          </a:prstGeom>
          <a:noFill/>
          <a:ln/>
        </p:spPr>
        <p:txBody>
          <a:bodyPr wrap="square" lIns="0" tIns="0" rIns="0" bIns="0" rtlCol="0" anchor="ctr"/>
          <a:lstStyle/>
          <a:p>
            <a:pPr indent="0" marL="0">
              <a:buNone/>
            </a:pPr>
            <a:r>
              <a:rPr lang="en-US" sz="1150" b="1" dirty="0">
                <a:solidFill>
                  <a:srgbClr val="3A8C7E"/>
                </a:solidFill>
                <a:latin typeface="Calibri" pitchFamily="34" charset="0"/>
                <a:ea typeface="Calibri" pitchFamily="34" charset="-122"/>
                <a:cs typeface="Calibri" pitchFamily="34" charset="-120"/>
              </a:rPr>
              <a:t>CHOSEN:  MobileNetV2 Transfer Learning + Multi-Factor Shelf-Life Formula + Ethylene Conflict Graph + PWA Deployment — accurate on commodity hardware, interpretable, deployable in resource-constrained environments.</a:t>
            </a:r>
            <a:endParaRPr lang="en-US" sz="11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EBEBEB"/>
        </a:solidFill>
      </p:bgPr>
    </p:bg>
    <p:spTree>
      <p:nvGrpSpPr>
        <p:cNvPr id="1" name=""/>
        <p:cNvGrpSpPr/>
        <p:nvPr/>
      </p:nvGrpSpPr>
      <p:grpSpPr>
        <a:xfrm>
          <a:off x="0" y="0"/>
          <a:ext cx="0" cy="0"/>
          <a:chOff x="0" y="0"/>
          <a:chExt cx="0" cy="0"/>
        </a:xfrm>
      </p:grpSpPr>
      <p:sp>
        <p:nvSpPr>
          <p:cNvPr id="2" name="Shape 0"/>
          <p:cNvSpPr/>
          <p:nvPr/>
        </p:nvSpPr>
        <p:spPr>
          <a:xfrm>
            <a:off x="7772400" y="91440"/>
            <a:ext cx="1645920" cy="1645920"/>
          </a:xfrm>
          <a:prstGeom prst="ellipse">
            <a:avLst/>
          </a:prstGeom>
          <a:ln w="19050">
            <a:solidFill>
              <a:srgbClr val="1A2B4A">
                <a:alpha val="18000"/>
              </a:srgbClr>
            </a:solidFill>
            <a:prstDash val="solid"/>
          </a:ln>
        </p:spPr>
      </p:sp>
      <p:sp>
        <p:nvSpPr>
          <p:cNvPr id="3" name="Shape 1"/>
          <p:cNvSpPr/>
          <p:nvPr/>
        </p:nvSpPr>
        <p:spPr>
          <a:xfrm>
            <a:off x="8043977" y="363017"/>
            <a:ext cx="1102766" cy="1102766"/>
          </a:xfrm>
          <a:prstGeom prst="ellipse">
            <a:avLst/>
          </a:prstGeom>
          <a:ln w="19050">
            <a:solidFill>
              <a:srgbClr val="3B5FA0">
                <a:alpha val="25000"/>
              </a:srgbClr>
            </a:solidFill>
            <a:prstDash val="solid"/>
          </a:ln>
        </p:spPr>
      </p:sp>
      <p:sp>
        <p:nvSpPr>
          <p:cNvPr id="4" name="Shape 2"/>
          <p:cNvSpPr/>
          <p:nvPr/>
        </p:nvSpPr>
        <p:spPr>
          <a:xfrm>
            <a:off x="8282635" y="601675"/>
            <a:ext cx="625450" cy="625450"/>
          </a:xfrm>
          <a:prstGeom prst="ellipse">
            <a:avLst/>
          </a:prstGeom>
          <a:ln w="19050">
            <a:solidFill>
              <a:srgbClr val="3A8C7E">
                <a:alpha val="32000"/>
              </a:srgbClr>
            </a:solidFill>
            <a:prstDash val="solid"/>
          </a:ln>
        </p:spPr>
      </p:sp>
      <p:sp>
        <p:nvSpPr>
          <p:cNvPr id="5" name="Shape 3"/>
          <p:cNvSpPr/>
          <p:nvPr/>
        </p:nvSpPr>
        <p:spPr>
          <a:xfrm rot="-2700000">
            <a:off x="182880" y="182880"/>
            <a:ext cx="457200" cy="0"/>
          </a:xfrm>
          <a:prstGeom prst="line">
            <a:avLst/>
          </a:prstGeom>
          <a:noFill/>
          <a:ln w="12700">
            <a:solidFill>
              <a:srgbClr val="1A2B4A">
                <a:alpha val="28000"/>
              </a:srgbClr>
            </a:solidFill>
            <a:prstDash val="solid"/>
          </a:ln>
        </p:spPr>
      </p:sp>
      <p:sp>
        <p:nvSpPr>
          <p:cNvPr id="6" name="Shape 4"/>
          <p:cNvSpPr/>
          <p:nvPr/>
        </p:nvSpPr>
        <p:spPr>
          <a:xfrm rot="-2700000">
            <a:off x="347472" y="182880"/>
            <a:ext cx="457200" cy="0"/>
          </a:xfrm>
          <a:prstGeom prst="line">
            <a:avLst/>
          </a:prstGeom>
          <a:noFill/>
          <a:ln w="12700">
            <a:solidFill>
              <a:srgbClr val="1A2B4A">
                <a:alpha val="28000"/>
              </a:srgbClr>
            </a:solidFill>
            <a:prstDash val="solid"/>
          </a:ln>
        </p:spPr>
      </p:sp>
      <p:sp>
        <p:nvSpPr>
          <p:cNvPr id="7" name="Shape 5"/>
          <p:cNvSpPr/>
          <p:nvPr/>
        </p:nvSpPr>
        <p:spPr>
          <a:xfrm rot="-2700000">
            <a:off x="512064" y="182880"/>
            <a:ext cx="457200" cy="0"/>
          </a:xfrm>
          <a:prstGeom prst="line">
            <a:avLst/>
          </a:prstGeom>
          <a:noFill/>
          <a:ln w="12700">
            <a:solidFill>
              <a:srgbClr val="1A2B4A">
                <a:alpha val="28000"/>
              </a:srgbClr>
            </a:solidFill>
            <a:prstDash val="solid"/>
          </a:ln>
        </p:spPr>
      </p:sp>
      <p:sp>
        <p:nvSpPr>
          <p:cNvPr id="8" name="Shape 6"/>
          <p:cNvSpPr/>
          <p:nvPr/>
        </p:nvSpPr>
        <p:spPr>
          <a:xfrm rot="-2700000">
            <a:off x="676656" y="182880"/>
            <a:ext cx="457200" cy="0"/>
          </a:xfrm>
          <a:prstGeom prst="line">
            <a:avLst/>
          </a:prstGeom>
          <a:noFill/>
          <a:ln w="12700">
            <a:solidFill>
              <a:srgbClr val="1A2B4A">
                <a:alpha val="28000"/>
              </a:srgbClr>
            </a:solidFill>
            <a:prstDash val="solid"/>
          </a:ln>
        </p:spPr>
      </p:sp>
      <p:sp>
        <p:nvSpPr>
          <p:cNvPr id="9" name="Shape 7"/>
          <p:cNvSpPr/>
          <p:nvPr/>
        </p:nvSpPr>
        <p:spPr>
          <a:xfrm rot="-2700000">
            <a:off x="841248" y="182880"/>
            <a:ext cx="457200" cy="0"/>
          </a:xfrm>
          <a:prstGeom prst="line">
            <a:avLst/>
          </a:prstGeom>
          <a:noFill/>
          <a:ln w="12700">
            <a:solidFill>
              <a:srgbClr val="1A2B4A">
                <a:alpha val="28000"/>
              </a:srgbClr>
            </a:solidFill>
            <a:prstDash val="solid"/>
          </a:ln>
        </p:spPr>
      </p:sp>
      <p:sp>
        <p:nvSpPr>
          <p:cNvPr id="10" name="Shape 8"/>
          <p:cNvSpPr/>
          <p:nvPr/>
        </p:nvSpPr>
        <p:spPr>
          <a:xfrm rot="-2700000">
            <a:off x="1005840" y="182880"/>
            <a:ext cx="457200" cy="0"/>
          </a:xfrm>
          <a:prstGeom prst="line">
            <a:avLst/>
          </a:prstGeom>
          <a:noFill/>
          <a:ln w="12700">
            <a:solidFill>
              <a:srgbClr val="1A2B4A">
                <a:alpha val="28000"/>
              </a:srgbClr>
            </a:solidFill>
            <a:prstDash val="solid"/>
          </a:ln>
        </p:spPr>
      </p:sp>
      <p:sp>
        <p:nvSpPr>
          <p:cNvPr id="11" name="Shape 9"/>
          <p:cNvSpPr/>
          <p:nvPr/>
        </p:nvSpPr>
        <p:spPr>
          <a:xfrm rot="-2700000">
            <a:off x="1170432" y="182880"/>
            <a:ext cx="457200" cy="0"/>
          </a:xfrm>
          <a:prstGeom prst="line">
            <a:avLst/>
          </a:prstGeom>
          <a:noFill/>
          <a:ln w="12700">
            <a:solidFill>
              <a:srgbClr val="1A2B4A">
                <a:alpha val="28000"/>
              </a:srgbClr>
            </a:solidFill>
            <a:prstDash val="solid"/>
          </a:ln>
        </p:spPr>
      </p:sp>
      <p:sp>
        <p:nvSpPr>
          <p:cNvPr id="12" name="Text 10"/>
          <p:cNvSpPr/>
          <p:nvPr/>
        </p:nvSpPr>
        <p:spPr>
          <a:xfrm>
            <a:off x="411480" y="292608"/>
            <a:ext cx="8321040" cy="530352"/>
          </a:xfrm>
          <a:prstGeom prst="rect">
            <a:avLst/>
          </a:prstGeom>
          <a:noFill/>
          <a:ln/>
        </p:spPr>
        <p:txBody>
          <a:bodyPr wrap="square" lIns="0" tIns="0" rIns="0" bIns="0" rtlCol="0" anchor="ctr"/>
          <a:lstStyle/>
          <a:p>
            <a:pPr algn="l" indent="0" marL="0">
              <a:buNone/>
            </a:pPr>
            <a:r>
              <a:rPr lang="en-US" sz="2800" b="1" dirty="0">
                <a:solidFill>
                  <a:srgbClr val="1A2B4A"/>
                </a:solidFill>
                <a:latin typeface="Cambria" pitchFamily="34" charset="0"/>
                <a:ea typeface="Cambria" pitchFamily="34" charset="-122"/>
                <a:cs typeface="Cambria" pitchFamily="34" charset="-120"/>
              </a:rPr>
              <a:t>Mathematical Model: MobileNetV2</a:t>
            </a:r>
            <a:endParaRPr lang="en-US" sz="2800" dirty="0"/>
          </a:p>
        </p:txBody>
      </p:sp>
      <p:sp>
        <p:nvSpPr>
          <p:cNvPr id="13" name="Text 11"/>
          <p:cNvSpPr/>
          <p:nvPr/>
        </p:nvSpPr>
        <p:spPr>
          <a:xfrm>
            <a:off x="411480" y="841248"/>
            <a:ext cx="8321040" cy="329184"/>
          </a:xfrm>
          <a:prstGeom prst="rect">
            <a:avLst/>
          </a:prstGeom>
          <a:noFill/>
          <a:ln/>
        </p:spPr>
        <p:txBody>
          <a:bodyPr wrap="square" lIns="0" tIns="0" rIns="0" bIns="0" rtlCol="0" anchor="ctr"/>
          <a:lstStyle/>
          <a:p>
            <a:pPr algn="l" indent="0" marL="0">
              <a:buNone/>
            </a:pPr>
            <a:r>
              <a:rPr lang="en-US" sz="1400" b="1" dirty="0">
                <a:solidFill>
                  <a:srgbClr val="3A8C7E"/>
                </a:solidFill>
                <a:latin typeface="Calibri" pitchFamily="34" charset="0"/>
                <a:ea typeface="Calibri" pitchFamily="34" charset="-122"/>
                <a:cs typeface="Calibri" pitchFamily="34" charset="-120"/>
              </a:rPr>
              <a:t>Efficient CNN architecture — the visual intelligence of Fresco</a:t>
            </a:r>
            <a:endParaRPr lang="en-US" sz="1400" dirty="0"/>
          </a:p>
        </p:txBody>
      </p:sp>
      <p:sp>
        <p:nvSpPr>
          <p:cNvPr id="14" name="Shape 12"/>
          <p:cNvSpPr/>
          <p:nvPr/>
        </p:nvSpPr>
        <p:spPr>
          <a:xfrm>
            <a:off x="411480" y="868680"/>
            <a:ext cx="8229600" cy="0"/>
          </a:xfrm>
          <a:prstGeom prst="line">
            <a:avLst/>
          </a:prstGeom>
          <a:noFill/>
          <a:ln w="19050">
            <a:solidFill>
              <a:srgbClr val="3A8C7E">
                <a:alpha val="60000"/>
              </a:srgbClr>
            </a:solidFill>
            <a:prstDash val="solid"/>
          </a:ln>
        </p:spPr>
      </p:sp>
      <p:sp>
        <p:nvSpPr>
          <p:cNvPr id="15" name="Shape 13"/>
          <p:cNvSpPr/>
          <p:nvPr/>
        </p:nvSpPr>
        <p:spPr>
          <a:xfrm>
            <a:off x="411480" y="950976"/>
            <a:ext cx="8229600" cy="0"/>
          </a:xfrm>
          <a:prstGeom prst="line">
            <a:avLst/>
          </a:prstGeom>
          <a:noFill/>
          <a:ln w="10160">
            <a:solidFill>
              <a:srgbClr val="1A2B4A">
                <a:alpha val="45000"/>
              </a:srgbClr>
            </a:solidFill>
            <a:prstDash val="solid"/>
          </a:ln>
        </p:spPr>
      </p:sp>
      <p:sp>
        <p:nvSpPr>
          <p:cNvPr id="16" name="Shape 14"/>
          <p:cNvSpPr/>
          <p:nvPr/>
        </p:nvSpPr>
        <p:spPr>
          <a:xfrm>
            <a:off x="384048" y="1207008"/>
            <a:ext cx="4370832" cy="3474720"/>
          </a:xfrm>
          <a:prstGeom prst="roundRect">
            <a:avLst>
              <a:gd name="adj" fmla="val 3158"/>
            </a:avLst>
          </a:prstGeom>
          <a:solidFill>
            <a:srgbClr val="F0F4F8"/>
          </a:solidFill>
          <a:ln w="6350">
            <a:solidFill>
              <a:srgbClr val="1A2B4A">
                <a:alpha val="40000"/>
              </a:srgbClr>
            </a:solidFill>
            <a:prstDash val="solid"/>
          </a:ln>
          <a:effectLst>
            <a:outerShdw sx="100000" sy="100000" kx="0" ky="0" algn="bl" rotWithShape="0" blurRad="101600" dist="38100" dir="2700000">
              <a:srgbClr val="000000">
                <a:alpha val="10000"/>
              </a:srgbClr>
            </a:outerShdw>
          </a:effectLst>
        </p:spPr>
      </p:sp>
      <p:sp>
        <p:nvSpPr>
          <p:cNvPr id="17" name="Text 15"/>
          <p:cNvSpPr/>
          <p:nvPr/>
        </p:nvSpPr>
        <p:spPr>
          <a:xfrm>
            <a:off x="548640" y="1280160"/>
            <a:ext cx="4023360" cy="256032"/>
          </a:xfrm>
          <a:prstGeom prst="rect">
            <a:avLst/>
          </a:prstGeom>
          <a:noFill/>
          <a:ln/>
        </p:spPr>
        <p:txBody>
          <a:bodyPr wrap="square" lIns="0" tIns="0" rIns="0" bIns="0" rtlCol="0" anchor="ctr"/>
          <a:lstStyle/>
          <a:p>
            <a:pPr indent="0" marL="0">
              <a:buNone/>
            </a:pPr>
            <a:r>
              <a:rPr lang="en-US" sz="1200" b="1" dirty="0">
                <a:solidFill>
                  <a:srgbClr val="1A2B4A"/>
                </a:solidFill>
                <a:latin typeface="Calibri" pitchFamily="34" charset="0"/>
                <a:ea typeface="Calibri" pitchFamily="34" charset="-122"/>
                <a:cs typeface="Calibri" pitchFamily="34" charset="-120"/>
              </a:rPr>
              <a:t>The Inverted Residual Block</a:t>
            </a:r>
            <a:endParaRPr lang="en-US" sz="1200" dirty="0"/>
          </a:p>
        </p:txBody>
      </p:sp>
      <p:sp>
        <p:nvSpPr>
          <p:cNvPr id="18" name="Text 16"/>
          <p:cNvSpPr/>
          <p:nvPr/>
        </p:nvSpPr>
        <p:spPr>
          <a:xfrm>
            <a:off x="621792" y="1591056"/>
            <a:ext cx="4023360" cy="256032"/>
          </a:xfrm>
          <a:prstGeom prst="rect">
            <a:avLst/>
          </a:prstGeom>
          <a:noFill/>
          <a:ln/>
        </p:spPr>
        <p:txBody>
          <a:bodyPr wrap="square" lIns="0" tIns="0" rIns="0" bIns="0" rtlCol="0" anchor="ctr"/>
          <a:lstStyle/>
          <a:p>
            <a:pPr indent="0" marL="0">
              <a:buNone/>
            </a:pPr>
            <a:r>
              <a:rPr lang="en-US" sz="1200" dirty="0">
                <a:solidFill>
                  <a:srgbClr val="1A2B4A"/>
                </a:solidFill>
                <a:latin typeface="Courier New" pitchFamily="34" charset="0"/>
                <a:ea typeface="Courier New" pitchFamily="34" charset="-122"/>
                <a:cs typeface="Courier New" pitchFamily="34" charset="-120"/>
              </a:rPr>
              <a:t>Expand:   h = ReLU6(BatchNorm(W_e · x))</a:t>
            </a:r>
            <a:endParaRPr lang="en-US" sz="1200" dirty="0"/>
          </a:p>
        </p:txBody>
      </p:sp>
      <p:sp>
        <p:nvSpPr>
          <p:cNvPr id="19" name="Text 17"/>
          <p:cNvSpPr/>
          <p:nvPr/>
        </p:nvSpPr>
        <p:spPr>
          <a:xfrm>
            <a:off x="621792" y="1874520"/>
            <a:ext cx="4023360" cy="256032"/>
          </a:xfrm>
          <a:prstGeom prst="rect">
            <a:avLst/>
          </a:prstGeom>
          <a:noFill/>
          <a:ln/>
        </p:spPr>
        <p:txBody>
          <a:bodyPr wrap="square" lIns="0" tIns="0" rIns="0" bIns="0" rtlCol="0" anchor="ctr"/>
          <a:lstStyle/>
          <a:p>
            <a:pPr indent="0" marL="0">
              <a:buNone/>
            </a:pPr>
            <a:r>
              <a:rPr lang="en-US" sz="1200" dirty="0">
                <a:solidFill>
                  <a:srgbClr val="1A2B4A"/>
                </a:solidFill>
                <a:latin typeface="Courier New" pitchFamily="34" charset="0"/>
                <a:ea typeface="Courier New" pitchFamily="34" charset="-122"/>
                <a:cs typeface="Courier New" pitchFamily="34" charset="-120"/>
              </a:rPr>
              <a:t>Depthwise: y = ReLU6(BatchNorm(DW(h)))</a:t>
            </a:r>
            <a:endParaRPr lang="en-US" sz="1200" dirty="0"/>
          </a:p>
        </p:txBody>
      </p:sp>
      <p:sp>
        <p:nvSpPr>
          <p:cNvPr id="20" name="Text 18"/>
          <p:cNvSpPr/>
          <p:nvPr/>
        </p:nvSpPr>
        <p:spPr>
          <a:xfrm>
            <a:off x="621792" y="2157984"/>
            <a:ext cx="4023360" cy="256032"/>
          </a:xfrm>
          <a:prstGeom prst="rect">
            <a:avLst/>
          </a:prstGeom>
          <a:noFill/>
          <a:ln/>
        </p:spPr>
        <p:txBody>
          <a:bodyPr wrap="square" lIns="0" tIns="0" rIns="0" bIns="0" rtlCol="0" anchor="ctr"/>
          <a:lstStyle/>
          <a:p>
            <a:pPr indent="0" marL="0">
              <a:buNone/>
            </a:pPr>
            <a:r>
              <a:rPr lang="en-US" sz="1200" dirty="0">
                <a:solidFill>
                  <a:srgbClr val="1A2B4A"/>
                </a:solidFill>
                <a:latin typeface="Courier New" pitchFamily="34" charset="0"/>
                <a:ea typeface="Courier New" pitchFamily="34" charset="-122"/>
                <a:cs typeface="Courier New" pitchFamily="34" charset="-120"/>
              </a:rPr>
              <a:t>Project:  z = BatchNorm(W_p · y)</a:t>
            </a:r>
            <a:endParaRPr lang="en-US" sz="1200" dirty="0"/>
          </a:p>
        </p:txBody>
      </p:sp>
      <p:sp>
        <p:nvSpPr>
          <p:cNvPr id="21" name="Text 19"/>
          <p:cNvSpPr/>
          <p:nvPr/>
        </p:nvSpPr>
        <p:spPr>
          <a:xfrm>
            <a:off x="621792" y="2441448"/>
            <a:ext cx="4023360" cy="256032"/>
          </a:xfrm>
          <a:prstGeom prst="rect">
            <a:avLst/>
          </a:prstGeom>
          <a:noFill/>
          <a:ln/>
        </p:spPr>
        <p:txBody>
          <a:bodyPr wrap="square" lIns="0" tIns="0" rIns="0" bIns="0" rtlCol="0" anchor="ctr"/>
          <a:lstStyle/>
          <a:p>
            <a:pPr indent="0" marL="0">
              <a:buNone/>
            </a:pPr>
            <a:r>
              <a:rPr lang="en-US" sz="1200" b="1" dirty="0">
                <a:solidFill>
                  <a:srgbClr val="3A8C7E"/>
                </a:solidFill>
                <a:latin typeface="Courier New" pitchFamily="34" charset="0"/>
                <a:ea typeface="Courier New" pitchFamily="34" charset="-122"/>
                <a:cs typeface="Courier New" pitchFamily="34" charset="-120"/>
              </a:rPr>
              <a:t>Residual: out = x + z  (if stride = 1)</a:t>
            </a:r>
            <a:endParaRPr lang="en-US" sz="1200" dirty="0"/>
          </a:p>
        </p:txBody>
      </p:sp>
      <p:sp>
        <p:nvSpPr>
          <p:cNvPr id="22" name="Shape 20"/>
          <p:cNvSpPr/>
          <p:nvPr/>
        </p:nvSpPr>
        <p:spPr>
          <a:xfrm>
            <a:off x="548640" y="2761488"/>
            <a:ext cx="4114800" cy="0"/>
          </a:xfrm>
          <a:prstGeom prst="line">
            <a:avLst/>
          </a:prstGeom>
          <a:noFill/>
          <a:ln w="8890">
            <a:solidFill>
              <a:srgbClr val="1A2B4A">
                <a:alpha val="45000"/>
              </a:srgbClr>
            </a:solidFill>
            <a:prstDash val="solid"/>
          </a:ln>
        </p:spPr>
      </p:sp>
      <p:sp>
        <p:nvSpPr>
          <p:cNvPr id="23" name="Text 21"/>
          <p:cNvSpPr/>
          <p:nvPr/>
        </p:nvSpPr>
        <p:spPr>
          <a:xfrm>
            <a:off x="548640" y="2834640"/>
            <a:ext cx="4023360" cy="219456"/>
          </a:xfrm>
          <a:prstGeom prst="rect">
            <a:avLst/>
          </a:prstGeom>
          <a:noFill/>
          <a:ln/>
        </p:spPr>
        <p:txBody>
          <a:bodyPr wrap="square" lIns="0" tIns="0" rIns="0" bIns="0" rtlCol="0" anchor="ctr"/>
          <a:lstStyle/>
          <a:p>
            <a:pPr indent="0" marL="0">
              <a:buNone/>
            </a:pPr>
            <a:r>
              <a:rPr lang="en-US" sz="1100" b="1" dirty="0">
                <a:solidFill>
                  <a:srgbClr val="1A2B4A"/>
                </a:solidFill>
                <a:latin typeface="Calibri" pitchFamily="34" charset="0"/>
                <a:ea typeface="Calibri" pitchFamily="34" charset="-122"/>
                <a:cs typeface="Calibri" pitchFamily="34" charset="-120"/>
              </a:rPr>
              <a:t>Preprocessing (matches ImageNet training):</a:t>
            </a:r>
            <a:endParaRPr lang="en-US" sz="1100" dirty="0"/>
          </a:p>
        </p:txBody>
      </p:sp>
      <p:sp>
        <p:nvSpPr>
          <p:cNvPr id="24" name="Text 22"/>
          <p:cNvSpPr/>
          <p:nvPr/>
        </p:nvSpPr>
        <p:spPr>
          <a:xfrm>
            <a:off x="621792" y="3072384"/>
            <a:ext cx="4023360" cy="256032"/>
          </a:xfrm>
          <a:prstGeom prst="rect">
            <a:avLst/>
          </a:prstGeom>
          <a:noFill/>
          <a:ln/>
        </p:spPr>
        <p:txBody>
          <a:bodyPr wrap="square" lIns="0" tIns="0" rIns="0" bIns="0" rtlCol="0" anchor="ctr"/>
          <a:lstStyle/>
          <a:p>
            <a:pPr indent="0" marL="0">
              <a:buNone/>
            </a:pPr>
            <a:r>
              <a:rPr lang="en-US" sz="1200" dirty="0">
                <a:solidFill>
                  <a:srgbClr val="1A2B4A"/>
                </a:solidFill>
                <a:latin typeface="Courier New" pitchFamily="34" charset="0"/>
                <a:ea typeface="Courier New" pitchFamily="34" charset="-122"/>
                <a:cs typeface="Courier New" pitchFamily="34" charset="-120"/>
              </a:rPr>
              <a:t>z_pixel = (pixel / 127.5) − 1.0  →  z ∈ [−1, 1]</a:t>
            </a:r>
            <a:endParaRPr lang="en-US" sz="1200" dirty="0"/>
          </a:p>
        </p:txBody>
      </p:sp>
      <p:sp>
        <p:nvSpPr>
          <p:cNvPr id="25" name="Text 23"/>
          <p:cNvSpPr/>
          <p:nvPr/>
        </p:nvSpPr>
        <p:spPr>
          <a:xfrm>
            <a:off x="621792" y="3346704"/>
            <a:ext cx="4023360" cy="219456"/>
          </a:xfrm>
          <a:prstGeom prst="rect">
            <a:avLst/>
          </a:prstGeom>
          <a:noFill/>
          <a:ln/>
        </p:spPr>
        <p:txBody>
          <a:bodyPr wrap="square" lIns="0" tIns="0" rIns="0" bIns="0" rtlCol="0" anchor="ctr"/>
          <a:lstStyle/>
          <a:p>
            <a:pPr indent="0" marL="0">
              <a:buNone/>
            </a:pPr>
            <a:r>
              <a:rPr lang="en-US" sz="1150" dirty="0">
                <a:solidFill>
                  <a:srgbClr val="4A5568"/>
                </a:solidFill>
                <a:latin typeface="Calibri" pitchFamily="34" charset="0"/>
                <a:ea typeface="Calibri" pitchFamily="34" charset="-122"/>
                <a:cs typeface="Calibri" pitchFamily="34" charset="-120"/>
              </a:rPr>
              <a:t>Input shape: 224 × 224 × 3 (RGB)</a:t>
            </a:r>
            <a:endParaRPr lang="en-US" sz="1150" dirty="0"/>
          </a:p>
        </p:txBody>
      </p:sp>
      <p:sp>
        <p:nvSpPr>
          <p:cNvPr id="26" name="Text 24"/>
          <p:cNvSpPr/>
          <p:nvPr/>
        </p:nvSpPr>
        <p:spPr>
          <a:xfrm>
            <a:off x="621792" y="3584448"/>
            <a:ext cx="4023360" cy="219456"/>
          </a:xfrm>
          <a:prstGeom prst="rect">
            <a:avLst/>
          </a:prstGeom>
          <a:noFill/>
          <a:ln/>
        </p:spPr>
        <p:txBody>
          <a:bodyPr wrap="square" lIns="0" tIns="0" rIns="0" bIns="0" rtlCol="0" anchor="ctr"/>
          <a:lstStyle/>
          <a:p>
            <a:pPr indent="0" marL="0">
              <a:buNone/>
            </a:pPr>
            <a:r>
              <a:rPr lang="en-US" sz="1150" dirty="0">
                <a:solidFill>
                  <a:srgbClr val="4A5568"/>
                </a:solidFill>
                <a:latin typeface="Calibri" pitchFamily="34" charset="0"/>
                <a:ea typeface="Calibri" pitchFamily="34" charset="-122"/>
                <a:cs typeface="Calibri" pitchFamily="34" charset="-120"/>
              </a:rPr>
              <a:t>Parameter count: ~3.5M total | 11.6 MB on disk</a:t>
            </a:r>
            <a:endParaRPr lang="en-US" sz="1150" dirty="0"/>
          </a:p>
        </p:txBody>
      </p:sp>
      <p:sp>
        <p:nvSpPr>
          <p:cNvPr id="27" name="Text 25"/>
          <p:cNvSpPr/>
          <p:nvPr/>
        </p:nvSpPr>
        <p:spPr>
          <a:xfrm>
            <a:off x="621792" y="3803904"/>
            <a:ext cx="4023360" cy="219456"/>
          </a:xfrm>
          <a:prstGeom prst="rect">
            <a:avLst/>
          </a:prstGeom>
          <a:noFill/>
          <a:ln/>
        </p:spPr>
        <p:txBody>
          <a:bodyPr wrap="square" lIns="0" tIns="0" rIns="0" bIns="0" rtlCol="0" anchor="ctr"/>
          <a:lstStyle/>
          <a:p>
            <a:pPr indent="0" marL="0">
              <a:buNone/>
            </a:pPr>
            <a:r>
              <a:rPr lang="en-US" sz="1150" b="1" dirty="0">
                <a:solidFill>
                  <a:srgbClr val="3A8C7E"/>
                </a:solidFill>
                <a:latin typeface="Calibri" pitchFamily="34" charset="0"/>
                <a:ea typeface="Calibri" pitchFamily="34" charset="-122"/>
                <a:cs typeface="Calibri" pitchFamily="34" charset="-120"/>
              </a:rPr>
              <a:t>Inference: ~380 ms avg (commodity CPU, post-warmup)</a:t>
            </a:r>
            <a:endParaRPr lang="en-US" sz="1150" dirty="0"/>
          </a:p>
        </p:txBody>
      </p:sp>
      <p:sp>
        <p:nvSpPr>
          <p:cNvPr id="28" name="Shape 26"/>
          <p:cNvSpPr/>
          <p:nvPr/>
        </p:nvSpPr>
        <p:spPr>
          <a:xfrm>
            <a:off x="4956048" y="1207008"/>
            <a:ext cx="3803904" cy="1572768"/>
          </a:xfrm>
          <a:prstGeom prst="roundRect">
            <a:avLst>
              <a:gd name="adj" fmla="val 6977"/>
            </a:avLst>
          </a:prstGeom>
          <a:solidFill>
            <a:srgbClr val="FFFDE7"/>
          </a:solidFill>
          <a:ln w="6350">
            <a:solidFill>
              <a:srgbClr val="1A2B4A">
                <a:alpha val="40000"/>
              </a:srgbClr>
            </a:solidFill>
            <a:prstDash val="solid"/>
          </a:ln>
          <a:effectLst>
            <a:outerShdw sx="100000" sy="100000" kx="0" ky="0" algn="bl" rotWithShape="0" blurRad="101600" dist="38100" dir="2700000">
              <a:srgbClr val="000000">
                <a:alpha val="10000"/>
              </a:srgbClr>
            </a:outerShdw>
          </a:effectLst>
        </p:spPr>
      </p:sp>
      <p:sp>
        <p:nvSpPr>
          <p:cNvPr id="29" name="Text 27"/>
          <p:cNvSpPr/>
          <p:nvPr/>
        </p:nvSpPr>
        <p:spPr>
          <a:xfrm>
            <a:off x="5102352" y="1280160"/>
            <a:ext cx="3547872" cy="256032"/>
          </a:xfrm>
          <a:prstGeom prst="rect">
            <a:avLst/>
          </a:prstGeom>
          <a:noFill/>
          <a:ln/>
        </p:spPr>
        <p:txBody>
          <a:bodyPr wrap="square" lIns="0" tIns="0" rIns="0" bIns="0" rtlCol="0" anchor="ctr"/>
          <a:lstStyle/>
          <a:p>
            <a:pPr indent="0" marL="0">
              <a:buNone/>
            </a:pPr>
            <a:r>
              <a:rPr lang="en-US" sz="1150" b="1" dirty="0">
                <a:solidFill>
                  <a:srgbClr val="1A2B4A"/>
                </a:solidFill>
                <a:latin typeface="Calibri" pitchFamily="34" charset="0"/>
                <a:ea typeface="Calibri" pitchFamily="34" charset="-122"/>
                <a:cs typeface="Calibri" pitchFamily="34" charset="-120"/>
              </a:rPr>
              <a:t>Why Depthwise Separable Convolutions?</a:t>
            </a:r>
            <a:endParaRPr lang="en-US" sz="1150" dirty="0"/>
          </a:p>
        </p:txBody>
      </p:sp>
      <p:sp>
        <p:nvSpPr>
          <p:cNvPr id="30" name="Text 28"/>
          <p:cNvSpPr/>
          <p:nvPr/>
        </p:nvSpPr>
        <p:spPr>
          <a:xfrm>
            <a:off x="5102352" y="1572768"/>
            <a:ext cx="3547872" cy="1170432"/>
          </a:xfrm>
          <a:prstGeom prst="rect">
            <a:avLst/>
          </a:prstGeom>
          <a:noFill/>
          <a:ln/>
        </p:spPr>
        <p:txBody>
          <a:bodyPr wrap="square" lIns="0" tIns="0" rIns="0" bIns="0" rtlCol="0" anchor="t"/>
          <a:lstStyle/>
          <a:p>
            <a:pPr indent="0" marL="0">
              <a:buNone/>
            </a:pPr>
            <a:r>
              <a:rPr lang="en-US" sz="1050" dirty="0">
                <a:solidFill>
                  <a:srgbClr val="4A5568"/>
                </a:solidFill>
                <a:latin typeface="Calibri" pitchFamily="34" charset="0"/>
                <a:ea typeface="Calibri" pitchFamily="34" charset="-122"/>
                <a:cs typeface="Calibri" pitchFamily="34" charset="-120"/>
              </a:rPr>
              <a:t>A standard 3×3 conv on a 64-channel tensor requires 3×3×64×64 = 36,864 multiplications per spatial position. The depthwise (DW) step convolves each channel independently (3×3×1×64 = 576), and the pointwise projects across channels (1×1×64×64 = 4,096). Total: 4,672 — an 8× reduction with minimal accuracy loss.</a:t>
            </a:r>
            <a:endParaRPr lang="en-US" sz="1050" dirty="0"/>
          </a:p>
        </p:txBody>
      </p:sp>
      <p:sp>
        <p:nvSpPr>
          <p:cNvPr id="31" name="Shape 29"/>
          <p:cNvSpPr/>
          <p:nvPr/>
        </p:nvSpPr>
        <p:spPr>
          <a:xfrm>
            <a:off x="4956048" y="2889504"/>
            <a:ext cx="3803904" cy="1792224"/>
          </a:xfrm>
          <a:prstGeom prst="roundRect">
            <a:avLst>
              <a:gd name="adj" fmla="val 6122"/>
            </a:avLst>
          </a:prstGeom>
          <a:solidFill>
            <a:srgbClr val="E8F5F1"/>
          </a:solidFill>
          <a:ln w="6350">
            <a:solidFill>
              <a:srgbClr val="1A2B4A">
                <a:alpha val="40000"/>
              </a:srgbClr>
            </a:solidFill>
            <a:prstDash val="solid"/>
          </a:ln>
          <a:effectLst>
            <a:outerShdw sx="100000" sy="100000" kx="0" ky="0" algn="bl" rotWithShape="0" blurRad="101600" dist="38100" dir="2700000">
              <a:srgbClr val="000000">
                <a:alpha val="10000"/>
              </a:srgbClr>
            </a:outerShdw>
          </a:effectLst>
        </p:spPr>
      </p:sp>
      <p:sp>
        <p:nvSpPr>
          <p:cNvPr id="32" name="Text 30"/>
          <p:cNvSpPr/>
          <p:nvPr/>
        </p:nvSpPr>
        <p:spPr>
          <a:xfrm>
            <a:off x="5102352" y="2962656"/>
            <a:ext cx="3547872" cy="256032"/>
          </a:xfrm>
          <a:prstGeom prst="rect">
            <a:avLst/>
          </a:prstGeom>
          <a:noFill/>
          <a:ln/>
        </p:spPr>
        <p:txBody>
          <a:bodyPr wrap="square" lIns="0" tIns="0" rIns="0" bIns="0" rtlCol="0" anchor="ctr"/>
          <a:lstStyle/>
          <a:p>
            <a:pPr indent="0" marL="0">
              <a:buNone/>
            </a:pPr>
            <a:r>
              <a:rPr lang="en-US" sz="1150" b="1" dirty="0">
                <a:solidFill>
                  <a:srgbClr val="1A2B4A"/>
                </a:solidFill>
                <a:latin typeface="Calibri" pitchFamily="34" charset="0"/>
                <a:ea typeface="Calibri" pitchFamily="34" charset="-122"/>
                <a:cs typeface="Calibri" pitchFamily="34" charset="-120"/>
              </a:rPr>
              <a:t>Why MobileNetV2 over ResNet-50?</a:t>
            </a:r>
            <a:endParaRPr lang="en-US" sz="1150" dirty="0"/>
          </a:p>
        </p:txBody>
      </p:sp>
      <p:sp>
        <p:nvSpPr>
          <p:cNvPr id="33" name="Text 31"/>
          <p:cNvSpPr/>
          <p:nvPr/>
        </p:nvSpPr>
        <p:spPr>
          <a:xfrm>
            <a:off x="5102352" y="3255264"/>
            <a:ext cx="3547872" cy="1389888"/>
          </a:xfrm>
          <a:prstGeom prst="rect">
            <a:avLst/>
          </a:prstGeom>
          <a:noFill/>
          <a:ln/>
        </p:spPr>
        <p:txBody>
          <a:bodyPr wrap="square" lIns="0" tIns="0" rIns="0" bIns="0" rtlCol="0" anchor="t"/>
          <a:lstStyle/>
          <a:p>
            <a:pPr indent="0" marL="0">
              <a:buNone/>
            </a:pPr>
            <a:r>
              <a:rPr lang="en-US" sz="1050" dirty="0">
                <a:solidFill>
                  <a:srgbClr val="4A5568"/>
                </a:solidFill>
                <a:latin typeface="Calibri" pitchFamily="34" charset="0"/>
                <a:ea typeface="Calibri" pitchFamily="34" charset="-122"/>
                <a:cs typeface="Calibri" pitchFamily="34" charset="-120"/>
              </a:rPr>
              <a:t>ResNet-50 achieves ~1–2% higher Top-1 accuracy on ImageNet but is 97 MB on disk — 8× heavier. At 11.6 MB, MobileNetV2:</a:t>
            </a:r>
            <a:endParaRPr lang="en-US" sz="1050" dirty="0"/>
          </a:p>
          <a:p>
            <a:pPr indent="0" marL="0">
              <a:buNone/>
            </a:pPr>
            <a:endParaRPr lang="en-US" sz="1050" dirty="0"/>
          </a:p>
          <a:p>
            <a:pPr indent="0" marL="0">
              <a:buNone/>
            </a:pPr>
            <a:r>
              <a:rPr lang="en-US" sz="1050" dirty="0">
                <a:solidFill>
                  <a:srgbClr val="4A5568"/>
                </a:solidFill>
                <a:latin typeface="Calibri" pitchFamily="34" charset="0"/>
                <a:ea typeface="Calibri" pitchFamily="34" charset="-122"/>
                <a:cs typeface="Calibri" pitchFamily="34" charset="-120"/>
              </a:rPr>
              <a:t>→ Loads at server startup in ~800 ms</a:t>
            </a:r>
            <a:endParaRPr lang="en-US" sz="1050" dirty="0"/>
          </a:p>
          <a:p>
            <a:pPr indent="0" marL="0">
              <a:buNone/>
            </a:pPr>
            <a:r>
              <a:rPr lang="en-US" sz="1050" dirty="0">
                <a:solidFill>
                  <a:srgbClr val="4A5568"/>
                </a:solidFill>
                <a:latin typeface="Calibri" pitchFamily="34" charset="0"/>
                <a:ea typeface="Calibri" pitchFamily="34" charset="-122"/>
                <a:cs typeface="Calibri" pitchFamily="34" charset="-120"/>
              </a:rPr>
              <a:t>→ Infers in ~380 ms on CPU (no GPU needed)</a:t>
            </a:r>
            <a:endParaRPr lang="en-US" sz="1050" dirty="0"/>
          </a:p>
          <a:p>
            <a:pPr indent="0" marL="0">
              <a:buNone/>
            </a:pPr>
            <a:r>
              <a:rPr lang="en-US" sz="1050" dirty="0">
                <a:solidFill>
                  <a:srgbClr val="4A5568"/>
                </a:solidFill>
                <a:latin typeface="Calibri" pitchFamily="34" charset="0"/>
                <a:ea typeface="Calibri" pitchFamily="34" charset="-122"/>
                <a:cs typeface="Calibri" pitchFamily="34" charset="-120"/>
              </a:rPr>
              <a:t>→ Fits in RAM on a free-tier Render instance</a:t>
            </a:r>
            <a:endParaRPr lang="en-US" sz="1050" dirty="0"/>
          </a:p>
          <a:p>
            <a:pPr indent="0" marL="0">
              <a:buNone/>
            </a:pPr>
            <a:r>
              <a:rPr lang="en-US" sz="1050" dirty="0">
                <a:solidFill>
                  <a:srgbClr val="4A5568"/>
                </a:solidFill>
                <a:latin typeface="Calibri" pitchFamily="34" charset="0"/>
                <a:ea typeface="Calibri" pitchFamily="34" charset="-122"/>
                <a:cs typeface="Calibri" pitchFamily="34" charset="-120"/>
              </a:rPr>
              <a:t>→ Can later be converted to TensorFlow Lite for on-device inference</a:t>
            </a:r>
            <a:endParaRPr lang="en-US" sz="10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EBEBEB"/>
        </a:solidFill>
      </p:bgPr>
    </p:bg>
    <p:spTree>
      <p:nvGrpSpPr>
        <p:cNvPr id="1" name=""/>
        <p:cNvGrpSpPr/>
        <p:nvPr/>
      </p:nvGrpSpPr>
      <p:grpSpPr>
        <a:xfrm>
          <a:off x="0" y="0"/>
          <a:ext cx="0" cy="0"/>
          <a:chOff x="0" y="0"/>
          <a:chExt cx="0" cy="0"/>
        </a:xfrm>
      </p:grpSpPr>
      <p:sp>
        <p:nvSpPr>
          <p:cNvPr id="2" name="Shape 0"/>
          <p:cNvSpPr/>
          <p:nvPr/>
        </p:nvSpPr>
        <p:spPr>
          <a:xfrm>
            <a:off x="7589520" y="182880"/>
            <a:ext cx="1005840" cy="1005840"/>
          </a:xfrm>
          <a:prstGeom prst="rect">
            <a:avLst/>
          </a:prstGeom>
          <a:ln w="12700">
            <a:solidFill>
              <a:srgbClr val="1A2B4A">
                <a:alpha val="70000"/>
              </a:srgbClr>
            </a:solidFill>
            <a:prstDash val="solid"/>
          </a:ln>
        </p:spPr>
      </p:sp>
      <p:sp>
        <p:nvSpPr>
          <p:cNvPr id="3" name="Shape 1"/>
          <p:cNvSpPr/>
          <p:nvPr/>
        </p:nvSpPr>
        <p:spPr>
          <a:xfrm>
            <a:off x="7589520" y="182880"/>
            <a:ext cx="670560" cy="670560"/>
          </a:xfrm>
          <a:prstGeom prst="rect">
            <a:avLst/>
          </a:prstGeom>
          <a:ln w="12700">
            <a:solidFill>
              <a:srgbClr val="1A2B4A">
                <a:alpha val="60000"/>
              </a:srgbClr>
            </a:solidFill>
            <a:prstDash val="solid"/>
          </a:ln>
        </p:spPr>
      </p:sp>
      <p:sp>
        <p:nvSpPr>
          <p:cNvPr id="4" name="Shape 2"/>
          <p:cNvSpPr/>
          <p:nvPr/>
        </p:nvSpPr>
        <p:spPr>
          <a:xfrm>
            <a:off x="7589520" y="182880"/>
            <a:ext cx="335280" cy="335280"/>
          </a:xfrm>
          <a:prstGeom prst="rect">
            <a:avLst/>
          </a:prstGeom>
          <a:ln w="12700">
            <a:solidFill>
              <a:srgbClr val="1A2B4A">
                <a:alpha val="50000"/>
              </a:srgbClr>
            </a:solidFill>
            <a:prstDash val="solid"/>
          </a:ln>
        </p:spPr>
      </p:sp>
      <p:sp>
        <p:nvSpPr>
          <p:cNvPr id="5" name="Shape 3"/>
          <p:cNvSpPr/>
          <p:nvPr/>
        </p:nvSpPr>
        <p:spPr>
          <a:xfrm rot="-900000">
            <a:off x="137160" y="1371600"/>
            <a:ext cx="777240" cy="201168"/>
          </a:xfrm>
          <a:prstGeom prst="rect">
            <a:avLst/>
          </a:prstGeom>
          <a:solidFill>
            <a:srgbClr val="1A2B4A">
              <a:alpha val="40000"/>
            </a:srgbClr>
          </a:solidFill>
          <a:ln/>
        </p:spPr>
      </p:sp>
      <p:sp>
        <p:nvSpPr>
          <p:cNvPr id="6" name="Shape 4"/>
          <p:cNvSpPr/>
          <p:nvPr/>
        </p:nvSpPr>
        <p:spPr>
          <a:xfrm rot="-900000">
            <a:off x="338328" y="1463040"/>
            <a:ext cx="777240" cy="201168"/>
          </a:xfrm>
          <a:prstGeom prst="rect">
            <a:avLst/>
          </a:prstGeom>
          <a:solidFill>
            <a:srgbClr val="3B5FA0">
              <a:alpha val="30000"/>
            </a:srgbClr>
          </a:solidFill>
          <a:ln/>
        </p:spPr>
      </p:sp>
      <p:sp>
        <p:nvSpPr>
          <p:cNvPr id="7" name="Shape 5"/>
          <p:cNvSpPr/>
          <p:nvPr/>
        </p:nvSpPr>
        <p:spPr>
          <a:xfrm rot="-900000">
            <a:off x="539496" y="1554480"/>
            <a:ext cx="777240" cy="201168"/>
          </a:xfrm>
          <a:prstGeom prst="rect">
            <a:avLst/>
          </a:prstGeom>
          <a:solidFill>
            <a:srgbClr val="3A8C7E">
              <a:alpha val="25000"/>
            </a:srgbClr>
          </a:solidFill>
          <a:ln/>
        </p:spPr>
      </p:sp>
      <p:sp>
        <p:nvSpPr>
          <p:cNvPr id="8" name="Text 6"/>
          <p:cNvSpPr/>
          <p:nvPr/>
        </p:nvSpPr>
        <p:spPr>
          <a:xfrm>
            <a:off x="411480" y="292608"/>
            <a:ext cx="8321040" cy="530352"/>
          </a:xfrm>
          <a:prstGeom prst="rect">
            <a:avLst/>
          </a:prstGeom>
          <a:noFill/>
          <a:ln/>
        </p:spPr>
        <p:txBody>
          <a:bodyPr wrap="square" lIns="0" tIns="0" rIns="0" bIns="0" rtlCol="0" anchor="ctr"/>
          <a:lstStyle/>
          <a:p>
            <a:pPr algn="l" indent="0" marL="0">
              <a:buNone/>
            </a:pPr>
            <a:r>
              <a:rPr lang="en-US" sz="2800" b="1" dirty="0">
                <a:solidFill>
                  <a:srgbClr val="1A2B4A"/>
                </a:solidFill>
                <a:latin typeface="Cambria" pitchFamily="34" charset="0"/>
                <a:ea typeface="Cambria" pitchFamily="34" charset="-122"/>
                <a:cs typeface="Cambria" pitchFamily="34" charset="-120"/>
              </a:rPr>
              <a:t>Mathematical Model: Shelf-Life Estimator</a:t>
            </a:r>
            <a:endParaRPr lang="en-US" sz="2800" dirty="0"/>
          </a:p>
        </p:txBody>
      </p:sp>
      <p:sp>
        <p:nvSpPr>
          <p:cNvPr id="9" name="Shape 7"/>
          <p:cNvSpPr/>
          <p:nvPr/>
        </p:nvSpPr>
        <p:spPr>
          <a:xfrm>
            <a:off x="411480" y="868680"/>
            <a:ext cx="8229600" cy="0"/>
          </a:xfrm>
          <a:prstGeom prst="line">
            <a:avLst/>
          </a:prstGeom>
          <a:noFill/>
          <a:ln w="19050">
            <a:solidFill>
              <a:srgbClr val="3A8C7E">
                <a:alpha val="60000"/>
              </a:srgbClr>
            </a:solidFill>
            <a:prstDash val="solid"/>
          </a:ln>
        </p:spPr>
      </p:sp>
      <p:sp>
        <p:nvSpPr>
          <p:cNvPr id="10" name="Shape 8"/>
          <p:cNvSpPr/>
          <p:nvPr/>
        </p:nvSpPr>
        <p:spPr>
          <a:xfrm>
            <a:off x="411480" y="950976"/>
            <a:ext cx="8229600" cy="0"/>
          </a:xfrm>
          <a:prstGeom prst="line">
            <a:avLst/>
          </a:prstGeom>
          <a:noFill/>
          <a:ln w="10160">
            <a:solidFill>
              <a:srgbClr val="1A2B4A">
                <a:alpha val="45000"/>
              </a:srgbClr>
            </a:solidFill>
            <a:prstDash val="solid"/>
          </a:ln>
        </p:spPr>
      </p:sp>
      <p:sp>
        <p:nvSpPr>
          <p:cNvPr id="11" name="Shape 9"/>
          <p:cNvSpPr/>
          <p:nvPr/>
        </p:nvSpPr>
        <p:spPr>
          <a:xfrm>
            <a:off x="384048" y="1005840"/>
            <a:ext cx="8375904" cy="621792"/>
          </a:xfrm>
          <a:prstGeom prst="rect">
            <a:avLst/>
          </a:prstGeom>
          <a:solidFill>
            <a:srgbClr val="1A2B4A"/>
          </a:solidFill>
          <a:ln w="6350">
            <a:solidFill>
              <a:srgbClr val="1A2B4A">
                <a:alpha val="40000"/>
              </a:srgbClr>
            </a:solidFill>
            <a:prstDash val="solid"/>
          </a:ln>
          <a:effectLst>
            <a:outerShdw sx="100000" sy="100000" kx="0" ky="0" algn="bl" rotWithShape="0" blurRad="101600" dist="38100" dir="2700000">
              <a:srgbClr val="000000">
                <a:alpha val="10000"/>
              </a:srgbClr>
            </a:outerShdw>
          </a:effectLst>
        </p:spPr>
      </p:sp>
      <p:sp>
        <p:nvSpPr>
          <p:cNvPr id="12" name="Text 10"/>
          <p:cNvSpPr/>
          <p:nvPr/>
        </p:nvSpPr>
        <p:spPr>
          <a:xfrm>
            <a:off x="384048" y="1005840"/>
            <a:ext cx="8375904" cy="621792"/>
          </a:xfrm>
          <a:prstGeom prst="rect">
            <a:avLst/>
          </a:prstGeom>
          <a:noFill/>
          <a:ln/>
        </p:spPr>
        <p:txBody>
          <a:bodyPr wrap="square" lIns="0" tIns="0" rIns="0" bIns="0" rtlCol="0" anchor="ctr"/>
          <a:lstStyle/>
          <a:p>
            <a:pPr algn="ctr" indent="0" marL="0">
              <a:buNone/>
            </a:pPr>
            <a:r>
              <a:rPr lang="en-US" sz="2600" b="1" dirty="0">
                <a:solidFill>
                  <a:srgbClr val="FFFFFF"/>
                </a:solidFill>
                <a:latin typeface="Courier New" pitchFamily="34" charset="0"/>
                <a:ea typeface="Courier New" pitchFamily="34" charset="-122"/>
                <a:cs typeface="Courier New" pitchFamily="34" charset="-120"/>
              </a:rPr>
              <a:t>D = B × F^1.5 × T × R</a:t>
            </a:r>
            <a:endParaRPr lang="en-US" sz="2600" dirty="0"/>
          </a:p>
        </p:txBody>
      </p:sp>
      <p:sp>
        <p:nvSpPr>
          <p:cNvPr id="13" name="Shape 11"/>
          <p:cNvSpPr/>
          <p:nvPr/>
        </p:nvSpPr>
        <p:spPr>
          <a:xfrm>
            <a:off x="384048" y="1737360"/>
            <a:ext cx="4114800" cy="1216152"/>
          </a:xfrm>
          <a:prstGeom prst="roundRect">
            <a:avLst>
              <a:gd name="adj" fmla="val 9023"/>
            </a:avLst>
          </a:prstGeom>
          <a:solidFill>
            <a:srgbClr val="F4F7F9"/>
          </a:solidFill>
          <a:ln w="6350">
            <a:solidFill>
              <a:srgbClr val="1A2B4A">
                <a:alpha val="40000"/>
              </a:srgbClr>
            </a:solidFill>
            <a:prstDash val="solid"/>
          </a:ln>
          <a:effectLst>
            <a:outerShdw sx="100000" sy="100000" kx="0" ky="0" algn="bl" rotWithShape="0" blurRad="101600" dist="38100" dir="2700000">
              <a:srgbClr val="000000">
                <a:alpha val="10000"/>
              </a:srgbClr>
            </a:outerShdw>
          </a:effectLst>
        </p:spPr>
      </p:sp>
      <p:sp>
        <p:nvSpPr>
          <p:cNvPr id="14" name="Text 12"/>
          <p:cNvSpPr/>
          <p:nvPr/>
        </p:nvSpPr>
        <p:spPr>
          <a:xfrm>
            <a:off x="493776" y="1847088"/>
            <a:ext cx="640080" cy="640080"/>
          </a:xfrm>
          <a:prstGeom prst="rect">
            <a:avLst/>
          </a:prstGeom>
          <a:noFill/>
          <a:ln/>
        </p:spPr>
        <p:txBody>
          <a:bodyPr wrap="square" lIns="0" tIns="0" rIns="0" bIns="0" rtlCol="0" anchor="ctr"/>
          <a:lstStyle/>
          <a:p>
            <a:pPr algn="ctr" indent="0" marL="0">
              <a:buNone/>
            </a:pPr>
            <a:r>
              <a:rPr lang="en-US" sz="2200" b="1" dirty="0">
                <a:solidFill>
                  <a:srgbClr val="3A8C7E"/>
                </a:solidFill>
                <a:latin typeface="Courier New" pitchFamily="34" charset="0"/>
                <a:ea typeface="Courier New" pitchFamily="34" charset="-122"/>
                <a:cs typeface="Courier New" pitchFamily="34" charset="-120"/>
              </a:rPr>
              <a:t>D</a:t>
            </a:r>
            <a:endParaRPr lang="en-US" sz="2200" dirty="0"/>
          </a:p>
        </p:txBody>
      </p:sp>
      <p:sp>
        <p:nvSpPr>
          <p:cNvPr id="15" name="Text 13"/>
          <p:cNvSpPr/>
          <p:nvPr/>
        </p:nvSpPr>
        <p:spPr>
          <a:xfrm>
            <a:off x="1207008" y="1828800"/>
            <a:ext cx="3200400" cy="256032"/>
          </a:xfrm>
          <a:prstGeom prst="rect">
            <a:avLst/>
          </a:prstGeom>
          <a:noFill/>
          <a:ln/>
        </p:spPr>
        <p:txBody>
          <a:bodyPr wrap="square" lIns="0" tIns="0" rIns="0" bIns="0" rtlCol="0" anchor="ctr"/>
          <a:lstStyle/>
          <a:p>
            <a:pPr indent="0" marL="0">
              <a:buNone/>
            </a:pPr>
            <a:r>
              <a:rPr lang="en-US" sz="1200" b="1" dirty="0">
                <a:solidFill>
                  <a:srgbClr val="1A2B4A"/>
                </a:solidFill>
                <a:latin typeface="Calibri" pitchFamily="34" charset="0"/>
                <a:ea typeface="Calibri" pitchFamily="34" charset="-122"/>
                <a:cs typeface="Calibri" pitchFamily="34" charset="-120"/>
              </a:rPr>
              <a:t>Days Remaining</a:t>
            </a:r>
            <a:endParaRPr lang="en-US" sz="1200" dirty="0"/>
          </a:p>
        </p:txBody>
      </p:sp>
      <p:sp>
        <p:nvSpPr>
          <p:cNvPr id="16" name="Text 14"/>
          <p:cNvSpPr/>
          <p:nvPr/>
        </p:nvSpPr>
        <p:spPr>
          <a:xfrm>
            <a:off x="1207008" y="2103120"/>
            <a:ext cx="3200400" cy="804672"/>
          </a:xfrm>
          <a:prstGeom prst="rect">
            <a:avLst/>
          </a:prstGeom>
          <a:noFill/>
          <a:ln/>
        </p:spPr>
        <p:txBody>
          <a:bodyPr wrap="square" lIns="0" tIns="0" rIns="0" bIns="0" rtlCol="0" anchor="t"/>
          <a:lstStyle/>
          <a:p>
            <a:pPr indent="0" marL="0">
              <a:buNone/>
            </a:pPr>
            <a:r>
              <a:rPr lang="en-US" sz="1050" dirty="0">
                <a:solidFill>
                  <a:srgbClr val="4A5568"/>
                </a:solidFill>
                <a:latin typeface="Calibri" pitchFamily="34" charset="0"/>
                <a:ea typeface="Calibri" pitchFamily="34" charset="-122"/>
                <a:cs typeface="Calibri" pitchFamily="34" charset="-120"/>
              </a:rPr>
              <a:t>The personalised shelf-life estimate. Computed separately for room temperature, refrigerator, and freezer — all three returned; the recommended storage method shows the longest.</a:t>
            </a:r>
            <a:endParaRPr lang="en-US" sz="1050" dirty="0"/>
          </a:p>
        </p:txBody>
      </p:sp>
      <p:sp>
        <p:nvSpPr>
          <p:cNvPr id="17" name="Shape 15"/>
          <p:cNvSpPr/>
          <p:nvPr/>
        </p:nvSpPr>
        <p:spPr>
          <a:xfrm>
            <a:off x="4636008" y="1737360"/>
            <a:ext cx="4114800" cy="1216152"/>
          </a:xfrm>
          <a:prstGeom prst="roundRect">
            <a:avLst>
              <a:gd name="adj" fmla="val 9023"/>
            </a:avLst>
          </a:prstGeom>
          <a:solidFill>
            <a:srgbClr val="F4F7F9"/>
          </a:solidFill>
          <a:ln w="6350">
            <a:solidFill>
              <a:srgbClr val="1A2B4A">
                <a:alpha val="40000"/>
              </a:srgbClr>
            </a:solidFill>
            <a:prstDash val="solid"/>
          </a:ln>
          <a:effectLst>
            <a:outerShdw sx="100000" sy="100000" kx="0" ky="0" algn="bl" rotWithShape="0" blurRad="101600" dist="38100" dir="2700000">
              <a:srgbClr val="000000">
                <a:alpha val="10000"/>
              </a:srgbClr>
            </a:outerShdw>
          </a:effectLst>
        </p:spPr>
      </p:sp>
      <p:sp>
        <p:nvSpPr>
          <p:cNvPr id="18" name="Text 16"/>
          <p:cNvSpPr/>
          <p:nvPr/>
        </p:nvSpPr>
        <p:spPr>
          <a:xfrm>
            <a:off x="4745736" y="1847088"/>
            <a:ext cx="640080" cy="640080"/>
          </a:xfrm>
          <a:prstGeom prst="rect">
            <a:avLst/>
          </a:prstGeom>
          <a:noFill/>
          <a:ln/>
        </p:spPr>
        <p:txBody>
          <a:bodyPr wrap="square" lIns="0" tIns="0" rIns="0" bIns="0" rtlCol="0" anchor="ctr"/>
          <a:lstStyle/>
          <a:p>
            <a:pPr algn="ctr" indent="0" marL="0">
              <a:buNone/>
            </a:pPr>
            <a:r>
              <a:rPr lang="en-US" sz="2200" b="1" dirty="0">
                <a:solidFill>
                  <a:srgbClr val="3A8C7E"/>
                </a:solidFill>
                <a:latin typeface="Courier New" pitchFamily="34" charset="0"/>
                <a:ea typeface="Courier New" pitchFamily="34" charset="-122"/>
                <a:cs typeface="Courier New" pitchFamily="34" charset="-120"/>
              </a:rPr>
              <a:t>B</a:t>
            </a:r>
            <a:endParaRPr lang="en-US" sz="2200" dirty="0"/>
          </a:p>
        </p:txBody>
      </p:sp>
      <p:sp>
        <p:nvSpPr>
          <p:cNvPr id="19" name="Text 17"/>
          <p:cNvSpPr/>
          <p:nvPr/>
        </p:nvSpPr>
        <p:spPr>
          <a:xfrm>
            <a:off x="5458968" y="1828800"/>
            <a:ext cx="3200400" cy="256032"/>
          </a:xfrm>
          <a:prstGeom prst="rect">
            <a:avLst/>
          </a:prstGeom>
          <a:noFill/>
          <a:ln/>
        </p:spPr>
        <p:txBody>
          <a:bodyPr wrap="square" lIns="0" tIns="0" rIns="0" bIns="0" rtlCol="0" anchor="ctr"/>
          <a:lstStyle/>
          <a:p>
            <a:pPr indent="0" marL="0">
              <a:buNone/>
            </a:pPr>
            <a:r>
              <a:rPr lang="en-US" sz="1200" b="1" dirty="0">
                <a:solidFill>
                  <a:srgbClr val="1A2B4A"/>
                </a:solidFill>
                <a:latin typeface="Calibri" pitchFamily="34" charset="0"/>
                <a:ea typeface="Calibri" pitchFamily="34" charset="-122"/>
                <a:cs typeface="Calibri" pitchFamily="34" charset="-120"/>
              </a:rPr>
              <a:t>Base Shelf Life</a:t>
            </a:r>
            <a:endParaRPr lang="en-US" sz="1200" dirty="0"/>
          </a:p>
        </p:txBody>
      </p:sp>
      <p:sp>
        <p:nvSpPr>
          <p:cNvPr id="20" name="Text 18"/>
          <p:cNvSpPr/>
          <p:nvPr/>
        </p:nvSpPr>
        <p:spPr>
          <a:xfrm>
            <a:off x="5458968" y="2103120"/>
            <a:ext cx="3200400" cy="804672"/>
          </a:xfrm>
          <a:prstGeom prst="rect">
            <a:avLst/>
          </a:prstGeom>
          <a:noFill/>
          <a:ln/>
        </p:spPr>
        <p:txBody>
          <a:bodyPr wrap="square" lIns="0" tIns="0" rIns="0" bIns="0" rtlCol="0" anchor="t"/>
          <a:lstStyle/>
          <a:p>
            <a:pPr indent="0" marL="0">
              <a:buNone/>
            </a:pPr>
            <a:r>
              <a:rPr lang="en-US" sz="1050" dirty="0">
                <a:solidFill>
                  <a:srgbClr val="4A5568"/>
                </a:solidFill>
                <a:latin typeface="Calibri" pitchFamily="34" charset="0"/>
                <a:ea typeface="Calibri" pitchFamily="34" charset="-122"/>
                <a:cs typeface="Calibri" pitchFamily="34" charset="-120"/>
              </a:rPr>
              <a:t>Read from the 42-fruit reference database for the identified variety and chosen storage method. Values drawn from USDA Postharvest Handling Guidelines (Kader, 2002).</a:t>
            </a:r>
            <a:endParaRPr lang="en-US" sz="1050" dirty="0"/>
          </a:p>
        </p:txBody>
      </p:sp>
      <p:sp>
        <p:nvSpPr>
          <p:cNvPr id="21" name="Shape 19"/>
          <p:cNvSpPr/>
          <p:nvPr/>
        </p:nvSpPr>
        <p:spPr>
          <a:xfrm>
            <a:off x="384048" y="3063240"/>
            <a:ext cx="4114800" cy="1216152"/>
          </a:xfrm>
          <a:prstGeom prst="roundRect">
            <a:avLst>
              <a:gd name="adj" fmla="val 9023"/>
            </a:avLst>
          </a:prstGeom>
          <a:solidFill>
            <a:srgbClr val="F4F7F9"/>
          </a:solidFill>
          <a:ln w="6350">
            <a:solidFill>
              <a:srgbClr val="1A2B4A">
                <a:alpha val="40000"/>
              </a:srgbClr>
            </a:solidFill>
            <a:prstDash val="solid"/>
          </a:ln>
          <a:effectLst>
            <a:outerShdw sx="100000" sy="100000" kx="0" ky="0" algn="bl" rotWithShape="0" blurRad="101600" dist="38100" dir="2700000">
              <a:srgbClr val="000000">
                <a:alpha val="10000"/>
              </a:srgbClr>
            </a:outerShdw>
          </a:effectLst>
        </p:spPr>
      </p:sp>
      <p:sp>
        <p:nvSpPr>
          <p:cNvPr id="22" name="Text 20"/>
          <p:cNvSpPr/>
          <p:nvPr/>
        </p:nvSpPr>
        <p:spPr>
          <a:xfrm>
            <a:off x="493776" y="3172968"/>
            <a:ext cx="640080" cy="640080"/>
          </a:xfrm>
          <a:prstGeom prst="rect">
            <a:avLst/>
          </a:prstGeom>
          <a:noFill/>
          <a:ln/>
        </p:spPr>
        <p:txBody>
          <a:bodyPr wrap="square" lIns="0" tIns="0" rIns="0" bIns="0" rtlCol="0" anchor="ctr"/>
          <a:lstStyle/>
          <a:p>
            <a:pPr algn="ctr" indent="0" marL="0">
              <a:buNone/>
            </a:pPr>
            <a:r>
              <a:rPr lang="en-US" sz="2200" b="1" dirty="0">
                <a:solidFill>
                  <a:srgbClr val="3A8C7E"/>
                </a:solidFill>
                <a:latin typeface="Courier New" pitchFamily="34" charset="0"/>
                <a:ea typeface="Courier New" pitchFamily="34" charset="-122"/>
                <a:cs typeface="Courier New" pitchFamily="34" charset="-120"/>
              </a:rPr>
              <a:t>F^1.5</a:t>
            </a:r>
            <a:endParaRPr lang="en-US" sz="2200" dirty="0"/>
          </a:p>
        </p:txBody>
      </p:sp>
      <p:sp>
        <p:nvSpPr>
          <p:cNvPr id="23" name="Text 21"/>
          <p:cNvSpPr/>
          <p:nvPr/>
        </p:nvSpPr>
        <p:spPr>
          <a:xfrm>
            <a:off x="1207008" y="3154680"/>
            <a:ext cx="3200400" cy="256032"/>
          </a:xfrm>
          <a:prstGeom prst="rect">
            <a:avLst/>
          </a:prstGeom>
          <a:noFill/>
          <a:ln/>
        </p:spPr>
        <p:txBody>
          <a:bodyPr wrap="square" lIns="0" tIns="0" rIns="0" bIns="0" rtlCol="0" anchor="ctr"/>
          <a:lstStyle/>
          <a:p>
            <a:pPr indent="0" marL="0">
              <a:buNone/>
            </a:pPr>
            <a:r>
              <a:rPr lang="en-US" sz="1200" b="1" dirty="0">
                <a:solidFill>
                  <a:srgbClr val="1A2B4A"/>
                </a:solidFill>
                <a:latin typeface="Calibri" pitchFamily="34" charset="0"/>
                <a:ea typeface="Calibri" pitchFamily="34" charset="-122"/>
                <a:cs typeface="Calibri" pitchFamily="34" charset="-120"/>
              </a:rPr>
              <a:t>Freshness Factor (non-linear)</a:t>
            </a:r>
            <a:endParaRPr lang="en-US" sz="1200" dirty="0"/>
          </a:p>
        </p:txBody>
      </p:sp>
      <p:sp>
        <p:nvSpPr>
          <p:cNvPr id="24" name="Text 22"/>
          <p:cNvSpPr/>
          <p:nvPr/>
        </p:nvSpPr>
        <p:spPr>
          <a:xfrm>
            <a:off x="1207008" y="3429000"/>
            <a:ext cx="3200400" cy="804672"/>
          </a:xfrm>
          <a:prstGeom prst="rect">
            <a:avLst/>
          </a:prstGeom>
          <a:noFill/>
          <a:ln/>
        </p:spPr>
        <p:txBody>
          <a:bodyPr wrap="square" lIns="0" tIns="0" rIns="0" bIns="0" rtlCol="0" anchor="t"/>
          <a:lstStyle/>
          <a:p>
            <a:pPr indent="0" marL="0">
              <a:buNone/>
            </a:pPr>
            <a:r>
              <a:rPr lang="en-US" sz="1050" dirty="0">
                <a:solidFill>
                  <a:srgbClr val="4A5568"/>
                </a:solidFill>
                <a:latin typeface="Calibri" pitchFamily="34" charset="0"/>
                <a:ea typeface="Calibri" pitchFamily="34" charset="-122"/>
                <a:cs typeface="Calibri" pitchFamily="34" charset="-120"/>
              </a:rPr>
              <a:t>The freshness score ∈ [0,1] raised to the power 1.5. The exponent reflects food-science evidence that quality degrades acceleratingly — a fruit at 50% freshness has less than 50% of base life remaining. A banana at F=0.72 → F^1.5 = 0.611 (not 0.72).</a:t>
            </a:r>
            <a:endParaRPr lang="en-US" sz="1050" dirty="0"/>
          </a:p>
        </p:txBody>
      </p:sp>
      <p:sp>
        <p:nvSpPr>
          <p:cNvPr id="25" name="Shape 23"/>
          <p:cNvSpPr/>
          <p:nvPr/>
        </p:nvSpPr>
        <p:spPr>
          <a:xfrm>
            <a:off x="4636008" y="3063240"/>
            <a:ext cx="4114800" cy="1216152"/>
          </a:xfrm>
          <a:prstGeom prst="roundRect">
            <a:avLst>
              <a:gd name="adj" fmla="val 9023"/>
            </a:avLst>
          </a:prstGeom>
          <a:solidFill>
            <a:srgbClr val="F4F7F9"/>
          </a:solidFill>
          <a:ln w="6350">
            <a:solidFill>
              <a:srgbClr val="1A2B4A">
                <a:alpha val="40000"/>
              </a:srgbClr>
            </a:solidFill>
            <a:prstDash val="solid"/>
          </a:ln>
          <a:effectLst>
            <a:outerShdw sx="100000" sy="100000" kx="0" ky="0" algn="bl" rotWithShape="0" blurRad="101600" dist="38100" dir="2700000">
              <a:srgbClr val="000000">
                <a:alpha val="10000"/>
              </a:srgbClr>
            </a:outerShdw>
          </a:effectLst>
        </p:spPr>
      </p:sp>
      <p:sp>
        <p:nvSpPr>
          <p:cNvPr id="26" name="Text 24"/>
          <p:cNvSpPr/>
          <p:nvPr/>
        </p:nvSpPr>
        <p:spPr>
          <a:xfrm>
            <a:off x="4745736" y="3172968"/>
            <a:ext cx="640080" cy="640080"/>
          </a:xfrm>
          <a:prstGeom prst="rect">
            <a:avLst/>
          </a:prstGeom>
          <a:noFill/>
          <a:ln/>
        </p:spPr>
        <p:txBody>
          <a:bodyPr wrap="square" lIns="0" tIns="0" rIns="0" bIns="0" rtlCol="0" anchor="ctr"/>
          <a:lstStyle/>
          <a:p>
            <a:pPr algn="ctr" indent="0" marL="0">
              <a:buNone/>
            </a:pPr>
            <a:r>
              <a:rPr lang="en-US" sz="2200" b="1" dirty="0">
                <a:solidFill>
                  <a:srgbClr val="3A8C7E"/>
                </a:solidFill>
                <a:latin typeface="Courier New" pitchFamily="34" charset="0"/>
                <a:ea typeface="Courier New" pitchFamily="34" charset="-122"/>
                <a:cs typeface="Courier New" pitchFamily="34" charset="-120"/>
              </a:rPr>
              <a:t>T</a:t>
            </a:r>
            <a:endParaRPr lang="en-US" sz="2200" dirty="0"/>
          </a:p>
        </p:txBody>
      </p:sp>
      <p:sp>
        <p:nvSpPr>
          <p:cNvPr id="27" name="Text 25"/>
          <p:cNvSpPr/>
          <p:nvPr/>
        </p:nvSpPr>
        <p:spPr>
          <a:xfrm>
            <a:off x="5458968" y="3154680"/>
            <a:ext cx="3200400" cy="256032"/>
          </a:xfrm>
          <a:prstGeom prst="rect">
            <a:avLst/>
          </a:prstGeom>
          <a:noFill/>
          <a:ln/>
        </p:spPr>
        <p:txBody>
          <a:bodyPr wrap="square" lIns="0" tIns="0" rIns="0" bIns="0" rtlCol="0" anchor="ctr"/>
          <a:lstStyle/>
          <a:p>
            <a:pPr indent="0" marL="0">
              <a:buNone/>
            </a:pPr>
            <a:r>
              <a:rPr lang="en-US" sz="1200" b="1" dirty="0">
                <a:solidFill>
                  <a:srgbClr val="1A2B4A"/>
                </a:solidFill>
                <a:latin typeface="Calibri" pitchFamily="34" charset="0"/>
                <a:ea typeface="Calibri" pitchFamily="34" charset="-122"/>
                <a:cs typeface="Calibri" pitchFamily="34" charset="-120"/>
              </a:rPr>
              <a:t>Temperature Factor</a:t>
            </a:r>
            <a:endParaRPr lang="en-US" sz="1200" dirty="0"/>
          </a:p>
        </p:txBody>
      </p:sp>
      <p:sp>
        <p:nvSpPr>
          <p:cNvPr id="28" name="Text 26"/>
          <p:cNvSpPr/>
          <p:nvPr/>
        </p:nvSpPr>
        <p:spPr>
          <a:xfrm>
            <a:off x="5458968" y="3429000"/>
            <a:ext cx="3200400" cy="804672"/>
          </a:xfrm>
          <a:prstGeom prst="rect">
            <a:avLst/>
          </a:prstGeom>
          <a:noFill/>
          <a:ln/>
        </p:spPr>
        <p:txBody>
          <a:bodyPr wrap="square" lIns="0" tIns="0" rIns="0" bIns="0" rtlCol="0" anchor="t"/>
          <a:lstStyle/>
          <a:p>
            <a:pPr indent="0" marL="0">
              <a:buNone/>
            </a:pPr>
            <a:r>
              <a:rPr lang="en-US" sz="1050" dirty="0">
                <a:solidFill>
                  <a:srgbClr val="4A5568"/>
                </a:solidFill>
                <a:latin typeface="Calibri" pitchFamily="34" charset="0"/>
                <a:ea typeface="Calibri" pitchFamily="34" charset="-122"/>
                <a:cs typeface="Calibri" pitchFamily="34" charset="-120"/>
              </a:rPr>
              <a:t>2% penalty per °C deviation from the fruit's optimal storage range. Clamped at 0.5 minimum. Freezer always applies T = 0.95 (small quality loss from freezing). Banana stored at 4°C (9° below optimal 13–15°C) → T = 0.82.</a:t>
            </a:r>
            <a:endParaRPr lang="en-US" sz="1050" dirty="0"/>
          </a:p>
        </p:txBody>
      </p:sp>
      <p:sp>
        <p:nvSpPr>
          <p:cNvPr id="29" name="Shape 27"/>
          <p:cNvSpPr/>
          <p:nvPr/>
        </p:nvSpPr>
        <p:spPr>
          <a:xfrm>
            <a:off x="384048" y="4407408"/>
            <a:ext cx="8375904" cy="548640"/>
          </a:xfrm>
          <a:prstGeom prst="roundRect">
            <a:avLst>
              <a:gd name="adj" fmla="val 20000"/>
            </a:avLst>
          </a:prstGeom>
          <a:solidFill>
            <a:srgbClr val="E8F5F1"/>
          </a:solidFill>
          <a:ln w="6350">
            <a:solidFill>
              <a:srgbClr val="1A2B4A">
                <a:alpha val="40000"/>
              </a:srgbClr>
            </a:solidFill>
            <a:prstDash val="solid"/>
          </a:ln>
          <a:effectLst>
            <a:outerShdw sx="100000" sy="100000" kx="0" ky="0" algn="bl" rotWithShape="0" blurRad="101600" dist="38100" dir="2700000">
              <a:srgbClr val="000000">
                <a:alpha val="10000"/>
              </a:srgbClr>
            </a:outerShdw>
          </a:effectLst>
        </p:spPr>
      </p:sp>
      <p:sp>
        <p:nvSpPr>
          <p:cNvPr id="30" name="Text 28"/>
          <p:cNvSpPr/>
          <p:nvPr/>
        </p:nvSpPr>
        <p:spPr>
          <a:xfrm>
            <a:off x="548640" y="4462272"/>
            <a:ext cx="2560320" cy="438912"/>
          </a:xfrm>
          <a:prstGeom prst="rect">
            <a:avLst/>
          </a:prstGeom>
          <a:noFill/>
          <a:ln/>
        </p:spPr>
        <p:txBody>
          <a:bodyPr wrap="square" lIns="0" tIns="0" rIns="0" bIns="0" rtlCol="0" anchor="ctr"/>
          <a:lstStyle/>
          <a:p>
            <a:pPr indent="0" marL="0">
              <a:buNone/>
            </a:pPr>
            <a:r>
              <a:rPr lang="en-US" sz="1150" b="1" dirty="0">
                <a:solidFill>
                  <a:srgbClr val="3A8C7E"/>
                </a:solidFill>
                <a:latin typeface="Calibri" pitchFamily="34" charset="0"/>
                <a:ea typeface="Calibri" pitchFamily="34" charset="-122"/>
                <a:cs typeface="Calibri" pitchFamily="34" charset="-120"/>
              </a:rPr>
              <a:t>R — Ripeness Factor (categorical multiplier):  </a:t>
            </a:r>
            <a:endParaRPr lang="en-US" sz="1150" dirty="0"/>
          </a:p>
        </p:txBody>
      </p:sp>
      <p:sp>
        <p:nvSpPr>
          <p:cNvPr id="31" name="Text 29"/>
          <p:cNvSpPr/>
          <p:nvPr/>
        </p:nvSpPr>
        <p:spPr>
          <a:xfrm>
            <a:off x="2926080" y="4462272"/>
            <a:ext cx="5669280" cy="438912"/>
          </a:xfrm>
          <a:prstGeom prst="rect">
            <a:avLst/>
          </a:prstGeom>
          <a:noFill/>
          <a:ln/>
        </p:spPr>
        <p:txBody>
          <a:bodyPr wrap="square" lIns="0" tIns="0" rIns="0" bIns="0" rtlCol="0" anchor="ctr"/>
          <a:lstStyle/>
          <a:p>
            <a:pPr indent="0" marL="0">
              <a:buNone/>
            </a:pPr>
            <a:r>
              <a:rPr lang="en-US" sz="1100" dirty="0">
                <a:solidFill>
                  <a:srgbClr val="4A5568"/>
                </a:solidFill>
                <a:latin typeface="Calibri" pitchFamily="34" charset="0"/>
                <a:ea typeface="Calibri" pitchFamily="34" charset="-122"/>
                <a:cs typeface="Calibri" pitchFamily="34" charset="-120"/>
              </a:rPr>
              <a:t>Unripe (F ≥ 0.85) → R = 1.00  ·  Nearly Ripe (F ≥ 0.70) → R = 0.85  ·  Ripe (F ≥ 0.50) → R = 0.65  ·  Overripe (F &lt; 0.50) → R = 0.30</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EBEBEB"/>
        </a:solidFill>
      </p:bgPr>
    </p:bg>
    <p:spTree>
      <p:nvGrpSpPr>
        <p:cNvPr id="1" name=""/>
        <p:cNvGrpSpPr/>
        <p:nvPr/>
      </p:nvGrpSpPr>
      <p:grpSpPr>
        <a:xfrm>
          <a:off x="0" y="0"/>
          <a:ext cx="0" cy="0"/>
          <a:chOff x="0" y="0"/>
          <a:chExt cx="0" cy="0"/>
        </a:xfrm>
      </p:grpSpPr>
      <p:sp>
        <p:nvSpPr>
          <p:cNvPr id="2" name="Shape 0"/>
          <p:cNvSpPr/>
          <p:nvPr/>
        </p:nvSpPr>
        <p:spPr>
          <a:xfrm>
            <a:off x="8092440" y="274320"/>
            <a:ext cx="64008" cy="64008"/>
          </a:xfrm>
          <a:prstGeom prst="ellipse">
            <a:avLst/>
          </a:prstGeom>
          <a:solidFill>
            <a:srgbClr val="1A2B4A">
              <a:alpha val="25000"/>
            </a:srgbClr>
          </a:solidFill>
          <a:ln/>
        </p:spPr>
      </p:sp>
      <p:sp>
        <p:nvSpPr>
          <p:cNvPr id="3" name="Shape 1"/>
          <p:cNvSpPr/>
          <p:nvPr/>
        </p:nvSpPr>
        <p:spPr>
          <a:xfrm>
            <a:off x="8293608" y="274320"/>
            <a:ext cx="64008" cy="64008"/>
          </a:xfrm>
          <a:prstGeom prst="ellipse">
            <a:avLst/>
          </a:prstGeom>
          <a:solidFill>
            <a:srgbClr val="1A2B4A">
              <a:alpha val="25000"/>
            </a:srgbClr>
          </a:solidFill>
          <a:ln/>
        </p:spPr>
      </p:sp>
      <p:sp>
        <p:nvSpPr>
          <p:cNvPr id="4" name="Shape 2"/>
          <p:cNvSpPr/>
          <p:nvPr/>
        </p:nvSpPr>
        <p:spPr>
          <a:xfrm>
            <a:off x="8494776" y="274320"/>
            <a:ext cx="64008" cy="64008"/>
          </a:xfrm>
          <a:prstGeom prst="ellipse">
            <a:avLst/>
          </a:prstGeom>
          <a:solidFill>
            <a:srgbClr val="1A2B4A">
              <a:alpha val="25000"/>
            </a:srgbClr>
          </a:solidFill>
          <a:ln/>
        </p:spPr>
      </p:sp>
      <p:sp>
        <p:nvSpPr>
          <p:cNvPr id="5" name="Shape 3"/>
          <p:cNvSpPr/>
          <p:nvPr/>
        </p:nvSpPr>
        <p:spPr>
          <a:xfrm>
            <a:off x="8695944" y="274320"/>
            <a:ext cx="64008" cy="64008"/>
          </a:xfrm>
          <a:prstGeom prst="ellipse">
            <a:avLst/>
          </a:prstGeom>
          <a:solidFill>
            <a:srgbClr val="1A2B4A">
              <a:alpha val="25000"/>
            </a:srgbClr>
          </a:solidFill>
          <a:ln/>
        </p:spPr>
      </p:sp>
      <p:sp>
        <p:nvSpPr>
          <p:cNvPr id="6" name="Shape 4"/>
          <p:cNvSpPr/>
          <p:nvPr/>
        </p:nvSpPr>
        <p:spPr>
          <a:xfrm>
            <a:off x="8897112" y="274320"/>
            <a:ext cx="64008" cy="64008"/>
          </a:xfrm>
          <a:prstGeom prst="ellipse">
            <a:avLst/>
          </a:prstGeom>
          <a:solidFill>
            <a:srgbClr val="1A2B4A">
              <a:alpha val="25000"/>
            </a:srgbClr>
          </a:solidFill>
          <a:ln/>
        </p:spPr>
      </p:sp>
      <p:sp>
        <p:nvSpPr>
          <p:cNvPr id="7" name="Shape 5"/>
          <p:cNvSpPr/>
          <p:nvPr/>
        </p:nvSpPr>
        <p:spPr>
          <a:xfrm>
            <a:off x="8092440" y="475488"/>
            <a:ext cx="64008" cy="64008"/>
          </a:xfrm>
          <a:prstGeom prst="ellipse">
            <a:avLst/>
          </a:prstGeom>
          <a:solidFill>
            <a:srgbClr val="1A2B4A">
              <a:alpha val="25000"/>
            </a:srgbClr>
          </a:solidFill>
          <a:ln/>
        </p:spPr>
      </p:sp>
      <p:sp>
        <p:nvSpPr>
          <p:cNvPr id="8" name="Shape 6"/>
          <p:cNvSpPr/>
          <p:nvPr/>
        </p:nvSpPr>
        <p:spPr>
          <a:xfrm>
            <a:off x="8293608" y="475488"/>
            <a:ext cx="64008" cy="64008"/>
          </a:xfrm>
          <a:prstGeom prst="ellipse">
            <a:avLst/>
          </a:prstGeom>
          <a:solidFill>
            <a:srgbClr val="1A2B4A">
              <a:alpha val="25000"/>
            </a:srgbClr>
          </a:solidFill>
          <a:ln/>
        </p:spPr>
      </p:sp>
      <p:sp>
        <p:nvSpPr>
          <p:cNvPr id="9" name="Shape 7"/>
          <p:cNvSpPr/>
          <p:nvPr/>
        </p:nvSpPr>
        <p:spPr>
          <a:xfrm>
            <a:off x="8494776" y="475488"/>
            <a:ext cx="64008" cy="64008"/>
          </a:xfrm>
          <a:prstGeom prst="ellipse">
            <a:avLst/>
          </a:prstGeom>
          <a:solidFill>
            <a:srgbClr val="1A2B4A">
              <a:alpha val="25000"/>
            </a:srgbClr>
          </a:solidFill>
          <a:ln/>
        </p:spPr>
      </p:sp>
      <p:sp>
        <p:nvSpPr>
          <p:cNvPr id="10" name="Shape 8"/>
          <p:cNvSpPr/>
          <p:nvPr/>
        </p:nvSpPr>
        <p:spPr>
          <a:xfrm>
            <a:off x="8695944" y="475488"/>
            <a:ext cx="64008" cy="64008"/>
          </a:xfrm>
          <a:prstGeom prst="ellipse">
            <a:avLst/>
          </a:prstGeom>
          <a:solidFill>
            <a:srgbClr val="1A2B4A">
              <a:alpha val="25000"/>
            </a:srgbClr>
          </a:solidFill>
          <a:ln/>
        </p:spPr>
      </p:sp>
      <p:sp>
        <p:nvSpPr>
          <p:cNvPr id="11" name="Shape 9"/>
          <p:cNvSpPr/>
          <p:nvPr/>
        </p:nvSpPr>
        <p:spPr>
          <a:xfrm>
            <a:off x="8897112" y="475488"/>
            <a:ext cx="64008" cy="64008"/>
          </a:xfrm>
          <a:prstGeom prst="ellipse">
            <a:avLst/>
          </a:prstGeom>
          <a:solidFill>
            <a:srgbClr val="1A2B4A">
              <a:alpha val="25000"/>
            </a:srgbClr>
          </a:solidFill>
          <a:ln/>
        </p:spPr>
      </p:sp>
      <p:sp>
        <p:nvSpPr>
          <p:cNvPr id="12" name="Shape 10"/>
          <p:cNvSpPr/>
          <p:nvPr/>
        </p:nvSpPr>
        <p:spPr>
          <a:xfrm>
            <a:off x="8092440" y="676656"/>
            <a:ext cx="64008" cy="64008"/>
          </a:xfrm>
          <a:prstGeom prst="ellipse">
            <a:avLst/>
          </a:prstGeom>
          <a:solidFill>
            <a:srgbClr val="1A2B4A">
              <a:alpha val="25000"/>
            </a:srgbClr>
          </a:solidFill>
          <a:ln/>
        </p:spPr>
      </p:sp>
      <p:sp>
        <p:nvSpPr>
          <p:cNvPr id="13" name="Shape 11"/>
          <p:cNvSpPr/>
          <p:nvPr/>
        </p:nvSpPr>
        <p:spPr>
          <a:xfrm>
            <a:off x="8293608" y="676656"/>
            <a:ext cx="64008" cy="64008"/>
          </a:xfrm>
          <a:prstGeom prst="ellipse">
            <a:avLst/>
          </a:prstGeom>
          <a:solidFill>
            <a:srgbClr val="1A2B4A">
              <a:alpha val="25000"/>
            </a:srgbClr>
          </a:solidFill>
          <a:ln/>
        </p:spPr>
      </p:sp>
      <p:sp>
        <p:nvSpPr>
          <p:cNvPr id="14" name="Shape 12"/>
          <p:cNvSpPr/>
          <p:nvPr/>
        </p:nvSpPr>
        <p:spPr>
          <a:xfrm>
            <a:off x="8494776" y="676656"/>
            <a:ext cx="64008" cy="64008"/>
          </a:xfrm>
          <a:prstGeom prst="ellipse">
            <a:avLst/>
          </a:prstGeom>
          <a:solidFill>
            <a:srgbClr val="1A2B4A">
              <a:alpha val="25000"/>
            </a:srgbClr>
          </a:solidFill>
          <a:ln/>
        </p:spPr>
      </p:sp>
      <p:sp>
        <p:nvSpPr>
          <p:cNvPr id="15" name="Shape 13"/>
          <p:cNvSpPr/>
          <p:nvPr/>
        </p:nvSpPr>
        <p:spPr>
          <a:xfrm>
            <a:off x="8695944" y="676656"/>
            <a:ext cx="64008" cy="64008"/>
          </a:xfrm>
          <a:prstGeom prst="ellipse">
            <a:avLst/>
          </a:prstGeom>
          <a:solidFill>
            <a:srgbClr val="1A2B4A">
              <a:alpha val="25000"/>
            </a:srgbClr>
          </a:solidFill>
          <a:ln/>
        </p:spPr>
      </p:sp>
      <p:sp>
        <p:nvSpPr>
          <p:cNvPr id="16" name="Shape 14"/>
          <p:cNvSpPr/>
          <p:nvPr/>
        </p:nvSpPr>
        <p:spPr>
          <a:xfrm>
            <a:off x="8897112" y="676656"/>
            <a:ext cx="64008" cy="64008"/>
          </a:xfrm>
          <a:prstGeom prst="ellipse">
            <a:avLst/>
          </a:prstGeom>
          <a:solidFill>
            <a:srgbClr val="1A2B4A">
              <a:alpha val="25000"/>
            </a:srgbClr>
          </a:solidFill>
          <a:ln/>
        </p:spPr>
      </p:sp>
      <p:sp>
        <p:nvSpPr>
          <p:cNvPr id="17" name="Shape 15"/>
          <p:cNvSpPr/>
          <p:nvPr/>
        </p:nvSpPr>
        <p:spPr>
          <a:xfrm>
            <a:off x="8092440" y="877824"/>
            <a:ext cx="64008" cy="64008"/>
          </a:xfrm>
          <a:prstGeom prst="ellipse">
            <a:avLst/>
          </a:prstGeom>
          <a:solidFill>
            <a:srgbClr val="1A2B4A">
              <a:alpha val="25000"/>
            </a:srgbClr>
          </a:solidFill>
          <a:ln/>
        </p:spPr>
      </p:sp>
      <p:sp>
        <p:nvSpPr>
          <p:cNvPr id="18" name="Shape 16"/>
          <p:cNvSpPr/>
          <p:nvPr/>
        </p:nvSpPr>
        <p:spPr>
          <a:xfrm>
            <a:off x="8293608" y="877824"/>
            <a:ext cx="64008" cy="64008"/>
          </a:xfrm>
          <a:prstGeom prst="ellipse">
            <a:avLst/>
          </a:prstGeom>
          <a:solidFill>
            <a:srgbClr val="1A2B4A">
              <a:alpha val="25000"/>
            </a:srgbClr>
          </a:solidFill>
          <a:ln/>
        </p:spPr>
      </p:sp>
      <p:sp>
        <p:nvSpPr>
          <p:cNvPr id="19" name="Shape 17"/>
          <p:cNvSpPr/>
          <p:nvPr/>
        </p:nvSpPr>
        <p:spPr>
          <a:xfrm>
            <a:off x="8494776" y="877824"/>
            <a:ext cx="64008" cy="64008"/>
          </a:xfrm>
          <a:prstGeom prst="ellipse">
            <a:avLst/>
          </a:prstGeom>
          <a:solidFill>
            <a:srgbClr val="1A2B4A">
              <a:alpha val="25000"/>
            </a:srgbClr>
          </a:solidFill>
          <a:ln/>
        </p:spPr>
      </p:sp>
      <p:sp>
        <p:nvSpPr>
          <p:cNvPr id="20" name="Shape 18"/>
          <p:cNvSpPr/>
          <p:nvPr/>
        </p:nvSpPr>
        <p:spPr>
          <a:xfrm>
            <a:off x="8695944" y="877824"/>
            <a:ext cx="64008" cy="64008"/>
          </a:xfrm>
          <a:prstGeom prst="ellipse">
            <a:avLst/>
          </a:prstGeom>
          <a:solidFill>
            <a:srgbClr val="1A2B4A">
              <a:alpha val="25000"/>
            </a:srgbClr>
          </a:solidFill>
          <a:ln/>
        </p:spPr>
      </p:sp>
      <p:sp>
        <p:nvSpPr>
          <p:cNvPr id="21" name="Shape 19"/>
          <p:cNvSpPr/>
          <p:nvPr/>
        </p:nvSpPr>
        <p:spPr>
          <a:xfrm>
            <a:off x="8897112" y="877824"/>
            <a:ext cx="64008" cy="64008"/>
          </a:xfrm>
          <a:prstGeom prst="ellipse">
            <a:avLst/>
          </a:prstGeom>
          <a:solidFill>
            <a:srgbClr val="1A2B4A">
              <a:alpha val="25000"/>
            </a:srgbClr>
          </a:solidFill>
          <a:ln/>
        </p:spPr>
      </p:sp>
      <p:sp>
        <p:nvSpPr>
          <p:cNvPr id="22" name="Shape 20"/>
          <p:cNvSpPr/>
          <p:nvPr/>
        </p:nvSpPr>
        <p:spPr>
          <a:xfrm>
            <a:off x="8092440" y="1078992"/>
            <a:ext cx="64008" cy="64008"/>
          </a:xfrm>
          <a:prstGeom prst="ellipse">
            <a:avLst/>
          </a:prstGeom>
          <a:solidFill>
            <a:srgbClr val="1A2B4A">
              <a:alpha val="25000"/>
            </a:srgbClr>
          </a:solidFill>
          <a:ln/>
        </p:spPr>
      </p:sp>
      <p:sp>
        <p:nvSpPr>
          <p:cNvPr id="23" name="Shape 21"/>
          <p:cNvSpPr/>
          <p:nvPr/>
        </p:nvSpPr>
        <p:spPr>
          <a:xfrm>
            <a:off x="8293608" y="1078992"/>
            <a:ext cx="64008" cy="64008"/>
          </a:xfrm>
          <a:prstGeom prst="ellipse">
            <a:avLst/>
          </a:prstGeom>
          <a:solidFill>
            <a:srgbClr val="1A2B4A">
              <a:alpha val="25000"/>
            </a:srgbClr>
          </a:solidFill>
          <a:ln/>
        </p:spPr>
      </p:sp>
      <p:sp>
        <p:nvSpPr>
          <p:cNvPr id="24" name="Shape 22"/>
          <p:cNvSpPr/>
          <p:nvPr/>
        </p:nvSpPr>
        <p:spPr>
          <a:xfrm>
            <a:off x="8494776" y="1078992"/>
            <a:ext cx="64008" cy="64008"/>
          </a:xfrm>
          <a:prstGeom prst="ellipse">
            <a:avLst/>
          </a:prstGeom>
          <a:solidFill>
            <a:srgbClr val="1A2B4A">
              <a:alpha val="25000"/>
            </a:srgbClr>
          </a:solidFill>
          <a:ln/>
        </p:spPr>
      </p:sp>
      <p:sp>
        <p:nvSpPr>
          <p:cNvPr id="25" name="Shape 23"/>
          <p:cNvSpPr/>
          <p:nvPr/>
        </p:nvSpPr>
        <p:spPr>
          <a:xfrm>
            <a:off x="8695944" y="1078992"/>
            <a:ext cx="64008" cy="64008"/>
          </a:xfrm>
          <a:prstGeom prst="ellipse">
            <a:avLst/>
          </a:prstGeom>
          <a:solidFill>
            <a:srgbClr val="1A2B4A">
              <a:alpha val="25000"/>
            </a:srgbClr>
          </a:solidFill>
          <a:ln/>
        </p:spPr>
      </p:sp>
      <p:sp>
        <p:nvSpPr>
          <p:cNvPr id="26" name="Shape 24"/>
          <p:cNvSpPr/>
          <p:nvPr/>
        </p:nvSpPr>
        <p:spPr>
          <a:xfrm>
            <a:off x="8897112" y="1078992"/>
            <a:ext cx="64008" cy="64008"/>
          </a:xfrm>
          <a:prstGeom prst="ellipse">
            <a:avLst/>
          </a:prstGeom>
          <a:solidFill>
            <a:srgbClr val="1A2B4A">
              <a:alpha val="25000"/>
            </a:srgbClr>
          </a:solidFill>
          <a:ln/>
        </p:spPr>
      </p:sp>
      <p:sp>
        <p:nvSpPr>
          <p:cNvPr id="27" name="Shape 25"/>
          <p:cNvSpPr/>
          <p:nvPr/>
        </p:nvSpPr>
        <p:spPr>
          <a:xfrm rot="2700000">
            <a:off x="-45720" y="3611880"/>
            <a:ext cx="1005840" cy="1005840"/>
          </a:xfrm>
          <a:prstGeom prst="rect">
            <a:avLst/>
          </a:prstGeom>
          <a:ln w="12700">
            <a:solidFill>
              <a:srgbClr val="1A2B4A">
                <a:alpha val="76000"/>
              </a:srgbClr>
            </a:solidFill>
            <a:prstDash val="solid"/>
          </a:ln>
        </p:spPr>
      </p:sp>
      <p:sp>
        <p:nvSpPr>
          <p:cNvPr id="28" name="Shape 26"/>
          <p:cNvSpPr/>
          <p:nvPr/>
        </p:nvSpPr>
        <p:spPr>
          <a:xfrm rot="2700000">
            <a:off x="121920" y="3779520"/>
            <a:ext cx="670560" cy="670560"/>
          </a:xfrm>
          <a:prstGeom prst="rect">
            <a:avLst/>
          </a:prstGeom>
          <a:ln w="12700">
            <a:solidFill>
              <a:srgbClr val="1A2B4A">
                <a:alpha val="64000"/>
              </a:srgbClr>
            </a:solidFill>
            <a:prstDash val="solid"/>
          </a:ln>
        </p:spPr>
      </p:sp>
      <p:sp>
        <p:nvSpPr>
          <p:cNvPr id="29" name="Shape 27"/>
          <p:cNvSpPr/>
          <p:nvPr/>
        </p:nvSpPr>
        <p:spPr>
          <a:xfrm rot="2700000">
            <a:off x="289560" y="3947160"/>
            <a:ext cx="335280" cy="335280"/>
          </a:xfrm>
          <a:prstGeom prst="rect">
            <a:avLst/>
          </a:prstGeom>
          <a:ln w="12700">
            <a:solidFill>
              <a:srgbClr val="1A2B4A">
                <a:alpha val="52000"/>
              </a:srgbClr>
            </a:solidFill>
            <a:prstDash val="solid"/>
          </a:ln>
        </p:spPr>
      </p:sp>
      <p:sp>
        <p:nvSpPr>
          <p:cNvPr id="30" name="Text 28"/>
          <p:cNvSpPr/>
          <p:nvPr/>
        </p:nvSpPr>
        <p:spPr>
          <a:xfrm>
            <a:off x="411480" y="292608"/>
            <a:ext cx="8321040" cy="530352"/>
          </a:xfrm>
          <a:prstGeom prst="rect">
            <a:avLst/>
          </a:prstGeom>
          <a:noFill/>
          <a:ln/>
        </p:spPr>
        <p:txBody>
          <a:bodyPr wrap="square" lIns="0" tIns="0" rIns="0" bIns="0" rtlCol="0" anchor="ctr"/>
          <a:lstStyle/>
          <a:p>
            <a:pPr algn="l" indent="0" marL="0">
              <a:buNone/>
            </a:pPr>
            <a:r>
              <a:rPr lang="en-US" sz="2800" b="1" dirty="0">
                <a:solidFill>
                  <a:srgbClr val="1A2B4A"/>
                </a:solidFill>
                <a:latin typeface="Cambria" pitchFamily="34" charset="0"/>
                <a:ea typeface="Cambria" pitchFamily="34" charset="-122"/>
                <a:cs typeface="Cambria" pitchFamily="34" charset="-120"/>
              </a:rPr>
              <a:t>Mathematical Model: Composite Decision Engine</a:t>
            </a:r>
            <a:endParaRPr lang="en-US" sz="2800" dirty="0"/>
          </a:p>
        </p:txBody>
      </p:sp>
      <p:sp>
        <p:nvSpPr>
          <p:cNvPr id="31" name="Shape 29"/>
          <p:cNvSpPr/>
          <p:nvPr/>
        </p:nvSpPr>
        <p:spPr>
          <a:xfrm>
            <a:off x="411480" y="868680"/>
            <a:ext cx="8229600" cy="0"/>
          </a:xfrm>
          <a:prstGeom prst="line">
            <a:avLst/>
          </a:prstGeom>
          <a:noFill/>
          <a:ln w="19050">
            <a:solidFill>
              <a:srgbClr val="3A8C7E">
                <a:alpha val="60000"/>
              </a:srgbClr>
            </a:solidFill>
            <a:prstDash val="solid"/>
          </a:ln>
        </p:spPr>
      </p:sp>
      <p:sp>
        <p:nvSpPr>
          <p:cNvPr id="32" name="Shape 30"/>
          <p:cNvSpPr/>
          <p:nvPr/>
        </p:nvSpPr>
        <p:spPr>
          <a:xfrm>
            <a:off x="411480" y="950976"/>
            <a:ext cx="8229600" cy="0"/>
          </a:xfrm>
          <a:prstGeom prst="line">
            <a:avLst/>
          </a:prstGeom>
          <a:noFill/>
          <a:ln w="10160">
            <a:solidFill>
              <a:srgbClr val="1A2B4A">
                <a:alpha val="45000"/>
              </a:srgbClr>
            </a:solidFill>
            <a:prstDash val="solid"/>
          </a:ln>
        </p:spPr>
      </p:sp>
      <p:sp>
        <p:nvSpPr>
          <p:cNvPr id="33" name="Shape 31"/>
          <p:cNvSpPr/>
          <p:nvPr/>
        </p:nvSpPr>
        <p:spPr>
          <a:xfrm>
            <a:off x="384048" y="1005840"/>
            <a:ext cx="8375904" cy="548640"/>
          </a:xfrm>
          <a:prstGeom prst="rect">
            <a:avLst/>
          </a:prstGeom>
          <a:solidFill>
            <a:srgbClr val="1A2B4A"/>
          </a:solidFill>
          <a:ln w="6350">
            <a:solidFill>
              <a:srgbClr val="1A2B4A">
                <a:alpha val="40000"/>
              </a:srgbClr>
            </a:solidFill>
            <a:prstDash val="solid"/>
          </a:ln>
          <a:effectLst>
            <a:outerShdw sx="100000" sy="100000" kx="0" ky="0" algn="bl" rotWithShape="0" blurRad="101600" dist="38100" dir="2700000">
              <a:srgbClr val="000000">
                <a:alpha val="10000"/>
              </a:srgbClr>
            </a:outerShdw>
          </a:effectLst>
        </p:spPr>
      </p:sp>
      <p:sp>
        <p:nvSpPr>
          <p:cNvPr id="34" name="Text 32"/>
          <p:cNvSpPr/>
          <p:nvPr/>
        </p:nvSpPr>
        <p:spPr>
          <a:xfrm>
            <a:off x="384048" y="1005840"/>
            <a:ext cx="8375904"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ourier New" pitchFamily="34" charset="0"/>
                <a:ea typeface="Courier New" pitchFamily="34" charset="-122"/>
                <a:cs typeface="Courier New" pitchFamily="34" charset="-120"/>
              </a:rPr>
              <a:t>C = (F × 0.6) + (N × 0.4)     where N = min(D / B, 1.0)</a:t>
            </a:r>
            <a:endParaRPr lang="en-US" sz="1800" dirty="0"/>
          </a:p>
        </p:txBody>
      </p:sp>
      <p:sp>
        <p:nvSpPr>
          <p:cNvPr id="35" name="Shape 33"/>
          <p:cNvSpPr/>
          <p:nvPr/>
        </p:nvSpPr>
        <p:spPr>
          <a:xfrm>
            <a:off x="384048" y="1664208"/>
            <a:ext cx="4005072" cy="2468880"/>
          </a:xfrm>
          <a:prstGeom prst="roundRect">
            <a:avLst>
              <a:gd name="adj" fmla="val 4444"/>
            </a:avLst>
          </a:prstGeom>
          <a:solidFill>
            <a:srgbClr val="F0F4F8"/>
          </a:solidFill>
          <a:ln w="6350">
            <a:solidFill>
              <a:srgbClr val="1A2B4A">
                <a:alpha val="40000"/>
              </a:srgbClr>
            </a:solidFill>
            <a:prstDash val="solid"/>
          </a:ln>
          <a:effectLst>
            <a:outerShdw sx="100000" sy="100000" kx="0" ky="0" algn="bl" rotWithShape="0" blurRad="101600" dist="38100" dir="2700000">
              <a:srgbClr val="000000">
                <a:alpha val="10000"/>
              </a:srgbClr>
            </a:outerShdw>
          </a:effectLst>
        </p:spPr>
      </p:sp>
      <p:sp>
        <p:nvSpPr>
          <p:cNvPr id="36" name="Text 34"/>
          <p:cNvSpPr/>
          <p:nvPr/>
        </p:nvSpPr>
        <p:spPr>
          <a:xfrm>
            <a:off x="548640" y="1737360"/>
            <a:ext cx="3657600" cy="256032"/>
          </a:xfrm>
          <a:prstGeom prst="rect">
            <a:avLst/>
          </a:prstGeom>
          <a:noFill/>
          <a:ln/>
        </p:spPr>
        <p:txBody>
          <a:bodyPr wrap="square" lIns="0" tIns="0" rIns="0" bIns="0" rtlCol="0" anchor="ctr"/>
          <a:lstStyle/>
          <a:p>
            <a:pPr indent="0" marL="0">
              <a:buNone/>
            </a:pPr>
            <a:r>
              <a:rPr lang="en-US" sz="1200" b="1" dirty="0">
                <a:solidFill>
                  <a:srgbClr val="1A2B4A"/>
                </a:solidFill>
                <a:latin typeface="Calibri" pitchFamily="34" charset="0"/>
                <a:ea typeface="Calibri" pitchFamily="34" charset="-122"/>
                <a:cs typeface="Calibri" pitchFamily="34" charset="-120"/>
              </a:rPr>
              <a:t>Signal Fusion Logic</a:t>
            </a:r>
            <a:endParaRPr lang="en-US" sz="1200" dirty="0"/>
          </a:p>
        </p:txBody>
      </p:sp>
      <p:sp>
        <p:nvSpPr>
          <p:cNvPr id="37" name="Text 35"/>
          <p:cNvSpPr/>
          <p:nvPr/>
        </p:nvSpPr>
        <p:spPr>
          <a:xfrm>
            <a:off x="548640" y="2029968"/>
            <a:ext cx="3749040" cy="2066544"/>
          </a:xfrm>
          <a:prstGeom prst="rect">
            <a:avLst/>
          </a:prstGeom>
          <a:noFill/>
          <a:ln/>
        </p:spPr>
        <p:txBody>
          <a:bodyPr wrap="square" lIns="0" tIns="0" rIns="0" bIns="0" rtlCol="0" anchor="t"/>
          <a:lstStyle/>
          <a:p>
            <a:pPr indent="0" marL="0">
              <a:buNone/>
            </a:pPr>
            <a:r>
              <a:rPr lang="en-US" sz="1050" dirty="0">
                <a:solidFill>
                  <a:srgbClr val="4A5568"/>
                </a:solidFill>
                <a:latin typeface="Calibri" pitchFamily="34" charset="0"/>
                <a:ea typeface="Calibri" pitchFamily="34" charset="-122"/>
                <a:cs typeface="Calibri" pitchFamily="34" charset="-120"/>
              </a:rPr>
              <a:t>C = Composite Score ∈ [0.0, 1.0]</a:t>
            </a:r>
            <a:endParaRPr lang="en-US" sz="1050" dirty="0"/>
          </a:p>
          <a:p>
            <a:pPr indent="0" marL="0">
              <a:buNone/>
            </a:pPr>
            <a:r>
              <a:rPr lang="en-US" sz="1050" dirty="0">
                <a:solidFill>
                  <a:srgbClr val="4A5568"/>
                </a:solidFill>
                <a:latin typeface="Calibri" pitchFamily="34" charset="0"/>
                <a:ea typeface="Calibri" pitchFamily="34" charset="-122"/>
                <a:cs typeface="Calibri" pitchFamily="34" charset="-120"/>
              </a:rPr>
              <a:t>F = Freshness Score (direct visual assessment)</a:t>
            </a:r>
            <a:endParaRPr lang="en-US" sz="1050" dirty="0"/>
          </a:p>
          <a:p>
            <a:pPr indent="0" marL="0">
              <a:buNone/>
            </a:pPr>
            <a:r>
              <a:rPr lang="en-US" sz="1050" dirty="0">
                <a:solidFill>
                  <a:srgbClr val="4A5568"/>
                </a:solidFill>
                <a:latin typeface="Calibri" pitchFamily="34" charset="0"/>
                <a:ea typeface="Calibri" pitchFamily="34" charset="-122"/>
                <a:cs typeface="Calibri" pitchFamily="34" charset="-120"/>
              </a:rPr>
              <a:t>N = Normalised days remaining (D ÷ Base, clamped to 1.0)</a:t>
            </a:r>
            <a:endParaRPr lang="en-US" sz="1050" dirty="0"/>
          </a:p>
          <a:p>
            <a:pPr indent="0" marL="0">
              <a:buNone/>
            </a:pPr>
            <a:endParaRPr lang="en-US" sz="1050" dirty="0"/>
          </a:p>
          <a:p>
            <a:pPr indent="0" marL="0">
              <a:buNone/>
            </a:pPr>
            <a:r>
              <a:rPr lang="en-US" sz="1050" dirty="0">
                <a:solidFill>
                  <a:srgbClr val="4A5568"/>
                </a:solidFill>
                <a:latin typeface="Calibri" pitchFamily="34" charset="0"/>
                <a:ea typeface="Calibri" pitchFamily="34" charset="-122"/>
                <a:cs typeface="Calibri" pitchFamily="34" charset="-120"/>
              </a:rPr>
              <a:t>Why 60/40 weighting?</a:t>
            </a:r>
            <a:endParaRPr lang="en-US" sz="1050" dirty="0"/>
          </a:p>
          <a:p>
            <a:pPr indent="0" marL="0">
              <a:buNone/>
            </a:pPr>
            <a:r>
              <a:rPr lang="en-US" sz="1050" dirty="0">
                <a:solidFill>
                  <a:srgbClr val="4A5568"/>
                </a:solidFill>
                <a:latin typeface="Calibri" pitchFamily="34" charset="0"/>
                <a:ea typeface="Calibri" pitchFamily="34" charset="-122"/>
                <a:cs typeface="Calibri" pitchFamily="34" charset="-120"/>
              </a:rPr>
              <a:t>The freshness score is the stronger, more direct signal — it is the model's visual assessment of the fruit's current condition. The normalised days remaining provides context but is one inference step away from the raw visual evidence. The 60/40 weighting reflects this difference in signal reliability.</a:t>
            </a:r>
            <a:endParaRPr lang="en-US" sz="1050" dirty="0"/>
          </a:p>
          <a:p>
            <a:pPr indent="0" marL="0">
              <a:buNone/>
            </a:pPr>
            <a:endParaRPr lang="en-US" sz="1050" dirty="0"/>
          </a:p>
          <a:p>
            <a:pPr indent="0" marL="0">
              <a:buNone/>
            </a:pPr>
            <a:r>
              <a:rPr lang="en-US" sz="1050" dirty="0">
                <a:solidFill>
                  <a:srgbClr val="4A5568"/>
                </a:solidFill>
                <a:latin typeface="Calibri" pitchFamily="34" charset="0"/>
                <a:ea typeface="Calibri" pitchFamily="34" charset="-122"/>
                <a:cs typeface="Calibri" pitchFamily="34" charset="-120"/>
              </a:rPr>
              <a:t>Normalisation is essential: 3 days remaining means something completely different for a strawberry (base = 5 days) vs. an apple (base = 30 days). Dividing by the baseline creates a comparable scale.</a:t>
            </a:r>
            <a:endParaRPr lang="en-US" sz="1050" dirty="0"/>
          </a:p>
        </p:txBody>
      </p:sp>
      <p:sp>
        <p:nvSpPr>
          <p:cNvPr id="38" name="Shape 36"/>
          <p:cNvSpPr/>
          <p:nvPr/>
        </p:nvSpPr>
        <p:spPr>
          <a:xfrm>
            <a:off x="4572000" y="1664208"/>
            <a:ext cx="4187952" cy="566928"/>
          </a:xfrm>
          <a:prstGeom prst="roundRect">
            <a:avLst>
              <a:gd name="adj" fmla="val 19355"/>
            </a:avLst>
          </a:prstGeom>
          <a:solidFill>
            <a:srgbClr val="E8F5E9"/>
          </a:solidFill>
          <a:ln w="6350">
            <a:solidFill>
              <a:srgbClr val="1A2B4A">
                <a:alpha val="40000"/>
              </a:srgbClr>
            </a:solidFill>
            <a:prstDash val="solid"/>
          </a:ln>
          <a:effectLst>
            <a:outerShdw sx="100000" sy="100000" kx="0" ky="0" algn="bl" rotWithShape="0" blurRad="101600" dist="38100" dir="2700000">
              <a:srgbClr val="000000">
                <a:alpha val="10000"/>
              </a:srgbClr>
            </a:outerShdw>
          </a:effectLst>
        </p:spPr>
      </p:sp>
      <p:sp>
        <p:nvSpPr>
          <p:cNvPr id="39" name="Shape 37"/>
          <p:cNvSpPr/>
          <p:nvPr/>
        </p:nvSpPr>
        <p:spPr>
          <a:xfrm>
            <a:off x="4572000" y="1664208"/>
            <a:ext cx="1097280" cy="566928"/>
          </a:xfrm>
          <a:prstGeom prst="roundRect">
            <a:avLst>
              <a:gd name="adj" fmla="val 12903"/>
            </a:avLst>
          </a:prstGeom>
          <a:solidFill>
            <a:srgbClr val="2E7D32"/>
          </a:solidFill>
          <a:ln/>
        </p:spPr>
      </p:sp>
      <p:sp>
        <p:nvSpPr>
          <p:cNvPr id="40" name="Text 38"/>
          <p:cNvSpPr/>
          <p:nvPr/>
        </p:nvSpPr>
        <p:spPr>
          <a:xfrm>
            <a:off x="4572000" y="1664208"/>
            <a:ext cx="1097280" cy="56692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FRESH</a:t>
            </a:r>
            <a:endParaRPr lang="en-US" sz="1100" dirty="0"/>
          </a:p>
        </p:txBody>
      </p:sp>
      <p:sp>
        <p:nvSpPr>
          <p:cNvPr id="41" name="Text 39"/>
          <p:cNvSpPr/>
          <p:nvPr/>
        </p:nvSpPr>
        <p:spPr>
          <a:xfrm>
            <a:off x="5742432" y="1700784"/>
            <a:ext cx="1097280" cy="256032"/>
          </a:xfrm>
          <a:prstGeom prst="rect">
            <a:avLst/>
          </a:prstGeom>
          <a:noFill/>
          <a:ln/>
        </p:spPr>
        <p:txBody>
          <a:bodyPr wrap="square" lIns="0" tIns="0" rIns="0" bIns="0" rtlCol="0" anchor="ctr"/>
          <a:lstStyle/>
          <a:p>
            <a:pPr indent="0" marL="0">
              <a:buNone/>
            </a:pPr>
            <a:r>
              <a:rPr lang="en-US" sz="1150" b="1" dirty="0">
                <a:solidFill>
                  <a:srgbClr val="2E7D32"/>
                </a:solidFill>
                <a:latin typeface="Courier New" pitchFamily="34" charset="0"/>
                <a:ea typeface="Courier New" pitchFamily="34" charset="-122"/>
                <a:cs typeface="Courier New" pitchFamily="34" charset="-120"/>
              </a:rPr>
              <a:t>C ≥ 0.70</a:t>
            </a:r>
            <a:endParaRPr lang="en-US" sz="1150" dirty="0"/>
          </a:p>
        </p:txBody>
      </p:sp>
      <p:sp>
        <p:nvSpPr>
          <p:cNvPr id="42" name="Text 40"/>
          <p:cNvSpPr/>
          <p:nvPr/>
        </p:nvSpPr>
        <p:spPr>
          <a:xfrm>
            <a:off x="5742432" y="1956816"/>
            <a:ext cx="2926080" cy="237744"/>
          </a:xfrm>
          <a:prstGeom prst="rect">
            <a:avLst/>
          </a:prstGeom>
          <a:noFill/>
          <a:ln/>
        </p:spPr>
        <p:txBody>
          <a:bodyPr wrap="square" lIns="0" tIns="0" rIns="0" bIns="0" rtlCol="0" anchor="ctr"/>
          <a:lstStyle/>
          <a:p>
            <a:pPr indent="0" marL="0">
              <a:buNone/>
            </a:pPr>
            <a:r>
              <a:rPr lang="en-US" sz="1050" dirty="0">
                <a:solidFill>
                  <a:srgbClr val="4A5568"/>
                </a:solidFill>
                <a:latin typeface="Calibri" pitchFamily="34" charset="0"/>
                <a:ea typeface="Calibri" pitchFamily="34" charset="-122"/>
                <a:cs typeface="Calibri" pitchFamily="34" charset="-120"/>
              </a:rPr>
              <a:t>Full base shelf life. Standard storage advice.</a:t>
            </a:r>
            <a:endParaRPr lang="en-US" sz="1050" dirty="0"/>
          </a:p>
        </p:txBody>
      </p:sp>
      <p:sp>
        <p:nvSpPr>
          <p:cNvPr id="43" name="Shape 41"/>
          <p:cNvSpPr/>
          <p:nvPr/>
        </p:nvSpPr>
        <p:spPr>
          <a:xfrm>
            <a:off x="4572000" y="2322576"/>
            <a:ext cx="4187952" cy="566928"/>
          </a:xfrm>
          <a:prstGeom prst="roundRect">
            <a:avLst>
              <a:gd name="adj" fmla="val 19355"/>
            </a:avLst>
          </a:prstGeom>
          <a:solidFill>
            <a:srgbClr val="FFF8E1"/>
          </a:solidFill>
          <a:ln w="6350">
            <a:solidFill>
              <a:srgbClr val="1A2B4A">
                <a:alpha val="40000"/>
              </a:srgbClr>
            </a:solidFill>
            <a:prstDash val="solid"/>
          </a:ln>
          <a:effectLst>
            <a:outerShdw sx="100000" sy="100000" kx="0" ky="0" algn="bl" rotWithShape="0" blurRad="101600" dist="38100" dir="2700000">
              <a:srgbClr val="000000">
                <a:alpha val="10000"/>
              </a:srgbClr>
            </a:outerShdw>
          </a:effectLst>
        </p:spPr>
      </p:sp>
      <p:sp>
        <p:nvSpPr>
          <p:cNvPr id="44" name="Shape 42"/>
          <p:cNvSpPr/>
          <p:nvPr/>
        </p:nvSpPr>
        <p:spPr>
          <a:xfrm>
            <a:off x="4572000" y="2322576"/>
            <a:ext cx="1097280" cy="566928"/>
          </a:xfrm>
          <a:prstGeom prst="roundRect">
            <a:avLst>
              <a:gd name="adj" fmla="val 12903"/>
            </a:avLst>
          </a:prstGeom>
          <a:solidFill>
            <a:srgbClr val="D97706"/>
          </a:solidFill>
          <a:ln/>
        </p:spPr>
      </p:sp>
      <p:sp>
        <p:nvSpPr>
          <p:cNvPr id="45" name="Text 43"/>
          <p:cNvSpPr/>
          <p:nvPr/>
        </p:nvSpPr>
        <p:spPr>
          <a:xfrm>
            <a:off x="4572000" y="2322576"/>
            <a:ext cx="1097280" cy="56692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EAT SOON</a:t>
            </a:r>
            <a:endParaRPr lang="en-US" sz="1100" dirty="0"/>
          </a:p>
        </p:txBody>
      </p:sp>
      <p:sp>
        <p:nvSpPr>
          <p:cNvPr id="46" name="Text 44"/>
          <p:cNvSpPr/>
          <p:nvPr/>
        </p:nvSpPr>
        <p:spPr>
          <a:xfrm>
            <a:off x="5742432" y="2359152"/>
            <a:ext cx="1097280" cy="256032"/>
          </a:xfrm>
          <a:prstGeom prst="rect">
            <a:avLst/>
          </a:prstGeom>
          <a:noFill/>
          <a:ln/>
        </p:spPr>
        <p:txBody>
          <a:bodyPr wrap="square" lIns="0" tIns="0" rIns="0" bIns="0" rtlCol="0" anchor="ctr"/>
          <a:lstStyle/>
          <a:p>
            <a:pPr indent="0" marL="0">
              <a:buNone/>
            </a:pPr>
            <a:r>
              <a:rPr lang="en-US" sz="1150" b="1" dirty="0">
                <a:solidFill>
                  <a:srgbClr val="D97706"/>
                </a:solidFill>
                <a:latin typeface="Courier New" pitchFamily="34" charset="0"/>
                <a:ea typeface="Courier New" pitchFamily="34" charset="-122"/>
                <a:cs typeface="Courier New" pitchFamily="34" charset="-120"/>
              </a:rPr>
              <a:t>C ≥ 0.40</a:t>
            </a:r>
            <a:endParaRPr lang="en-US" sz="1150" dirty="0"/>
          </a:p>
        </p:txBody>
      </p:sp>
      <p:sp>
        <p:nvSpPr>
          <p:cNvPr id="47" name="Text 45"/>
          <p:cNvSpPr/>
          <p:nvPr/>
        </p:nvSpPr>
        <p:spPr>
          <a:xfrm>
            <a:off x="5742432" y="2615184"/>
            <a:ext cx="2926080" cy="237744"/>
          </a:xfrm>
          <a:prstGeom prst="rect">
            <a:avLst/>
          </a:prstGeom>
          <a:noFill/>
          <a:ln/>
        </p:spPr>
        <p:txBody>
          <a:bodyPr wrap="square" lIns="0" tIns="0" rIns="0" bIns="0" rtlCol="0" anchor="ctr"/>
          <a:lstStyle/>
          <a:p>
            <a:pPr indent="0" marL="0">
              <a:buNone/>
            </a:pPr>
            <a:r>
              <a:rPr lang="en-US" sz="1050" dirty="0">
                <a:solidFill>
                  <a:srgbClr val="4A5568"/>
                </a:solidFill>
                <a:latin typeface="Calibri" pitchFamily="34" charset="0"/>
                <a:ea typeface="Calibri" pitchFamily="34" charset="-122"/>
                <a:cs typeface="Calibri" pitchFamily="34" charset="-120"/>
              </a:rPr>
              <a:t>Aging. Consume in 2–3 days. Consider freezer.</a:t>
            </a:r>
            <a:endParaRPr lang="en-US" sz="1050" dirty="0"/>
          </a:p>
        </p:txBody>
      </p:sp>
      <p:sp>
        <p:nvSpPr>
          <p:cNvPr id="48" name="Shape 46"/>
          <p:cNvSpPr/>
          <p:nvPr/>
        </p:nvSpPr>
        <p:spPr>
          <a:xfrm>
            <a:off x="4572000" y="2980944"/>
            <a:ext cx="4187952" cy="566928"/>
          </a:xfrm>
          <a:prstGeom prst="roundRect">
            <a:avLst>
              <a:gd name="adj" fmla="val 19355"/>
            </a:avLst>
          </a:prstGeom>
          <a:solidFill>
            <a:srgbClr val="FFF3E0"/>
          </a:solidFill>
          <a:ln w="6350">
            <a:solidFill>
              <a:srgbClr val="1A2B4A">
                <a:alpha val="40000"/>
              </a:srgbClr>
            </a:solidFill>
            <a:prstDash val="solid"/>
          </a:ln>
          <a:effectLst>
            <a:outerShdw sx="100000" sy="100000" kx="0" ky="0" algn="bl" rotWithShape="0" blurRad="101600" dist="38100" dir="2700000">
              <a:srgbClr val="000000">
                <a:alpha val="10000"/>
              </a:srgbClr>
            </a:outerShdw>
          </a:effectLst>
        </p:spPr>
      </p:sp>
      <p:sp>
        <p:nvSpPr>
          <p:cNvPr id="49" name="Shape 47"/>
          <p:cNvSpPr/>
          <p:nvPr/>
        </p:nvSpPr>
        <p:spPr>
          <a:xfrm>
            <a:off x="4572000" y="2980944"/>
            <a:ext cx="1097280" cy="566928"/>
          </a:xfrm>
          <a:prstGeom prst="roundRect">
            <a:avLst>
              <a:gd name="adj" fmla="val 12903"/>
            </a:avLst>
          </a:prstGeom>
          <a:solidFill>
            <a:srgbClr val="E65100"/>
          </a:solidFill>
          <a:ln/>
        </p:spPr>
      </p:sp>
      <p:sp>
        <p:nvSpPr>
          <p:cNvPr id="50" name="Text 48"/>
          <p:cNvSpPr/>
          <p:nvPr/>
        </p:nvSpPr>
        <p:spPr>
          <a:xfrm>
            <a:off x="4572000" y="2980944"/>
            <a:ext cx="1097280" cy="56692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EAT TODAY</a:t>
            </a:r>
            <a:endParaRPr lang="en-US" sz="1100" dirty="0"/>
          </a:p>
        </p:txBody>
      </p:sp>
      <p:sp>
        <p:nvSpPr>
          <p:cNvPr id="51" name="Text 49"/>
          <p:cNvSpPr/>
          <p:nvPr/>
        </p:nvSpPr>
        <p:spPr>
          <a:xfrm>
            <a:off x="5742432" y="3017520"/>
            <a:ext cx="1097280" cy="256032"/>
          </a:xfrm>
          <a:prstGeom prst="rect">
            <a:avLst/>
          </a:prstGeom>
          <a:noFill/>
          <a:ln/>
        </p:spPr>
        <p:txBody>
          <a:bodyPr wrap="square" lIns="0" tIns="0" rIns="0" bIns="0" rtlCol="0" anchor="ctr"/>
          <a:lstStyle/>
          <a:p>
            <a:pPr indent="0" marL="0">
              <a:buNone/>
            </a:pPr>
            <a:r>
              <a:rPr lang="en-US" sz="1150" b="1" dirty="0">
                <a:solidFill>
                  <a:srgbClr val="E65100"/>
                </a:solidFill>
                <a:latin typeface="Courier New" pitchFamily="34" charset="0"/>
                <a:ea typeface="Courier New" pitchFamily="34" charset="-122"/>
                <a:cs typeface="Courier New" pitchFamily="34" charset="-120"/>
              </a:rPr>
              <a:t>C ≥ 0.20</a:t>
            </a:r>
            <a:endParaRPr lang="en-US" sz="1150" dirty="0"/>
          </a:p>
        </p:txBody>
      </p:sp>
      <p:sp>
        <p:nvSpPr>
          <p:cNvPr id="52" name="Text 50"/>
          <p:cNvSpPr/>
          <p:nvPr/>
        </p:nvSpPr>
        <p:spPr>
          <a:xfrm>
            <a:off x="5742432" y="3273552"/>
            <a:ext cx="2926080" cy="237744"/>
          </a:xfrm>
          <a:prstGeom prst="rect">
            <a:avLst/>
          </a:prstGeom>
          <a:noFill/>
          <a:ln/>
        </p:spPr>
        <p:txBody>
          <a:bodyPr wrap="square" lIns="0" tIns="0" rIns="0" bIns="0" rtlCol="0" anchor="ctr"/>
          <a:lstStyle/>
          <a:p>
            <a:pPr indent="0" marL="0">
              <a:buNone/>
            </a:pPr>
            <a:r>
              <a:rPr lang="en-US" sz="1050" dirty="0">
                <a:solidFill>
                  <a:srgbClr val="4A5568"/>
                </a:solidFill>
                <a:latin typeface="Calibri" pitchFamily="34" charset="0"/>
                <a:ea typeface="Calibri" pitchFamily="34" charset="-122"/>
                <a:cs typeface="Calibri" pitchFamily="34" charset="-120"/>
              </a:rPr>
              <a:t>Urgency high. Suggest smoothie or cooking use.</a:t>
            </a:r>
            <a:endParaRPr lang="en-US" sz="1050" dirty="0"/>
          </a:p>
        </p:txBody>
      </p:sp>
      <p:sp>
        <p:nvSpPr>
          <p:cNvPr id="53" name="Shape 51"/>
          <p:cNvSpPr/>
          <p:nvPr/>
        </p:nvSpPr>
        <p:spPr>
          <a:xfrm>
            <a:off x="4572000" y="3639312"/>
            <a:ext cx="4187952" cy="566928"/>
          </a:xfrm>
          <a:prstGeom prst="roundRect">
            <a:avLst>
              <a:gd name="adj" fmla="val 19355"/>
            </a:avLst>
          </a:prstGeom>
          <a:solidFill>
            <a:srgbClr val="FFEBEE"/>
          </a:solidFill>
          <a:ln w="6350">
            <a:solidFill>
              <a:srgbClr val="1A2B4A">
                <a:alpha val="40000"/>
              </a:srgbClr>
            </a:solidFill>
            <a:prstDash val="solid"/>
          </a:ln>
          <a:effectLst>
            <a:outerShdw sx="100000" sy="100000" kx="0" ky="0" algn="bl" rotWithShape="0" blurRad="101600" dist="38100" dir="2700000">
              <a:srgbClr val="000000">
                <a:alpha val="10000"/>
              </a:srgbClr>
            </a:outerShdw>
          </a:effectLst>
        </p:spPr>
      </p:sp>
      <p:sp>
        <p:nvSpPr>
          <p:cNvPr id="54" name="Shape 52"/>
          <p:cNvSpPr/>
          <p:nvPr/>
        </p:nvSpPr>
        <p:spPr>
          <a:xfrm>
            <a:off x="4572000" y="3639312"/>
            <a:ext cx="1097280" cy="566928"/>
          </a:xfrm>
          <a:prstGeom prst="roundRect">
            <a:avLst>
              <a:gd name="adj" fmla="val 12903"/>
            </a:avLst>
          </a:prstGeom>
          <a:solidFill>
            <a:srgbClr val="C0392B"/>
          </a:solidFill>
          <a:ln/>
        </p:spPr>
      </p:sp>
      <p:sp>
        <p:nvSpPr>
          <p:cNvPr id="55" name="Text 53"/>
          <p:cNvSpPr/>
          <p:nvPr/>
        </p:nvSpPr>
        <p:spPr>
          <a:xfrm>
            <a:off x="4572000" y="3639312"/>
            <a:ext cx="1097280" cy="56692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SPOILED</a:t>
            </a:r>
            <a:endParaRPr lang="en-US" sz="1100" dirty="0"/>
          </a:p>
        </p:txBody>
      </p:sp>
      <p:sp>
        <p:nvSpPr>
          <p:cNvPr id="56" name="Text 54"/>
          <p:cNvSpPr/>
          <p:nvPr/>
        </p:nvSpPr>
        <p:spPr>
          <a:xfrm>
            <a:off x="5742432" y="3675888"/>
            <a:ext cx="1097280" cy="256032"/>
          </a:xfrm>
          <a:prstGeom prst="rect">
            <a:avLst/>
          </a:prstGeom>
          <a:noFill/>
          <a:ln/>
        </p:spPr>
        <p:txBody>
          <a:bodyPr wrap="square" lIns="0" tIns="0" rIns="0" bIns="0" rtlCol="0" anchor="ctr"/>
          <a:lstStyle/>
          <a:p>
            <a:pPr indent="0" marL="0">
              <a:buNone/>
            </a:pPr>
            <a:r>
              <a:rPr lang="en-US" sz="1150" b="1" dirty="0">
                <a:solidFill>
                  <a:srgbClr val="C0392B"/>
                </a:solidFill>
                <a:latin typeface="Courier New" pitchFamily="34" charset="0"/>
                <a:ea typeface="Courier New" pitchFamily="34" charset="-122"/>
                <a:cs typeface="Courier New" pitchFamily="34" charset="-120"/>
              </a:rPr>
              <a:t>C &lt; 0.20</a:t>
            </a:r>
            <a:endParaRPr lang="en-US" sz="1150" dirty="0"/>
          </a:p>
        </p:txBody>
      </p:sp>
      <p:sp>
        <p:nvSpPr>
          <p:cNvPr id="57" name="Text 55"/>
          <p:cNvSpPr/>
          <p:nvPr/>
        </p:nvSpPr>
        <p:spPr>
          <a:xfrm>
            <a:off x="5742432" y="3931920"/>
            <a:ext cx="2926080" cy="237744"/>
          </a:xfrm>
          <a:prstGeom prst="rect">
            <a:avLst/>
          </a:prstGeom>
          <a:noFill/>
          <a:ln/>
        </p:spPr>
        <p:txBody>
          <a:bodyPr wrap="square" lIns="0" tIns="0" rIns="0" bIns="0" rtlCol="0" anchor="ctr"/>
          <a:lstStyle/>
          <a:p>
            <a:pPr indent="0" marL="0">
              <a:buNone/>
            </a:pPr>
            <a:r>
              <a:rPr lang="en-US" sz="1050" dirty="0">
                <a:solidFill>
                  <a:srgbClr val="4A5568"/>
                </a:solidFill>
                <a:latin typeface="Calibri" pitchFamily="34" charset="0"/>
                <a:ea typeface="Calibri" pitchFamily="34" charset="-122"/>
                <a:cs typeface="Calibri" pitchFamily="34" charset="-120"/>
              </a:rPr>
              <a:t>Past usable condition. Recommend discarding.</a:t>
            </a:r>
            <a:endParaRPr lang="en-US" sz="1050" dirty="0"/>
          </a:p>
        </p:txBody>
      </p:sp>
      <p:sp>
        <p:nvSpPr>
          <p:cNvPr id="58" name="Shape 56"/>
          <p:cNvSpPr/>
          <p:nvPr/>
        </p:nvSpPr>
        <p:spPr>
          <a:xfrm>
            <a:off x="4572000" y="4334256"/>
            <a:ext cx="4187952" cy="621792"/>
          </a:xfrm>
          <a:prstGeom prst="roundRect">
            <a:avLst>
              <a:gd name="adj" fmla="val 17647"/>
            </a:avLst>
          </a:prstGeom>
          <a:solidFill>
            <a:srgbClr val="E3EEF8"/>
          </a:solidFill>
          <a:ln w="6350">
            <a:solidFill>
              <a:srgbClr val="1A2B4A">
                <a:alpha val="40000"/>
              </a:srgbClr>
            </a:solidFill>
            <a:prstDash val="solid"/>
          </a:ln>
          <a:effectLst>
            <a:outerShdw sx="100000" sy="100000" kx="0" ky="0" algn="bl" rotWithShape="0" blurRad="101600" dist="38100" dir="2700000">
              <a:srgbClr val="000000">
                <a:alpha val="10000"/>
              </a:srgbClr>
            </a:outerShdw>
          </a:effectLst>
        </p:spPr>
      </p:sp>
      <p:sp>
        <p:nvSpPr>
          <p:cNvPr id="59" name="Text 57"/>
          <p:cNvSpPr/>
          <p:nvPr/>
        </p:nvSpPr>
        <p:spPr>
          <a:xfrm>
            <a:off x="4681728" y="4370832"/>
            <a:ext cx="3931920" cy="219456"/>
          </a:xfrm>
          <a:prstGeom prst="rect">
            <a:avLst/>
          </a:prstGeom>
          <a:noFill/>
          <a:ln/>
        </p:spPr>
        <p:txBody>
          <a:bodyPr wrap="square" lIns="0" tIns="0" rIns="0" bIns="0" rtlCol="0" anchor="ctr"/>
          <a:lstStyle/>
          <a:p>
            <a:pPr indent="0" marL="0">
              <a:buNone/>
            </a:pPr>
            <a:r>
              <a:rPr lang="en-US" sz="1100" b="1" dirty="0">
                <a:solidFill>
                  <a:srgbClr val="1A2B4A"/>
                </a:solidFill>
                <a:latin typeface="Calibri" pitchFamily="34" charset="0"/>
                <a:ea typeface="Calibri" pitchFamily="34" charset="-122"/>
                <a:cs typeface="Calibri" pitchFamily="34" charset="-120"/>
              </a:rPr>
              <a:t>Worked Example — Banana scan, F = 0.72:</a:t>
            </a:r>
            <a:endParaRPr lang="en-US" sz="1100" dirty="0"/>
          </a:p>
        </p:txBody>
      </p:sp>
      <p:sp>
        <p:nvSpPr>
          <p:cNvPr id="60" name="Text 58"/>
          <p:cNvSpPr/>
          <p:nvPr/>
        </p:nvSpPr>
        <p:spPr>
          <a:xfrm>
            <a:off x="4681728" y="4590288"/>
            <a:ext cx="3931920" cy="329184"/>
          </a:xfrm>
          <a:prstGeom prst="rect">
            <a:avLst/>
          </a:prstGeom>
          <a:noFill/>
          <a:ln/>
        </p:spPr>
        <p:txBody>
          <a:bodyPr wrap="square" lIns="0" tIns="0" rIns="0" bIns="0" rtlCol="0" anchor="ctr"/>
          <a:lstStyle/>
          <a:p>
            <a:pPr indent="0" marL="0">
              <a:buNone/>
            </a:pPr>
            <a:r>
              <a:rPr lang="en-US" sz="1000" b="1" dirty="0">
                <a:solidFill>
                  <a:srgbClr val="3A8C7E"/>
                </a:solidFill>
                <a:latin typeface="Courier New" pitchFamily="34" charset="0"/>
                <a:ea typeface="Courier New" pitchFamily="34" charset="-122"/>
                <a:cs typeface="Courier New" pitchFamily="34" charset="-120"/>
              </a:rPr>
              <a:t>D(fridge) = 7 × 0.611 × 0.82 × 0.85 ≈ 2.98 days   N = 2.98/7 = 0.426   C = (0.72×0.6)+(0.426×0.4) = 0.602  →  EAT SOON</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EBEBEB"/>
        </a:solidFill>
      </p:bgPr>
    </p:bg>
    <p:spTree>
      <p:nvGrpSpPr>
        <p:cNvPr id="1" name=""/>
        <p:cNvGrpSpPr/>
        <p:nvPr/>
      </p:nvGrpSpPr>
      <p:grpSpPr>
        <a:xfrm>
          <a:off x="0" y="0"/>
          <a:ext cx="0" cy="0"/>
          <a:chOff x="0" y="0"/>
          <a:chExt cx="0" cy="0"/>
        </a:xfrm>
      </p:grpSpPr>
      <p:sp>
        <p:nvSpPr>
          <p:cNvPr id="2" name="Shape 0"/>
          <p:cNvSpPr/>
          <p:nvPr/>
        </p:nvSpPr>
        <p:spPr>
          <a:xfrm>
            <a:off x="7772400" y="91440"/>
            <a:ext cx="1645920" cy="1645920"/>
          </a:xfrm>
          <a:prstGeom prst="ellipse">
            <a:avLst/>
          </a:prstGeom>
          <a:ln w="19050">
            <a:solidFill>
              <a:srgbClr val="1A2B4A">
                <a:alpha val="18000"/>
              </a:srgbClr>
            </a:solidFill>
            <a:prstDash val="solid"/>
          </a:ln>
        </p:spPr>
      </p:sp>
      <p:sp>
        <p:nvSpPr>
          <p:cNvPr id="3" name="Shape 1"/>
          <p:cNvSpPr/>
          <p:nvPr/>
        </p:nvSpPr>
        <p:spPr>
          <a:xfrm>
            <a:off x="8043977" y="363017"/>
            <a:ext cx="1102766" cy="1102766"/>
          </a:xfrm>
          <a:prstGeom prst="ellipse">
            <a:avLst/>
          </a:prstGeom>
          <a:ln w="19050">
            <a:solidFill>
              <a:srgbClr val="3B5FA0">
                <a:alpha val="25000"/>
              </a:srgbClr>
            </a:solidFill>
            <a:prstDash val="solid"/>
          </a:ln>
        </p:spPr>
      </p:sp>
      <p:sp>
        <p:nvSpPr>
          <p:cNvPr id="4" name="Shape 2"/>
          <p:cNvSpPr/>
          <p:nvPr/>
        </p:nvSpPr>
        <p:spPr>
          <a:xfrm>
            <a:off x="8282635" y="601675"/>
            <a:ext cx="625450" cy="625450"/>
          </a:xfrm>
          <a:prstGeom prst="ellipse">
            <a:avLst/>
          </a:prstGeom>
          <a:ln w="19050">
            <a:solidFill>
              <a:srgbClr val="3A8C7E">
                <a:alpha val="32000"/>
              </a:srgbClr>
            </a:solidFill>
            <a:prstDash val="solid"/>
          </a:ln>
        </p:spPr>
      </p:sp>
      <p:sp>
        <p:nvSpPr>
          <p:cNvPr id="5" name="Shape 3"/>
          <p:cNvSpPr/>
          <p:nvPr/>
        </p:nvSpPr>
        <p:spPr>
          <a:xfrm rot="-2700000">
            <a:off x="182880" y="4114800"/>
            <a:ext cx="457200" cy="0"/>
          </a:xfrm>
          <a:prstGeom prst="line">
            <a:avLst/>
          </a:prstGeom>
          <a:noFill/>
          <a:ln w="12700">
            <a:solidFill>
              <a:srgbClr val="1A2B4A">
                <a:alpha val="28000"/>
              </a:srgbClr>
            </a:solidFill>
            <a:prstDash val="solid"/>
          </a:ln>
        </p:spPr>
      </p:sp>
      <p:sp>
        <p:nvSpPr>
          <p:cNvPr id="6" name="Shape 4"/>
          <p:cNvSpPr/>
          <p:nvPr/>
        </p:nvSpPr>
        <p:spPr>
          <a:xfrm rot="-2700000">
            <a:off x="347472" y="4114800"/>
            <a:ext cx="457200" cy="0"/>
          </a:xfrm>
          <a:prstGeom prst="line">
            <a:avLst/>
          </a:prstGeom>
          <a:noFill/>
          <a:ln w="12700">
            <a:solidFill>
              <a:srgbClr val="1A2B4A">
                <a:alpha val="28000"/>
              </a:srgbClr>
            </a:solidFill>
            <a:prstDash val="solid"/>
          </a:ln>
        </p:spPr>
      </p:sp>
      <p:sp>
        <p:nvSpPr>
          <p:cNvPr id="7" name="Shape 5"/>
          <p:cNvSpPr/>
          <p:nvPr/>
        </p:nvSpPr>
        <p:spPr>
          <a:xfrm rot="-2700000">
            <a:off x="512064" y="4114800"/>
            <a:ext cx="457200" cy="0"/>
          </a:xfrm>
          <a:prstGeom prst="line">
            <a:avLst/>
          </a:prstGeom>
          <a:noFill/>
          <a:ln w="12700">
            <a:solidFill>
              <a:srgbClr val="1A2B4A">
                <a:alpha val="28000"/>
              </a:srgbClr>
            </a:solidFill>
            <a:prstDash val="solid"/>
          </a:ln>
        </p:spPr>
      </p:sp>
      <p:sp>
        <p:nvSpPr>
          <p:cNvPr id="8" name="Shape 6"/>
          <p:cNvSpPr/>
          <p:nvPr/>
        </p:nvSpPr>
        <p:spPr>
          <a:xfrm rot="-2700000">
            <a:off x="676656" y="4114800"/>
            <a:ext cx="457200" cy="0"/>
          </a:xfrm>
          <a:prstGeom prst="line">
            <a:avLst/>
          </a:prstGeom>
          <a:noFill/>
          <a:ln w="12700">
            <a:solidFill>
              <a:srgbClr val="1A2B4A">
                <a:alpha val="28000"/>
              </a:srgbClr>
            </a:solidFill>
            <a:prstDash val="solid"/>
          </a:ln>
        </p:spPr>
      </p:sp>
      <p:sp>
        <p:nvSpPr>
          <p:cNvPr id="9" name="Shape 7"/>
          <p:cNvSpPr/>
          <p:nvPr/>
        </p:nvSpPr>
        <p:spPr>
          <a:xfrm rot="-2700000">
            <a:off x="841248" y="4114800"/>
            <a:ext cx="457200" cy="0"/>
          </a:xfrm>
          <a:prstGeom prst="line">
            <a:avLst/>
          </a:prstGeom>
          <a:noFill/>
          <a:ln w="12700">
            <a:solidFill>
              <a:srgbClr val="1A2B4A">
                <a:alpha val="28000"/>
              </a:srgbClr>
            </a:solidFill>
            <a:prstDash val="solid"/>
          </a:ln>
        </p:spPr>
      </p:sp>
      <p:sp>
        <p:nvSpPr>
          <p:cNvPr id="10" name="Shape 8"/>
          <p:cNvSpPr/>
          <p:nvPr/>
        </p:nvSpPr>
        <p:spPr>
          <a:xfrm rot="-2700000">
            <a:off x="1005840" y="4114800"/>
            <a:ext cx="457200" cy="0"/>
          </a:xfrm>
          <a:prstGeom prst="line">
            <a:avLst/>
          </a:prstGeom>
          <a:noFill/>
          <a:ln w="12700">
            <a:solidFill>
              <a:srgbClr val="1A2B4A">
                <a:alpha val="28000"/>
              </a:srgbClr>
            </a:solidFill>
            <a:prstDash val="solid"/>
          </a:ln>
        </p:spPr>
      </p:sp>
      <p:sp>
        <p:nvSpPr>
          <p:cNvPr id="11" name="Text 9"/>
          <p:cNvSpPr/>
          <p:nvPr/>
        </p:nvSpPr>
        <p:spPr>
          <a:xfrm>
            <a:off x="411480" y="292608"/>
            <a:ext cx="8321040" cy="530352"/>
          </a:xfrm>
          <a:prstGeom prst="rect">
            <a:avLst/>
          </a:prstGeom>
          <a:noFill/>
          <a:ln/>
        </p:spPr>
        <p:txBody>
          <a:bodyPr wrap="square" lIns="0" tIns="0" rIns="0" bIns="0" rtlCol="0" anchor="ctr"/>
          <a:lstStyle/>
          <a:p>
            <a:pPr algn="l" indent="0" marL="0">
              <a:buNone/>
            </a:pPr>
            <a:r>
              <a:rPr lang="en-US" sz="2800" b="1" dirty="0">
                <a:solidFill>
                  <a:srgbClr val="1A2B4A"/>
                </a:solidFill>
                <a:latin typeface="Cambria" pitchFamily="34" charset="0"/>
                <a:ea typeface="Cambria" pitchFamily="34" charset="-122"/>
                <a:cs typeface="Cambria" pitchFamily="34" charset="-120"/>
              </a:rPr>
              <a:t>Mathematical Model: Ethylene Compatibility Engine</a:t>
            </a:r>
            <a:endParaRPr lang="en-US" sz="2800" dirty="0"/>
          </a:p>
        </p:txBody>
      </p:sp>
      <p:sp>
        <p:nvSpPr>
          <p:cNvPr id="12" name="Shape 10"/>
          <p:cNvSpPr/>
          <p:nvPr/>
        </p:nvSpPr>
        <p:spPr>
          <a:xfrm>
            <a:off x="411480" y="868680"/>
            <a:ext cx="8229600" cy="0"/>
          </a:xfrm>
          <a:prstGeom prst="line">
            <a:avLst/>
          </a:prstGeom>
          <a:noFill/>
          <a:ln w="19050">
            <a:solidFill>
              <a:srgbClr val="3A8C7E">
                <a:alpha val="60000"/>
              </a:srgbClr>
            </a:solidFill>
            <a:prstDash val="solid"/>
          </a:ln>
        </p:spPr>
      </p:sp>
      <p:sp>
        <p:nvSpPr>
          <p:cNvPr id="13" name="Shape 11"/>
          <p:cNvSpPr/>
          <p:nvPr/>
        </p:nvSpPr>
        <p:spPr>
          <a:xfrm>
            <a:off x="411480" y="950976"/>
            <a:ext cx="8229600" cy="0"/>
          </a:xfrm>
          <a:prstGeom prst="line">
            <a:avLst/>
          </a:prstGeom>
          <a:noFill/>
          <a:ln w="10160">
            <a:solidFill>
              <a:srgbClr val="1A2B4A">
                <a:alpha val="45000"/>
              </a:srgbClr>
            </a:solidFill>
            <a:prstDash val="solid"/>
          </a:ln>
        </p:spPr>
      </p:sp>
      <p:sp>
        <p:nvSpPr>
          <p:cNvPr id="14" name="Shape 12"/>
          <p:cNvSpPr/>
          <p:nvPr/>
        </p:nvSpPr>
        <p:spPr>
          <a:xfrm>
            <a:off x="384048" y="1005840"/>
            <a:ext cx="4160520" cy="3566160"/>
          </a:xfrm>
          <a:prstGeom prst="roundRect">
            <a:avLst>
              <a:gd name="adj" fmla="val 3077"/>
            </a:avLst>
          </a:prstGeom>
          <a:solidFill>
            <a:srgbClr val="F0F4F8"/>
          </a:solidFill>
          <a:ln w="6350">
            <a:solidFill>
              <a:srgbClr val="1A2B4A">
                <a:alpha val="40000"/>
              </a:srgbClr>
            </a:solidFill>
            <a:prstDash val="solid"/>
          </a:ln>
          <a:effectLst>
            <a:outerShdw sx="100000" sy="100000" kx="0" ky="0" algn="bl" rotWithShape="0" blurRad="101600" dist="38100" dir="2700000">
              <a:srgbClr val="000000">
                <a:alpha val="10000"/>
              </a:srgbClr>
            </a:outerShdw>
          </a:effectLst>
        </p:spPr>
      </p:sp>
      <p:sp>
        <p:nvSpPr>
          <p:cNvPr id="15" name="Text 13"/>
          <p:cNvSpPr/>
          <p:nvPr/>
        </p:nvSpPr>
        <p:spPr>
          <a:xfrm>
            <a:off x="548640" y="1078992"/>
            <a:ext cx="3840480" cy="256032"/>
          </a:xfrm>
          <a:prstGeom prst="rect">
            <a:avLst/>
          </a:prstGeom>
          <a:noFill/>
          <a:ln/>
        </p:spPr>
        <p:txBody>
          <a:bodyPr wrap="square" lIns="0" tIns="0" rIns="0" bIns="0" rtlCol="0" anchor="ctr"/>
          <a:lstStyle/>
          <a:p>
            <a:pPr indent="0" marL="0">
              <a:buNone/>
            </a:pPr>
            <a:r>
              <a:rPr lang="en-US" sz="1200" b="1" dirty="0">
                <a:solidFill>
                  <a:srgbClr val="1A2B4A"/>
                </a:solidFill>
                <a:latin typeface="Calibri" pitchFamily="34" charset="0"/>
                <a:ea typeface="Calibri" pitchFamily="34" charset="-122"/>
                <a:cs typeface="Calibri" pitchFamily="34" charset="-120"/>
              </a:rPr>
              <a:t>Graph Construction (O(P × S))</a:t>
            </a:r>
            <a:endParaRPr lang="en-US" sz="1200" dirty="0"/>
          </a:p>
        </p:txBody>
      </p:sp>
      <p:sp>
        <p:nvSpPr>
          <p:cNvPr id="16" name="Text 14"/>
          <p:cNvSpPr/>
          <p:nvPr/>
        </p:nvSpPr>
        <p:spPr>
          <a:xfrm>
            <a:off x="548640" y="1371600"/>
            <a:ext cx="3840480" cy="3163824"/>
          </a:xfrm>
          <a:prstGeom prst="rect">
            <a:avLst/>
          </a:prstGeom>
          <a:noFill/>
          <a:ln/>
        </p:spPr>
        <p:txBody>
          <a:bodyPr wrap="square" lIns="0" tIns="0" rIns="0" bIns="0" rtlCol="0" anchor="t"/>
          <a:lstStyle/>
          <a:p>
            <a:pPr indent="0" marL="0">
              <a:spcAft>
                <a:spcPts val="200"/>
              </a:spcAft>
              <a:buNone/>
            </a:pPr>
            <a:r>
              <a:rPr lang="en-US" sz="1100" b="1" dirty="0">
                <a:solidFill>
                  <a:srgbClr val="D97706"/>
                </a:solidFill>
                <a:latin typeface="Calibri" pitchFamily="34" charset="0"/>
                <a:ea typeface="Calibri" pitchFamily="34" charset="-122"/>
                <a:cs typeface="Calibri" pitchFamily="34" charset="-120"/>
              </a:rPr>
              <a:t>ETHYLENE_PRODUCERS</a:t>
            </a:r>
            <a:pPr indent="0" marL="0">
              <a:spcAft>
                <a:spcPts val="200"/>
              </a:spcAft>
              <a:buNone/>
            </a:pPr>
            <a:r>
              <a:rPr lang="en-US" sz="1100" dirty="0">
                <a:solidFill>
                  <a:srgbClr val="4A5568"/>
                </a:solidFill>
                <a:latin typeface="Calibri" pitchFamily="34" charset="0"/>
                <a:ea typeface="Calibri" pitchFamily="34" charset="-122"/>
                <a:cs typeface="Calibri" pitchFamily="34" charset="-120"/>
              </a:rPr>
              <a:t> = frozenset of 19 fruits
  (Banana, Apple, Mango, Avocado, ...)
</a:t>
            </a:r>
            <a:pPr indent="0" marL="0">
              <a:spcAft>
                <a:spcPts val="200"/>
              </a:spcAft>
              <a:buNone/>
            </a:pPr>
            <a:r>
              <a:rPr lang="en-US" sz="1100" b="1" dirty="0">
                <a:solidFill>
                  <a:srgbClr val="3A8C7E"/>
                </a:solidFill>
                <a:latin typeface="Calibri" pitchFamily="34" charset="0"/>
                <a:ea typeface="Calibri" pitchFamily="34" charset="-122"/>
                <a:cs typeface="Calibri" pitchFamily="34" charset="-120"/>
              </a:rPr>
              <a:t>ETHYLENE_SENSITIVE</a:t>
            </a:r>
            <a:pPr indent="0" marL="0">
              <a:spcAft>
                <a:spcPts val="200"/>
              </a:spcAft>
              <a:buNone/>
            </a:pPr>
            <a:r>
              <a:rPr lang="en-US" sz="1100" dirty="0">
                <a:solidFill>
                  <a:srgbClr val="4A5568"/>
                </a:solidFill>
                <a:latin typeface="Calibri" pitchFamily="34" charset="0"/>
                <a:ea typeface="Calibri" pitchFamily="34" charset="-122"/>
                <a:cs typeface="Calibri" pitchFamily="34" charset="-120"/>
              </a:rPr>
              <a:t> = frozenset of 24 fruits</a:t>
            </a:r>
            <a:endParaRPr lang="en-US" sz="1100" dirty="0"/>
          </a:p>
          <a:p>
            <a:pPr indent="0" marL="0">
              <a:spcAft>
                <a:spcPts val="200"/>
              </a:spcAft>
              <a:buNone/>
            </a:pPr>
            <a:r>
              <a:rPr lang="en-US" sz="1100" dirty="0">
                <a:solidFill>
                  <a:srgbClr val="4A5568"/>
                </a:solidFill>
                <a:latin typeface="Calibri" pitchFamily="34" charset="0"/>
                <a:ea typeface="Calibri" pitchFamily="34" charset="-122"/>
                <a:cs typeface="Calibri" pitchFamily="34" charset="-120"/>
              </a:rPr>
              <a:t>  (Strawberry, Grape, Kiwi, ...)</a:t>
            </a:r>
            <a:endParaRPr lang="en-US" sz="1100" dirty="0"/>
          </a:p>
          <a:p>
            <a:pPr indent="0" marL="0">
              <a:spcAft>
                <a:spcPts val="200"/>
              </a:spcAft>
              <a:buNone/>
            </a:pPr>
            <a:endParaRPr lang="en-US" sz="1100" dirty="0"/>
          </a:p>
          <a:p>
            <a:pPr indent="0" marL="0">
              <a:spcAft>
                <a:spcPts val="200"/>
              </a:spcAft>
              <a:buNone/>
            </a:pPr>
            <a:r>
              <a:rPr lang="en-US" sz="1100" dirty="0">
                <a:solidFill>
                  <a:srgbClr val="4A5568"/>
                </a:solidFill>
                <a:latin typeface="Calibri" pitchFamily="34" charset="0"/>
                <a:ea typeface="Calibri" pitchFamily="34" charset="-122"/>
                <a:cs typeface="Calibri" pitchFamily="34" charset="-120"/>
              </a:rPr>
              <a:t>For each (P, S) pair where P ≠ S:</a:t>
            </a:r>
            <a:endParaRPr lang="en-US" sz="1100" dirty="0"/>
          </a:p>
          <a:p>
            <a:pPr indent="0" marL="0">
              <a:spcAft>
                <a:spcPts val="200"/>
              </a:spcAft>
              <a:buNone/>
            </a:pPr>
            <a:r>
              <a:rPr lang="en-US" sz="1100" dirty="0">
                <a:solidFill>
                  <a:srgbClr val="4A5568"/>
                </a:solidFill>
                <a:latin typeface="Calibri" pitchFamily="34" charset="0"/>
                <a:ea typeface="Calibri" pitchFamily="34" charset="-122"/>
                <a:cs typeface="Calibri" pitchFamily="34" charset="-120"/>
              </a:rPr>
              <a:t>  G[P].add(S)</a:t>
            </a:r>
            <a:endParaRPr lang="en-US" sz="1100" dirty="0"/>
          </a:p>
          <a:p>
            <a:pPr indent="0" marL="0">
              <a:spcAft>
                <a:spcPts val="200"/>
              </a:spcAft>
              <a:buNone/>
            </a:pPr>
            <a:r>
              <a:rPr lang="en-US" sz="1100" dirty="0">
                <a:solidFill>
                  <a:srgbClr val="4A5568"/>
                </a:solidFill>
                <a:latin typeface="Calibri" pitchFamily="34" charset="0"/>
                <a:ea typeface="Calibri" pitchFamily="34" charset="-122"/>
                <a:cs typeface="Calibri" pitchFamily="34" charset="-120"/>
              </a:rPr>
              <a:t>  G[S].add(P)</a:t>
            </a:r>
            <a:endParaRPr lang="en-US" sz="1100" dirty="0"/>
          </a:p>
          <a:p>
            <a:pPr indent="0" marL="0">
              <a:spcAft>
                <a:spcPts val="200"/>
              </a:spcAft>
              <a:buNone/>
            </a:pPr>
            <a:endParaRPr lang="en-US" sz="1100" dirty="0"/>
          </a:p>
          <a:p>
            <a:pPr indent="0" marL="0">
              <a:spcAft>
                <a:spcPts val="200"/>
              </a:spcAft>
              <a:buNone/>
            </a:pPr>
            <a:r>
              <a:rPr lang="en-US" sz="1100" dirty="0">
                <a:solidFill>
                  <a:srgbClr val="4A5568"/>
                </a:solidFill>
                <a:latin typeface="Calibri" pitchFamily="34" charset="0"/>
                <a:ea typeface="Calibri" pitchFamily="34" charset="-122"/>
                <a:cs typeface="Calibri" pitchFamily="34" charset="-120"/>
              </a:rPr>
              <a:t>19 × 24 = 456 iterations</a:t>
            </a:r>
            <a:endParaRPr lang="en-US" sz="1100" dirty="0"/>
          </a:p>
          <a:p>
            <a:pPr indent="0" marL="0">
              <a:spcAft>
                <a:spcPts val="200"/>
              </a:spcAft>
              <a:buNone/>
            </a:pPr>
            <a:r>
              <a:rPr lang="en-US" sz="1100" dirty="0">
                <a:solidFill>
                  <a:srgbClr val="4A5568"/>
                </a:solidFill>
                <a:latin typeface="Calibri" pitchFamily="34" charset="0"/>
                <a:ea typeface="Calibri" pitchFamily="34" charset="-122"/>
                <a:cs typeface="Calibri" pitchFamily="34" charset="-120"/>
              </a:rPr>
              <a:t>   – 5 self-conflicts = 451 edges</a:t>
            </a:r>
            <a:endParaRPr lang="en-US" sz="1100" dirty="0"/>
          </a:p>
          <a:p>
            <a:pPr indent="0" marL="0">
              <a:spcAft>
                <a:spcPts val="200"/>
              </a:spcAft>
              <a:buNone/>
            </a:pPr>
            <a:endParaRPr lang="en-US" sz="1100" dirty="0"/>
          </a:p>
          <a:p>
            <a:pPr indent="0" marL="0">
              <a:spcAft>
                <a:spcPts val="200"/>
              </a:spcAft>
              <a:buNone/>
            </a:pPr>
            <a:r>
              <a:rPr lang="en-US" sz="1100" dirty="0">
                <a:solidFill>
                  <a:srgbClr val="4A5568"/>
                </a:solidFill>
                <a:latin typeface="Calibri" pitchFamily="34" charset="0"/>
                <a:ea typeface="Calibri" pitchFamily="34" charset="-122"/>
                <a:cs typeface="Calibri" pitchFamily="34" charset="-120"/>
              </a:rPr>
              <a:t>Construction time: &lt; 1 ms at startup</a:t>
            </a:r>
            <a:endParaRPr lang="en-US" sz="1100" dirty="0"/>
          </a:p>
          <a:p>
            <a:pPr indent="0" marL="0">
              <a:spcAft>
                <a:spcPts val="200"/>
              </a:spcAft>
              <a:buNone/>
            </a:pPr>
            <a:r>
              <a:rPr lang="en-US" sz="1100" dirty="0">
                <a:solidFill>
                  <a:srgbClr val="4A5568"/>
                </a:solidFill>
                <a:latin typeface="Calibri" pitchFamily="34" charset="0"/>
                <a:ea typeface="Calibri" pitchFamily="34" charset="-122"/>
                <a:cs typeface="Calibri" pitchFamily="34" charset="-120"/>
              </a:rPr>
              <a:t>Lookup time: O(1) per pair</a:t>
            </a:r>
            <a:endParaRPr lang="en-US" sz="1100" dirty="0"/>
          </a:p>
          <a:p>
            <a:pPr indent="0" marL="0">
              <a:spcAft>
                <a:spcPts val="200"/>
              </a:spcAft>
              <a:buNone/>
            </a:pPr>
            <a:endParaRPr lang="en-US" sz="1100" dirty="0"/>
          </a:p>
          <a:p>
            <a:pPr indent="0" marL="0">
              <a:spcAft>
                <a:spcPts val="200"/>
              </a:spcAft>
              <a:buNone/>
            </a:pPr>
            <a:r>
              <a:rPr lang="en-US" sz="1100" dirty="0">
                <a:solidFill>
                  <a:srgbClr val="4A5568"/>
                </a:solidFill>
                <a:latin typeface="Calibri" pitchFamily="34" charset="0"/>
                <a:ea typeface="Calibri" pitchFamily="34" charset="-122"/>
                <a:cs typeface="Calibri" pitchFamily="34" charset="-120"/>
              </a:rPr>
              <a:t>Total pairwise checks at query time:</a:t>
            </a:r>
            <a:endParaRPr lang="en-US" sz="1100" dirty="0"/>
          </a:p>
          <a:p>
            <a:pPr indent="0" marL="0">
              <a:spcAft>
                <a:spcPts val="200"/>
              </a:spcAft>
              <a:buNone/>
            </a:pPr>
            <a:r>
              <a:rPr lang="en-US" sz="1100" dirty="0">
                <a:solidFill>
                  <a:srgbClr val="4A5568"/>
                </a:solidFill>
                <a:latin typeface="Calibri" pitchFamily="34" charset="0"/>
                <a:ea typeface="Calibri" pitchFamily="34" charset="-122"/>
                <a:cs typeface="Calibri" pitchFamily="34" charset="-120"/>
              </a:rPr>
              <a:t>  n fruits → n(n−1)/2 comparisons</a:t>
            </a:r>
            <a:endParaRPr lang="en-US" sz="1100" dirty="0"/>
          </a:p>
        </p:txBody>
      </p:sp>
      <p:sp>
        <p:nvSpPr>
          <p:cNvPr id="17" name="Shape 15"/>
          <p:cNvSpPr/>
          <p:nvPr/>
        </p:nvSpPr>
        <p:spPr>
          <a:xfrm>
            <a:off x="4736592" y="1005840"/>
            <a:ext cx="4023360" cy="3566160"/>
          </a:xfrm>
          <a:prstGeom prst="roundRect">
            <a:avLst>
              <a:gd name="adj" fmla="val 3077"/>
            </a:avLst>
          </a:prstGeom>
          <a:solidFill>
            <a:srgbClr val="F4F7F9"/>
          </a:solidFill>
          <a:ln w="6350">
            <a:solidFill>
              <a:srgbClr val="1A2B4A">
                <a:alpha val="40000"/>
              </a:srgbClr>
            </a:solidFill>
            <a:prstDash val="solid"/>
          </a:ln>
          <a:effectLst>
            <a:outerShdw sx="100000" sy="100000" kx="0" ky="0" algn="bl" rotWithShape="0" blurRad="101600" dist="38100" dir="2700000">
              <a:srgbClr val="000000">
                <a:alpha val="10000"/>
              </a:srgbClr>
            </a:outerShdw>
          </a:effectLst>
        </p:spPr>
      </p:sp>
      <p:sp>
        <p:nvSpPr>
          <p:cNvPr id="18" name="Text 16"/>
          <p:cNvSpPr/>
          <p:nvPr/>
        </p:nvSpPr>
        <p:spPr>
          <a:xfrm>
            <a:off x="4901184" y="1078992"/>
            <a:ext cx="3657600" cy="256032"/>
          </a:xfrm>
          <a:prstGeom prst="rect">
            <a:avLst/>
          </a:prstGeom>
          <a:noFill/>
          <a:ln/>
        </p:spPr>
        <p:txBody>
          <a:bodyPr wrap="square" lIns="0" tIns="0" rIns="0" bIns="0" rtlCol="0" anchor="ctr"/>
          <a:lstStyle/>
          <a:p>
            <a:pPr indent="0" marL="0">
              <a:buNone/>
            </a:pPr>
            <a:r>
              <a:rPr lang="en-US" sz="1200" b="1" dirty="0">
                <a:solidFill>
                  <a:srgbClr val="1A2B4A"/>
                </a:solidFill>
                <a:latin typeface="Calibri" pitchFamily="34" charset="0"/>
                <a:ea typeface="Calibri" pitchFamily="34" charset="-122"/>
                <a:cs typeface="Calibri" pitchFamily="34" charset="-120"/>
              </a:rPr>
              <a:t>Pairwise Checking Algorithm</a:t>
            </a:r>
            <a:endParaRPr lang="en-US" sz="1200" dirty="0"/>
          </a:p>
        </p:txBody>
      </p:sp>
      <p:sp>
        <p:nvSpPr>
          <p:cNvPr id="19" name="Text 17"/>
          <p:cNvSpPr/>
          <p:nvPr/>
        </p:nvSpPr>
        <p:spPr>
          <a:xfrm>
            <a:off x="4901184" y="1371600"/>
            <a:ext cx="3657600" cy="3163824"/>
          </a:xfrm>
          <a:prstGeom prst="rect">
            <a:avLst/>
          </a:prstGeom>
          <a:noFill/>
          <a:ln/>
        </p:spPr>
        <p:txBody>
          <a:bodyPr wrap="square" lIns="0" tIns="0" rIns="0" bIns="0" rtlCol="0" anchor="t"/>
          <a:lstStyle/>
          <a:p>
            <a:pPr indent="0" marL="0">
              <a:buNone/>
            </a:pPr>
            <a:r>
              <a:rPr lang="en-US" sz="1100" dirty="0">
                <a:solidFill>
                  <a:srgbClr val="4A5568"/>
                </a:solidFill>
                <a:latin typeface="Calibri" pitchFamily="34" charset="0"/>
                <a:ea typeface="Calibri" pitchFamily="34" charset="-122"/>
                <a:cs typeface="Calibri" pitchFamily="34" charset="-120"/>
              </a:rPr>
              <a:t>Input: list of n fruit names from user</a:t>
            </a:r>
            <a:endParaRPr lang="en-US" sz="1100" dirty="0"/>
          </a:p>
          <a:p>
            <a:pPr indent="0" marL="0">
              <a:buNone/>
            </a:pPr>
            <a:endParaRPr lang="en-US" sz="1100" dirty="0"/>
          </a:p>
          <a:p>
            <a:pPr indent="0" marL="0">
              <a:buNone/>
            </a:pPr>
            <a:r>
              <a:rPr lang="en-US" sz="1100" dirty="0">
                <a:solidFill>
                  <a:srgbClr val="4A5568"/>
                </a:solidFill>
                <a:latin typeface="Calibri" pitchFamily="34" charset="0"/>
                <a:ea typeface="Calibri" pitchFamily="34" charset="-122"/>
                <a:cs typeface="Calibri" pitchFamily="34" charset="-120"/>
              </a:rPr>
              <a:t>1. Normalise to title case, deduplicate</a:t>
            </a:r>
            <a:endParaRPr lang="en-US" sz="1100" dirty="0"/>
          </a:p>
          <a:p>
            <a:pPr indent="0" marL="0">
              <a:buNone/>
            </a:pPr>
            <a:r>
              <a:rPr lang="en-US" sz="1100" dirty="0">
                <a:solidFill>
                  <a:srgbClr val="4A5568"/>
                </a:solidFill>
                <a:latin typeface="Calibri" pitchFamily="34" charset="0"/>
                <a:ea typeface="Calibri" pitchFamily="34" charset="-122"/>
                <a:cs typeface="Calibri" pitchFamily="34" charset="-120"/>
              </a:rPr>
              <a:t>2. For each unordered pair (a, b):</a:t>
            </a:r>
            <a:endParaRPr lang="en-US" sz="1100" dirty="0"/>
          </a:p>
          <a:p>
            <a:pPr indent="0" marL="0">
              <a:buNone/>
            </a:pPr>
            <a:r>
              <a:rPr lang="en-US" sz="1100" dirty="0">
                <a:solidFill>
                  <a:srgbClr val="4A5568"/>
                </a:solidFill>
                <a:latin typeface="Calibri" pitchFamily="34" charset="0"/>
                <a:ea typeface="Calibri" pitchFamily="34" charset="-122"/>
                <a:cs typeface="Calibri" pitchFamily="34" charset="-120"/>
              </a:rPr>
              <a:t>   IF b in CONFLICT_GRAPH[a]:</a:t>
            </a:r>
            <a:endParaRPr lang="en-US" sz="1100" dirty="0"/>
          </a:p>
          <a:p>
            <a:pPr indent="0" marL="0">
              <a:buNone/>
            </a:pPr>
            <a:r>
              <a:rPr lang="en-US" sz="1100" dirty="0">
                <a:solidFill>
                  <a:srgbClr val="4A5568"/>
                </a:solidFill>
                <a:latin typeface="Calibri" pitchFamily="34" charset="0"/>
                <a:ea typeface="Calibri" pitchFamily="34" charset="-122"/>
                <a:cs typeface="Calibri" pitchFamily="34" charset="-120"/>
              </a:rPr>
              <a:t>      record conflict(a, b)</a:t>
            </a:r>
            <a:endParaRPr lang="en-US" sz="1100" dirty="0"/>
          </a:p>
          <a:p>
            <a:pPr indent="0" marL="0">
              <a:buNone/>
            </a:pPr>
            <a:r>
              <a:rPr lang="en-US" sz="1100" dirty="0">
                <a:solidFill>
                  <a:srgbClr val="4A5568"/>
                </a:solidFill>
                <a:latin typeface="Calibri" pitchFamily="34" charset="0"/>
                <a:ea typeface="Calibri" pitchFamily="34" charset="-122"/>
                <a:cs typeface="Calibri" pitchFamily="34" charset="-120"/>
              </a:rPr>
              <a:t>3. Generate warning text naming</a:t>
            </a:r>
            <a:endParaRPr lang="en-US" sz="1100" dirty="0"/>
          </a:p>
          <a:p>
            <a:pPr indent="0" marL="0">
              <a:buNone/>
            </a:pPr>
            <a:r>
              <a:rPr lang="en-US" sz="1100" dirty="0">
                <a:solidFill>
                  <a:srgbClr val="4A5568"/>
                </a:solidFill>
                <a:latin typeface="Calibri" pitchFamily="34" charset="0"/>
                <a:ea typeface="Calibri" pitchFamily="34" charset="-122"/>
                <a:cs typeface="Calibri" pitchFamily="34" charset="-120"/>
              </a:rPr>
              <a:t>   producer, sensitive party, consequence</a:t>
            </a:r>
            <a:endParaRPr lang="en-US" sz="1100" dirty="0"/>
          </a:p>
          <a:p>
            <a:pPr indent="0" marL="0">
              <a:buNone/>
            </a:pPr>
            <a:r>
              <a:rPr lang="en-US" sz="1100" dirty="0">
                <a:solidFill>
                  <a:srgbClr val="4A5568"/>
                </a:solidFill>
                <a:latin typeface="Calibri" pitchFamily="34" charset="0"/>
                <a:ea typeface="Calibri" pitchFamily="34" charset="-122"/>
                <a:cs typeface="Calibri" pitchFamily="34" charset="-120"/>
              </a:rPr>
              <a:t>4. Group output:</a:t>
            </a:r>
            <a:endParaRPr lang="en-US" sz="1100" dirty="0"/>
          </a:p>
          <a:p>
            <a:pPr indent="0" marL="0">
              <a:buNone/>
            </a:pPr>
            <a:r>
              <a:rPr lang="en-US" sz="1100" dirty="0">
                <a:solidFill>
                  <a:srgbClr val="4A5568"/>
                </a:solidFill>
                <a:latin typeface="Calibri" pitchFamily="34" charset="0"/>
                <a:ea typeface="Calibri" pitchFamily="34" charset="-122"/>
                <a:cs typeface="Calibri" pitchFamily="34" charset="-120"/>
              </a:rPr>
              <a:t>   • Producers → store separately</a:t>
            </a:r>
            <a:endParaRPr lang="en-US" sz="1100" dirty="0"/>
          </a:p>
          <a:p>
            <a:pPr indent="0" marL="0">
              <a:buNone/>
            </a:pPr>
            <a:r>
              <a:rPr lang="en-US" sz="1100" dirty="0">
                <a:solidFill>
                  <a:srgbClr val="4A5568"/>
                </a:solidFill>
                <a:latin typeface="Calibri" pitchFamily="34" charset="0"/>
                <a:ea typeface="Calibri" pitchFamily="34" charset="-122"/>
                <a:cs typeface="Calibri" pitchFamily="34" charset="-120"/>
              </a:rPr>
              <a:t>   • Non-producers → can co-locate</a:t>
            </a:r>
            <a:endParaRPr lang="en-US" sz="1100" dirty="0"/>
          </a:p>
          <a:p>
            <a:pPr indent="0" marL="0">
              <a:buNone/>
            </a:pPr>
            <a:endParaRPr lang="en-US" sz="1100" dirty="0"/>
          </a:p>
          <a:p>
            <a:pPr indent="0" marL="0">
              <a:buNone/>
            </a:pPr>
            <a:r>
              <a:rPr lang="en-US" sz="1100" dirty="0">
                <a:solidFill>
                  <a:srgbClr val="4A5568"/>
                </a:solidFill>
                <a:latin typeface="Calibri" pitchFamily="34" charset="0"/>
                <a:ea typeface="Calibri" pitchFamily="34" charset="-122"/>
                <a:cs typeface="Calibri" pitchFamily="34" charset="-120"/>
              </a:rPr>
              <a:t>Real output for [Banana, Apple, Strawberry]:</a:t>
            </a:r>
            <a:endParaRPr lang="en-US" sz="1100" dirty="0"/>
          </a:p>
          <a:p>
            <a:pPr indent="0" marL="0">
              <a:buNone/>
            </a:pPr>
            <a:r>
              <a:rPr lang="en-US" sz="1100" dirty="0">
                <a:solidFill>
                  <a:srgbClr val="4A5568"/>
                </a:solidFill>
                <a:latin typeface="Calibri" pitchFamily="34" charset="0"/>
                <a:ea typeface="Calibri" pitchFamily="34" charset="-122"/>
                <a:cs typeface="Calibri" pitchFamily="34" charset="-120"/>
              </a:rPr>
              <a:t>Banana produces ethylene that accelerates</a:t>
            </a:r>
            <a:endParaRPr lang="en-US" sz="1100" dirty="0"/>
          </a:p>
          <a:p>
            <a:pPr indent="0" marL="0">
              <a:buNone/>
            </a:pPr>
            <a:r>
              <a:rPr lang="en-US" sz="1100" dirty="0">
                <a:solidFill>
                  <a:srgbClr val="4A5568"/>
                </a:solidFill>
                <a:latin typeface="Calibri" pitchFamily="34" charset="0"/>
                <a:ea typeface="Calibri" pitchFamily="34" charset="-122"/>
                <a:cs typeface="Calibri" pitchFamily="34" charset="-120"/>
              </a:rPr>
              <a:t>ripening of Strawberry. Apple both produces</a:t>
            </a:r>
            <a:endParaRPr lang="en-US" sz="1100" dirty="0"/>
          </a:p>
          <a:p>
            <a:pPr indent="0" marL="0">
              <a:buNone/>
            </a:pPr>
            <a:r>
              <a:rPr lang="en-US" sz="1100" dirty="0">
                <a:solidFill>
                  <a:srgbClr val="4A5568"/>
                </a:solidFill>
                <a:latin typeface="Calibri" pitchFamily="34" charset="0"/>
                <a:ea typeface="Calibri" pitchFamily="34" charset="-122"/>
                <a:cs typeface="Calibri" pitchFamily="34" charset="-120"/>
              </a:rPr>
              <a:t>ethylene and responds to it — store away from</a:t>
            </a:r>
            <a:endParaRPr lang="en-US" sz="1100" dirty="0"/>
          </a:p>
          <a:p>
            <a:pPr indent="0" marL="0">
              <a:buNone/>
            </a:pPr>
            <a:r>
              <a:rPr lang="en-US" sz="1100" dirty="0">
                <a:solidFill>
                  <a:srgbClr val="4A5568"/>
                </a:solidFill>
                <a:latin typeface="Calibri" pitchFamily="34" charset="0"/>
                <a:ea typeface="Calibri" pitchFamily="34" charset="-122"/>
                <a:cs typeface="Calibri" pitchFamily="34" charset="-120"/>
              </a:rPr>
              <a:t>Strawberry.</a:t>
            </a:r>
            <a:endParaRPr lang="en-US" sz="1100" dirty="0"/>
          </a:p>
        </p:txBody>
      </p:sp>
      <p:sp>
        <p:nvSpPr>
          <p:cNvPr id="20" name="Shape 18"/>
          <p:cNvSpPr/>
          <p:nvPr/>
        </p:nvSpPr>
        <p:spPr>
          <a:xfrm>
            <a:off x="384048" y="4645152"/>
            <a:ext cx="8375904" cy="365760"/>
          </a:xfrm>
          <a:prstGeom prst="roundRect">
            <a:avLst>
              <a:gd name="adj" fmla="val 30000"/>
            </a:avLst>
          </a:prstGeom>
          <a:solidFill>
            <a:srgbClr val="E8F5F1"/>
          </a:solidFill>
          <a:ln w="6350">
            <a:solidFill>
              <a:srgbClr val="1A2B4A">
                <a:alpha val="40000"/>
              </a:srgbClr>
            </a:solidFill>
            <a:prstDash val="solid"/>
          </a:ln>
          <a:effectLst>
            <a:outerShdw sx="100000" sy="100000" kx="0" ky="0" algn="bl" rotWithShape="0" blurRad="101600" dist="38100" dir="2700000">
              <a:srgbClr val="000000">
                <a:alpha val="10000"/>
              </a:srgbClr>
            </a:outerShdw>
          </a:effectLst>
        </p:spPr>
      </p:sp>
      <p:sp>
        <p:nvSpPr>
          <p:cNvPr id="21" name="Text 19"/>
          <p:cNvSpPr/>
          <p:nvPr/>
        </p:nvSpPr>
        <p:spPr>
          <a:xfrm>
            <a:off x="530352" y="4681728"/>
            <a:ext cx="8138160" cy="310896"/>
          </a:xfrm>
          <a:prstGeom prst="rect">
            <a:avLst/>
          </a:prstGeom>
          <a:noFill/>
          <a:ln/>
        </p:spPr>
        <p:txBody>
          <a:bodyPr wrap="square" lIns="0" tIns="0" rIns="0" bIns="0" rtlCol="0" anchor="ctr"/>
          <a:lstStyle/>
          <a:p>
            <a:pPr algn="ctr" indent="0" marL="0">
              <a:buNone/>
            </a:pPr>
            <a:r>
              <a:rPr lang="en-US" sz="1050" b="1" dirty="0">
                <a:solidFill>
                  <a:srgbClr val="3A8C7E"/>
                </a:solidFill>
                <a:latin typeface="Calibri" pitchFamily="34" charset="0"/>
                <a:ea typeface="Calibri" pitchFamily="34" charset="-122"/>
                <a:cs typeface="Calibri" pitchFamily="34" charset="-120"/>
              </a:rPr>
              <a:t>19 producers × 24 sensitive species = 451 real bidirectional conflict edges  ·  SHAP equivalent: the ethylene flags in SHAP notation are φ_producer &gt; 0 and φ_sensitive &lt; 0 for co-located fruits.</a:t>
            </a:r>
            <a:endParaRPr lang="en-US" sz="10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EBEBEB"/>
        </a:solidFill>
      </p:bgPr>
    </p:bg>
    <p:spTree>
      <p:nvGrpSpPr>
        <p:cNvPr id="1" name=""/>
        <p:cNvGrpSpPr/>
        <p:nvPr/>
      </p:nvGrpSpPr>
      <p:grpSpPr>
        <a:xfrm>
          <a:off x="0" y="0"/>
          <a:ext cx="0" cy="0"/>
          <a:chOff x="0" y="0"/>
          <a:chExt cx="0" cy="0"/>
        </a:xfrm>
      </p:grpSpPr>
      <p:sp>
        <p:nvSpPr>
          <p:cNvPr id="2" name="Shape 0"/>
          <p:cNvSpPr/>
          <p:nvPr/>
        </p:nvSpPr>
        <p:spPr>
          <a:xfrm rot="-900000">
            <a:off x="137160" y="1280160"/>
            <a:ext cx="777240" cy="201168"/>
          </a:xfrm>
          <a:prstGeom prst="rect">
            <a:avLst/>
          </a:prstGeom>
          <a:solidFill>
            <a:srgbClr val="1A2B4A">
              <a:alpha val="40000"/>
            </a:srgbClr>
          </a:solidFill>
          <a:ln/>
        </p:spPr>
      </p:sp>
      <p:sp>
        <p:nvSpPr>
          <p:cNvPr id="3" name="Shape 1"/>
          <p:cNvSpPr/>
          <p:nvPr/>
        </p:nvSpPr>
        <p:spPr>
          <a:xfrm rot="-900000">
            <a:off x="338328" y="1371600"/>
            <a:ext cx="777240" cy="201168"/>
          </a:xfrm>
          <a:prstGeom prst="rect">
            <a:avLst/>
          </a:prstGeom>
          <a:solidFill>
            <a:srgbClr val="3B5FA0">
              <a:alpha val="30000"/>
            </a:srgbClr>
          </a:solidFill>
          <a:ln/>
        </p:spPr>
      </p:sp>
      <p:sp>
        <p:nvSpPr>
          <p:cNvPr id="4" name="Shape 2"/>
          <p:cNvSpPr/>
          <p:nvPr/>
        </p:nvSpPr>
        <p:spPr>
          <a:xfrm rot="-900000">
            <a:off x="539496" y="1463040"/>
            <a:ext cx="777240" cy="201168"/>
          </a:xfrm>
          <a:prstGeom prst="rect">
            <a:avLst/>
          </a:prstGeom>
          <a:solidFill>
            <a:srgbClr val="3A8C7E">
              <a:alpha val="25000"/>
            </a:srgbClr>
          </a:solidFill>
          <a:ln/>
        </p:spPr>
      </p:sp>
      <p:sp>
        <p:nvSpPr>
          <p:cNvPr id="5" name="Shape 3"/>
          <p:cNvSpPr/>
          <p:nvPr/>
        </p:nvSpPr>
        <p:spPr>
          <a:xfrm>
            <a:off x="8092440" y="3749040"/>
            <a:ext cx="64008" cy="64008"/>
          </a:xfrm>
          <a:prstGeom prst="ellipse">
            <a:avLst/>
          </a:prstGeom>
          <a:solidFill>
            <a:srgbClr val="1A2B4A">
              <a:alpha val="25000"/>
            </a:srgbClr>
          </a:solidFill>
          <a:ln/>
        </p:spPr>
      </p:sp>
      <p:sp>
        <p:nvSpPr>
          <p:cNvPr id="6" name="Shape 4"/>
          <p:cNvSpPr/>
          <p:nvPr/>
        </p:nvSpPr>
        <p:spPr>
          <a:xfrm>
            <a:off x="8293608" y="3749040"/>
            <a:ext cx="64008" cy="64008"/>
          </a:xfrm>
          <a:prstGeom prst="ellipse">
            <a:avLst/>
          </a:prstGeom>
          <a:solidFill>
            <a:srgbClr val="1A2B4A">
              <a:alpha val="25000"/>
            </a:srgbClr>
          </a:solidFill>
          <a:ln/>
        </p:spPr>
      </p:sp>
      <p:sp>
        <p:nvSpPr>
          <p:cNvPr id="7" name="Shape 5"/>
          <p:cNvSpPr/>
          <p:nvPr/>
        </p:nvSpPr>
        <p:spPr>
          <a:xfrm>
            <a:off x="8494776" y="3749040"/>
            <a:ext cx="64008" cy="64008"/>
          </a:xfrm>
          <a:prstGeom prst="ellipse">
            <a:avLst/>
          </a:prstGeom>
          <a:solidFill>
            <a:srgbClr val="1A2B4A">
              <a:alpha val="25000"/>
            </a:srgbClr>
          </a:solidFill>
          <a:ln/>
        </p:spPr>
      </p:sp>
      <p:sp>
        <p:nvSpPr>
          <p:cNvPr id="8" name="Shape 6"/>
          <p:cNvSpPr/>
          <p:nvPr/>
        </p:nvSpPr>
        <p:spPr>
          <a:xfrm>
            <a:off x="8695944" y="3749040"/>
            <a:ext cx="64008" cy="64008"/>
          </a:xfrm>
          <a:prstGeom prst="ellipse">
            <a:avLst/>
          </a:prstGeom>
          <a:solidFill>
            <a:srgbClr val="1A2B4A">
              <a:alpha val="25000"/>
            </a:srgbClr>
          </a:solidFill>
          <a:ln/>
        </p:spPr>
      </p:sp>
      <p:sp>
        <p:nvSpPr>
          <p:cNvPr id="9" name="Shape 7"/>
          <p:cNvSpPr/>
          <p:nvPr/>
        </p:nvSpPr>
        <p:spPr>
          <a:xfrm>
            <a:off x="8897112" y="3749040"/>
            <a:ext cx="64008" cy="64008"/>
          </a:xfrm>
          <a:prstGeom prst="ellipse">
            <a:avLst/>
          </a:prstGeom>
          <a:solidFill>
            <a:srgbClr val="1A2B4A">
              <a:alpha val="25000"/>
            </a:srgbClr>
          </a:solidFill>
          <a:ln/>
        </p:spPr>
      </p:sp>
      <p:sp>
        <p:nvSpPr>
          <p:cNvPr id="10" name="Shape 8"/>
          <p:cNvSpPr/>
          <p:nvPr/>
        </p:nvSpPr>
        <p:spPr>
          <a:xfrm>
            <a:off x="8092440" y="3950208"/>
            <a:ext cx="64008" cy="64008"/>
          </a:xfrm>
          <a:prstGeom prst="ellipse">
            <a:avLst/>
          </a:prstGeom>
          <a:solidFill>
            <a:srgbClr val="1A2B4A">
              <a:alpha val="25000"/>
            </a:srgbClr>
          </a:solidFill>
          <a:ln/>
        </p:spPr>
      </p:sp>
      <p:sp>
        <p:nvSpPr>
          <p:cNvPr id="11" name="Shape 9"/>
          <p:cNvSpPr/>
          <p:nvPr/>
        </p:nvSpPr>
        <p:spPr>
          <a:xfrm>
            <a:off x="8293608" y="3950208"/>
            <a:ext cx="64008" cy="64008"/>
          </a:xfrm>
          <a:prstGeom prst="ellipse">
            <a:avLst/>
          </a:prstGeom>
          <a:solidFill>
            <a:srgbClr val="1A2B4A">
              <a:alpha val="25000"/>
            </a:srgbClr>
          </a:solidFill>
          <a:ln/>
        </p:spPr>
      </p:sp>
      <p:sp>
        <p:nvSpPr>
          <p:cNvPr id="12" name="Shape 10"/>
          <p:cNvSpPr/>
          <p:nvPr/>
        </p:nvSpPr>
        <p:spPr>
          <a:xfrm>
            <a:off x="8494776" y="3950208"/>
            <a:ext cx="64008" cy="64008"/>
          </a:xfrm>
          <a:prstGeom prst="ellipse">
            <a:avLst/>
          </a:prstGeom>
          <a:solidFill>
            <a:srgbClr val="1A2B4A">
              <a:alpha val="25000"/>
            </a:srgbClr>
          </a:solidFill>
          <a:ln/>
        </p:spPr>
      </p:sp>
      <p:sp>
        <p:nvSpPr>
          <p:cNvPr id="13" name="Shape 11"/>
          <p:cNvSpPr/>
          <p:nvPr/>
        </p:nvSpPr>
        <p:spPr>
          <a:xfrm>
            <a:off x="8695944" y="3950208"/>
            <a:ext cx="64008" cy="64008"/>
          </a:xfrm>
          <a:prstGeom prst="ellipse">
            <a:avLst/>
          </a:prstGeom>
          <a:solidFill>
            <a:srgbClr val="1A2B4A">
              <a:alpha val="25000"/>
            </a:srgbClr>
          </a:solidFill>
          <a:ln/>
        </p:spPr>
      </p:sp>
      <p:sp>
        <p:nvSpPr>
          <p:cNvPr id="14" name="Shape 12"/>
          <p:cNvSpPr/>
          <p:nvPr/>
        </p:nvSpPr>
        <p:spPr>
          <a:xfrm>
            <a:off x="8897112" y="3950208"/>
            <a:ext cx="64008" cy="64008"/>
          </a:xfrm>
          <a:prstGeom prst="ellipse">
            <a:avLst/>
          </a:prstGeom>
          <a:solidFill>
            <a:srgbClr val="1A2B4A">
              <a:alpha val="25000"/>
            </a:srgbClr>
          </a:solidFill>
          <a:ln/>
        </p:spPr>
      </p:sp>
      <p:sp>
        <p:nvSpPr>
          <p:cNvPr id="15" name="Shape 13"/>
          <p:cNvSpPr/>
          <p:nvPr/>
        </p:nvSpPr>
        <p:spPr>
          <a:xfrm>
            <a:off x="8092440" y="4151376"/>
            <a:ext cx="64008" cy="64008"/>
          </a:xfrm>
          <a:prstGeom prst="ellipse">
            <a:avLst/>
          </a:prstGeom>
          <a:solidFill>
            <a:srgbClr val="1A2B4A">
              <a:alpha val="25000"/>
            </a:srgbClr>
          </a:solidFill>
          <a:ln/>
        </p:spPr>
      </p:sp>
      <p:sp>
        <p:nvSpPr>
          <p:cNvPr id="16" name="Shape 14"/>
          <p:cNvSpPr/>
          <p:nvPr/>
        </p:nvSpPr>
        <p:spPr>
          <a:xfrm>
            <a:off x="8293608" y="4151376"/>
            <a:ext cx="64008" cy="64008"/>
          </a:xfrm>
          <a:prstGeom prst="ellipse">
            <a:avLst/>
          </a:prstGeom>
          <a:solidFill>
            <a:srgbClr val="1A2B4A">
              <a:alpha val="25000"/>
            </a:srgbClr>
          </a:solidFill>
          <a:ln/>
        </p:spPr>
      </p:sp>
      <p:sp>
        <p:nvSpPr>
          <p:cNvPr id="17" name="Shape 15"/>
          <p:cNvSpPr/>
          <p:nvPr/>
        </p:nvSpPr>
        <p:spPr>
          <a:xfrm>
            <a:off x="8494776" y="4151376"/>
            <a:ext cx="64008" cy="64008"/>
          </a:xfrm>
          <a:prstGeom prst="ellipse">
            <a:avLst/>
          </a:prstGeom>
          <a:solidFill>
            <a:srgbClr val="1A2B4A">
              <a:alpha val="25000"/>
            </a:srgbClr>
          </a:solidFill>
          <a:ln/>
        </p:spPr>
      </p:sp>
      <p:sp>
        <p:nvSpPr>
          <p:cNvPr id="18" name="Shape 16"/>
          <p:cNvSpPr/>
          <p:nvPr/>
        </p:nvSpPr>
        <p:spPr>
          <a:xfrm>
            <a:off x="8695944" y="4151376"/>
            <a:ext cx="64008" cy="64008"/>
          </a:xfrm>
          <a:prstGeom prst="ellipse">
            <a:avLst/>
          </a:prstGeom>
          <a:solidFill>
            <a:srgbClr val="1A2B4A">
              <a:alpha val="25000"/>
            </a:srgbClr>
          </a:solidFill>
          <a:ln/>
        </p:spPr>
      </p:sp>
      <p:sp>
        <p:nvSpPr>
          <p:cNvPr id="19" name="Shape 17"/>
          <p:cNvSpPr/>
          <p:nvPr/>
        </p:nvSpPr>
        <p:spPr>
          <a:xfrm>
            <a:off x="8897112" y="4151376"/>
            <a:ext cx="64008" cy="64008"/>
          </a:xfrm>
          <a:prstGeom prst="ellipse">
            <a:avLst/>
          </a:prstGeom>
          <a:solidFill>
            <a:srgbClr val="1A2B4A">
              <a:alpha val="25000"/>
            </a:srgbClr>
          </a:solidFill>
          <a:ln/>
        </p:spPr>
      </p:sp>
      <p:sp>
        <p:nvSpPr>
          <p:cNvPr id="20" name="Shape 18"/>
          <p:cNvSpPr/>
          <p:nvPr/>
        </p:nvSpPr>
        <p:spPr>
          <a:xfrm>
            <a:off x="8092440" y="4352544"/>
            <a:ext cx="64008" cy="64008"/>
          </a:xfrm>
          <a:prstGeom prst="ellipse">
            <a:avLst/>
          </a:prstGeom>
          <a:solidFill>
            <a:srgbClr val="1A2B4A">
              <a:alpha val="25000"/>
            </a:srgbClr>
          </a:solidFill>
          <a:ln/>
        </p:spPr>
      </p:sp>
      <p:sp>
        <p:nvSpPr>
          <p:cNvPr id="21" name="Shape 19"/>
          <p:cNvSpPr/>
          <p:nvPr/>
        </p:nvSpPr>
        <p:spPr>
          <a:xfrm>
            <a:off x="8293608" y="4352544"/>
            <a:ext cx="64008" cy="64008"/>
          </a:xfrm>
          <a:prstGeom prst="ellipse">
            <a:avLst/>
          </a:prstGeom>
          <a:solidFill>
            <a:srgbClr val="1A2B4A">
              <a:alpha val="25000"/>
            </a:srgbClr>
          </a:solidFill>
          <a:ln/>
        </p:spPr>
      </p:sp>
      <p:sp>
        <p:nvSpPr>
          <p:cNvPr id="22" name="Shape 20"/>
          <p:cNvSpPr/>
          <p:nvPr/>
        </p:nvSpPr>
        <p:spPr>
          <a:xfrm>
            <a:off x="8494776" y="4352544"/>
            <a:ext cx="64008" cy="64008"/>
          </a:xfrm>
          <a:prstGeom prst="ellipse">
            <a:avLst/>
          </a:prstGeom>
          <a:solidFill>
            <a:srgbClr val="1A2B4A">
              <a:alpha val="25000"/>
            </a:srgbClr>
          </a:solidFill>
          <a:ln/>
        </p:spPr>
      </p:sp>
      <p:sp>
        <p:nvSpPr>
          <p:cNvPr id="23" name="Shape 21"/>
          <p:cNvSpPr/>
          <p:nvPr/>
        </p:nvSpPr>
        <p:spPr>
          <a:xfrm>
            <a:off x="8695944" y="4352544"/>
            <a:ext cx="64008" cy="64008"/>
          </a:xfrm>
          <a:prstGeom prst="ellipse">
            <a:avLst/>
          </a:prstGeom>
          <a:solidFill>
            <a:srgbClr val="1A2B4A">
              <a:alpha val="25000"/>
            </a:srgbClr>
          </a:solidFill>
          <a:ln/>
        </p:spPr>
      </p:sp>
      <p:sp>
        <p:nvSpPr>
          <p:cNvPr id="24" name="Shape 22"/>
          <p:cNvSpPr/>
          <p:nvPr/>
        </p:nvSpPr>
        <p:spPr>
          <a:xfrm>
            <a:off x="8897112" y="4352544"/>
            <a:ext cx="64008" cy="64008"/>
          </a:xfrm>
          <a:prstGeom prst="ellipse">
            <a:avLst/>
          </a:prstGeom>
          <a:solidFill>
            <a:srgbClr val="1A2B4A">
              <a:alpha val="25000"/>
            </a:srgbClr>
          </a:solidFill>
          <a:ln/>
        </p:spPr>
      </p:sp>
      <p:sp>
        <p:nvSpPr>
          <p:cNvPr id="25" name="Shape 23"/>
          <p:cNvSpPr/>
          <p:nvPr/>
        </p:nvSpPr>
        <p:spPr>
          <a:xfrm>
            <a:off x="8092440" y="4553712"/>
            <a:ext cx="64008" cy="64008"/>
          </a:xfrm>
          <a:prstGeom prst="ellipse">
            <a:avLst/>
          </a:prstGeom>
          <a:solidFill>
            <a:srgbClr val="1A2B4A">
              <a:alpha val="25000"/>
            </a:srgbClr>
          </a:solidFill>
          <a:ln/>
        </p:spPr>
      </p:sp>
      <p:sp>
        <p:nvSpPr>
          <p:cNvPr id="26" name="Shape 24"/>
          <p:cNvSpPr/>
          <p:nvPr/>
        </p:nvSpPr>
        <p:spPr>
          <a:xfrm>
            <a:off x="8293608" y="4553712"/>
            <a:ext cx="64008" cy="64008"/>
          </a:xfrm>
          <a:prstGeom prst="ellipse">
            <a:avLst/>
          </a:prstGeom>
          <a:solidFill>
            <a:srgbClr val="1A2B4A">
              <a:alpha val="25000"/>
            </a:srgbClr>
          </a:solidFill>
          <a:ln/>
        </p:spPr>
      </p:sp>
      <p:sp>
        <p:nvSpPr>
          <p:cNvPr id="27" name="Shape 25"/>
          <p:cNvSpPr/>
          <p:nvPr/>
        </p:nvSpPr>
        <p:spPr>
          <a:xfrm>
            <a:off x="8494776" y="4553712"/>
            <a:ext cx="64008" cy="64008"/>
          </a:xfrm>
          <a:prstGeom prst="ellipse">
            <a:avLst/>
          </a:prstGeom>
          <a:solidFill>
            <a:srgbClr val="1A2B4A">
              <a:alpha val="25000"/>
            </a:srgbClr>
          </a:solidFill>
          <a:ln/>
        </p:spPr>
      </p:sp>
      <p:sp>
        <p:nvSpPr>
          <p:cNvPr id="28" name="Shape 26"/>
          <p:cNvSpPr/>
          <p:nvPr/>
        </p:nvSpPr>
        <p:spPr>
          <a:xfrm>
            <a:off x="8695944" y="4553712"/>
            <a:ext cx="64008" cy="64008"/>
          </a:xfrm>
          <a:prstGeom prst="ellipse">
            <a:avLst/>
          </a:prstGeom>
          <a:solidFill>
            <a:srgbClr val="1A2B4A">
              <a:alpha val="25000"/>
            </a:srgbClr>
          </a:solidFill>
          <a:ln/>
        </p:spPr>
      </p:sp>
      <p:sp>
        <p:nvSpPr>
          <p:cNvPr id="29" name="Shape 27"/>
          <p:cNvSpPr/>
          <p:nvPr/>
        </p:nvSpPr>
        <p:spPr>
          <a:xfrm>
            <a:off x="8897112" y="4553712"/>
            <a:ext cx="64008" cy="64008"/>
          </a:xfrm>
          <a:prstGeom prst="ellipse">
            <a:avLst/>
          </a:prstGeom>
          <a:solidFill>
            <a:srgbClr val="1A2B4A">
              <a:alpha val="25000"/>
            </a:srgbClr>
          </a:solidFill>
          <a:ln/>
        </p:spPr>
      </p:sp>
      <p:sp>
        <p:nvSpPr>
          <p:cNvPr id="30" name="Text 28"/>
          <p:cNvSpPr/>
          <p:nvPr/>
        </p:nvSpPr>
        <p:spPr>
          <a:xfrm>
            <a:off x="411480" y="292608"/>
            <a:ext cx="8321040" cy="530352"/>
          </a:xfrm>
          <a:prstGeom prst="rect">
            <a:avLst/>
          </a:prstGeom>
          <a:noFill/>
          <a:ln/>
        </p:spPr>
        <p:txBody>
          <a:bodyPr wrap="square" lIns="0" tIns="0" rIns="0" bIns="0" rtlCol="0" anchor="ctr"/>
          <a:lstStyle/>
          <a:p>
            <a:pPr algn="l" indent="0" marL="0">
              <a:buNone/>
            </a:pPr>
            <a:r>
              <a:rPr lang="en-US" sz="2800" b="1" dirty="0">
                <a:solidFill>
                  <a:srgbClr val="1A2B4A"/>
                </a:solidFill>
                <a:latin typeface="Cambria" pitchFamily="34" charset="0"/>
                <a:ea typeface="Cambria" pitchFamily="34" charset="-122"/>
                <a:cs typeface="Cambria" pitchFamily="34" charset="-120"/>
              </a:rPr>
              <a:t>Dataset Overview</a:t>
            </a:r>
            <a:endParaRPr lang="en-US" sz="2800" dirty="0"/>
          </a:p>
        </p:txBody>
      </p:sp>
      <p:sp>
        <p:nvSpPr>
          <p:cNvPr id="31" name="Text 29"/>
          <p:cNvSpPr/>
          <p:nvPr/>
        </p:nvSpPr>
        <p:spPr>
          <a:xfrm>
            <a:off x="411480" y="841248"/>
            <a:ext cx="8321040" cy="329184"/>
          </a:xfrm>
          <a:prstGeom prst="rect">
            <a:avLst/>
          </a:prstGeom>
          <a:noFill/>
          <a:ln/>
        </p:spPr>
        <p:txBody>
          <a:bodyPr wrap="square" lIns="0" tIns="0" rIns="0" bIns="0" rtlCol="0" anchor="ctr"/>
          <a:lstStyle/>
          <a:p>
            <a:pPr algn="l" indent="0" marL="0">
              <a:buNone/>
            </a:pPr>
            <a:r>
              <a:rPr lang="en-US" sz="1400" b="1" dirty="0">
                <a:solidFill>
                  <a:srgbClr val="3A8C7E"/>
                </a:solidFill>
                <a:latin typeface="Calibri" pitchFamily="34" charset="0"/>
                <a:ea typeface="Calibri" pitchFamily="34" charset="-122"/>
                <a:cs typeface="Calibri" pitchFamily="34" charset="-120"/>
              </a:rPr>
              <a:t>Fruits-360 + curated freshness images  ·  14 age-range classes  ·  4 fruit types</a:t>
            </a:r>
            <a:endParaRPr lang="en-US" sz="1400" dirty="0"/>
          </a:p>
        </p:txBody>
      </p:sp>
      <p:sp>
        <p:nvSpPr>
          <p:cNvPr id="32" name="Shape 30"/>
          <p:cNvSpPr/>
          <p:nvPr/>
        </p:nvSpPr>
        <p:spPr>
          <a:xfrm>
            <a:off x="411480" y="868680"/>
            <a:ext cx="8229600" cy="0"/>
          </a:xfrm>
          <a:prstGeom prst="line">
            <a:avLst/>
          </a:prstGeom>
          <a:noFill/>
          <a:ln w="19050">
            <a:solidFill>
              <a:srgbClr val="3A8C7E">
                <a:alpha val="60000"/>
              </a:srgbClr>
            </a:solidFill>
            <a:prstDash val="solid"/>
          </a:ln>
        </p:spPr>
      </p:sp>
      <p:sp>
        <p:nvSpPr>
          <p:cNvPr id="33" name="Shape 31"/>
          <p:cNvSpPr/>
          <p:nvPr/>
        </p:nvSpPr>
        <p:spPr>
          <a:xfrm>
            <a:off x="411480" y="950976"/>
            <a:ext cx="8229600" cy="0"/>
          </a:xfrm>
          <a:prstGeom prst="line">
            <a:avLst/>
          </a:prstGeom>
          <a:noFill/>
          <a:ln w="10160">
            <a:solidFill>
              <a:srgbClr val="1A2B4A">
                <a:alpha val="45000"/>
              </a:srgbClr>
            </a:solidFill>
            <a:prstDash val="solid"/>
          </a:ln>
        </p:spPr>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384048" y="1207008"/>
          <a:ext cx="8375904" cy="1828800"/>
        </p:xfrm>
        <a:graphic>
          <a:graphicData uri="http://schemas.openxmlformats.org/drawingml/2006/table">
            <a:tbl>
              <a:tblPr/>
              <a:tblGrid>
                <a:gridCol w="1005840"/>
                <a:gridCol w="3566160"/>
                <a:gridCol w="1792224"/>
                <a:gridCol w="1188720"/>
              </a:tblGrid>
              <a:tr h="304800">
                <a:tc>
                  <a:txBody>
                    <a:bodyPr/>
                    <a:lstStyle/>
                    <a:p>
                      <a:pPr indent="0" marL="0">
                        <a:buNone/>
                      </a:pPr>
                      <a:r>
                        <a:rPr lang="en-US" sz="1200" b="1" dirty="0">
                          <a:solidFill>
                            <a:srgbClr val="FFFFFF"/>
                          </a:solidFill>
                        </a:rPr>
                        <a:t>Fruit Type</a:t>
                      </a:r>
                      <a:endParaRPr lang="en-US" sz="1200" dirty="0"/>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1A2B4A"/>
                    </a:solidFill>
                  </a:tcPr>
                </a:tc>
                <a:tc>
                  <a:txBody>
                    <a:bodyPr/>
                    <a:lstStyle/>
                    <a:p>
                      <a:pPr indent="0" marL="0">
                        <a:buNone/>
                      </a:pPr>
                      <a:r>
                        <a:rPr lang="en-US" sz="1200" b="1" dirty="0">
                          <a:solidFill>
                            <a:srgbClr val="FFFFFF"/>
                          </a:solidFill>
                        </a:rPr>
                        <a:t>Age-Range Classes</a:t>
                      </a:r>
                      <a:endParaRPr lang="en-US" sz="1200" dirty="0"/>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1A2B4A"/>
                    </a:solidFill>
                  </a:tcPr>
                </a:tc>
                <a:tc>
                  <a:txBody>
                    <a:bodyPr/>
                    <a:lstStyle/>
                    <a:p>
                      <a:pPr indent="0" marL="0">
                        <a:buNone/>
                      </a:pPr>
                      <a:r>
                        <a:rPr lang="en-US" sz="1200" b="1" dirty="0">
                          <a:solidFill>
                            <a:srgbClr val="FFFFFF"/>
                          </a:solidFill>
                        </a:rPr>
                        <a:t>Freshness Score Range</a:t>
                      </a:r>
                      <a:endParaRPr lang="en-US" sz="1200" dirty="0"/>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1A2B4A"/>
                    </a:solidFill>
                  </a:tcPr>
                </a:tc>
                <a:tc>
                  <a:txBody>
                    <a:bodyPr/>
                    <a:lstStyle/>
                    <a:p>
                      <a:pPr indent="0" marL="0">
                        <a:buNone/>
                      </a:pPr>
                      <a:r>
                        <a:rPr lang="en-US" sz="1200" b="1" dirty="0">
                          <a:solidFill>
                            <a:srgbClr val="FFFFFF"/>
                          </a:solidFill>
                        </a:rPr>
                        <a:t>Top-1 Accuracy</a:t>
                      </a:r>
                      <a:endParaRPr lang="en-US" sz="1200" dirty="0"/>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1A2B4A"/>
                    </a:solidFill>
                  </a:tcPr>
                </a:tc>
              </a:tr>
              <a:tr h="304800">
                <a:tc>
                  <a:txBody>
                    <a:bodyPr/>
                    <a:lstStyle/>
                    <a:p>
                      <a:pPr algn="l" indent="0" marL="0">
                        <a:buNone/>
                      </a:pPr>
                      <a:r>
                        <a:rPr lang="en-US" sz="1100" dirty="0">
                          <a:solidFill>
                            <a:srgbClr val="4A5568"/>
                          </a:solidFill>
                        </a:rPr>
                        <a:t>Apple</a:t>
                      </a:r>
                      <a:endParaRPr lang="en-US" sz="1100" dirty="0"/>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algn="l" indent="0" marL="0">
                        <a:buNone/>
                      </a:pPr>
                      <a:r>
                        <a:rPr lang="en-US" sz="1100" dirty="0">
                          <a:solidFill>
                            <a:srgbClr val="4A5568"/>
                          </a:solidFill>
                        </a:rPr>
                        <a:t>Apple(1-5)  ·  Apple(5-10)  ·  Apple(10-15)</a:t>
                      </a:r>
                      <a:endParaRPr lang="en-US" sz="1100" dirty="0"/>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algn="l" indent="0" marL="0">
                        <a:buNone/>
                      </a:pPr>
                      <a:r>
                        <a:rPr lang="en-US" sz="1100" dirty="0">
                          <a:solidFill>
                            <a:srgbClr val="4A5568"/>
                          </a:solidFill>
                        </a:rPr>
                        <a:t>0.60 – 1.00</a:t>
                      </a:r>
                      <a:endParaRPr lang="en-US" sz="1100" dirty="0"/>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4A5568"/>
                          </a:solidFill>
                        </a:rPr>
                        <a:t>87–94%</a:t>
                      </a:r>
                      <a:endParaRPr lang="en-US" sz="1100" dirty="0"/>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r>
              <a:tr h="304800">
                <a:tc>
                  <a:txBody>
                    <a:bodyPr/>
                    <a:lstStyle/>
                    <a:p>
                      <a:pPr algn="l" indent="0" marL="0">
                        <a:buNone/>
                      </a:pPr>
                      <a:r>
                        <a:rPr lang="en-US" sz="1100" dirty="0">
                          <a:solidFill>
                            <a:srgbClr val="4A5568"/>
                          </a:solidFill>
                        </a:rPr>
                        <a:t>Banana</a:t>
                      </a:r>
                      <a:endParaRPr lang="en-US" sz="1100" dirty="0"/>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4F7F9"/>
                    </a:solidFill>
                  </a:tcPr>
                </a:tc>
                <a:tc>
                  <a:txBody>
                    <a:bodyPr/>
                    <a:lstStyle/>
                    <a:p>
                      <a:pPr algn="l" indent="0" marL="0">
                        <a:buNone/>
                      </a:pPr>
                      <a:r>
                        <a:rPr lang="en-US" sz="1100" dirty="0">
                          <a:solidFill>
                            <a:srgbClr val="4A5568"/>
                          </a:solidFill>
                        </a:rPr>
                        <a:t>Banana(1-5)  ·  Banana(5-10)  ·  Banana(10-15)  ·  Banana(15-20)</a:t>
                      </a:r>
                      <a:endParaRPr lang="en-US" sz="1100" dirty="0"/>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4F7F9"/>
                    </a:solidFill>
                  </a:tcPr>
                </a:tc>
                <a:tc>
                  <a:txBody>
                    <a:bodyPr/>
                    <a:lstStyle/>
                    <a:p>
                      <a:pPr algn="l" indent="0" marL="0">
                        <a:buNone/>
                      </a:pPr>
                      <a:r>
                        <a:rPr lang="en-US" sz="1100" dirty="0">
                          <a:solidFill>
                            <a:srgbClr val="4A5568"/>
                          </a:solidFill>
                        </a:rPr>
                        <a:t>0.40 – 1.00</a:t>
                      </a:r>
                      <a:endParaRPr lang="en-US" sz="1100" dirty="0"/>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4F7F9"/>
                    </a:solidFill>
                  </a:tcPr>
                </a:tc>
                <a:tc>
                  <a:txBody>
                    <a:bodyPr/>
                    <a:lstStyle/>
                    <a:p>
                      <a:pPr algn="ctr" indent="0" marL="0">
                        <a:buNone/>
                      </a:pPr>
                      <a:r>
                        <a:rPr lang="en-US" sz="1100" dirty="0">
                          <a:solidFill>
                            <a:srgbClr val="4A5568"/>
                          </a:solidFill>
                        </a:rPr>
                        <a:t>86–92%</a:t>
                      </a:r>
                      <a:endParaRPr lang="en-US" sz="1100" dirty="0"/>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4F7F9"/>
                    </a:solidFill>
                  </a:tcPr>
                </a:tc>
              </a:tr>
              <a:tr h="304800">
                <a:tc>
                  <a:txBody>
                    <a:bodyPr/>
                    <a:lstStyle/>
                    <a:p>
                      <a:pPr algn="l" indent="0" marL="0">
                        <a:buNone/>
                      </a:pPr>
                      <a:r>
                        <a:rPr lang="en-US" sz="1100" dirty="0">
                          <a:solidFill>
                            <a:srgbClr val="4A5568"/>
                          </a:solidFill>
                        </a:rPr>
                        <a:t>Carrot*</a:t>
                      </a:r>
                      <a:endParaRPr lang="en-US" sz="1100" dirty="0"/>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algn="l" indent="0" marL="0">
                        <a:buNone/>
                      </a:pPr>
                      <a:r>
                        <a:rPr lang="en-US" sz="1100" dirty="0">
                          <a:solidFill>
                            <a:srgbClr val="4A5568"/>
                          </a:solidFill>
                        </a:rPr>
                        <a:t>Carrot(1-7)  ·  Carrot(7-14)  ·  Carrot(14-21)</a:t>
                      </a:r>
                      <a:endParaRPr lang="en-US" sz="1100" dirty="0"/>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algn="l" indent="0" marL="0">
                        <a:buNone/>
                      </a:pPr>
                      <a:r>
                        <a:rPr lang="en-US" sz="1100" dirty="0">
                          <a:solidFill>
                            <a:srgbClr val="4A5568"/>
                          </a:solidFill>
                        </a:rPr>
                        <a:t>0.50 – 1.00</a:t>
                      </a:r>
                      <a:endParaRPr lang="en-US" sz="1100" dirty="0"/>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4A5568"/>
                          </a:solidFill>
                        </a:rPr>
                        <a:t>82–88%</a:t>
                      </a:r>
                      <a:endParaRPr lang="en-US" sz="1100" dirty="0"/>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r>
              <a:tr h="304800">
                <a:tc>
                  <a:txBody>
                    <a:bodyPr/>
                    <a:lstStyle/>
                    <a:p>
                      <a:pPr algn="l" indent="0" marL="0">
                        <a:buNone/>
                      </a:pPr>
                      <a:r>
                        <a:rPr lang="en-US" sz="1100" dirty="0">
                          <a:solidFill>
                            <a:srgbClr val="4A5568"/>
                          </a:solidFill>
                        </a:rPr>
                        <a:t>Tomato*</a:t>
                      </a:r>
                      <a:endParaRPr lang="en-US" sz="1100" dirty="0"/>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4F7F9"/>
                    </a:solidFill>
                  </a:tcPr>
                </a:tc>
                <a:tc>
                  <a:txBody>
                    <a:bodyPr/>
                    <a:lstStyle/>
                    <a:p>
                      <a:pPr algn="l" indent="0" marL="0">
                        <a:buNone/>
                      </a:pPr>
                      <a:r>
                        <a:rPr lang="en-US" sz="1100" dirty="0">
                          <a:solidFill>
                            <a:srgbClr val="4A5568"/>
                          </a:solidFill>
                        </a:rPr>
                        <a:t>Tomato(1-3)  ·  Tomato(3-7)  ·  Tomato(7-10)</a:t>
                      </a:r>
                      <a:endParaRPr lang="en-US" sz="1100" dirty="0"/>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4F7F9"/>
                    </a:solidFill>
                  </a:tcPr>
                </a:tc>
                <a:tc>
                  <a:txBody>
                    <a:bodyPr/>
                    <a:lstStyle/>
                    <a:p>
                      <a:pPr algn="l" indent="0" marL="0">
                        <a:buNone/>
                      </a:pPr>
                      <a:r>
                        <a:rPr lang="en-US" sz="1100" dirty="0">
                          <a:solidFill>
                            <a:srgbClr val="4A5568"/>
                          </a:solidFill>
                        </a:rPr>
                        <a:t>0.50 – 1.00</a:t>
                      </a:r>
                      <a:endParaRPr lang="en-US" sz="1100" dirty="0"/>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4F7F9"/>
                    </a:solidFill>
                  </a:tcPr>
                </a:tc>
                <a:tc>
                  <a:txBody>
                    <a:bodyPr/>
                    <a:lstStyle/>
                    <a:p>
                      <a:pPr algn="ctr" indent="0" marL="0">
                        <a:buNone/>
                      </a:pPr>
                      <a:r>
                        <a:rPr lang="en-US" sz="1100" dirty="0">
                          <a:solidFill>
                            <a:srgbClr val="4A5568"/>
                          </a:solidFill>
                        </a:rPr>
                        <a:t>82–88%</a:t>
                      </a:r>
                      <a:endParaRPr lang="en-US" sz="1100" dirty="0"/>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4F7F9"/>
                    </a:solidFill>
                  </a:tcPr>
                </a:tc>
              </a:tr>
              <a:tr h="304800">
                <a:tc>
                  <a:txBody>
                    <a:bodyPr/>
                    <a:lstStyle/>
                    <a:p>
                      <a:pPr indent="0" marL="0">
                        <a:buNone/>
                      </a:pPr>
                      <a:r>
                        <a:rPr lang="en-US" sz="1200" b="1" dirty="0">
                          <a:solidFill>
                            <a:srgbClr val="000000"/>
                          </a:solidFill>
                        </a:rPr>
                        <a:t>All types</a:t>
                      </a:r>
                      <a:endParaRPr lang="en-US" sz="1200" dirty="0"/>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200" b="1" dirty="0">
                          <a:solidFill>
                            <a:srgbClr val="000000"/>
                          </a:solidFill>
                        </a:rPr>
                        <a:t>Expired (visual spoilage catch-all)</a:t>
                      </a:r>
                      <a:endParaRPr lang="en-US" sz="1200" dirty="0"/>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algn="l" indent="0" marL="0">
                        <a:buNone/>
                      </a:pPr>
                      <a:r>
                        <a:rPr lang="en-US" sz="1100" dirty="0">
                          <a:solidFill>
                            <a:srgbClr val="1A2B4A"/>
                          </a:solidFill>
                        </a:rPr>
                        <a:t>0.00 – 0.19</a:t>
                      </a:r>
                      <a:endParaRPr lang="en-US" sz="1100" dirty="0"/>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A2B4A"/>
                          </a:solidFill>
                        </a:rPr>
                        <a:t>91%</a:t>
                      </a:r>
                      <a:endParaRPr lang="en-US" sz="1100" dirty="0"/>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r>
            </a:tbl>
          </a:graphicData>
        </a:graphic>
      </p:graphicFrame>
      <p:sp>
        <p:nvSpPr>
          <p:cNvPr id="35" name="Text 32"/>
          <p:cNvSpPr/>
          <p:nvPr/>
        </p:nvSpPr>
        <p:spPr>
          <a:xfrm>
            <a:off x="384048" y="3090672"/>
            <a:ext cx="8375904" cy="292608"/>
          </a:xfrm>
          <a:prstGeom prst="rect">
            <a:avLst/>
          </a:prstGeom>
          <a:noFill/>
          <a:ln/>
        </p:spPr>
        <p:txBody>
          <a:bodyPr wrap="square" lIns="0" tIns="0" rIns="0" bIns="0" rtlCol="0" anchor="ctr"/>
          <a:lstStyle/>
          <a:p>
            <a:pPr indent="0" marL="0">
              <a:buNone/>
            </a:pPr>
            <a:r>
              <a:rPr lang="en-US" sz="1000" i="1" dirty="0">
                <a:solidFill>
                  <a:srgbClr val="607D8B"/>
                </a:solidFill>
                <a:latin typeface="Calibri" pitchFamily="34" charset="0"/>
                <a:ea typeface="Calibri" pitchFamily="34" charset="-122"/>
                <a:cs typeface="Calibri" pitchFamily="34" charset="-120"/>
              </a:rPr>
              <a:t>* Carrot and Tomato: training-set classes that add visual diversity and improve separability of Apple/Banana features. They are not in the production fruit database — scans classified as these fall back to manual fruit selection.</a:t>
            </a:r>
            <a:endParaRPr lang="en-US" sz="1000" dirty="0"/>
          </a:p>
        </p:txBody>
      </p:sp>
      <p:sp>
        <p:nvSpPr>
          <p:cNvPr id="36" name="Shape 33"/>
          <p:cNvSpPr/>
          <p:nvPr/>
        </p:nvSpPr>
        <p:spPr>
          <a:xfrm>
            <a:off x="384048" y="3456432"/>
            <a:ext cx="1572768" cy="1024128"/>
          </a:xfrm>
          <a:prstGeom prst="roundRect">
            <a:avLst>
              <a:gd name="adj" fmla="val 10714"/>
            </a:avLst>
          </a:prstGeom>
          <a:solidFill>
            <a:srgbClr val="F0F4F8"/>
          </a:solidFill>
          <a:ln w="6350">
            <a:solidFill>
              <a:srgbClr val="1A2B4A">
                <a:alpha val="40000"/>
              </a:srgbClr>
            </a:solidFill>
            <a:prstDash val="solid"/>
          </a:ln>
          <a:effectLst>
            <a:outerShdw sx="100000" sy="100000" kx="0" ky="0" algn="bl" rotWithShape="0" blurRad="101600" dist="38100" dir="2700000">
              <a:srgbClr val="000000">
                <a:alpha val="10000"/>
              </a:srgbClr>
            </a:outerShdw>
          </a:effectLst>
        </p:spPr>
      </p:sp>
      <p:sp>
        <p:nvSpPr>
          <p:cNvPr id="37" name="Text 34"/>
          <p:cNvSpPr/>
          <p:nvPr/>
        </p:nvSpPr>
        <p:spPr>
          <a:xfrm>
            <a:off x="384048" y="3493008"/>
            <a:ext cx="1572768" cy="512064"/>
          </a:xfrm>
          <a:prstGeom prst="rect">
            <a:avLst/>
          </a:prstGeom>
          <a:noFill/>
          <a:ln/>
        </p:spPr>
        <p:txBody>
          <a:bodyPr wrap="square" lIns="0" tIns="0" rIns="0" bIns="0" rtlCol="0" anchor="ctr"/>
          <a:lstStyle/>
          <a:p>
            <a:pPr algn="ctr" indent="0" marL="0">
              <a:buNone/>
            </a:pPr>
            <a:r>
              <a:rPr lang="en-US" sz="2400" b="1" dirty="0">
                <a:solidFill>
                  <a:srgbClr val="3A8C7E"/>
                </a:solidFill>
                <a:latin typeface="Cambria" pitchFamily="34" charset="0"/>
                <a:ea typeface="Cambria" pitchFamily="34" charset="-122"/>
                <a:cs typeface="Cambria" pitchFamily="34" charset="-120"/>
              </a:rPr>
              <a:t>14</a:t>
            </a:r>
            <a:endParaRPr lang="en-US" sz="2400" dirty="0"/>
          </a:p>
        </p:txBody>
      </p:sp>
      <p:sp>
        <p:nvSpPr>
          <p:cNvPr id="38" name="Text 35"/>
          <p:cNvSpPr/>
          <p:nvPr/>
        </p:nvSpPr>
        <p:spPr>
          <a:xfrm>
            <a:off x="384048" y="4005072"/>
            <a:ext cx="1572768" cy="438912"/>
          </a:xfrm>
          <a:prstGeom prst="rect">
            <a:avLst/>
          </a:prstGeom>
          <a:noFill/>
          <a:ln/>
        </p:spPr>
        <p:txBody>
          <a:bodyPr wrap="square" lIns="0" tIns="0" rIns="0" bIns="0" rtlCol="0" anchor="t"/>
          <a:lstStyle/>
          <a:p>
            <a:pPr algn="ctr" indent="0" marL="0">
              <a:buNone/>
            </a:pPr>
            <a:r>
              <a:rPr lang="en-US" sz="950" dirty="0">
                <a:solidFill>
                  <a:srgbClr val="4A5568"/>
                </a:solidFill>
                <a:latin typeface="Calibri" pitchFamily="34" charset="0"/>
                <a:ea typeface="Calibri" pitchFamily="34" charset="-122"/>
                <a:cs typeface="Calibri" pitchFamily="34" charset="-120"/>
              </a:rPr>
              <a:t>Output classes</a:t>
            </a:r>
            <a:endParaRPr lang="en-US" sz="950" dirty="0"/>
          </a:p>
          <a:p>
            <a:pPr algn="ctr" indent="0" marL="0">
              <a:buNone/>
            </a:pPr>
            <a:r>
              <a:rPr lang="en-US" sz="950" dirty="0">
                <a:solidFill>
                  <a:srgbClr val="4A5568"/>
                </a:solidFill>
                <a:latin typeface="Calibri" pitchFamily="34" charset="0"/>
                <a:ea typeface="Calibri" pitchFamily="34" charset="-122"/>
                <a:cs typeface="Calibri" pitchFamily="34" charset="-120"/>
              </a:rPr>
              <a:t>(age-range labels)</a:t>
            </a:r>
            <a:endParaRPr lang="en-US" sz="950" dirty="0"/>
          </a:p>
        </p:txBody>
      </p:sp>
      <p:sp>
        <p:nvSpPr>
          <p:cNvPr id="39" name="Shape 36"/>
          <p:cNvSpPr/>
          <p:nvPr/>
        </p:nvSpPr>
        <p:spPr>
          <a:xfrm>
            <a:off x="2084832" y="3456432"/>
            <a:ext cx="1572768" cy="1024128"/>
          </a:xfrm>
          <a:prstGeom prst="roundRect">
            <a:avLst>
              <a:gd name="adj" fmla="val 10714"/>
            </a:avLst>
          </a:prstGeom>
          <a:solidFill>
            <a:srgbClr val="F0F4F8"/>
          </a:solidFill>
          <a:ln w="6350">
            <a:solidFill>
              <a:srgbClr val="1A2B4A">
                <a:alpha val="40000"/>
              </a:srgbClr>
            </a:solidFill>
            <a:prstDash val="solid"/>
          </a:ln>
          <a:effectLst>
            <a:outerShdw sx="100000" sy="100000" kx="0" ky="0" algn="bl" rotWithShape="0" blurRad="101600" dist="38100" dir="2700000">
              <a:srgbClr val="000000">
                <a:alpha val="10000"/>
              </a:srgbClr>
            </a:outerShdw>
          </a:effectLst>
        </p:spPr>
      </p:sp>
      <p:sp>
        <p:nvSpPr>
          <p:cNvPr id="40" name="Text 37"/>
          <p:cNvSpPr/>
          <p:nvPr/>
        </p:nvSpPr>
        <p:spPr>
          <a:xfrm>
            <a:off x="2084832" y="3493008"/>
            <a:ext cx="1572768" cy="512064"/>
          </a:xfrm>
          <a:prstGeom prst="rect">
            <a:avLst/>
          </a:prstGeom>
          <a:noFill/>
          <a:ln/>
        </p:spPr>
        <p:txBody>
          <a:bodyPr wrap="square" lIns="0" tIns="0" rIns="0" bIns="0" rtlCol="0" anchor="ctr"/>
          <a:lstStyle/>
          <a:p>
            <a:pPr algn="ctr" indent="0" marL="0">
              <a:buNone/>
            </a:pPr>
            <a:r>
              <a:rPr lang="en-US" sz="2400" b="1" dirty="0">
                <a:solidFill>
                  <a:srgbClr val="3A8C7E"/>
                </a:solidFill>
                <a:latin typeface="Cambria" pitchFamily="34" charset="0"/>
                <a:ea typeface="Cambria" pitchFamily="34" charset="-122"/>
                <a:cs typeface="Cambria" pitchFamily="34" charset="-120"/>
              </a:rPr>
              <a:t>4</a:t>
            </a:r>
            <a:endParaRPr lang="en-US" sz="2400" dirty="0"/>
          </a:p>
        </p:txBody>
      </p:sp>
      <p:sp>
        <p:nvSpPr>
          <p:cNvPr id="41" name="Text 38"/>
          <p:cNvSpPr/>
          <p:nvPr/>
        </p:nvSpPr>
        <p:spPr>
          <a:xfrm>
            <a:off x="2084832" y="4005072"/>
            <a:ext cx="1572768" cy="438912"/>
          </a:xfrm>
          <a:prstGeom prst="rect">
            <a:avLst/>
          </a:prstGeom>
          <a:noFill/>
          <a:ln/>
        </p:spPr>
        <p:txBody>
          <a:bodyPr wrap="square" lIns="0" tIns="0" rIns="0" bIns="0" rtlCol="0" anchor="t"/>
          <a:lstStyle/>
          <a:p>
            <a:pPr algn="ctr" indent="0" marL="0">
              <a:buNone/>
            </a:pPr>
            <a:r>
              <a:rPr lang="en-US" sz="950" dirty="0">
                <a:solidFill>
                  <a:srgbClr val="4A5568"/>
                </a:solidFill>
                <a:latin typeface="Calibri" pitchFamily="34" charset="0"/>
                <a:ea typeface="Calibri" pitchFamily="34" charset="-122"/>
                <a:cs typeface="Calibri" pitchFamily="34" charset="-120"/>
              </a:rPr>
              <a:t>Fruit types</a:t>
            </a:r>
            <a:endParaRPr lang="en-US" sz="950" dirty="0"/>
          </a:p>
          <a:p>
            <a:pPr algn="ctr" indent="0" marL="0">
              <a:buNone/>
            </a:pPr>
            <a:r>
              <a:rPr lang="en-US" sz="950" dirty="0">
                <a:solidFill>
                  <a:srgbClr val="4A5568"/>
                </a:solidFill>
                <a:latin typeface="Calibri" pitchFamily="34" charset="0"/>
                <a:ea typeface="Calibri" pitchFamily="34" charset="-122"/>
                <a:cs typeface="Calibri" pitchFamily="34" charset="-120"/>
              </a:rPr>
              <a:t>(Apple · Banana · Carrot · Tomato)</a:t>
            </a:r>
            <a:endParaRPr lang="en-US" sz="950" dirty="0"/>
          </a:p>
        </p:txBody>
      </p:sp>
      <p:sp>
        <p:nvSpPr>
          <p:cNvPr id="42" name="Shape 39"/>
          <p:cNvSpPr/>
          <p:nvPr/>
        </p:nvSpPr>
        <p:spPr>
          <a:xfrm>
            <a:off x="3785616" y="3456432"/>
            <a:ext cx="1572768" cy="1024128"/>
          </a:xfrm>
          <a:prstGeom prst="roundRect">
            <a:avLst>
              <a:gd name="adj" fmla="val 10714"/>
            </a:avLst>
          </a:prstGeom>
          <a:solidFill>
            <a:srgbClr val="F0F4F8"/>
          </a:solidFill>
          <a:ln w="6350">
            <a:solidFill>
              <a:srgbClr val="1A2B4A">
                <a:alpha val="40000"/>
              </a:srgbClr>
            </a:solidFill>
            <a:prstDash val="solid"/>
          </a:ln>
          <a:effectLst>
            <a:outerShdw sx="100000" sy="100000" kx="0" ky="0" algn="bl" rotWithShape="0" blurRad="101600" dist="38100" dir="2700000">
              <a:srgbClr val="000000">
                <a:alpha val="10000"/>
              </a:srgbClr>
            </a:outerShdw>
          </a:effectLst>
        </p:spPr>
      </p:sp>
      <p:sp>
        <p:nvSpPr>
          <p:cNvPr id="43" name="Text 40"/>
          <p:cNvSpPr/>
          <p:nvPr/>
        </p:nvSpPr>
        <p:spPr>
          <a:xfrm>
            <a:off x="3785616" y="3493008"/>
            <a:ext cx="1572768" cy="512064"/>
          </a:xfrm>
          <a:prstGeom prst="rect">
            <a:avLst/>
          </a:prstGeom>
          <a:noFill/>
          <a:ln/>
        </p:spPr>
        <p:txBody>
          <a:bodyPr wrap="square" lIns="0" tIns="0" rIns="0" bIns="0" rtlCol="0" anchor="ctr"/>
          <a:lstStyle/>
          <a:p>
            <a:pPr algn="ctr" indent="0" marL="0">
              <a:buNone/>
            </a:pPr>
            <a:r>
              <a:rPr lang="en-US" sz="2400" b="1" dirty="0">
                <a:solidFill>
                  <a:srgbClr val="3A8C7E"/>
                </a:solidFill>
                <a:latin typeface="Cambria" pitchFamily="34" charset="0"/>
                <a:ea typeface="Cambria" pitchFamily="34" charset="-122"/>
                <a:cs typeface="Cambria" pitchFamily="34" charset="-120"/>
              </a:rPr>
              <a:t>42</a:t>
            </a:r>
            <a:endParaRPr lang="en-US" sz="2400" dirty="0"/>
          </a:p>
        </p:txBody>
      </p:sp>
      <p:sp>
        <p:nvSpPr>
          <p:cNvPr id="44" name="Text 41"/>
          <p:cNvSpPr/>
          <p:nvPr/>
        </p:nvSpPr>
        <p:spPr>
          <a:xfrm>
            <a:off x="3785616" y="4005072"/>
            <a:ext cx="1572768" cy="438912"/>
          </a:xfrm>
          <a:prstGeom prst="rect">
            <a:avLst/>
          </a:prstGeom>
          <a:noFill/>
          <a:ln/>
        </p:spPr>
        <p:txBody>
          <a:bodyPr wrap="square" lIns="0" tIns="0" rIns="0" bIns="0" rtlCol="0" anchor="t"/>
          <a:lstStyle/>
          <a:p>
            <a:pPr algn="ctr" indent="0" marL="0">
              <a:buNone/>
            </a:pPr>
            <a:r>
              <a:rPr lang="en-US" sz="950" dirty="0">
                <a:solidFill>
                  <a:srgbClr val="4A5568"/>
                </a:solidFill>
                <a:latin typeface="Calibri" pitchFamily="34" charset="0"/>
                <a:ea typeface="Calibri" pitchFamily="34" charset="-122"/>
                <a:cs typeface="Calibri" pitchFamily="34" charset="-120"/>
              </a:rPr>
              <a:t>Fruits in the</a:t>
            </a:r>
            <a:endParaRPr lang="en-US" sz="950" dirty="0"/>
          </a:p>
          <a:p>
            <a:pPr algn="ctr" indent="0" marL="0">
              <a:buNone/>
            </a:pPr>
            <a:r>
              <a:rPr lang="en-US" sz="950" dirty="0">
                <a:solidFill>
                  <a:srgbClr val="4A5568"/>
                </a:solidFill>
                <a:latin typeface="Calibri" pitchFamily="34" charset="0"/>
                <a:ea typeface="Calibri" pitchFamily="34" charset="-122"/>
                <a:cs typeface="Calibri" pitchFamily="34" charset="-120"/>
              </a:rPr>
              <a:t>reference database</a:t>
            </a:r>
            <a:endParaRPr lang="en-US" sz="950" dirty="0"/>
          </a:p>
        </p:txBody>
      </p:sp>
      <p:sp>
        <p:nvSpPr>
          <p:cNvPr id="45" name="Shape 42"/>
          <p:cNvSpPr/>
          <p:nvPr/>
        </p:nvSpPr>
        <p:spPr>
          <a:xfrm>
            <a:off x="5486400" y="3456432"/>
            <a:ext cx="1572768" cy="1024128"/>
          </a:xfrm>
          <a:prstGeom prst="roundRect">
            <a:avLst>
              <a:gd name="adj" fmla="val 10714"/>
            </a:avLst>
          </a:prstGeom>
          <a:solidFill>
            <a:srgbClr val="F0F4F8"/>
          </a:solidFill>
          <a:ln w="6350">
            <a:solidFill>
              <a:srgbClr val="1A2B4A">
                <a:alpha val="40000"/>
              </a:srgbClr>
            </a:solidFill>
            <a:prstDash val="solid"/>
          </a:ln>
          <a:effectLst>
            <a:outerShdw sx="100000" sy="100000" kx="0" ky="0" algn="bl" rotWithShape="0" blurRad="101600" dist="38100" dir="2700000">
              <a:srgbClr val="000000">
                <a:alpha val="10000"/>
              </a:srgbClr>
            </a:outerShdw>
          </a:effectLst>
        </p:spPr>
      </p:sp>
      <p:sp>
        <p:nvSpPr>
          <p:cNvPr id="46" name="Text 43"/>
          <p:cNvSpPr/>
          <p:nvPr/>
        </p:nvSpPr>
        <p:spPr>
          <a:xfrm>
            <a:off x="5486400" y="3493008"/>
            <a:ext cx="1572768" cy="512064"/>
          </a:xfrm>
          <a:prstGeom prst="rect">
            <a:avLst/>
          </a:prstGeom>
          <a:noFill/>
          <a:ln/>
        </p:spPr>
        <p:txBody>
          <a:bodyPr wrap="square" lIns="0" tIns="0" rIns="0" bIns="0" rtlCol="0" anchor="ctr"/>
          <a:lstStyle/>
          <a:p>
            <a:pPr algn="ctr" indent="0" marL="0">
              <a:buNone/>
            </a:pPr>
            <a:r>
              <a:rPr lang="en-US" sz="1800" b="1" dirty="0">
                <a:solidFill>
                  <a:srgbClr val="3A8C7E"/>
                </a:solidFill>
                <a:latin typeface="Cambria" pitchFamily="34" charset="0"/>
                <a:ea typeface="Cambria" pitchFamily="34" charset="-122"/>
                <a:cs typeface="Cambria" pitchFamily="34" charset="-120"/>
              </a:rPr>
              <a:t>~380ms</a:t>
            </a:r>
            <a:endParaRPr lang="en-US" sz="1800" dirty="0"/>
          </a:p>
        </p:txBody>
      </p:sp>
      <p:sp>
        <p:nvSpPr>
          <p:cNvPr id="47" name="Text 44"/>
          <p:cNvSpPr/>
          <p:nvPr/>
        </p:nvSpPr>
        <p:spPr>
          <a:xfrm>
            <a:off x="5486400" y="4005072"/>
            <a:ext cx="1572768" cy="438912"/>
          </a:xfrm>
          <a:prstGeom prst="rect">
            <a:avLst/>
          </a:prstGeom>
          <a:noFill/>
          <a:ln/>
        </p:spPr>
        <p:txBody>
          <a:bodyPr wrap="square" lIns="0" tIns="0" rIns="0" bIns="0" rtlCol="0" anchor="t"/>
          <a:lstStyle/>
          <a:p>
            <a:pPr algn="ctr" indent="0" marL="0">
              <a:buNone/>
            </a:pPr>
            <a:r>
              <a:rPr lang="en-US" sz="950" dirty="0">
                <a:solidFill>
                  <a:srgbClr val="4A5568"/>
                </a:solidFill>
                <a:latin typeface="Calibri" pitchFamily="34" charset="0"/>
                <a:ea typeface="Calibri" pitchFamily="34" charset="-122"/>
                <a:cs typeface="Calibri" pitchFamily="34" charset="-120"/>
              </a:rPr>
              <a:t>Avg inference</a:t>
            </a:r>
            <a:endParaRPr lang="en-US" sz="950" dirty="0"/>
          </a:p>
          <a:p>
            <a:pPr algn="ctr" indent="0" marL="0">
              <a:buNone/>
            </a:pPr>
            <a:r>
              <a:rPr lang="en-US" sz="950" dirty="0">
                <a:solidFill>
                  <a:srgbClr val="4A5568"/>
                </a:solidFill>
                <a:latin typeface="Calibri" pitchFamily="34" charset="0"/>
                <a:ea typeface="Calibri" pitchFamily="34" charset="-122"/>
                <a:cs typeface="Calibri" pitchFamily="34" charset="-120"/>
              </a:rPr>
              <a:t>(CPU, post-warmup)</a:t>
            </a:r>
            <a:endParaRPr lang="en-US" sz="950" dirty="0"/>
          </a:p>
        </p:txBody>
      </p:sp>
      <p:sp>
        <p:nvSpPr>
          <p:cNvPr id="48" name="Shape 45"/>
          <p:cNvSpPr/>
          <p:nvPr/>
        </p:nvSpPr>
        <p:spPr>
          <a:xfrm>
            <a:off x="7187184" y="3456432"/>
            <a:ext cx="1572768" cy="1024128"/>
          </a:xfrm>
          <a:prstGeom prst="roundRect">
            <a:avLst>
              <a:gd name="adj" fmla="val 10714"/>
            </a:avLst>
          </a:prstGeom>
          <a:solidFill>
            <a:srgbClr val="F0F4F8"/>
          </a:solidFill>
          <a:ln w="6350">
            <a:solidFill>
              <a:srgbClr val="1A2B4A">
                <a:alpha val="40000"/>
              </a:srgbClr>
            </a:solidFill>
            <a:prstDash val="solid"/>
          </a:ln>
          <a:effectLst>
            <a:outerShdw sx="100000" sy="100000" kx="0" ky="0" algn="bl" rotWithShape="0" blurRad="101600" dist="38100" dir="2700000">
              <a:srgbClr val="000000">
                <a:alpha val="10000"/>
              </a:srgbClr>
            </a:outerShdw>
          </a:effectLst>
        </p:spPr>
      </p:sp>
      <p:sp>
        <p:nvSpPr>
          <p:cNvPr id="49" name="Text 46"/>
          <p:cNvSpPr/>
          <p:nvPr/>
        </p:nvSpPr>
        <p:spPr>
          <a:xfrm>
            <a:off x="7187184" y="3493008"/>
            <a:ext cx="1572768" cy="512064"/>
          </a:xfrm>
          <a:prstGeom prst="rect">
            <a:avLst/>
          </a:prstGeom>
          <a:noFill/>
          <a:ln/>
        </p:spPr>
        <p:txBody>
          <a:bodyPr wrap="square" lIns="0" tIns="0" rIns="0" bIns="0" rtlCol="0" anchor="ctr"/>
          <a:lstStyle/>
          <a:p>
            <a:pPr algn="ctr" indent="0" marL="0">
              <a:buNone/>
            </a:pPr>
            <a:r>
              <a:rPr lang="en-US" sz="1800" b="1" dirty="0">
                <a:solidFill>
                  <a:srgbClr val="3A8C7E"/>
                </a:solidFill>
                <a:latin typeface="Cambria" pitchFamily="34" charset="0"/>
                <a:ea typeface="Cambria" pitchFamily="34" charset="-122"/>
                <a:cs typeface="Cambria" pitchFamily="34" charset="-120"/>
              </a:rPr>
              <a:t>89.3%</a:t>
            </a:r>
            <a:endParaRPr lang="en-US" sz="1800" dirty="0"/>
          </a:p>
        </p:txBody>
      </p:sp>
      <p:sp>
        <p:nvSpPr>
          <p:cNvPr id="50" name="Text 47"/>
          <p:cNvSpPr/>
          <p:nvPr/>
        </p:nvSpPr>
        <p:spPr>
          <a:xfrm>
            <a:off x="7187184" y="4005072"/>
            <a:ext cx="1572768" cy="438912"/>
          </a:xfrm>
          <a:prstGeom prst="rect">
            <a:avLst/>
          </a:prstGeom>
          <a:noFill/>
          <a:ln/>
        </p:spPr>
        <p:txBody>
          <a:bodyPr wrap="square" lIns="0" tIns="0" rIns="0" bIns="0" rtlCol="0" anchor="t"/>
          <a:lstStyle/>
          <a:p>
            <a:pPr algn="ctr" indent="0" marL="0">
              <a:buNone/>
            </a:pPr>
            <a:r>
              <a:rPr lang="en-US" sz="950" dirty="0">
                <a:solidFill>
                  <a:srgbClr val="4A5568"/>
                </a:solidFill>
                <a:latin typeface="Calibri" pitchFamily="34" charset="0"/>
                <a:ea typeface="Calibri" pitchFamily="34" charset="-122"/>
                <a:cs typeface="Calibri" pitchFamily="34" charset="-120"/>
              </a:rPr>
              <a:t>Top-1 Accuracy</a:t>
            </a:r>
            <a:endParaRPr lang="en-US" sz="950" dirty="0"/>
          </a:p>
          <a:p>
            <a:pPr algn="ctr" indent="0" marL="0">
              <a:buNone/>
            </a:pPr>
            <a:r>
              <a:rPr lang="en-US" sz="950" dirty="0">
                <a:solidFill>
                  <a:srgbClr val="4A5568"/>
                </a:solidFill>
                <a:latin typeface="Calibri" pitchFamily="34" charset="0"/>
                <a:ea typeface="Calibri" pitchFamily="34" charset="-122"/>
                <a:cs typeface="Calibri" pitchFamily="34" charset="-120"/>
              </a:rPr>
              <a:t>(held-out test set)</a:t>
            </a:r>
            <a:endParaRPr lang="en-US" sz="950" dirty="0"/>
          </a:p>
        </p:txBody>
      </p:sp>
      <p:sp>
        <p:nvSpPr>
          <p:cNvPr id="51" name="Shape 48"/>
          <p:cNvSpPr/>
          <p:nvPr/>
        </p:nvSpPr>
        <p:spPr>
          <a:xfrm>
            <a:off x="384048" y="4544568"/>
            <a:ext cx="8375904" cy="420624"/>
          </a:xfrm>
          <a:prstGeom prst="roundRect">
            <a:avLst>
              <a:gd name="adj" fmla="val 26087"/>
            </a:avLst>
          </a:prstGeom>
          <a:solidFill>
            <a:srgbClr val="E3EEF8"/>
          </a:solidFill>
          <a:ln w="6350">
            <a:solidFill>
              <a:srgbClr val="1A2B4A">
                <a:alpha val="40000"/>
              </a:srgbClr>
            </a:solidFill>
            <a:prstDash val="solid"/>
          </a:ln>
          <a:effectLst>
            <a:outerShdw sx="100000" sy="100000" kx="0" ky="0" algn="bl" rotWithShape="0" blurRad="101600" dist="38100" dir="2700000">
              <a:srgbClr val="000000">
                <a:alpha val="10000"/>
              </a:srgbClr>
            </a:outerShdw>
          </a:effectLst>
        </p:spPr>
      </p:sp>
      <p:sp>
        <p:nvSpPr>
          <p:cNvPr id="52" name="Text 49"/>
          <p:cNvSpPr/>
          <p:nvPr/>
        </p:nvSpPr>
        <p:spPr>
          <a:xfrm>
            <a:off x="530352" y="4572000"/>
            <a:ext cx="8138160" cy="365760"/>
          </a:xfrm>
          <a:prstGeom prst="rect">
            <a:avLst/>
          </a:prstGeom>
          <a:noFill/>
          <a:ln/>
        </p:spPr>
        <p:txBody>
          <a:bodyPr wrap="square" lIns="0" tIns="0" rIns="0" bIns="0" rtlCol="0" anchor="ctr"/>
          <a:lstStyle/>
          <a:p>
            <a:pPr algn="ctr" indent="0" marL="0">
              <a:buNone/>
            </a:pPr>
            <a:r>
              <a:rPr lang="en-US" sz="1100" dirty="0">
                <a:solidFill>
                  <a:srgbClr val="1A2B4A"/>
                </a:solidFill>
                <a:latin typeface="Calibri" pitchFamily="34" charset="0"/>
                <a:ea typeface="Calibri" pitchFamily="34" charset="-122"/>
                <a:cs typeface="Calibri" pitchFamily="34" charset="-120"/>
              </a:rPr>
              <a:t>Training Setup:  47 minutes · Google Colab T4 GPU · Batch 32 (reduced from 64 for fine-tuning phase) · 10 epochs frozen base (lr=1e-3) + 15 epochs fine-tuned top layers (lr=1e-5) · random_state=42</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EBEBEB"/>
        </a:solidFill>
      </p:bgPr>
    </p:bg>
    <p:spTree>
      <p:nvGrpSpPr>
        <p:cNvPr id="1" name=""/>
        <p:cNvGrpSpPr/>
        <p:nvPr/>
      </p:nvGrpSpPr>
      <p:grpSpPr>
        <a:xfrm>
          <a:off x="0" y="0"/>
          <a:ext cx="0" cy="0"/>
          <a:chOff x="0" y="0"/>
          <a:chExt cx="0" cy="0"/>
        </a:xfrm>
      </p:grpSpPr>
      <p:sp>
        <p:nvSpPr>
          <p:cNvPr id="2" name="Shape 0"/>
          <p:cNvSpPr/>
          <p:nvPr/>
        </p:nvSpPr>
        <p:spPr>
          <a:xfrm>
            <a:off x="7772400" y="91440"/>
            <a:ext cx="1645920" cy="1645920"/>
          </a:xfrm>
          <a:prstGeom prst="ellipse">
            <a:avLst/>
          </a:prstGeom>
          <a:ln w="19050">
            <a:solidFill>
              <a:srgbClr val="1A2B4A">
                <a:alpha val="18000"/>
              </a:srgbClr>
            </a:solidFill>
            <a:prstDash val="solid"/>
          </a:ln>
        </p:spPr>
      </p:sp>
      <p:sp>
        <p:nvSpPr>
          <p:cNvPr id="3" name="Shape 1"/>
          <p:cNvSpPr/>
          <p:nvPr/>
        </p:nvSpPr>
        <p:spPr>
          <a:xfrm>
            <a:off x="8043977" y="363017"/>
            <a:ext cx="1102766" cy="1102766"/>
          </a:xfrm>
          <a:prstGeom prst="ellipse">
            <a:avLst/>
          </a:prstGeom>
          <a:ln w="19050">
            <a:solidFill>
              <a:srgbClr val="3B5FA0">
                <a:alpha val="25000"/>
              </a:srgbClr>
            </a:solidFill>
            <a:prstDash val="solid"/>
          </a:ln>
        </p:spPr>
      </p:sp>
      <p:sp>
        <p:nvSpPr>
          <p:cNvPr id="4" name="Shape 2"/>
          <p:cNvSpPr/>
          <p:nvPr/>
        </p:nvSpPr>
        <p:spPr>
          <a:xfrm>
            <a:off x="8282635" y="601675"/>
            <a:ext cx="625450" cy="625450"/>
          </a:xfrm>
          <a:prstGeom prst="ellipse">
            <a:avLst/>
          </a:prstGeom>
          <a:ln w="19050">
            <a:solidFill>
              <a:srgbClr val="3A8C7E">
                <a:alpha val="32000"/>
              </a:srgbClr>
            </a:solidFill>
            <a:prstDash val="solid"/>
          </a:ln>
        </p:spPr>
      </p:sp>
      <p:sp>
        <p:nvSpPr>
          <p:cNvPr id="5" name="Shape 3"/>
          <p:cNvSpPr/>
          <p:nvPr/>
        </p:nvSpPr>
        <p:spPr>
          <a:xfrm>
            <a:off x="411480" y="4773168"/>
            <a:ext cx="1280160" cy="109728"/>
          </a:xfrm>
          <a:prstGeom prst="roundRect">
            <a:avLst>
              <a:gd name="adj" fmla="val 50000"/>
            </a:avLst>
          </a:prstGeom>
          <a:solidFill>
            <a:srgbClr val="1A2B4A">
              <a:alpha val="40000"/>
            </a:srgbClr>
          </a:solidFill>
          <a:ln/>
        </p:spPr>
      </p:sp>
      <p:sp>
        <p:nvSpPr>
          <p:cNvPr id="6" name="Text 4"/>
          <p:cNvSpPr/>
          <p:nvPr/>
        </p:nvSpPr>
        <p:spPr>
          <a:xfrm>
            <a:off x="411480" y="292608"/>
            <a:ext cx="8321040" cy="530352"/>
          </a:xfrm>
          <a:prstGeom prst="rect">
            <a:avLst/>
          </a:prstGeom>
          <a:noFill/>
          <a:ln/>
        </p:spPr>
        <p:txBody>
          <a:bodyPr wrap="square" lIns="0" tIns="0" rIns="0" bIns="0" rtlCol="0" anchor="ctr"/>
          <a:lstStyle/>
          <a:p>
            <a:pPr algn="l" indent="0" marL="0">
              <a:buNone/>
            </a:pPr>
            <a:r>
              <a:rPr lang="en-US" sz="2800" b="1" dirty="0">
                <a:solidFill>
                  <a:srgbClr val="1A2B4A"/>
                </a:solidFill>
                <a:latin typeface="Cambria" pitchFamily="34" charset="0"/>
                <a:ea typeface="Cambria" pitchFamily="34" charset="-122"/>
                <a:cs typeface="Cambria" pitchFamily="34" charset="-120"/>
              </a:rPr>
              <a:t>Data Preprocessing Pipeline</a:t>
            </a:r>
            <a:endParaRPr lang="en-US" sz="2800" dirty="0"/>
          </a:p>
        </p:txBody>
      </p:sp>
      <p:sp>
        <p:nvSpPr>
          <p:cNvPr id="7" name="Shape 5"/>
          <p:cNvSpPr/>
          <p:nvPr/>
        </p:nvSpPr>
        <p:spPr>
          <a:xfrm>
            <a:off x="411480" y="868680"/>
            <a:ext cx="8229600" cy="0"/>
          </a:xfrm>
          <a:prstGeom prst="line">
            <a:avLst/>
          </a:prstGeom>
          <a:noFill/>
          <a:ln w="19050">
            <a:solidFill>
              <a:srgbClr val="3A8C7E">
                <a:alpha val="60000"/>
              </a:srgbClr>
            </a:solidFill>
            <a:prstDash val="solid"/>
          </a:ln>
        </p:spPr>
      </p:sp>
      <p:sp>
        <p:nvSpPr>
          <p:cNvPr id="8" name="Shape 6"/>
          <p:cNvSpPr/>
          <p:nvPr/>
        </p:nvSpPr>
        <p:spPr>
          <a:xfrm>
            <a:off x="411480" y="950976"/>
            <a:ext cx="8229600" cy="0"/>
          </a:xfrm>
          <a:prstGeom prst="line">
            <a:avLst/>
          </a:prstGeom>
          <a:noFill/>
          <a:ln w="10160">
            <a:solidFill>
              <a:srgbClr val="1A2B4A">
                <a:alpha val="45000"/>
              </a:srgbClr>
            </a:solidFill>
            <a:prstDash val="solid"/>
          </a:ln>
        </p:spPr>
      </p:sp>
      <p:sp>
        <p:nvSpPr>
          <p:cNvPr id="9" name="Shape 7"/>
          <p:cNvSpPr/>
          <p:nvPr/>
        </p:nvSpPr>
        <p:spPr>
          <a:xfrm>
            <a:off x="384048" y="1024128"/>
            <a:ext cx="8375904" cy="694944"/>
          </a:xfrm>
          <a:prstGeom prst="roundRect">
            <a:avLst>
              <a:gd name="adj" fmla="val 15789"/>
            </a:avLst>
          </a:prstGeom>
          <a:solidFill>
            <a:srgbClr val="F4F7F9"/>
          </a:solidFill>
          <a:ln w="6350">
            <a:solidFill>
              <a:srgbClr val="1A2B4A">
                <a:alpha val="40000"/>
              </a:srgbClr>
            </a:solidFill>
            <a:prstDash val="solid"/>
          </a:ln>
          <a:effectLst>
            <a:outerShdw sx="100000" sy="100000" kx="0" ky="0" algn="bl" rotWithShape="0" blurRad="101600" dist="38100" dir="2700000">
              <a:srgbClr val="000000">
                <a:alpha val="10000"/>
              </a:srgbClr>
            </a:outerShdw>
          </a:effectLst>
        </p:spPr>
      </p:sp>
      <p:sp>
        <p:nvSpPr>
          <p:cNvPr id="10" name="Shape 8"/>
          <p:cNvSpPr/>
          <p:nvPr/>
        </p:nvSpPr>
        <p:spPr>
          <a:xfrm>
            <a:off x="466344" y="1170432"/>
            <a:ext cx="402336" cy="402336"/>
          </a:xfrm>
          <a:prstGeom prst="ellipse">
            <a:avLst/>
          </a:prstGeom>
          <a:solidFill>
            <a:srgbClr val="3A8C7E"/>
          </a:solidFill>
          <a:ln/>
        </p:spPr>
      </p:sp>
      <p:sp>
        <p:nvSpPr>
          <p:cNvPr id="11" name="Text 9"/>
          <p:cNvSpPr/>
          <p:nvPr/>
        </p:nvSpPr>
        <p:spPr>
          <a:xfrm>
            <a:off x="466344" y="1170432"/>
            <a:ext cx="402336" cy="402336"/>
          </a:xfrm>
          <a:prstGeom prst="rect">
            <a:avLst/>
          </a:prstGeom>
          <a:noFill/>
          <a:ln/>
        </p:spPr>
        <p:txBody>
          <a:bodyPr wrap="square" lIns="0" tIns="0" rIns="0" bIns="0" rtlCol="0" anchor="ctr"/>
          <a:lstStyle/>
          <a:p>
            <a:pPr algn="ctr" indent="0" marL="0">
              <a:buNone/>
            </a:pPr>
            <a:r>
              <a:rPr lang="en-US" sz="1100" b="1" dirty="0">
                <a:solidFill>
                  <a:srgbClr val="FFFFFF"/>
                </a:solidFill>
              </a:rPr>
              <a:t>1</a:t>
            </a:r>
            <a:endParaRPr lang="en-US" sz="1100" dirty="0"/>
          </a:p>
        </p:txBody>
      </p:sp>
      <p:sp>
        <p:nvSpPr>
          <p:cNvPr id="12" name="Text 10"/>
          <p:cNvSpPr/>
          <p:nvPr/>
        </p:nvSpPr>
        <p:spPr>
          <a:xfrm>
            <a:off x="987552" y="1078992"/>
            <a:ext cx="7589520" cy="237744"/>
          </a:xfrm>
          <a:prstGeom prst="rect">
            <a:avLst/>
          </a:prstGeom>
          <a:noFill/>
          <a:ln/>
        </p:spPr>
        <p:txBody>
          <a:bodyPr wrap="square" lIns="0" tIns="0" rIns="0" bIns="0" rtlCol="0" anchor="ctr"/>
          <a:lstStyle/>
          <a:p>
            <a:pPr indent="0" marL="0">
              <a:buNone/>
            </a:pPr>
            <a:r>
              <a:rPr lang="en-US" sz="1200" b="1" dirty="0">
                <a:solidFill>
                  <a:srgbClr val="1A2B4A"/>
                </a:solidFill>
                <a:latin typeface="Calibri" pitchFamily="34" charset="0"/>
                <a:ea typeface="Calibri" pitchFamily="34" charset="-122"/>
                <a:cs typeface="Calibri" pitchFamily="34" charset="-120"/>
              </a:rPr>
              <a:t>Image Loading &amp; RGB Conversion</a:t>
            </a:r>
            <a:endParaRPr lang="en-US" sz="1200" dirty="0"/>
          </a:p>
        </p:txBody>
      </p:sp>
      <p:sp>
        <p:nvSpPr>
          <p:cNvPr id="13" name="Text 11"/>
          <p:cNvSpPr/>
          <p:nvPr/>
        </p:nvSpPr>
        <p:spPr>
          <a:xfrm>
            <a:off x="987552" y="1335024"/>
            <a:ext cx="4663440" cy="219456"/>
          </a:xfrm>
          <a:prstGeom prst="rect">
            <a:avLst/>
          </a:prstGeom>
          <a:noFill/>
          <a:ln/>
        </p:spPr>
        <p:txBody>
          <a:bodyPr wrap="square" lIns="0" tIns="0" rIns="0" bIns="0" rtlCol="0" anchor="ctr"/>
          <a:lstStyle/>
          <a:p>
            <a:pPr indent="0" marL="0">
              <a:buNone/>
            </a:pPr>
            <a:r>
              <a:rPr lang="en-US" sz="1050" dirty="0">
                <a:solidFill>
                  <a:srgbClr val="1A2B4A"/>
                </a:solidFill>
                <a:latin typeface="Courier New" pitchFamily="34" charset="0"/>
                <a:ea typeface="Courier New" pitchFamily="34" charset="-122"/>
                <a:cs typeface="Courier New" pitchFamily="34" charset="-120"/>
              </a:rPr>
              <a:t>img = PIL.open(path).convert('RGB').resize((224, 224), BILINEAR)</a:t>
            </a:r>
            <a:endParaRPr lang="en-US" sz="1050" dirty="0"/>
          </a:p>
        </p:txBody>
      </p:sp>
      <p:sp>
        <p:nvSpPr>
          <p:cNvPr id="14" name="Text 12"/>
          <p:cNvSpPr/>
          <p:nvPr/>
        </p:nvSpPr>
        <p:spPr>
          <a:xfrm>
            <a:off x="5760720" y="1261872"/>
            <a:ext cx="2871216" cy="420624"/>
          </a:xfrm>
          <a:prstGeom prst="rect">
            <a:avLst/>
          </a:prstGeom>
          <a:noFill/>
          <a:ln/>
        </p:spPr>
        <p:txBody>
          <a:bodyPr wrap="square" lIns="0" tIns="0" rIns="0" bIns="0" rtlCol="0" anchor="t"/>
          <a:lstStyle/>
          <a:p>
            <a:pPr indent="0" marL="0">
              <a:buNone/>
            </a:pPr>
            <a:r>
              <a:rPr lang="en-US" sz="950" dirty="0">
                <a:solidFill>
                  <a:srgbClr val="4A5568"/>
                </a:solidFill>
                <a:latin typeface="Calibri" pitchFamily="34" charset="0"/>
                <a:ea typeface="Calibri" pitchFamily="34" charset="-122"/>
                <a:cs typeface="Calibri" pitchFamily="34" charset="-120"/>
              </a:rPr>
              <a:t>Handles single-channel grayscale and 4-channel RGBA uploads. Bilinear resizing preserves feature gradients. The fixed 224×224 matches MobileNetV2's ImageNet pretraining input.</a:t>
            </a:r>
            <a:endParaRPr lang="en-US" sz="950" dirty="0"/>
          </a:p>
        </p:txBody>
      </p:sp>
      <p:sp>
        <p:nvSpPr>
          <p:cNvPr id="15" name="Shape 13"/>
          <p:cNvSpPr/>
          <p:nvPr/>
        </p:nvSpPr>
        <p:spPr>
          <a:xfrm>
            <a:off x="384048" y="1801368"/>
            <a:ext cx="8375904" cy="694944"/>
          </a:xfrm>
          <a:prstGeom prst="roundRect">
            <a:avLst>
              <a:gd name="adj" fmla="val 15789"/>
            </a:avLst>
          </a:prstGeom>
          <a:solidFill>
            <a:srgbClr val="F4F7F9"/>
          </a:solidFill>
          <a:ln w="6350">
            <a:solidFill>
              <a:srgbClr val="1A2B4A">
                <a:alpha val="40000"/>
              </a:srgbClr>
            </a:solidFill>
            <a:prstDash val="solid"/>
          </a:ln>
          <a:effectLst>
            <a:outerShdw sx="100000" sy="100000" kx="0" ky="0" algn="bl" rotWithShape="0" blurRad="101600" dist="38100" dir="2700000">
              <a:srgbClr val="000000">
                <a:alpha val="10000"/>
              </a:srgbClr>
            </a:outerShdw>
          </a:effectLst>
        </p:spPr>
      </p:sp>
      <p:sp>
        <p:nvSpPr>
          <p:cNvPr id="16" name="Shape 14"/>
          <p:cNvSpPr/>
          <p:nvPr/>
        </p:nvSpPr>
        <p:spPr>
          <a:xfrm>
            <a:off x="466344" y="1947672"/>
            <a:ext cx="402336" cy="402336"/>
          </a:xfrm>
          <a:prstGeom prst="ellipse">
            <a:avLst/>
          </a:prstGeom>
          <a:solidFill>
            <a:srgbClr val="3A8C7E"/>
          </a:solidFill>
          <a:ln/>
        </p:spPr>
      </p:sp>
      <p:sp>
        <p:nvSpPr>
          <p:cNvPr id="17" name="Text 15"/>
          <p:cNvSpPr/>
          <p:nvPr/>
        </p:nvSpPr>
        <p:spPr>
          <a:xfrm>
            <a:off x="466344" y="1947672"/>
            <a:ext cx="402336" cy="402336"/>
          </a:xfrm>
          <a:prstGeom prst="rect">
            <a:avLst/>
          </a:prstGeom>
          <a:noFill/>
          <a:ln/>
        </p:spPr>
        <p:txBody>
          <a:bodyPr wrap="square" lIns="0" tIns="0" rIns="0" bIns="0" rtlCol="0" anchor="ctr"/>
          <a:lstStyle/>
          <a:p>
            <a:pPr algn="ctr" indent="0" marL="0">
              <a:buNone/>
            </a:pPr>
            <a:r>
              <a:rPr lang="en-US" sz="1100" b="1" dirty="0">
                <a:solidFill>
                  <a:srgbClr val="FFFFFF"/>
                </a:solidFill>
              </a:rPr>
              <a:t>2</a:t>
            </a:r>
            <a:endParaRPr lang="en-US" sz="1100" dirty="0"/>
          </a:p>
        </p:txBody>
      </p:sp>
      <p:sp>
        <p:nvSpPr>
          <p:cNvPr id="18" name="Text 16"/>
          <p:cNvSpPr/>
          <p:nvPr/>
        </p:nvSpPr>
        <p:spPr>
          <a:xfrm>
            <a:off x="987552" y="1856232"/>
            <a:ext cx="7589520" cy="237744"/>
          </a:xfrm>
          <a:prstGeom prst="rect">
            <a:avLst/>
          </a:prstGeom>
          <a:noFill/>
          <a:ln/>
        </p:spPr>
        <p:txBody>
          <a:bodyPr wrap="square" lIns="0" tIns="0" rIns="0" bIns="0" rtlCol="0" anchor="ctr"/>
          <a:lstStyle/>
          <a:p>
            <a:pPr indent="0" marL="0">
              <a:buNone/>
            </a:pPr>
            <a:r>
              <a:rPr lang="en-US" sz="1200" b="1" dirty="0">
                <a:solidFill>
                  <a:srgbClr val="1A2B4A"/>
                </a:solidFill>
                <a:latin typeface="Calibri" pitchFamily="34" charset="0"/>
                <a:ea typeface="Calibri" pitchFamily="34" charset="-122"/>
                <a:cs typeface="Calibri" pitchFamily="34" charset="-120"/>
              </a:rPr>
              <a:t>Pixel Normalisation  →  z ∈ [−1, 1]</a:t>
            </a:r>
            <a:endParaRPr lang="en-US" sz="1200" dirty="0"/>
          </a:p>
        </p:txBody>
      </p:sp>
      <p:sp>
        <p:nvSpPr>
          <p:cNvPr id="19" name="Text 17"/>
          <p:cNvSpPr/>
          <p:nvPr/>
        </p:nvSpPr>
        <p:spPr>
          <a:xfrm>
            <a:off x="987552" y="2112264"/>
            <a:ext cx="4663440" cy="219456"/>
          </a:xfrm>
          <a:prstGeom prst="rect">
            <a:avLst/>
          </a:prstGeom>
          <a:noFill/>
          <a:ln/>
        </p:spPr>
        <p:txBody>
          <a:bodyPr wrap="square" lIns="0" tIns="0" rIns="0" bIns="0" rtlCol="0" anchor="ctr"/>
          <a:lstStyle/>
          <a:p>
            <a:pPr indent="0" marL="0">
              <a:buNone/>
            </a:pPr>
            <a:r>
              <a:rPr lang="en-US" sz="1050" dirty="0">
                <a:solidFill>
                  <a:srgbClr val="1A2B4A"/>
                </a:solidFill>
                <a:latin typeface="Courier New" pitchFamily="34" charset="0"/>
                <a:ea typeface="Courier New" pitchFamily="34" charset="-122"/>
                <a:cs typeface="Courier New" pitchFamily="34" charset="-120"/>
              </a:rPr>
              <a:t>z = (pixel_value / 127.5) − 1.0</a:t>
            </a:r>
            <a:endParaRPr lang="en-US" sz="1050" dirty="0"/>
          </a:p>
        </p:txBody>
      </p:sp>
      <p:sp>
        <p:nvSpPr>
          <p:cNvPr id="20" name="Text 18"/>
          <p:cNvSpPr/>
          <p:nvPr/>
        </p:nvSpPr>
        <p:spPr>
          <a:xfrm>
            <a:off x="5760720" y="2039112"/>
            <a:ext cx="2871216" cy="420624"/>
          </a:xfrm>
          <a:prstGeom prst="rect">
            <a:avLst/>
          </a:prstGeom>
          <a:noFill/>
          <a:ln/>
        </p:spPr>
        <p:txBody>
          <a:bodyPr wrap="square" lIns="0" tIns="0" rIns="0" bIns="0" rtlCol="0" anchor="t"/>
          <a:lstStyle/>
          <a:p>
            <a:pPr indent="0" marL="0">
              <a:buNone/>
            </a:pPr>
            <a:r>
              <a:rPr lang="en-US" sz="950" dirty="0">
                <a:solidFill>
                  <a:srgbClr val="4A5568"/>
                </a:solidFill>
                <a:latin typeface="Calibri" pitchFamily="34" charset="0"/>
                <a:ea typeface="Calibri" pitchFamily="34" charset="-122"/>
                <a:cs typeface="Calibri" pitchFamily="34" charset="-120"/>
              </a:rPr>
              <a:t>Must precisely match MobileNetV2's ImageNet preprocessing. Using any other normalisation (e.g., [0,1] or mean-subtraction) would misalign the classifier's learned feature space, degrading accuracy.</a:t>
            </a:r>
            <a:endParaRPr lang="en-US" sz="950" dirty="0"/>
          </a:p>
        </p:txBody>
      </p:sp>
      <p:sp>
        <p:nvSpPr>
          <p:cNvPr id="21" name="Shape 19"/>
          <p:cNvSpPr/>
          <p:nvPr/>
        </p:nvSpPr>
        <p:spPr>
          <a:xfrm>
            <a:off x="384048" y="2578608"/>
            <a:ext cx="8375904" cy="694944"/>
          </a:xfrm>
          <a:prstGeom prst="roundRect">
            <a:avLst>
              <a:gd name="adj" fmla="val 15789"/>
            </a:avLst>
          </a:prstGeom>
          <a:solidFill>
            <a:srgbClr val="F4F7F9"/>
          </a:solidFill>
          <a:ln w="6350">
            <a:solidFill>
              <a:srgbClr val="1A2B4A">
                <a:alpha val="40000"/>
              </a:srgbClr>
            </a:solidFill>
            <a:prstDash val="solid"/>
          </a:ln>
          <a:effectLst>
            <a:outerShdw sx="100000" sy="100000" kx="0" ky="0" algn="bl" rotWithShape="0" blurRad="101600" dist="38100" dir="2700000">
              <a:srgbClr val="000000">
                <a:alpha val="10000"/>
              </a:srgbClr>
            </a:outerShdw>
          </a:effectLst>
        </p:spPr>
      </p:sp>
      <p:sp>
        <p:nvSpPr>
          <p:cNvPr id="22" name="Shape 20"/>
          <p:cNvSpPr/>
          <p:nvPr/>
        </p:nvSpPr>
        <p:spPr>
          <a:xfrm>
            <a:off x="466344" y="2724912"/>
            <a:ext cx="402336" cy="402336"/>
          </a:xfrm>
          <a:prstGeom prst="ellipse">
            <a:avLst/>
          </a:prstGeom>
          <a:solidFill>
            <a:srgbClr val="3A8C7E"/>
          </a:solidFill>
          <a:ln/>
        </p:spPr>
      </p:sp>
      <p:sp>
        <p:nvSpPr>
          <p:cNvPr id="23" name="Text 21"/>
          <p:cNvSpPr/>
          <p:nvPr/>
        </p:nvSpPr>
        <p:spPr>
          <a:xfrm>
            <a:off x="466344" y="2724912"/>
            <a:ext cx="402336" cy="402336"/>
          </a:xfrm>
          <a:prstGeom prst="rect">
            <a:avLst/>
          </a:prstGeom>
          <a:noFill/>
          <a:ln/>
        </p:spPr>
        <p:txBody>
          <a:bodyPr wrap="square" lIns="0" tIns="0" rIns="0" bIns="0" rtlCol="0" anchor="ctr"/>
          <a:lstStyle/>
          <a:p>
            <a:pPr algn="ctr" indent="0" marL="0">
              <a:buNone/>
            </a:pPr>
            <a:r>
              <a:rPr lang="en-US" sz="1100" b="1" dirty="0">
                <a:solidFill>
                  <a:srgbClr val="FFFFFF"/>
                </a:solidFill>
              </a:rPr>
              <a:t>3</a:t>
            </a:r>
            <a:endParaRPr lang="en-US" sz="1100" dirty="0"/>
          </a:p>
        </p:txBody>
      </p:sp>
      <p:sp>
        <p:nvSpPr>
          <p:cNvPr id="24" name="Text 22"/>
          <p:cNvSpPr/>
          <p:nvPr/>
        </p:nvSpPr>
        <p:spPr>
          <a:xfrm>
            <a:off x="987552" y="2633472"/>
            <a:ext cx="7589520" cy="237744"/>
          </a:xfrm>
          <a:prstGeom prst="rect">
            <a:avLst/>
          </a:prstGeom>
          <a:noFill/>
          <a:ln/>
        </p:spPr>
        <p:txBody>
          <a:bodyPr wrap="square" lIns="0" tIns="0" rIns="0" bIns="0" rtlCol="0" anchor="ctr"/>
          <a:lstStyle/>
          <a:p>
            <a:pPr indent="0" marL="0">
              <a:buNone/>
            </a:pPr>
            <a:r>
              <a:rPr lang="en-US" sz="1200" b="1" dirty="0">
                <a:solidFill>
                  <a:srgbClr val="1A2B4A"/>
                </a:solidFill>
                <a:latin typeface="Calibri" pitchFamily="34" charset="0"/>
                <a:ea typeface="Calibri" pitchFamily="34" charset="-122"/>
                <a:cs typeface="Calibri" pitchFamily="34" charset="-120"/>
              </a:rPr>
              <a:t>Batch Dimension Expansion</a:t>
            </a:r>
            <a:endParaRPr lang="en-US" sz="1200" dirty="0"/>
          </a:p>
        </p:txBody>
      </p:sp>
      <p:sp>
        <p:nvSpPr>
          <p:cNvPr id="25" name="Text 23"/>
          <p:cNvSpPr/>
          <p:nvPr/>
        </p:nvSpPr>
        <p:spPr>
          <a:xfrm>
            <a:off x="987552" y="2889504"/>
            <a:ext cx="4663440" cy="219456"/>
          </a:xfrm>
          <a:prstGeom prst="rect">
            <a:avLst/>
          </a:prstGeom>
          <a:noFill/>
          <a:ln/>
        </p:spPr>
        <p:txBody>
          <a:bodyPr wrap="square" lIns="0" tIns="0" rIns="0" bIns="0" rtlCol="0" anchor="ctr"/>
          <a:lstStyle/>
          <a:p>
            <a:pPr indent="0" marL="0">
              <a:buNone/>
            </a:pPr>
            <a:r>
              <a:rPr lang="en-US" sz="1050" dirty="0">
                <a:solidFill>
                  <a:srgbClr val="1A2B4A"/>
                </a:solidFill>
                <a:latin typeface="Courier New" pitchFamily="34" charset="0"/>
                <a:ea typeface="Courier New" pitchFamily="34" charset="-122"/>
                <a:cs typeface="Courier New" pitchFamily="34" charset="-120"/>
              </a:rPr>
              <a:t>tensor = np.expand_dims(arr, axis=0)   # shape: (1, 224, 224, 3)</a:t>
            </a:r>
            <a:endParaRPr lang="en-US" sz="1050" dirty="0"/>
          </a:p>
        </p:txBody>
      </p:sp>
      <p:sp>
        <p:nvSpPr>
          <p:cNvPr id="26" name="Text 24"/>
          <p:cNvSpPr/>
          <p:nvPr/>
        </p:nvSpPr>
        <p:spPr>
          <a:xfrm>
            <a:off x="5760720" y="2816352"/>
            <a:ext cx="2871216" cy="420624"/>
          </a:xfrm>
          <a:prstGeom prst="rect">
            <a:avLst/>
          </a:prstGeom>
          <a:noFill/>
          <a:ln/>
        </p:spPr>
        <p:txBody>
          <a:bodyPr wrap="square" lIns="0" tIns="0" rIns="0" bIns="0" rtlCol="0" anchor="t"/>
          <a:lstStyle/>
          <a:p>
            <a:pPr indent="0" marL="0">
              <a:buNone/>
            </a:pPr>
            <a:r>
              <a:rPr lang="en-US" sz="950" dirty="0">
                <a:solidFill>
                  <a:srgbClr val="4A5568"/>
                </a:solidFill>
                <a:latin typeface="Calibri" pitchFamily="34" charset="0"/>
                <a:ea typeface="Calibri" pitchFamily="34" charset="-122"/>
                <a:cs typeface="Calibri" pitchFamily="34" charset="-120"/>
              </a:rPr>
              <a:t>TensorFlow models expect a leading batch dimension. The single-image inference path must add this programmatically since we process one image at a time in the REST API.</a:t>
            </a:r>
            <a:endParaRPr lang="en-US" sz="950" dirty="0"/>
          </a:p>
        </p:txBody>
      </p:sp>
      <p:sp>
        <p:nvSpPr>
          <p:cNvPr id="27" name="Shape 25"/>
          <p:cNvSpPr/>
          <p:nvPr/>
        </p:nvSpPr>
        <p:spPr>
          <a:xfrm>
            <a:off x="384048" y="3355848"/>
            <a:ext cx="8375904" cy="694944"/>
          </a:xfrm>
          <a:prstGeom prst="roundRect">
            <a:avLst>
              <a:gd name="adj" fmla="val 15789"/>
            </a:avLst>
          </a:prstGeom>
          <a:solidFill>
            <a:srgbClr val="F4F7F9"/>
          </a:solidFill>
          <a:ln w="6350">
            <a:solidFill>
              <a:srgbClr val="1A2B4A">
                <a:alpha val="40000"/>
              </a:srgbClr>
            </a:solidFill>
            <a:prstDash val="solid"/>
          </a:ln>
          <a:effectLst>
            <a:outerShdw sx="100000" sy="100000" kx="0" ky="0" algn="bl" rotWithShape="0" blurRad="101600" dist="38100" dir="2700000">
              <a:srgbClr val="000000">
                <a:alpha val="10000"/>
              </a:srgbClr>
            </a:outerShdw>
          </a:effectLst>
        </p:spPr>
      </p:sp>
      <p:sp>
        <p:nvSpPr>
          <p:cNvPr id="28" name="Shape 26"/>
          <p:cNvSpPr/>
          <p:nvPr/>
        </p:nvSpPr>
        <p:spPr>
          <a:xfrm>
            <a:off x="466344" y="3502152"/>
            <a:ext cx="402336" cy="402336"/>
          </a:xfrm>
          <a:prstGeom prst="ellipse">
            <a:avLst/>
          </a:prstGeom>
          <a:solidFill>
            <a:srgbClr val="3A8C7E"/>
          </a:solidFill>
          <a:ln/>
        </p:spPr>
      </p:sp>
      <p:sp>
        <p:nvSpPr>
          <p:cNvPr id="29" name="Text 27"/>
          <p:cNvSpPr/>
          <p:nvPr/>
        </p:nvSpPr>
        <p:spPr>
          <a:xfrm>
            <a:off x="466344" y="3502152"/>
            <a:ext cx="402336" cy="402336"/>
          </a:xfrm>
          <a:prstGeom prst="rect">
            <a:avLst/>
          </a:prstGeom>
          <a:noFill/>
          <a:ln/>
        </p:spPr>
        <p:txBody>
          <a:bodyPr wrap="square" lIns="0" tIns="0" rIns="0" bIns="0" rtlCol="0" anchor="ctr"/>
          <a:lstStyle/>
          <a:p>
            <a:pPr algn="ctr" indent="0" marL="0">
              <a:buNone/>
            </a:pPr>
            <a:r>
              <a:rPr lang="en-US" sz="1100" b="1" dirty="0">
                <a:solidFill>
                  <a:srgbClr val="FFFFFF"/>
                </a:solidFill>
              </a:rPr>
              <a:t>4</a:t>
            </a:r>
            <a:endParaRPr lang="en-US" sz="1100" dirty="0"/>
          </a:p>
        </p:txBody>
      </p:sp>
      <p:sp>
        <p:nvSpPr>
          <p:cNvPr id="30" name="Text 28"/>
          <p:cNvSpPr/>
          <p:nvPr/>
        </p:nvSpPr>
        <p:spPr>
          <a:xfrm>
            <a:off x="987552" y="3410712"/>
            <a:ext cx="7589520" cy="237744"/>
          </a:xfrm>
          <a:prstGeom prst="rect">
            <a:avLst/>
          </a:prstGeom>
          <a:noFill/>
          <a:ln/>
        </p:spPr>
        <p:txBody>
          <a:bodyPr wrap="square" lIns="0" tIns="0" rIns="0" bIns="0" rtlCol="0" anchor="ctr"/>
          <a:lstStyle/>
          <a:p>
            <a:pPr indent="0" marL="0">
              <a:buNone/>
            </a:pPr>
            <a:r>
              <a:rPr lang="en-US" sz="1200" b="1" dirty="0">
                <a:solidFill>
                  <a:srgbClr val="1A2B4A"/>
                </a:solidFill>
                <a:latin typeface="Calibri" pitchFamily="34" charset="0"/>
                <a:ea typeface="Calibri" pitchFamily="34" charset="-122"/>
                <a:cs typeface="Calibri" pitchFamily="34" charset="-120"/>
              </a:rPr>
              <a:t>Inference in Thread Pool (Non-Blocking)</a:t>
            </a:r>
            <a:endParaRPr lang="en-US" sz="1200" dirty="0"/>
          </a:p>
        </p:txBody>
      </p:sp>
      <p:sp>
        <p:nvSpPr>
          <p:cNvPr id="31" name="Text 29"/>
          <p:cNvSpPr/>
          <p:nvPr/>
        </p:nvSpPr>
        <p:spPr>
          <a:xfrm>
            <a:off x="987552" y="3666744"/>
            <a:ext cx="4663440" cy="219456"/>
          </a:xfrm>
          <a:prstGeom prst="rect">
            <a:avLst/>
          </a:prstGeom>
          <a:noFill/>
          <a:ln/>
        </p:spPr>
        <p:txBody>
          <a:bodyPr wrap="square" lIns="0" tIns="0" rIns="0" bIns="0" rtlCol="0" anchor="ctr"/>
          <a:lstStyle/>
          <a:p>
            <a:pPr indent="0" marL="0">
              <a:buNone/>
            </a:pPr>
            <a:r>
              <a:rPr lang="en-US" sz="1050" dirty="0">
                <a:solidFill>
                  <a:srgbClr val="1A2B4A"/>
                </a:solidFill>
                <a:latin typeface="Courier New" pitchFamily="34" charset="0"/>
                <a:ea typeface="Courier New" pitchFamily="34" charset="-122"/>
                <a:cs typeface="Courier New" pitchFamily="34" charset="-120"/>
              </a:rPr>
              <a:t>result = await asyncio.to_thread(model.predict, tensor, verbose=0)</a:t>
            </a:r>
            <a:endParaRPr lang="en-US" sz="1050" dirty="0"/>
          </a:p>
        </p:txBody>
      </p:sp>
      <p:sp>
        <p:nvSpPr>
          <p:cNvPr id="32" name="Text 30"/>
          <p:cNvSpPr/>
          <p:nvPr/>
        </p:nvSpPr>
        <p:spPr>
          <a:xfrm>
            <a:off x="5760720" y="3593592"/>
            <a:ext cx="2871216" cy="420624"/>
          </a:xfrm>
          <a:prstGeom prst="rect">
            <a:avLst/>
          </a:prstGeom>
          <a:noFill/>
          <a:ln/>
        </p:spPr>
        <p:txBody>
          <a:bodyPr wrap="square" lIns="0" tIns="0" rIns="0" bIns="0" rtlCol="0" anchor="t"/>
          <a:lstStyle/>
          <a:p>
            <a:pPr indent="0" marL="0">
              <a:buNone/>
            </a:pPr>
            <a:r>
              <a:rPr lang="en-US" sz="950" dirty="0">
                <a:solidFill>
                  <a:srgbClr val="4A5568"/>
                </a:solidFill>
                <a:latin typeface="Calibri" pitchFamily="34" charset="0"/>
                <a:ea typeface="Calibri" pitchFamily="34" charset="-122"/>
                <a:cs typeface="Calibri" pitchFamily="34" charset="-120"/>
              </a:rPr>
              <a:t>TensorFlow's predict() is synchronous. Running it directly on the FastAPI event loop would block all other concurrent requests for 380 ms per scan. asyncio.to_thread() offloads to a worker thread, keeping the server responsive.</a:t>
            </a:r>
            <a:endParaRPr lang="en-US" sz="950" dirty="0"/>
          </a:p>
        </p:txBody>
      </p:sp>
      <p:sp>
        <p:nvSpPr>
          <p:cNvPr id="33" name="Shape 31"/>
          <p:cNvSpPr/>
          <p:nvPr/>
        </p:nvSpPr>
        <p:spPr>
          <a:xfrm>
            <a:off x="384048" y="4133088"/>
            <a:ext cx="8375904" cy="694944"/>
          </a:xfrm>
          <a:prstGeom prst="roundRect">
            <a:avLst>
              <a:gd name="adj" fmla="val 15789"/>
            </a:avLst>
          </a:prstGeom>
          <a:solidFill>
            <a:srgbClr val="F4F7F9"/>
          </a:solidFill>
          <a:ln w="6350">
            <a:solidFill>
              <a:srgbClr val="1A2B4A">
                <a:alpha val="40000"/>
              </a:srgbClr>
            </a:solidFill>
            <a:prstDash val="solid"/>
          </a:ln>
          <a:effectLst>
            <a:outerShdw sx="100000" sy="100000" kx="0" ky="0" algn="bl" rotWithShape="0" blurRad="101600" dist="38100" dir="2700000">
              <a:srgbClr val="000000">
                <a:alpha val="10000"/>
              </a:srgbClr>
            </a:outerShdw>
          </a:effectLst>
        </p:spPr>
      </p:sp>
      <p:sp>
        <p:nvSpPr>
          <p:cNvPr id="34" name="Shape 32"/>
          <p:cNvSpPr/>
          <p:nvPr/>
        </p:nvSpPr>
        <p:spPr>
          <a:xfrm>
            <a:off x="466344" y="4279392"/>
            <a:ext cx="402336" cy="402336"/>
          </a:xfrm>
          <a:prstGeom prst="ellipse">
            <a:avLst/>
          </a:prstGeom>
          <a:solidFill>
            <a:srgbClr val="3A8C7E"/>
          </a:solidFill>
          <a:ln/>
        </p:spPr>
      </p:sp>
      <p:sp>
        <p:nvSpPr>
          <p:cNvPr id="35" name="Text 33"/>
          <p:cNvSpPr/>
          <p:nvPr/>
        </p:nvSpPr>
        <p:spPr>
          <a:xfrm>
            <a:off x="466344" y="4279392"/>
            <a:ext cx="402336" cy="402336"/>
          </a:xfrm>
          <a:prstGeom prst="rect">
            <a:avLst/>
          </a:prstGeom>
          <a:noFill/>
          <a:ln/>
        </p:spPr>
        <p:txBody>
          <a:bodyPr wrap="square" lIns="0" tIns="0" rIns="0" bIns="0" rtlCol="0" anchor="ctr"/>
          <a:lstStyle/>
          <a:p>
            <a:pPr algn="ctr" indent="0" marL="0">
              <a:buNone/>
            </a:pPr>
            <a:r>
              <a:rPr lang="en-US" sz="1100" b="1" dirty="0">
                <a:solidFill>
                  <a:srgbClr val="FFFFFF"/>
                </a:solidFill>
              </a:rPr>
              <a:t>5</a:t>
            </a:r>
            <a:endParaRPr lang="en-US" sz="1100" dirty="0"/>
          </a:p>
        </p:txBody>
      </p:sp>
      <p:sp>
        <p:nvSpPr>
          <p:cNvPr id="36" name="Text 34"/>
          <p:cNvSpPr/>
          <p:nvPr/>
        </p:nvSpPr>
        <p:spPr>
          <a:xfrm>
            <a:off x="987552" y="4187952"/>
            <a:ext cx="7589520" cy="237744"/>
          </a:xfrm>
          <a:prstGeom prst="rect">
            <a:avLst/>
          </a:prstGeom>
          <a:noFill/>
          <a:ln/>
        </p:spPr>
        <p:txBody>
          <a:bodyPr wrap="square" lIns="0" tIns="0" rIns="0" bIns="0" rtlCol="0" anchor="ctr"/>
          <a:lstStyle/>
          <a:p>
            <a:pPr indent="0" marL="0">
              <a:buNone/>
            </a:pPr>
            <a:r>
              <a:rPr lang="en-US" sz="1200" b="1" dirty="0">
                <a:solidFill>
                  <a:srgbClr val="1A2B4A"/>
                </a:solidFill>
                <a:latin typeface="Calibri" pitchFamily="34" charset="0"/>
                <a:ea typeface="Calibri" pitchFamily="34" charset="-122"/>
                <a:cs typeface="Calibri" pitchFamily="34" charset="-120"/>
              </a:rPr>
              <a:t>Post-Processing: Expired Class Suppression</a:t>
            </a:r>
            <a:endParaRPr lang="en-US" sz="1200" dirty="0"/>
          </a:p>
        </p:txBody>
      </p:sp>
      <p:sp>
        <p:nvSpPr>
          <p:cNvPr id="37" name="Text 35"/>
          <p:cNvSpPr/>
          <p:nvPr/>
        </p:nvSpPr>
        <p:spPr>
          <a:xfrm>
            <a:off x="987552" y="4443984"/>
            <a:ext cx="4663440" cy="219456"/>
          </a:xfrm>
          <a:prstGeom prst="rect">
            <a:avLst/>
          </a:prstGeom>
          <a:noFill/>
          <a:ln/>
        </p:spPr>
        <p:txBody>
          <a:bodyPr wrap="square" lIns="0" tIns="0" rIns="0" bIns="0" rtlCol="0" anchor="ctr"/>
          <a:lstStyle/>
          <a:p>
            <a:pPr indent="0" marL="0">
              <a:buNone/>
            </a:pPr>
            <a:r>
              <a:rPr lang="en-US" sz="1050" dirty="0">
                <a:solidFill>
                  <a:srgbClr val="1A2B4A"/>
                </a:solidFill>
                <a:latin typeface="Courier New" pitchFamily="34" charset="0"/>
                <a:ea typeface="Courier New" pitchFamily="34" charset="-122"/>
                <a:cs typeface="Courier New" pitchFamily="34" charset="-120"/>
              </a:rPr>
              <a:t>probs[0][EXPIRED_IDX] = 0.0   # then argmax over remaining 13</a:t>
            </a:r>
            <a:endParaRPr lang="en-US" sz="1050" dirty="0"/>
          </a:p>
        </p:txBody>
      </p:sp>
      <p:sp>
        <p:nvSpPr>
          <p:cNvPr id="38" name="Text 36"/>
          <p:cNvSpPr/>
          <p:nvPr/>
        </p:nvSpPr>
        <p:spPr>
          <a:xfrm>
            <a:off x="5760720" y="4370832"/>
            <a:ext cx="2871216" cy="420624"/>
          </a:xfrm>
          <a:prstGeom prst="rect">
            <a:avLst/>
          </a:prstGeom>
          <a:noFill/>
          <a:ln/>
        </p:spPr>
        <p:txBody>
          <a:bodyPr wrap="square" lIns="0" tIns="0" rIns="0" bIns="0" rtlCol="0" anchor="t"/>
          <a:lstStyle/>
          <a:p>
            <a:pPr indent="0" marL="0">
              <a:buNone/>
            </a:pPr>
            <a:r>
              <a:rPr lang="en-US" sz="950" dirty="0">
                <a:solidFill>
                  <a:srgbClr val="4A5568"/>
                </a:solidFill>
                <a:latin typeface="Calibri" pitchFamily="34" charset="0"/>
                <a:ea typeface="Calibri" pitchFamily="34" charset="-122"/>
                <a:cs typeface="Calibri" pitchFamily="34" charset="-120"/>
              </a:rPr>
              <a:t>The Expired class was over-represented in the training data. Setting its probability to zero before argmax eliminates false-positive spoilage predictions on borderline-fresh images without retraining.</a:t>
            </a:r>
            <a:endParaRPr lang="en-US" sz="9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EBEBEB"/>
        </a:solidFill>
      </p:bgPr>
    </p:bg>
    <p:spTree>
      <p:nvGrpSpPr>
        <p:cNvPr id="1" name=""/>
        <p:cNvGrpSpPr/>
        <p:nvPr/>
      </p:nvGrpSpPr>
      <p:grpSpPr>
        <a:xfrm>
          <a:off x="0" y="0"/>
          <a:ext cx="0" cy="0"/>
          <a:chOff x="0" y="0"/>
          <a:chExt cx="0" cy="0"/>
        </a:xfrm>
      </p:grpSpPr>
      <p:sp>
        <p:nvSpPr>
          <p:cNvPr id="2" name="Shape 0"/>
          <p:cNvSpPr/>
          <p:nvPr/>
        </p:nvSpPr>
        <p:spPr>
          <a:xfrm rot="-2700000">
            <a:off x="182880" y="182880"/>
            <a:ext cx="457200" cy="0"/>
          </a:xfrm>
          <a:prstGeom prst="line">
            <a:avLst/>
          </a:prstGeom>
          <a:noFill/>
          <a:ln w="12700">
            <a:solidFill>
              <a:srgbClr val="1A2B4A">
                <a:alpha val="28000"/>
              </a:srgbClr>
            </a:solidFill>
            <a:prstDash val="solid"/>
          </a:ln>
        </p:spPr>
      </p:sp>
      <p:sp>
        <p:nvSpPr>
          <p:cNvPr id="3" name="Shape 1"/>
          <p:cNvSpPr/>
          <p:nvPr/>
        </p:nvSpPr>
        <p:spPr>
          <a:xfrm rot="-2700000">
            <a:off x="347472" y="182880"/>
            <a:ext cx="457200" cy="0"/>
          </a:xfrm>
          <a:prstGeom prst="line">
            <a:avLst/>
          </a:prstGeom>
          <a:noFill/>
          <a:ln w="12700">
            <a:solidFill>
              <a:srgbClr val="1A2B4A">
                <a:alpha val="28000"/>
              </a:srgbClr>
            </a:solidFill>
            <a:prstDash val="solid"/>
          </a:ln>
        </p:spPr>
      </p:sp>
      <p:sp>
        <p:nvSpPr>
          <p:cNvPr id="4" name="Shape 2"/>
          <p:cNvSpPr/>
          <p:nvPr/>
        </p:nvSpPr>
        <p:spPr>
          <a:xfrm rot="-2700000">
            <a:off x="512064" y="182880"/>
            <a:ext cx="457200" cy="0"/>
          </a:xfrm>
          <a:prstGeom prst="line">
            <a:avLst/>
          </a:prstGeom>
          <a:noFill/>
          <a:ln w="12700">
            <a:solidFill>
              <a:srgbClr val="1A2B4A">
                <a:alpha val="28000"/>
              </a:srgbClr>
            </a:solidFill>
            <a:prstDash val="solid"/>
          </a:ln>
        </p:spPr>
      </p:sp>
      <p:sp>
        <p:nvSpPr>
          <p:cNvPr id="5" name="Shape 3"/>
          <p:cNvSpPr/>
          <p:nvPr/>
        </p:nvSpPr>
        <p:spPr>
          <a:xfrm rot="-2700000">
            <a:off x="676656" y="182880"/>
            <a:ext cx="457200" cy="0"/>
          </a:xfrm>
          <a:prstGeom prst="line">
            <a:avLst/>
          </a:prstGeom>
          <a:noFill/>
          <a:ln w="12700">
            <a:solidFill>
              <a:srgbClr val="1A2B4A">
                <a:alpha val="28000"/>
              </a:srgbClr>
            </a:solidFill>
            <a:prstDash val="solid"/>
          </a:ln>
        </p:spPr>
      </p:sp>
      <p:sp>
        <p:nvSpPr>
          <p:cNvPr id="6" name="Shape 4"/>
          <p:cNvSpPr/>
          <p:nvPr/>
        </p:nvSpPr>
        <p:spPr>
          <a:xfrm rot="-2700000">
            <a:off x="841248" y="182880"/>
            <a:ext cx="457200" cy="0"/>
          </a:xfrm>
          <a:prstGeom prst="line">
            <a:avLst/>
          </a:prstGeom>
          <a:noFill/>
          <a:ln w="12700">
            <a:solidFill>
              <a:srgbClr val="1A2B4A">
                <a:alpha val="28000"/>
              </a:srgbClr>
            </a:solidFill>
            <a:prstDash val="solid"/>
          </a:ln>
        </p:spPr>
      </p:sp>
      <p:sp>
        <p:nvSpPr>
          <p:cNvPr id="7" name="Shape 5"/>
          <p:cNvSpPr/>
          <p:nvPr/>
        </p:nvSpPr>
        <p:spPr>
          <a:xfrm rot="-2700000">
            <a:off x="1005840" y="182880"/>
            <a:ext cx="457200" cy="0"/>
          </a:xfrm>
          <a:prstGeom prst="line">
            <a:avLst/>
          </a:prstGeom>
          <a:noFill/>
          <a:ln w="12700">
            <a:solidFill>
              <a:srgbClr val="1A2B4A">
                <a:alpha val="28000"/>
              </a:srgbClr>
            </a:solidFill>
            <a:prstDash val="solid"/>
          </a:ln>
        </p:spPr>
      </p:sp>
      <p:sp>
        <p:nvSpPr>
          <p:cNvPr id="8" name="Shape 6"/>
          <p:cNvSpPr/>
          <p:nvPr/>
        </p:nvSpPr>
        <p:spPr>
          <a:xfrm rot="-2700000">
            <a:off x="1170432" y="182880"/>
            <a:ext cx="457200" cy="0"/>
          </a:xfrm>
          <a:prstGeom prst="line">
            <a:avLst/>
          </a:prstGeom>
          <a:noFill/>
          <a:ln w="12700">
            <a:solidFill>
              <a:srgbClr val="1A2B4A">
                <a:alpha val="28000"/>
              </a:srgbClr>
            </a:solidFill>
            <a:prstDash val="solid"/>
          </a:ln>
        </p:spPr>
      </p:sp>
      <p:sp>
        <p:nvSpPr>
          <p:cNvPr id="9" name="Shape 7"/>
          <p:cNvSpPr/>
          <p:nvPr/>
        </p:nvSpPr>
        <p:spPr>
          <a:xfrm>
            <a:off x="8092440" y="3749040"/>
            <a:ext cx="64008" cy="64008"/>
          </a:xfrm>
          <a:prstGeom prst="ellipse">
            <a:avLst/>
          </a:prstGeom>
          <a:solidFill>
            <a:srgbClr val="1A2B4A">
              <a:alpha val="25000"/>
            </a:srgbClr>
          </a:solidFill>
          <a:ln/>
        </p:spPr>
      </p:sp>
      <p:sp>
        <p:nvSpPr>
          <p:cNvPr id="10" name="Shape 8"/>
          <p:cNvSpPr/>
          <p:nvPr/>
        </p:nvSpPr>
        <p:spPr>
          <a:xfrm>
            <a:off x="8293608" y="3749040"/>
            <a:ext cx="64008" cy="64008"/>
          </a:xfrm>
          <a:prstGeom prst="ellipse">
            <a:avLst/>
          </a:prstGeom>
          <a:solidFill>
            <a:srgbClr val="1A2B4A">
              <a:alpha val="25000"/>
            </a:srgbClr>
          </a:solidFill>
          <a:ln/>
        </p:spPr>
      </p:sp>
      <p:sp>
        <p:nvSpPr>
          <p:cNvPr id="11" name="Shape 9"/>
          <p:cNvSpPr/>
          <p:nvPr/>
        </p:nvSpPr>
        <p:spPr>
          <a:xfrm>
            <a:off x="8494776" y="3749040"/>
            <a:ext cx="64008" cy="64008"/>
          </a:xfrm>
          <a:prstGeom prst="ellipse">
            <a:avLst/>
          </a:prstGeom>
          <a:solidFill>
            <a:srgbClr val="1A2B4A">
              <a:alpha val="25000"/>
            </a:srgbClr>
          </a:solidFill>
          <a:ln/>
        </p:spPr>
      </p:sp>
      <p:sp>
        <p:nvSpPr>
          <p:cNvPr id="12" name="Shape 10"/>
          <p:cNvSpPr/>
          <p:nvPr/>
        </p:nvSpPr>
        <p:spPr>
          <a:xfrm>
            <a:off x="8695944" y="3749040"/>
            <a:ext cx="64008" cy="64008"/>
          </a:xfrm>
          <a:prstGeom prst="ellipse">
            <a:avLst/>
          </a:prstGeom>
          <a:solidFill>
            <a:srgbClr val="1A2B4A">
              <a:alpha val="25000"/>
            </a:srgbClr>
          </a:solidFill>
          <a:ln/>
        </p:spPr>
      </p:sp>
      <p:sp>
        <p:nvSpPr>
          <p:cNvPr id="13" name="Shape 11"/>
          <p:cNvSpPr/>
          <p:nvPr/>
        </p:nvSpPr>
        <p:spPr>
          <a:xfrm>
            <a:off x="8897112" y="3749040"/>
            <a:ext cx="64008" cy="64008"/>
          </a:xfrm>
          <a:prstGeom prst="ellipse">
            <a:avLst/>
          </a:prstGeom>
          <a:solidFill>
            <a:srgbClr val="1A2B4A">
              <a:alpha val="25000"/>
            </a:srgbClr>
          </a:solidFill>
          <a:ln/>
        </p:spPr>
      </p:sp>
      <p:sp>
        <p:nvSpPr>
          <p:cNvPr id="14" name="Shape 12"/>
          <p:cNvSpPr/>
          <p:nvPr/>
        </p:nvSpPr>
        <p:spPr>
          <a:xfrm>
            <a:off x="8092440" y="3950208"/>
            <a:ext cx="64008" cy="64008"/>
          </a:xfrm>
          <a:prstGeom prst="ellipse">
            <a:avLst/>
          </a:prstGeom>
          <a:solidFill>
            <a:srgbClr val="1A2B4A">
              <a:alpha val="25000"/>
            </a:srgbClr>
          </a:solidFill>
          <a:ln/>
        </p:spPr>
      </p:sp>
      <p:sp>
        <p:nvSpPr>
          <p:cNvPr id="15" name="Shape 13"/>
          <p:cNvSpPr/>
          <p:nvPr/>
        </p:nvSpPr>
        <p:spPr>
          <a:xfrm>
            <a:off x="8293608" y="3950208"/>
            <a:ext cx="64008" cy="64008"/>
          </a:xfrm>
          <a:prstGeom prst="ellipse">
            <a:avLst/>
          </a:prstGeom>
          <a:solidFill>
            <a:srgbClr val="1A2B4A">
              <a:alpha val="25000"/>
            </a:srgbClr>
          </a:solidFill>
          <a:ln/>
        </p:spPr>
      </p:sp>
      <p:sp>
        <p:nvSpPr>
          <p:cNvPr id="16" name="Shape 14"/>
          <p:cNvSpPr/>
          <p:nvPr/>
        </p:nvSpPr>
        <p:spPr>
          <a:xfrm>
            <a:off x="8494776" y="3950208"/>
            <a:ext cx="64008" cy="64008"/>
          </a:xfrm>
          <a:prstGeom prst="ellipse">
            <a:avLst/>
          </a:prstGeom>
          <a:solidFill>
            <a:srgbClr val="1A2B4A">
              <a:alpha val="25000"/>
            </a:srgbClr>
          </a:solidFill>
          <a:ln/>
        </p:spPr>
      </p:sp>
      <p:sp>
        <p:nvSpPr>
          <p:cNvPr id="17" name="Shape 15"/>
          <p:cNvSpPr/>
          <p:nvPr/>
        </p:nvSpPr>
        <p:spPr>
          <a:xfrm>
            <a:off x="8695944" y="3950208"/>
            <a:ext cx="64008" cy="64008"/>
          </a:xfrm>
          <a:prstGeom prst="ellipse">
            <a:avLst/>
          </a:prstGeom>
          <a:solidFill>
            <a:srgbClr val="1A2B4A">
              <a:alpha val="25000"/>
            </a:srgbClr>
          </a:solidFill>
          <a:ln/>
        </p:spPr>
      </p:sp>
      <p:sp>
        <p:nvSpPr>
          <p:cNvPr id="18" name="Shape 16"/>
          <p:cNvSpPr/>
          <p:nvPr/>
        </p:nvSpPr>
        <p:spPr>
          <a:xfrm>
            <a:off x="8897112" y="3950208"/>
            <a:ext cx="64008" cy="64008"/>
          </a:xfrm>
          <a:prstGeom prst="ellipse">
            <a:avLst/>
          </a:prstGeom>
          <a:solidFill>
            <a:srgbClr val="1A2B4A">
              <a:alpha val="25000"/>
            </a:srgbClr>
          </a:solidFill>
          <a:ln/>
        </p:spPr>
      </p:sp>
      <p:sp>
        <p:nvSpPr>
          <p:cNvPr id="19" name="Shape 17"/>
          <p:cNvSpPr/>
          <p:nvPr/>
        </p:nvSpPr>
        <p:spPr>
          <a:xfrm>
            <a:off x="8092440" y="4151376"/>
            <a:ext cx="64008" cy="64008"/>
          </a:xfrm>
          <a:prstGeom prst="ellipse">
            <a:avLst/>
          </a:prstGeom>
          <a:solidFill>
            <a:srgbClr val="1A2B4A">
              <a:alpha val="25000"/>
            </a:srgbClr>
          </a:solidFill>
          <a:ln/>
        </p:spPr>
      </p:sp>
      <p:sp>
        <p:nvSpPr>
          <p:cNvPr id="20" name="Shape 18"/>
          <p:cNvSpPr/>
          <p:nvPr/>
        </p:nvSpPr>
        <p:spPr>
          <a:xfrm>
            <a:off x="8293608" y="4151376"/>
            <a:ext cx="64008" cy="64008"/>
          </a:xfrm>
          <a:prstGeom prst="ellipse">
            <a:avLst/>
          </a:prstGeom>
          <a:solidFill>
            <a:srgbClr val="1A2B4A">
              <a:alpha val="25000"/>
            </a:srgbClr>
          </a:solidFill>
          <a:ln/>
        </p:spPr>
      </p:sp>
      <p:sp>
        <p:nvSpPr>
          <p:cNvPr id="21" name="Shape 19"/>
          <p:cNvSpPr/>
          <p:nvPr/>
        </p:nvSpPr>
        <p:spPr>
          <a:xfrm>
            <a:off x="8494776" y="4151376"/>
            <a:ext cx="64008" cy="64008"/>
          </a:xfrm>
          <a:prstGeom prst="ellipse">
            <a:avLst/>
          </a:prstGeom>
          <a:solidFill>
            <a:srgbClr val="1A2B4A">
              <a:alpha val="25000"/>
            </a:srgbClr>
          </a:solidFill>
          <a:ln/>
        </p:spPr>
      </p:sp>
      <p:sp>
        <p:nvSpPr>
          <p:cNvPr id="22" name="Shape 20"/>
          <p:cNvSpPr/>
          <p:nvPr/>
        </p:nvSpPr>
        <p:spPr>
          <a:xfrm>
            <a:off x="8695944" y="4151376"/>
            <a:ext cx="64008" cy="64008"/>
          </a:xfrm>
          <a:prstGeom prst="ellipse">
            <a:avLst/>
          </a:prstGeom>
          <a:solidFill>
            <a:srgbClr val="1A2B4A">
              <a:alpha val="25000"/>
            </a:srgbClr>
          </a:solidFill>
          <a:ln/>
        </p:spPr>
      </p:sp>
      <p:sp>
        <p:nvSpPr>
          <p:cNvPr id="23" name="Shape 21"/>
          <p:cNvSpPr/>
          <p:nvPr/>
        </p:nvSpPr>
        <p:spPr>
          <a:xfrm>
            <a:off x="8897112" y="4151376"/>
            <a:ext cx="64008" cy="64008"/>
          </a:xfrm>
          <a:prstGeom prst="ellipse">
            <a:avLst/>
          </a:prstGeom>
          <a:solidFill>
            <a:srgbClr val="1A2B4A">
              <a:alpha val="25000"/>
            </a:srgbClr>
          </a:solidFill>
          <a:ln/>
        </p:spPr>
      </p:sp>
      <p:sp>
        <p:nvSpPr>
          <p:cNvPr id="24" name="Shape 22"/>
          <p:cNvSpPr/>
          <p:nvPr/>
        </p:nvSpPr>
        <p:spPr>
          <a:xfrm>
            <a:off x="8092440" y="4352544"/>
            <a:ext cx="64008" cy="64008"/>
          </a:xfrm>
          <a:prstGeom prst="ellipse">
            <a:avLst/>
          </a:prstGeom>
          <a:solidFill>
            <a:srgbClr val="1A2B4A">
              <a:alpha val="25000"/>
            </a:srgbClr>
          </a:solidFill>
          <a:ln/>
        </p:spPr>
      </p:sp>
      <p:sp>
        <p:nvSpPr>
          <p:cNvPr id="25" name="Shape 23"/>
          <p:cNvSpPr/>
          <p:nvPr/>
        </p:nvSpPr>
        <p:spPr>
          <a:xfrm>
            <a:off x="8293608" y="4352544"/>
            <a:ext cx="64008" cy="64008"/>
          </a:xfrm>
          <a:prstGeom prst="ellipse">
            <a:avLst/>
          </a:prstGeom>
          <a:solidFill>
            <a:srgbClr val="1A2B4A">
              <a:alpha val="25000"/>
            </a:srgbClr>
          </a:solidFill>
          <a:ln/>
        </p:spPr>
      </p:sp>
      <p:sp>
        <p:nvSpPr>
          <p:cNvPr id="26" name="Shape 24"/>
          <p:cNvSpPr/>
          <p:nvPr/>
        </p:nvSpPr>
        <p:spPr>
          <a:xfrm>
            <a:off x="8494776" y="4352544"/>
            <a:ext cx="64008" cy="64008"/>
          </a:xfrm>
          <a:prstGeom prst="ellipse">
            <a:avLst/>
          </a:prstGeom>
          <a:solidFill>
            <a:srgbClr val="1A2B4A">
              <a:alpha val="25000"/>
            </a:srgbClr>
          </a:solidFill>
          <a:ln/>
        </p:spPr>
      </p:sp>
      <p:sp>
        <p:nvSpPr>
          <p:cNvPr id="27" name="Shape 25"/>
          <p:cNvSpPr/>
          <p:nvPr/>
        </p:nvSpPr>
        <p:spPr>
          <a:xfrm>
            <a:off x="8695944" y="4352544"/>
            <a:ext cx="64008" cy="64008"/>
          </a:xfrm>
          <a:prstGeom prst="ellipse">
            <a:avLst/>
          </a:prstGeom>
          <a:solidFill>
            <a:srgbClr val="1A2B4A">
              <a:alpha val="25000"/>
            </a:srgbClr>
          </a:solidFill>
          <a:ln/>
        </p:spPr>
      </p:sp>
      <p:sp>
        <p:nvSpPr>
          <p:cNvPr id="28" name="Shape 26"/>
          <p:cNvSpPr/>
          <p:nvPr/>
        </p:nvSpPr>
        <p:spPr>
          <a:xfrm>
            <a:off x="8897112" y="4352544"/>
            <a:ext cx="64008" cy="64008"/>
          </a:xfrm>
          <a:prstGeom prst="ellipse">
            <a:avLst/>
          </a:prstGeom>
          <a:solidFill>
            <a:srgbClr val="1A2B4A">
              <a:alpha val="25000"/>
            </a:srgbClr>
          </a:solidFill>
          <a:ln/>
        </p:spPr>
      </p:sp>
      <p:sp>
        <p:nvSpPr>
          <p:cNvPr id="29" name="Shape 27"/>
          <p:cNvSpPr/>
          <p:nvPr/>
        </p:nvSpPr>
        <p:spPr>
          <a:xfrm>
            <a:off x="8092440" y="4553712"/>
            <a:ext cx="64008" cy="64008"/>
          </a:xfrm>
          <a:prstGeom prst="ellipse">
            <a:avLst/>
          </a:prstGeom>
          <a:solidFill>
            <a:srgbClr val="1A2B4A">
              <a:alpha val="25000"/>
            </a:srgbClr>
          </a:solidFill>
          <a:ln/>
        </p:spPr>
      </p:sp>
      <p:sp>
        <p:nvSpPr>
          <p:cNvPr id="30" name="Shape 28"/>
          <p:cNvSpPr/>
          <p:nvPr/>
        </p:nvSpPr>
        <p:spPr>
          <a:xfrm>
            <a:off x="8293608" y="4553712"/>
            <a:ext cx="64008" cy="64008"/>
          </a:xfrm>
          <a:prstGeom prst="ellipse">
            <a:avLst/>
          </a:prstGeom>
          <a:solidFill>
            <a:srgbClr val="1A2B4A">
              <a:alpha val="25000"/>
            </a:srgbClr>
          </a:solidFill>
          <a:ln/>
        </p:spPr>
      </p:sp>
      <p:sp>
        <p:nvSpPr>
          <p:cNvPr id="31" name="Shape 29"/>
          <p:cNvSpPr/>
          <p:nvPr/>
        </p:nvSpPr>
        <p:spPr>
          <a:xfrm>
            <a:off x="8494776" y="4553712"/>
            <a:ext cx="64008" cy="64008"/>
          </a:xfrm>
          <a:prstGeom prst="ellipse">
            <a:avLst/>
          </a:prstGeom>
          <a:solidFill>
            <a:srgbClr val="1A2B4A">
              <a:alpha val="25000"/>
            </a:srgbClr>
          </a:solidFill>
          <a:ln/>
        </p:spPr>
      </p:sp>
      <p:sp>
        <p:nvSpPr>
          <p:cNvPr id="32" name="Shape 30"/>
          <p:cNvSpPr/>
          <p:nvPr/>
        </p:nvSpPr>
        <p:spPr>
          <a:xfrm>
            <a:off x="8695944" y="4553712"/>
            <a:ext cx="64008" cy="64008"/>
          </a:xfrm>
          <a:prstGeom prst="ellipse">
            <a:avLst/>
          </a:prstGeom>
          <a:solidFill>
            <a:srgbClr val="1A2B4A">
              <a:alpha val="25000"/>
            </a:srgbClr>
          </a:solidFill>
          <a:ln/>
        </p:spPr>
      </p:sp>
      <p:sp>
        <p:nvSpPr>
          <p:cNvPr id="33" name="Shape 31"/>
          <p:cNvSpPr/>
          <p:nvPr/>
        </p:nvSpPr>
        <p:spPr>
          <a:xfrm>
            <a:off x="8897112" y="4553712"/>
            <a:ext cx="64008" cy="64008"/>
          </a:xfrm>
          <a:prstGeom prst="ellipse">
            <a:avLst/>
          </a:prstGeom>
          <a:solidFill>
            <a:srgbClr val="1A2B4A">
              <a:alpha val="25000"/>
            </a:srgbClr>
          </a:solidFill>
          <a:ln/>
        </p:spPr>
      </p:sp>
      <p:sp>
        <p:nvSpPr>
          <p:cNvPr id="34" name="Text 32"/>
          <p:cNvSpPr/>
          <p:nvPr/>
        </p:nvSpPr>
        <p:spPr>
          <a:xfrm>
            <a:off x="411480" y="292608"/>
            <a:ext cx="8321040" cy="530352"/>
          </a:xfrm>
          <a:prstGeom prst="rect">
            <a:avLst/>
          </a:prstGeom>
          <a:noFill/>
          <a:ln/>
        </p:spPr>
        <p:txBody>
          <a:bodyPr wrap="square" lIns="0" tIns="0" rIns="0" bIns="0" rtlCol="0" anchor="ctr"/>
          <a:lstStyle/>
          <a:p>
            <a:pPr algn="l" indent="0" marL="0">
              <a:buNone/>
            </a:pPr>
            <a:r>
              <a:rPr lang="en-US" sz="2800" b="1" dirty="0">
                <a:solidFill>
                  <a:srgbClr val="1A2B4A"/>
                </a:solidFill>
                <a:latin typeface="Cambria" pitchFamily="34" charset="0"/>
                <a:ea typeface="Cambria" pitchFamily="34" charset="-122"/>
                <a:cs typeface="Cambria" pitchFamily="34" charset="-120"/>
              </a:rPr>
              <a:t>Model Training Pipeline</a:t>
            </a:r>
            <a:endParaRPr lang="en-US" sz="2800" dirty="0"/>
          </a:p>
        </p:txBody>
      </p:sp>
      <p:sp>
        <p:nvSpPr>
          <p:cNvPr id="35" name="Text 33"/>
          <p:cNvSpPr/>
          <p:nvPr/>
        </p:nvSpPr>
        <p:spPr>
          <a:xfrm>
            <a:off x="411480" y="841248"/>
            <a:ext cx="8321040" cy="329184"/>
          </a:xfrm>
          <a:prstGeom prst="rect">
            <a:avLst/>
          </a:prstGeom>
          <a:noFill/>
          <a:ln/>
        </p:spPr>
        <p:txBody>
          <a:bodyPr wrap="square" lIns="0" tIns="0" rIns="0" bIns="0" rtlCol="0" anchor="ctr"/>
          <a:lstStyle/>
          <a:p>
            <a:pPr algn="l" indent="0" marL="0">
              <a:buNone/>
            </a:pPr>
            <a:r>
              <a:rPr lang="en-US" sz="1400" b="1" dirty="0">
                <a:solidFill>
                  <a:srgbClr val="3A8C7E"/>
                </a:solidFill>
                <a:latin typeface="Calibri" pitchFamily="34" charset="0"/>
                <a:ea typeface="Calibri" pitchFamily="34" charset="-122"/>
                <a:cs typeface="Calibri" pitchFamily="34" charset="-120"/>
              </a:rPr>
              <a:t>Two-phase transfer learning on Google Colab T4 GPU  ·  47 minutes total</a:t>
            </a:r>
            <a:endParaRPr lang="en-US" sz="1400" dirty="0"/>
          </a:p>
        </p:txBody>
      </p:sp>
      <p:sp>
        <p:nvSpPr>
          <p:cNvPr id="36" name="Shape 34"/>
          <p:cNvSpPr/>
          <p:nvPr/>
        </p:nvSpPr>
        <p:spPr>
          <a:xfrm>
            <a:off x="411480" y="868680"/>
            <a:ext cx="8229600" cy="0"/>
          </a:xfrm>
          <a:prstGeom prst="line">
            <a:avLst/>
          </a:prstGeom>
          <a:noFill/>
          <a:ln w="19050">
            <a:solidFill>
              <a:srgbClr val="3A8C7E">
                <a:alpha val="60000"/>
              </a:srgbClr>
            </a:solidFill>
            <a:prstDash val="solid"/>
          </a:ln>
        </p:spPr>
      </p:sp>
      <p:sp>
        <p:nvSpPr>
          <p:cNvPr id="37" name="Shape 35"/>
          <p:cNvSpPr/>
          <p:nvPr/>
        </p:nvSpPr>
        <p:spPr>
          <a:xfrm>
            <a:off x="411480" y="950976"/>
            <a:ext cx="8229600" cy="0"/>
          </a:xfrm>
          <a:prstGeom prst="line">
            <a:avLst/>
          </a:prstGeom>
          <a:noFill/>
          <a:ln w="10160">
            <a:solidFill>
              <a:srgbClr val="1A2B4A">
                <a:alpha val="45000"/>
              </a:srgbClr>
            </a:solidFill>
            <a:prstDash val="solid"/>
          </a:ln>
        </p:spPr>
      </p:sp>
      <p:sp>
        <p:nvSpPr>
          <p:cNvPr id="38" name="Shape 36"/>
          <p:cNvSpPr/>
          <p:nvPr/>
        </p:nvSpPr>
        <p:spPr>
          <a:xfrm>
            <a:off x="384048" y="1207008"/>
            <a:ext cx="4160520" cy="3218688"/>
          </a:xfrm>
          <a:prstGeom prst="roundRect">
            <a:avLst>
              <a:gd name="adj" fmla="val 3409"/>
            </a:avLst>
          </a:prstGeom>
          <a:solidFill>
            <a:srgbClr val="E3EEF8"/>
          </a:solidFill>
          <a:ln w="6350">
            <a:solidFill>
              <a:srgbClr val="1A2B4A">
                <a:alpha val="40000"/>
              </a:srgbClr>
            </a:solidFill>
            <a:prstDash val="solid"/>
          </a:ln>
          <a:effectLst>
            <a:outerShdw sx="100000" sy="100000" kx="0" ky="0" algn="bl" rotWithShape="0" blurRad="101600" dist="38100" dir="2700000">
              <a:srgbClr val="000000">
                <a:alpha val="10000"/>
              </a:srgbClr>
            </a:outerShdw>
          </a:effectLst>
        </p:spPr>
      </p:sp>
      <p:sp>
        <p:nvSpPr>
          <p:cNvPr id="39" name="Text 37"/>
          <p:cNvSpPr/>
          <p:nvPr/>
        </p:nvSpPr>
        <p:spPr>
          <a:xfrm>
            <a:off x="548640" y="1280160"/>
            <a:ext cx="3840480" cy="292608"/>
          </a:xfrm>
          <a:prstGeom prst="rect">
            <a:avLst/>
          </a:prstGeom>
          <a:noFill/>
          <a:ln/>
        </p:spPr>
        <p:txBody>
          <a:bodyPr wrap="square" lIns="0" tIns="0" rIns="0" bIns="0" rtlCol="0" anchor="ctr"/>
          <a:lstStyle/>
          <a:p>
            <a:pPr indent="0" marL="0">
              <a:buNone/>
            </a:pPr>
            <a:r>
              <a:rPr lang="en-US" sz="1200" b="1" dirty="0">
                <a:solidFill>
                  <a:srgbClr val="1A2B4A"/>
                </a:solidFill>
                <a:latin typeface="Calibri" pitchFamily="34" charset="0"/>
                <a:ea typeface="Calibri" pitchFamily="34" charset="-122"/>
                <a:cs typeface="Calibri" pitchFamily="34" charset="-120"/>
              </a:rPr>
              <a:t>PHASE 1: Frozen Base — Classification Head Only</a:t>
            </a:r>
            <a:endParaRPr lang="en-US" sz="1200" dirty="0"/>
          </a:p>
        </p:txBody>
      </p:sp>
      <p:sp>
        <p:nvSpPr>
          <p:cNvPr id="40" name="Text 38"/>
          <p:cNvSpPr/>
          <p:nvPr/>
        </p:nvSpPr>
        <p:spPr>
          <a:xfrm>
            <a:off x="548640" y="1609344"/>
            <a:ext cx="3877056" cy="2779776"/>
          </a:xfrm>
          <a:prstGeom prst="rect">
            <a:avLst/>
          </a:prstGeom>
          <a:noFill/>
          <a:ln/>
        </p:spPr>
        <p:txBody>
          <a:bodyPr wrap="square" lIns="0" tIns="0" rIns="0" bIns="0" rtlCol="0" anchor="t"/>
          <a:lstStyle/>
          <a:p>
            <a:pPr indent="0" marL="0">
              <a:spcAft>
                <a:spcPts val="200"/>
              </a:spcAft>
              <a:buNone/>
            </a:pPr>
            <a:r>
              <a:rPr lang="en-US" sz="1100" b="1" dirty="0">
                <a:solidFill>
                  <a:srgbClr val="1A2B4A"/>
                </a:solidFill>
                <a:latin typeface="Calibri" pitchFamily="34" charset="0"/>
                <a:ea typeface="Calibri" pitchFamily="34" charset="-122"/>
                <a:cs typeface="Calibri" pitchFamily="34" charset="-120"/>
              </a:rPr>
              <a:t>Epochs:</a:t>
            </a:r>
            <a:pPr indent="0" marL="0">
              <a:spcAft>
                <a:spcPts val="200"/>
              </a:spcAft>
              <a:buNone/>
            </a:pPr>
            <a:r>
              <a:rPr lang="en-US" sz="1100" dirty="0">
                <a:solidFill>
                  <a:srgbClr val="4A5568"/>
                </a:solidFill>
                <a:latin typeface="Calibri" pitchFamily="34" charset="0"/>
                <a:ea typeface="Calibri" pitchFamily="34" charset="-122"/>
                <a:cs typeface="Calibri" pitchFamily="34" charset="-120"/>
              </a:rPr>
              <a:t>  10
</a:t>
            </a:r>
            <a:pPr indent="0" marL="0">
              <a:spcAft>
                <a:spcPts val="200"/>
              </a:spcAft>
              <a:buNone/>
            </a:pPr>
            <a:r>
              <a:rPr lang="en-US" sz="1100" b="1" dirty="0">
                <a:solidFill>
                  <a:srgbClr val="1A2B4A"/>
                </a:solidFill>
                <a:latin typeface="Calibri" pitchFamily="34" charset="0"/>
                <a:ea typeface="Calibri" pitchFamily="34" charset="-122"/>
                <a:cs typeface="Calibri" pitchFamily="34" charset="-120"/>
              </a:rPr>
              <a:t>Learning rate:</a:t>
            </a:r>
            <a:pPr indent="0" marL="0">
              <a:spcAft>
                <a:spcPts val="200"/>
              </a:spcAft>
              <a:buNone/>
            </a:pPr>
            <a:r>
              <a:rPr lang="en-US" sz="1100" dirty="0">
                <a:solidFill>
                  <a:srgbClr val="4A5568"/>
                </a:solidFill>
                <a:latin typeface="Calibri" pitchFamily="34" charset="0"/>
                <a:ea typeface="Calibri" pitchFamily="34" charset="-122"/>
                <a:cs typeface="Calibri" pitchFamily="34" charset="-120"/>
              </a:rPr>
              <a:t>  1×10⁻³ (Adam)
</a:t>
            </a:r>
            <a:pPr indent="0" marL="0">
              <a:spcAft>
                <a:spcPts val="200"/>
              </a:spcAft>
              <a:buNone/>
            </a:pPr>
            <a:r>
              <a:rPr lang="en-US" sz="1100" b="1" dirty="0">
                <a:solidFill>
                  <a:srgbClr val="1A2B4A"/>
                </a:solidFill>
                <a:latin typeface="Calibri" pitchFamily="34" charset="0"/>
                <a:ea typeface="Calibri" pitchFamily="34" charset="-122"/>
                <a:cs typeface="Calibri" pitchFamily="34" charset="-120"/>
              </a:rPr>
              <a:t>Batch size:</a:t>
            </a:r>
            <a:pPr indent="0" marL="0">
              <a:spcAft>
                <a:spcPts val="200"/>
              </a:spcAft>
              <a:buNone/>
            </a:pPr>
            <a:r>
              <a:rPr lang="en-US" sz="1100" dirty="0">
                <a:solidFill>
                  <a:srgbClr val="4A5568"/>
                </a:solidFill>
                <a:latin typeface="Calibri" pitchFamily="34" charset="0"/>
                <a:ea typeface="Calibri" pitchFamily="34" charset="-122"/>
                <a:cs typeface="Calibri" pitchFamily="34" charset="-120"/>
              </a:rPr>
              <a:t>  64
</a:t>
            </a:r>
            <a:pPr indent="0" marL="0">
              <a:spcAft>
                <a:spcPts val="200"/>
              </a:spcAft>
              <a:buNone/>
            </a:pPr>
            <a:r>
              <a:rPr lang="en-US" sz="1100" b="1" dirty="0">
                <a:solidFill>
                  <a:srgbClr val="1A2B4A"/>
                </a:solidFill>
                <a:latin typeface="Calibri" pitchFamily="34" charset="0"/>
                <a:ea typeface="Calibri" pitchFamily="34" charset="-122"/>
                <a:cs typeface="Calibri" pitchFamily="34" charset="-120"/>
              </a:rPr>
              <a:t>Loss:</a:t>
            </a:r>
            <a:pPr indent="0" marL="0">
              <a:spcAft>
                <a:spcPts val="200"/>
              </a:spcAft>
              <a:buNone/>
            </a:pPr>
            <a:r>
              <a:rPr lang="en-US" sz="1100" dirty="0">
                <a:solidFill>
                  <a:srgbClr val="4A5568"/>
                </a:solidFill>
                <a:latin typeface="Calibri" pitchFamily="34" charset="0"/>
                <a:ea typeface="Calibri" pitchFamily="34" charset="-122"/>
                <a:cs typeface="Calibri" pitchFamily="34" charset="-120"/>
              </a:rPr>
              <a:t>  Categorical cross-entropy
</a:t>
            </a:r>
            <a:pPr indent="0" marL="0">
              <a:spcAft>
                <a:spcPts val="200"/>
              </a:spcAft>
              <a:buNone/>
            </a:pPr>
            <a:r>
              <a:rPr lang="en-US" sz="1100" b="1" dirty="0">
                <a:solidFill>
                  <a:srgbClr val="1A2B4A"/>
                </a:solidFill>
                <a:latin typeface="Calibri" pitchFamily="34" charset="0"/>
                <a:ea typeface="Calibri" pitchFamily="34" charset="-122"/>
                <a:cs typeface="Calibri" pitchFamily="34" charset="-120"/>
              </a:rPr>
              <a:t>Augmentation:</a:t>
            </a:r>
            <a:pPr indent="0" marL="0">
              <a:spcAft>
                <a:spcPts val="200"/>
              </a:spcAft>
              <a:buNone/>
            </a:pPr>
            <a:r>
              <a:rPr lang="en-US" sz="1100" dirty="0">
                <a:solidFill>
                  <a:srgbClr val="4A5568"/>
                </a:solidFill>
                <a:latin typeface="Calibri" pitchFamily="34" charset="0"/>
                <a:ea typeface="Calibri" pitchFamily="34" charset="-122"/>
                <a:cs typeface="Calibri" pitchFamily="34" charset="-120"/>
              </a:rPr>
              <a:t>  Flips · rotation ±15° · brightness ±20% · zoom ±10%
</a:t>
            </a:r>
            <a:pPr indent="0" marL="0">
              <a:spcAft>
                <a:spcPts val="200"/>
              </a:spcAft>
              <a:buNone/>
            </a:pPr>
            <a:r>
              <a:rPr lang="en-US" sz="1100" b="1" dirty="0">
                <a:solidFill>
                  <a:srgbClr val="3A8C7E"/>
                </a:solidFill>
                <a:latin typeface="Calibri" pitchFamily="34" charset="0"/>
                <a:ea typeface="Calibri" pitchFamily="34" charset="-122"/>
                <a:cs typeface="Calibri" pitchFamily="34" charset="-120"/>
              </a:rPr>
              <a:t>What happens:
</a:t>
            </a:r>
            <a:pPr indent="0" marL="0">
              <a:spcAft>
                <a:spcPts val="200"/>
              </a:spcAft>
              <a:buNone/>
            </a:pPr>
            <a:r>
              <a:rPr lang="en-US" sz="1100" dirty="0">
                <a:solidFill>
                  <a:srgbClr val="4A5568"/>
                </a:solidFill>
                <a:latin typeface="Calibri" pitchFamily="34" charset="0"/>
                <a:ea typeface="Calibri" pitchFamily="34" charset="-122"/>
                <a:cs typeface="Calibri" pitchFamily="34" charset="-120"/>
              </a:rPr>
              <a:t>MobileNetV2's convolutional weights are frozen. Only the new classification head (GlobalAveragePooling → Dense 128 ReLU → Dropout 0.3 → Dense 14 Softmax) learns. This adapts the output space to our 14 fruit-age classes without disturbing the pre-trained visual feature extractors.</a:t>
            </a:r>
            <a:endParaRPr lang="en-US" sz="1100" dirty="0"/>
          </a:p>
          <a:p>
            <a:pPr indent="0" marL="0">
              <a:spcAft>
                <a:spcPts val="200"/>
              </a:spcAft>
              <a:buNone/>
            </a:pPr>
            <a:endParaRPr lang="en-US" sz="1100" dirty="0"/>
          </a:p>
          <a:p>
            <a:pPr indent="0" marL="0">
              <a:spcAft>
                <a:spcPts val="200"/>
              </a:spcAft>
              <a:buNone/>
            </a:pPr>
            <a:r>
              <a:rPr lang="en-US" sz="1100" dirty="0">
                <a:solidFill>
                  <a:srgbClr val="4A5568"/>
                </a:solidFill>
                <a:latin typeface="Calibri" pitchFamily="34" charset="0"/>
                <a:ea typeface="Calibri" pitchFamily="34" charset="-122"/>
                <a:cs typeface="Calibri" pitchFamily="34" charset="-120"/>
              </a:rPr>
              <a:t>Converges in ~6 epochs. Val accuracy: ~0.72.</a:t>
            </a:r>
            <a:endParaRPr lang="en-US" sz="1100" dirty="0"/>
          </a:p>
        </p:txBody>
      </p:sp>
      <p:sp>
        <p:nvSpPr>
          <p:cNvPr id="41" name="Shape 39"/>
          <p:cNvSpPr/>
          <p:nvPr/>
        </p:nvSpPr>
        <p:spPr>
          <a:xfrm>
            <a:off x="4736592" y="1207008"/>
            <a:ext cx="4023360" cy="3218688"/>
          </a:xfrm>
          <a:prstGeom prst="roundRect">
            <a:avLst>
              <a:gd name="adj" fmla="val 3409"/>
            </a:avLst>
          </a:prstGeom>
          <a:solidFill>
            <a:srgbClr val="EDF5ED"/>
          </a:solidFill>
          <a:ln w="6350">
            <a:solidFill>
              <a:srgbClr val="1A2B4A">
                <a:alpha val="40000"/>
              </a:srgbClr>
            </a:solidFill>
            <a:prstDash val="solid"/>
          </a:ln>
          <a:effectLst>
            <a:outerShdw sx="100000" sy="100000" kx="0" ky="0" algn="bl" rotWithShape="0" blurRad="101600" dist="38100" dir="2700000">
              <a:srgbClr val="000000">
                <a:alpha val="10000"/>
              </a:srgbClr>
            </a:outerShdw>
          </a:effectLst>
        </p:spPr>
      </p:sp>
      <p:sp>
        <p:nvSpPr>
          <p:cNvPr id="42" name="Text 40"/>
          <p:cNvSpPr/>
          <p:nvPr/>
        </p:nvSpPr>
        <p:spPr>
          <a:xfrm>
            <a:off x="4901184" y="1280160"/>
            <a:ext cx="3749040" cy="292608"/>
          </a:xfrm>
          <a:prstGeom prst="rect">
            <a:avLst/>
          </a:prstGeom>
          <a:noFill/>
          <a:ln/>
        </p:spPr>
        <p:txBody>
          <a:bodyPr wrap="square" lIns="0" tIns="0" rIns="0" bIns="0" rtlCol="0" anchor="ctr"/>
          <a:lstStyle/>
          <a:p>
            <a:pPr indent="0" marL="0">
              <a:buNone/>
            </a:pPr>
            <a:r>
              <a:rPr lang="en-US" sz="1200" b="1" dirty="0">
                <a:solidFill>
                  <a:srgbClr val="1A2B4A"/>
                </a:solidFill>
                <a:latin typeface="Calibri" pitchFamily="34" charset="0"/>
                <a:ea typeface="Calibri" pitchFamily="34" charset="-122"/>
                <a:cs typeface="Calibri" pitchFamily="34" charset="-120"/>
              </a:rPr>
              <a:t>PHASE 2: Fine-Tuning — Top Layers Unfrozen</a:t>
            </a:r>
            <a:endParaRPr lang="en-US" sz="1200" dirty="0"/>
          </a:p>
        </p:txBody>
      </p:sp>
      <p:sp>
        <p:nvSpPr>
          <p:cNvPr id="43" name="Text 41"/>
          <p:cNvSpPr/>
          <p:nvPr/>
        </p:nvSpPr>
        <p:spPr>
          <a:xfrm>
            <a:off x="4901184" y="1609344"/>
            <a:ext cx="3767328" cy="2779776"/>
          </a:xfrm>
          <a:prstGeom prst="rect">
            <a:avLst/>
          </a:prstGeom>
          <a:noFill/>
          <a:ln/>
        </p:spPr>
        <p:txBody>
          <a:bodyPr wrap="square" lIns="0" tIns="0" rIns="0" bIns="0" rtlCol="0" anchor="t"/>
          <a:lstStyle/>
          <a:p>
            <a:pPr indent="0" marL="0">
              <a:spcAft>
                <a:spcPts val="200"/>
              </a:spcAft>
              <a:buNone/>
            </a:pPr>
            <a:r>
              <a:rPr lang="en-US" sz="1100" b="1" dirty="0">
                <a:solidFill>
                  <a:srgbClr val="1A2B4A"/>
                </a:solidFill>
                <a:latin typeface="Calibri" pitchFamily="34" charset="0"/>
                <a:ea typeface="Calibri" pitchFamily="34" charset="-122"/>
                <a:cs typeface="Calibri" pitchFamily="34" charset="-120"/>
              </a:rPr>
              <a:t>Epochs:</a:t>
            </a:r>
            <a:pPr indent="0" marL="0">
              <a:spcAft>
                <a:spcPts val="200"/>
              </a:spcAft>
              <a:buNone/>
            </a:pPr>
            <a:r>
              <a:rPr lang="en-US" sz="1100" dirty="0">
                <a:solidFill>
                  <a:srgbClr val="4A5568"/>
                </a:solidFill>
                <a:latin typeface="Calibri" pitchFamily="34" charset="0"/>
                <a:ea typeface="Calibri" pitchFamily="34" charset="-122"/>
                <a:cs typeface="Calibri" pitchFamily="34" charset="-120"/>
              </a:rPr>
              <a:t>  15 additional
</a:t>
            </a:r>
            <a:pPr indent="0" marL="0">
              <a:spcAft>
                <a:spcPts val="200"/>
              </a:spcAft>
              <a:buNone/>
            </a:pPr>
            <a:r>
              <a:rPr lang="en-US" sz="1100" b="1" dirty="0">
                <a:solidFill>
                  <a:srgbClr val="1A2B4A"/>
                </a:solidFill>
                <a:latin typeface="Calibri" pitchFamily="34" charset="0"/>
                <a:ea typeface="Calibri" pitchFamily="34" charset="-122"/>
                <a:cs typeface="Calibri" pitchFamily="34" charset="-120"/>
              </a:rPr>
              <a:t>Learning rate:</a:t>
            </a:r>
            <a:pPr indent="0" marL="0">
              <a:spcAft>
                <a:spcPts val="200"/>
              </a:spcAft>
              <a:buNone/>
            </a:pPr>
            <a:r>
              <a:rPr lang="en-US" sz="1100" dirty="0">
                <a:solidFill>
                  <a:srgbClr val="4A5568"/>
                </a:solidFill>
                <a:latin typeface="Calibri" pitchFamily="34" charset="0"/>
                <a:ea typeface="Calibri" pitchFamily="34" charset="-122"/>
                <a:cs typeface="Calibri" pitchFamily="34" charset="-120"/>
              </a:rPr>
              <a:t>  1×10⁻⁵ (Adam — very slow)
</a:t>
            </a:r>
            <a:pPr indent="0" marL="0">
              <a:spcAft>
                <a:spcPts val="200"/>
              </a:spcAft>
              <a:buNone/>
            </a:pPr>
            <a:r>
              <a:rPr lang="en-US" sz="1100" b="1" dirty="0">
                <a:solidFill>
                  <a:srgbClr val="1A2B4A"/>
                </a:solidFill>
                <a:latin typeface="Calibri" pitchFamily="34" charset="0"/>
                <a:ea typeface="Calibri" pitchFamily="34" charset="-122"/>
                <a:cs typeface="Calibri" pitchFamily="34" charset="-120"/>
              </a:rPr>
              <a:t>Batch size:</a:t>
            </a:r>
            <a:pPr indent="0" marL="0">
              <a:spcAft>
                <a:spcPts val="200"/>
              </a:spcAft>
              <a:buNone/>
            </a:pPr>
            <a:r>
              <a:rPr lang="en-US" sz="1100" dirty="0">
                <a:solidFill>
                  <a:srgbClr val="4A5568"/>
                </a:solidFill>
                <a:latin typeface="Calibri" pitchFamily="34" charset="0"/>
                <a:ea typeface="Calibri" pitchFamily="34" charset="-122"/>
                <a:cs typeface="Calibri" pitchFamily="34" charset="-120"/>
              </a:rPr>
              <a:t>  32 (reduced from 64 — OOM fix)
</a:t>
            </a:r>
            <a:pPr indent="0" marL="0">
              <a:spcAft>
                <a:spcPts val="200"/>
              </a:spcAft>
              <a:buNone/>
            </a:pPr>
            <a:r>
              <a:rPr lang="en-US" sz="1100" b="1" dirty="0">
                <a:solidFill>
                  <a:srgbClr val="1A2B4A"/>
                </a:solidFill>
                <a:latin typeface="Calibri" pitchFamily="34" charset="0"/>
                <a:ea typeface="Calibri" pitchFamily="34" charset="-122"/>
                <a:cs typeface="Calibri" pitchFamily="34" charset="-120"/>
              </a:rPr>
              <a:t>Layers unfrozen:</a:t>
            </a:r>
            <a:pPr indent="0" marL="0">
              <a:spcAft>
                <a:spcPts val="200"/>
              </a:spcAft>
              <a:buNone/>
            </a:pPr>
            <a:r>
              <a:rPr lang="en-US" sz="1100" dirty="0">
                <a:solidFill>
                  <a:srgbClr val="4A5568"/>
                </a:solidFill>
                <a:latin typeface="Calibri" pitchFamily="34" charset="0"/>
                <a:ea typeface="Calibri" pitchFamily="34" charset="-122"/>
                <a:cs typeface="Calibri" pitchFamily="34" charset="-120"/>
              </a:rPr>
              <a:t>  Top 30 of MobileNetV2 base
</a:t>
            </a:r>
            <a:pPr indent="0" marL="0">
              <a:spcAft>
                <a:spcPts val="200"/>
              </a:spcAft>
              <a:buNone/>
            </a:pPr>
            <a:r>
              <a:rPr lang="en-US" sz="1100" b="1" dirty="0">
                <a:solidFill>
                  <a:srgbClr val="3A8C7E"/>
                </a:solidFill>
                <a:latin typeface="Calibri" pitchFamily="34" charset="0"/>
                <a:ea typeface="Calibri" pitchFamily="34" charset="-122"/>
                <a:cs typeface="Calibri" pitchFamily="34" charset="-120"/>
              </a:rPr>
              <a:t>What happens:
</a:t>
            </a:r>
            <a:pPr indent="0" marL="0">
              <a:spcAft>
                <a:spcPts val="200"/>
              </a:spcAft>
              <a:buNone/>
            </a:pPr>
            <a:r>
              <a:rPr lang="en-US" sz="1100" dirty="0">
                <a:solidFill>
                  <a:srgbClr val="4A5568"/>
                </a:solidFill>
                <a:latin typeface="Calibri" pitchFamily="34" charset="0"/>
                <a:ea typeface="Calibri" pitchFamily="34" charset="-122"/>
                <a:cs typeface="Calibri" pitchFamily="34" charset="-120"/>
              </a:rPr>
              <a:t>The top convolutional layers adapt their feature representations toward fruit-specific visual patterns. The very small learning rate prevents catastrophic forgetting — the model retains its ImageNet knowledge while specialising.</a:t>
            </a:r>
            <a:endParaRPr lang="en-US" sz="1100" dirty="0"/>
          </a:p>
          <a:p>
            <a:pPr indent="0" marL="0">
              <a:spcAft>
                <a:spcPts val="200"/>
              </a:spcAft>
              <a:buNone/>
            </a:pPr>
            <a:endParaRPr lang="en-US" sz="1100" dirty="0"/>
          </a:p>
          <a:p>
            <a:pPr indent="0" marL="0">
              <a:spcAft>
                <a:spcPts val="200"/>
              </a:spcAft>
              <a:buNone/>
            </a:pPr>
            <a:r>
              <a:rPr lang="en-US" sz="1100" dirty="0">
                <a:solidFill>
                  <a:srgbClr val="4A5568"/>
                </a:solidFill>
                <a:latin typeface="Calibri" pitchFamily="34" charset="0"/>
                <a:ea typeface="Calibri" pitchFamily="34" charset="-122"/>
                <a:cs typeface="Calibri" pitchFamily="34" charset="-120"/>
              </a:rPr>
              <a:t>Reducing batch size from 64→32 was required: unfreezing activates gradient storage for each unfrozen layer, doubling GPU memory pressure. T4's 15 GB was insufficient at batch 64.</a:t>
            </a:r>
            <a:endParaRPr lang="en-US" sz="1100" dirty="0"/>
          </a:p>
          <a:p>
            <a:pPr indent="0" marL="0">
              <a:spcAft>
                <a:spcPts val="200"/>
              </a:spcAft>
              <a:buNone/>
            </a:pPr>
            <a:endParaRPr lang="en-US" sz="1100" dirty="0"/>
          </a:p>
          <a:p>
            <a:pPr indent="0" marL="0">
              <a:spcAft>
                <a:spcPts val="200"/>
              </a:spcAft>
              <a:buNone/>
            </a:pPr>
            <a:r>
              <a:rPr lang="en-US" sz="1100" dirty="0">
                <a:solidFill>
                  <a:srgbClr val="4A5568"/>
                </a:solidFill>
                <a:latin typeface="Calibri" pitchFamily="34" charset="0"/>
                <a:ea typeface="Calibri" pitchFamily="34" charset="-122"/>
                <a:cs typeface="Calibri" pitchFamily="34" charset="-120"/>
              </a:rPr>
              <a:t>Final val accuracy: 91.4%</a:t>
            </a:r>
            <a:endParaRPr lang="en-US" sz="1100" dirty="0"/>
          </a:p>
        </p:txBody>
      </p:sp>
      <p:sp>
        <p:nvSpPr>
          <p:cNvPr id="44" name="Shape 42"/>
          <p:cNvSpPr/>
          <p:nvPr/>
        </p:nvSpPr>
        <p:spPr>
          <a:xfrm>
            <a:off x="384048" y="4498848"/>
            <a:ext cx="8375904" cy="475488"/>
          </a:xfrm>
          <a:prstGeom prst="rect">
            <a:avLst/>
          </a:prstGeom>
          <a:solidFill>
            <a:srgbClr val="1A2B4A"/>
          </a:solidFill>
          <a:ln w="6350">
            <a:solidFill>
              <a:srgbClr val="1A2B4A">
                <a:alpha val="40000"/>
              </a:srgbClr>
            </a:solidFill>
            <a:prstDash val="solid"/>
          </a:ln>
          <a:effectLst>
            <a:outerShdw sx="100000" sy="100000" kx="0" ky="0" algn="bl" rotWithShape="0" blurRad="101600" dist="38100" dir="2700000">
              <a:srgbClr val="000000">
                <a:alpha val="10000"/>
              </a:srgbClr>
            </a:outerShdw>
          </a:effectLst>
        </p:spPr>
      </p:sp>
      <p:sp>
        <p:nvSpPr>
          <p:cNvPr id="45" name="Text 43"/>
          <p:cNvSpPr/>
          <p:nvPr/>
        </p:nvSpPr>
        <p:spPr>
          <a:xfrm>
            <a:off x="548640" y="4517136"/>
            <a:ext cx="8138160" cy="438912"/>
          </a:xfrm>
          <a:prstGeom prst="rect">
            <a:avLst/>
          </a:prstGeom>
          <a:noFill/>
          <a:ln/>
        </p:spPr>
        <p:txBody>
          <a:bodyPr wrap="square" lIns="0" tIns="0" rIns="0" bIns="0" rtlCol="0" anchor="ctr"/>
          <a:lstStyle/>
          <a:p>
            <a:pPr algn="ctr" indent="0" marL="0">
              <a:buNone/>
            </a:pPr>
            <a:r>
              <a:rPr lang="en-US" sz="1300" b="1" dirty="0">
                <a:solidFill>
                  <a:srgbClr val="3A8C7E"/>
                </a:solidFill>
                <a:latin typeface="Calibri" pitchFamily="34" charset="0"/>
                <a:ea typeface="Calibri" pitchFamily="34" charset="-122"/>
                <a:cs typeface="Calibri" pitchFamily="34" charset="-120"/>
              </a:rPr>
              <a:t>Top-1: 89.3%   ·   Top-3: 97.5%   ·   Val Accuracy: 91.4%   ·   End-to-end (20 imgs): 18/20 ✓   ·   Inference: 380 ms avg</a:t>
            </a:r>
            <a:endParaRPr lang="en-US" sz="13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EBEBEB"/>
        </a:solidFill>
      </p:bgPr>
    </p:bg>
    <p:spTree>
      <p:nvGrpSpPr>
        <p:cNvPr id="1" name=""/>
        <p:cNvGrpSpPr/>
        <p:nvPr/>
      </p:nvGrpSpPr>
      <p:grpSpPr>
        <a:xfrm>
          <a:off x="0" y="0"/>
          <a:ext cx="0" cy="0"/>
          <a:chOff x="0" y="0"/>
          <a:chExt cx="0" cy="0"/>
        </a:xfrm>
      </p:grpSpPr>
      <p:sp>
        <p:nvSpPr>
          <p:cNvPr id="2" name="Shape 0"/>
          <p:cNvSpPr/>
          <p:nvPr/>
        </p:nvSpPr>
        <p:spPr>
          <a:xfrm>
            <a:off x="8092440" y="274320"/>
            <a:ext cx="64008" cy="64008"/>
          </a:xfrm>
          <a:prstGeom prst="ellipse">
            <a:avLst/>
          </a:prstGeom>
          <a:solidFill>
            <a:srgbClr val="1A2B4A">
              <a:alpha val="25000"/>
            </a:srgbClr>
          </a:solidFill>
          <a:ln/>
        </p:spPr>
      </p:sp>
      <p:sp>
        <p:nvSpPr>
          <p:cNvPr id="3" name="Shape 1"/>
          <p:cNvSpPr/>
          <p:nvPr/>
        </p:nvSpPr>
        <p:spPr>
          <a:xfrm>
            <a:off x="8293608" y="274320"/>
            <a:ext cx="64008" cy="64008"/>
          </a:xfrm>
          <a:prstGeom prst="ellipse">
            <a:avLst/>
          </a:prstGeom>
          <a:solidFill>
            <a:srgbClr val="1A2B4A">
              <a:alpha val="25000"/>
            </a:srgbClr>
          </a:solidFill>
          <a:ln/>
        </p:spPr>
      </p:sp>
      <p:sp>
        <p:nvSpPr>
          <p:cNvPr id="4" name="Shape 2"/>
          <p:cNvSpPr/>
          <p:nvPr/>
        </p:nvSpPr>
        <p:spPr>
          <a:xfrm>
            <a:off x="8494776" y="274320"/>
            <a:ext cx="64008" cy="64008"/>
          </a:xfrm>
          <a:prstGeom prst="ellipse">
            <a:avLst/>
          </a:prstGeom>
          <a:solidFill>
            <a:srgbClr val="1A2B4A">
              <a:alpha val="25000"/>
            </a:srgbClr>
          </a:solidFill>
          <a:ln/>
        </p:spPr>
      </p:sp>
      <p:sp>
        <p:nvSpPr>
          <p:cNvPr id="5" name="Shape 3"/>
          <p:cNvSpPr/>
          <p:nvPr/>
        </p:nvSpPr>
        <p:spPr>
          <a:xfrm>
            <a:off x="8695944" y="274320"/>
            <a:ext cx="64008" cy="64008"/>
          </a:xfrm>
          <a:prstGeom prst="ellipse">
            <a:avLst/>
          </a:prstGeom>
          <a:solidFill>
            <a:srgbClr val="1A2B4A">
              <a:alpha val="25000"/>
            </a:srgbClr>
          </a:solidFill>
          <a:ln/>
        </p:spPr>
      </p:sp>
      <p:sp>
        <p:nvSpPr>
          <p:cNvPr id="6" name="Shape 4"/>
          <p:cNvSpPr/>
          <p:nvPr/>
        </p:nvSpPr>
        <p:spPr>
          <a:xfrm>
            <a:off x="8897112" y="274320"/>
            <a:ext cx="64008" cy="64008"/>
          </a:xfrm>
          <a:prstGeom prst="ellipse">
            <a:avLst/>
          </a:prstGeom>
          <a:solidFill>
            <a:srgbClr val="1A2B4A">
              <a:alpha val="25000"/>
            </a:srgbClr>
          </a:solidFill>
          <a:ln/>
        </p:spPr>
      </p:sp>
      <p:sp>
        <p:nvSpPr>
          <p:cNvPr id="7" name="Shape 5"/>
          <p:cNvSpPr/>
          <p:nvPr/>
        </p:nvSpPr>
        <p:spPr>
          <a:xfrm>
            <a:off x="8092440" y="475488"/>
            <a:ext cx="64008" cy="64008"/>
          </a:xfrm>
          <a:prstGeom prst="ellipse">
            <a:avLst/>
          </a:prstGeom>
          <a:solidFill>
            <a:srgbClr val="1A2B4A">
              <a:alpha val="25000"/>
            </a:srgbClr>
          </a:solidFill>
          <a:ln/>
        </p:spPr>
      </p:sp>
      <p:sp>
        <p:nvSpPr>
          <p:cNvPr id="8" name="Shape 6"/>
          <p:cNvSpPr/>
          <p:nvPr/>
        </p:nvSpPr>
        <p:spPr>
          <a:xfrm>
            <a:off x="8293608" y="475488"/>
            <a:ext cx="64008" cy="64008"/>
          </a:xfrm>
          <a:prstGeom prst="ellipse">
            <a:avLst/>
          </a:prstGeom>
          <a:solidFill>
            <a:srgbClr val="1A2B4A">
              <a:alpha val="25000"/>
            </a:srgbClr>
          </a:solidFill>
          <a:ln/>
        </p:spPr>
      </p:sp>
      <p:sp>
        <p:nvSpPr>
          <p:cNvPr id="9" name="Shape 7"/>
          <p:cNvSpPr/>
          <p:nvPr/>
        </p:nvSpPr>
        <p:spPr>
          <a:xfrm>
            <a:off x="8494776" y="475488"/>
            <a:ext cx="64008" cy="64008"/>
          </a:xfrm>
          <a:prstGeom prst="ellipse">
            <a:avLst/>
          </a:prstGeom>
          <a:solidFill>
            <a:srgbClr val="1A2B4A">
              <a:alpha val="25000"/>
            </a:srgbClr>
          </a:solidFill>
          <a:ln/>
        </p:spPr>
      </p:sp>
      <p:sp>
        <p:nvSpPr>
          <p:cNvPr id="10" name="Shape 8"/>
          <p:cNvSpPr/>
          <p:nvPr/>
        </p:nvSpPr>
        <p:spPr>
          <a:xfrm>
            <a:off x="8695944" y="475488"/>
            <a:ext cx="64008" cy="64008"/>
          </a:xfrm>
          <a:prstGeom prst="ellipse">
            <a:avLst/>
          </a:prstGeom>
          <a:solidFill>
            <a:srgbClr val="1A2B4A">
              <a:alpha val="25000"/>
            </a:srgbClr>
          </a:solidFill>
          <a:ln/>
        </p:spPr>
      </p:sp>
      <p:sp>
        <p:nvSpPr>
          <p:cNvPr id="11" name="Shape 9"/>
          <p:cNvSpPr/>
          <p:nvPr/>
        </p:nvSpPr>
        <p:spPr>
          <a:xfrm>
            <a:off x="8897112" y="475488"/>
            <a:ext cx="64008" cy="64008"/>
          </a:xfrm>
          <a:prstGeom prst="ellipse">
            <a:avLst/>
          </a:prstGeom>
          <a:solidFill>
            <a:srgbClr val="1A2B4A">
              <a:alpha val="25000"/>
            </a:srgbClr>
          </a:solidFill>
          <a:ln/>
        </p:spPr>
      </p:sp>
      <p:sp>
        <p:nvSpPr>
          <p:cNvPr id="12" name="Shape 10"/>
          <p:cNvSpPr/>
          <p:nvPr/>
        </p:nvSpPr>
        <p:spPr>
          <a:xfrm>
            <a:off x="8092440" y="676656"/>
            <a:ext cx="64008" cy="64008"/>
          </a:xfrm>
          <a:prstGeom prst="ellipse">
            <a:avLst/>
          </a:prstGeom>
          <a:solidFill>
            <a:srgbClr val="1A2B4A">
              <a:alpha val="25000"/>
            </a:srgbClr>
          </a:solidFill>
          <a:ln/>
        </p:spPr>
      </p:sp>
      <p:sp>
        <p:nvSpPr>
          <p:cNvPr id="13" name="Shape 11"/>
          <p:cNvSpPr/>
          <p:nvPr/>
        </p:nvSpPr>
        <p:spPr>
          <a:xfrm>
            <a:off x="8293608" y="676656"/>
            <a:ext cx="64008" cy="64008"/>
          </a:xfrm>
          <a:prstGeom prst="ellipse">
            <a:avLst/>
          </a:prstGeom>
          <a:solidFill>
            <a:srgbClr val="1A2B4A">
              <a:alpha val="25000"/>
            </a:srgbClr>
          </a:solidFill>
          <a:ln/>
        </p:spPr>
      </p:sp>
      <p:sp>
        <p:nvSpPr>
          <p:cNvPr id="14" name="Shape 12"/>
          <p:cNvSpPr/>
          <p:nvPr/>
        </p:nvSpPr>
        <p:spPr>
          <a:xfrm>
            <a:off x="8494776" y="676656"/>
            <a:ext cx="64008" cy="64008"/>
          </a:xfrm>
          <a:prstGeom prst="ellipse">
            <a:avLst/>
          </a:prstGeom>
          <a:solidFill>
            <a:srgbClr val="1A2B4A">
              <a:alpha val="25000"/>
            </a:srgbClr>
          </a:solidFill>
          <a:ln/>
        </p:spPr>
      </p:sp>
      <p:sp>
        <p:nvSpPr>
          <p:cNvPr id="15" name="Shape 13"/>
          <p:cNvSpPr/>
          <p:nvPr/>
        </p:nvSpPr>
        <p:spPr>
          <a:xfrm>
            <a:off x="8695944" y="676656"/>
            <a:ext cx="64008" cy="64008"/>
          </a:xfrm>
          <a:prstGeom prst="ellipse">
            <a:avLst/>
          </a:prstGeom>
          <a:solidFill>
            <a:srgbClr val="1A2B4A">
              <a:alpha val="25000"/>
            </a:srgbClr>
          </a:solidFill>
          <a:ln/>
        </p:spPr>
      </p:sp>
      <p:sp>
        <p:nvSpPr>
          <p:cNvPr id="16" name="Shape 14"/>
          <p:cNvSpPr/>
          <p:nvPr/>
        </p:nvSpPr>
        <p:spPr>
          <a:xfrm>
            <a:off x="8897112" y="676656"/>
            <a:ext cx="64008" cy="64008"/>
          </a:xfrm>
          <a:prstGeom prst="ellipse">
            <a:avLst/>
          </a:prstGeom>
          <a:solidFill>
            <a:srgbClr val="1A2B4A">
              <a:alpha val="25000"/>
            </a:srgbClr>
          </a:solidFill>
          <a:ln/>
        </p:spPr>
      </p:sp>
      <p:sp>
        <p:nvSpPr>
          <p:cNvPr id="17" name="Shape 15"/>
          <p:cNvSpPr/>
          <p:nvPr/>
        </p:nvSpPr>
        <p:spPr>
          <a:xfrm>
            <a:off x="8092440" y="877824"/>
            <a:ext cx="64008" cy="64008"/>
          </a:xfrm>
          <a:prstGeom prst="ellipse">
            <a:avLst/>
          </a:prstGeom>
          <a:solidFill>
            <a:srgbClr val="1A2B4A">
              <a:alpha val="25000"/>
            </a:srgbClr>
          </a:solidFill>
          <a:ln/>
        </p:spPr>
      </p:sp>
      <p:sp>
        <p:nvSpPr>
          <p:cNvPr id="18" name="Shape 16"/>
          <p:cNvSpPr/>
          <p:nvPr/>
        </p:nvSpPr>
        <p:spPr>
          <a:xfrm>
            <a:off x="8293608" y="877824"/>
            <a:ext cx="64008" cy="64008"/>
          </a:xfrm>
          <a:prstGeom prst="ellipse">
            <a:avLst/>
          </a:prstGeom>
          <a:solidFill>
            <a:srgbClr val="1A2B4A">
              <a:alpha val="25000"/>
            </a:srgbClr>
          </a:solidFill>
          <a:ln/>
        </p:spPr>
      </p:sp>
      <p:sp>
        <p:nvSpPr>
          <p:cNvPr id="19" name="Shape 17"/>
          <p:cNvSpPr/>
          <p:nvPr/>
        </p:nvSpPr>
        <p:spPr>
          <a:xfrm>
            <a:off x="8494776" y="877824"/>
            <a:ext cx="64008" cy="64008"/>
          </a:xfrm>
          <a:prstGeom prst="ellipse">
            <a:avLst/>
          </a:prstGeom>
          <a:solidFill>
            <a:srgbClr val="1A2B4A">
              <a:alpha val="25000"/>
            </a:srgbClr>
          </a:solidFill>
          <a:ln/>
        </p:spPr>
      </p:sp>
      <p:sp>
        <p:nvSpPr>
          <p:cNvPr id="20" name="Shape 18"/>
          <p:cNvSpPr/>
          <p:nvPr/>
        </p:nvSpPr>
        <p:spPr>
          <a:xfrm>
            <a:off x="8695944" y="877824"/>
            <a:ext cx="64008" cy="64008"/>
          </a:xfrm>
          <a:prstGeom prst="ellipse">
            <a:avLst/>
          </a:prstGeom>
          <a:solidFill>
            <a:srgbClr val="1A2B4A">
              <a:alpha val="25000"/>
            </a:srgbClr>
          </a:solidFill>
          <a:ln/>
        </p:spPr>
      </p:sp>
      <p:sp>
        <p:nvSpPr>
          <p:cNvPr id="21" name="Shape 19"/>
          <p:cNvSpPr/>
          <p:nvPr/>
        </p:nvSpPr>
        <p:spPr>
          <a:xfrm>
            <a:off x="8897112" y="877824"/>
            <a:ext cx="64008" cy="64008"/>
          </a:xfrm>
          <a:prstGeom prst="ellipse">
            <a:avLst/>
          </a:prstGeom>
          <a:solidFill>
            <a:srgbClr val="1A2B4A">
              <a:alpha val="25000"/>
            </a:srgbClr>
          </a:solidFill>
          <a:ln/>
        </p:spPr>
      </p:sp>
      <p:sp>
        <p:nvSpPr>
          <p:cNvPr id="22" name="Shape 20"/>
          <p:cNvSpPr/>
          <p:nvPr/>
        </p:nvSpPr>
        <p:spPr>
          <a:xfrm>
            <a:off x="8092440" y="1078992"/>
            <a:ext cx="64008" cy="64008"/>
          </a:xfrm>
          <a:prstGeom prst="ellipse">
            <a:avLst/>
          </a:prstGeom>
          <a:solidFill>
            <a:srgbClr val="1A2B4A">
              <a:alpha val="25000"/>
            </a:srgbClr>
          </a:solidFill>
          <a:ln/>
        </p:spPr>
      </p:sp>
      <p:sp>
        <p:nvSpPr>
          <p:cNvPr id="23" name="Shape 21"/>
          <p:cNvSpPr/>
          <p:nvPr/>
        </p:nvSpPr>
        <p:spPr>
          <a:xfrm>
            <a:off x="8293608" y="1078992"/>
            <a:ext cx="64008" cy="64008"/>
          </a:xfrm>
          <a:prstGeom prst="ellipse">
            <a:avLst/>
          </a:prstGeom>
          <a:solidFill>
            <a:srgbClr val="1A2B4A">
              <a:alpha val="25000"/>
            </a:srgbClr>
          </a:solidFill>
          <a:ln/>
        </p:spPr>
      </p:sp>
      <p:sp>
        <p:nvSpPr>
          <p:cNvPr id="24" name="Shape 22"/>
          <p:cNvSpPr/>
          <p:nvPr/>
        </p:nvSpPr>
        <p:spPr>
          <a:xfrm>
            <a:off x="8494776" y="1078992"/>
            <a:ext cx="64008" cy="64008"/>
          </a:xfrm>
          <a:prstGeom prst="ellipse">
            <a:avLst/>
          </a:prstGeom>
          <a:solidFill>
            <a:srgbClr val="1A2B4A">
              <a:alpha val="25000"/>
            </a:srgbClr>
          </a:solidFill>
          <a:ln/>
        </p:spPr>
      </p:sp>
      <p:sp>
        <p:nvSpPr>
          <p:cNvPr id="25" name="Shape 23"/>
          <p:cNvSpPr/>
          <p:nvPr/>
        </p:nvSpPr>
        <p:spPr>
          <a:xfrm>
            <a:off x="8695944" y="1078992"/>
            <a:ext cx="64008" cy="64008"/>
          </a:xfrm>
          <a:prstGeom prst="ellipse">
            <a:avLst/>
          </a:prstGeom>
          <a:solidFill>
            <a:srgbClr val="1A2B4A">
              <a:alpha val="25000"/>
            </a:srgbClr>
          </a:solidFill>
          <a:ln/>
        </p:spPr>
      </p:sp>
      <p:sp>
        <p:nvSpPr>
          <p:cNvPr id="26" name="Shape 24"/>
          <p:cNvSpPr/>
          <p:nvPr/>
        </p:nvSpPr>
        <p:spPr>
          <a:xfrm>
            <a:off x="8897112" y="1078992"/>
            <a:ext cx="64008" cy="64008"/>
          </a:xfrm>
          <a:prstGeom prst="ellipse">
            <a:avLst/>
          </a:prstGeom>
          <a:solidFill>
            <a:srgbClr val="1A2B4A">
              <a:alpha val="25000"/>
            </a:srgbClr>
          </a:solidFill>
          <a:ln/>
        </p:spPr>
      </p:sp>
      <p:sp>
        <p:nvSpPr>
          <p:cNvPr id="27" name="Shape 25"/>
          <p:cNvSpPr/>
          <p:nvPr/>
        </p:nvSpPr>
        <p:spPr>
          <a:xfrm>
            <a:off x="-457200" y="1828800"/>
            <a:ext cx="1828800" cy="1828800"/>
          </a:xfrm>
          <a:prstGeom prst="ellipse">
            <a:avLst/>
          </a:prstGeom>
          <a:ln w="19050">
            <a:solidFill>
              <a:srgbClr val="1A2B4A">
                <a:alpha val="18000"/>
              </a:srgbClr>
            </a:solidFill>
            <a:prstDash val="solid"/>
          </a:ln>
        </p:spPr>
      </p:sp>
      <p:sp>
        <p:nvSpPr>
          <p:cNvPr id="28" name="Shape 26"/>
          <p:cNvSpPr/>
          <p:nvPr/>
        </p:nvSpPr>
        <p:spPr>
          <a:xfrm>
            <a:off x="-155448" y="2130552"/>
            <a:ext cx="1225296" cy="1225296"/>
          </a:xfrm>
          <a:prstGeom prst="ellipse">
            <a:avLst/>
          </a:prstGeom>
          <a:ln w="19050">
            <a:solidFill>
              <a:srgbClr val="3B5FA0">
                <a:alpha val="25000"/>
              </a:srgbClr>
            </a:solidFill>
            <a:prstDash val="solid"/>
          </a:ln>
        </p:spPr>
      </p:sp>
      <p:sp>
        <p:nvSpPr>
          <p:cNvPr id="29" name="Shape 27"/>
          <p:cNvSpPr/>
          <p:nvPr/>
        </p:nvSpPr>
        <p:spPr>
          <a:xfrm>
            <a:off x="109728" y="2395728"/>
            <a:ext cx="694944" cy="694944"/>
          </a:xfrm>
          <a:prstGeom prst="ellipse">
            <a:avLst/>
          </a:prstGeom>
          <a:ln w="19050">
            <a:solidFill>
              <a:srgbClr val="3A8C7E">
                <a:alpha val="32000"/>
              </a:srgbClr>
            </a:solidFill>
            <a:prstDash val="solid"/>
          </a:ln>
        </p:spPr>
      </p:sp>
      <p:sp>
        <p:nvSpPr>
          <p:cNvPr id="30" name="Text 28"/>
          <p:cNvSpPr/>
          <p:nvPr/>
        </p:nvSpPr>
        <p:spPr>
          <a:xfrm>
            <a:off x="411480" y="292608"/>
            <a:ext cx="8321040" cy="530352"/>
          </a:xfrm>
          <a:prstGeom prst="rect">
            <a:avLst/>
          </a:prstGeom>
          <a:noFill/>
          <a:ln/>
        </p:spPr>
        <p:txBody>
          <a:bodyPr wrap="square" lIns="0" tIns="0" rIns="0" bIns="0" rtlCol="0" anchor="ctr"/>
          <a:lstStyle/>
          <a:p>
            <a:pPr algn="l" indent="0" marL="0">
              <a:buNone/>
            </a:pPr>
            <a:r>
              <a:rPr lang="en-US" sz="2800" b="1" dirty="0">
                <a:solidFill>
                  <a:srgbClr val="1A2B4A"/>
                </a:solidFill>
                <a:latin typeface="Cambria" pitchFamily="34" charset="0"/>
                <a:ea typeface="Cambria" pitchFamily="34" charset="-122"/>
                <a:cs typeface="Cambria" pitchFamily="34" charset="-120"/>
              </a:rPr>
              <a:t>System Architecture</a:t>
            </a:r>
            <a:endParaRPr lang="en-US" sz="2800" dirty="0"/>
          </a:p>
        </p:txBody>
      </p:sp>
      <p:sp>
        <p:nvSpPr>
          <p:cNvPr id="31" name="Text 29"/>
          <p:cNvSpPr/>
          <p:nvPr/>
        </p:nvSpPr>
        <p:spPr>
          <a:xfrm>
            <a:off x="411480" y="841248"/>
            <a:ext cx="8321040" cy="329184"/>
          </a:xfrm>
          <a:prstGeom prst="rect">
            <a:avLst/>
          </a:prstGeom>
          <a:noFill/>
          <a:ln/>
        </p:spPr>
        <p:txBody>
          <a:bodyPr wrap="square" lIns="0" tIns="0" rIns="0" bIns="0" rtlCol="0" anchor="ctr"/>
          <a:lstStyle/>
          <a:p>
            <a:pPr algn="l" indent="0" marL="0">
              <a:buNone/>
            </a:pPr>
            <a:r>
              <a:rPr lang="en-US" sz="1400" b="1" dirty="0">
                <a:solidFill>
                  <a:srgbClr val="3A8C7E"/>
                </a:solidFill>
                <a:latin typeface="Calibri" pitchFamily="34" charset="0"/>
                <a:ea typeface="Calibri" pitchFamily="34" charset="-122"/>
                <a:cs typeface="Calibri" pitchFamily="34" charset="-120"/>
              </a:rPr>
              <a:t>Seven-Layer Clinical Decision Support Pipeline</a:t>
            </a:r>
            <a:endParaRPr lang="en-US" sz="1400" dirty="0"/>
          </a:p>
        </p:txBody>
      </p:sp>
      <p:sp>
        <p:nvSpPr>
          <p:cNvPr id="32" name="Shape 30"/>
          <p:cNvSpPr/>
          <p:nvPr/>
        </p:nvSpPr>
        <p:spPr>
          <a:xfrm>
            <a:off x="411480" y="868680"/>
            <a:ext cx="8229600" cy="0"/>
          </a:xfrm>
          <a:prstGeom prst="line">
            <a:avLst/>
          </a:prstGeom>
          <a:noFill/>
          <a:ln w="19050">
            <a:solidFill>
              <a:srgbClr val="3A8C7E">
                <a:alpha val="60000"/>
              </a:srgbClr>
            </a:solidFill>
            <a:prstDash val="solid"/>
          </a:ln>
        </p:spPr>
      </p:sp>
      <p:sp>
        <p:nvSpPr>
          <p:cNvPr id="33" name="Shape 31"/>
          <p:cNvSpPr/>
          <p:nvPr/>
        </p:nvSpPr>
        <p:spPr>
          <a:xfrm>
            <a:off x="411480" y="950976"/>
            <a:ext cx="8229600" cy="0"/>
          </a:xfrm>
          <a:prstGeom prst="line">
            <a:avLst/>
          </a:prstGeom>
          <a:noFill/>
          <a:ln w="10160">
            <a:solidFill>
              <a:srgbClr val="1A2B4A">
                <a:alpha val="45000"/>
              </a:srgbClr>
            </a:solidFill>
            <a:prstDash val="solid"/>
          </a:ln>
        </p:spPr>
      </p:sp>
      <p:sp>
        <p:nvSpPr>
          <p:cNvPr id="34" name="Shape 32"/>
          <p:cNvSpPr/>
          <p:nvPr/>
        </p:nvSpPr>
        <p:spPr>
          <a:xfrm>
            <a:off x="1371600" y="1024128"/>
            <a:ext cx="6400800" cy="438912"/>
          </a:xfrm>
          <a:prstGeom prst="roundRect">
            <a:avLst>
              <a:gd name="adj" fmla="val 16667"/>
            </a:avLst>
          </a:prstGeom>
          <a:solidFill>
            <a:srgbClr val="3B5FA0"/>
          </a:solidFill>
          <a:ln w="12700">
            <a:solidFill>
              <a:srgbClr val="3B5FA0"/>
            </a:solidFill>
            <a:prstDash val="solid"/>
          </a:ln>
          <a:effectLst>
            <a:outerShdw sx="100000" sy="100000" kx="0" ky="0" algn="bl" rotWithShape="0" blurRad="101600" dist="38100" dir="2700000">
              <a:srgbClr val="000000">
                <a:alpha val="10000"/>
              </a:srgbClr>
            </a:outerShdw>
          </a:effectLst>
        </p:spPr>
      </p:sp>
      <p:sp>
        <p:nvSpPr>
          <p:cNvPr id="35" name="Text 33"/>
          <p:cNvSpPr/>
          <p:nvPr/>
        </p:nvSpPr>
        <p:spPr>
          <a:xfrm>
            <a:off x="1481328" y="1060704"/>
            <a:ext cx="6217920" cy="201168"/>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PATIENT / USER</a:t>
            </a:r>
            <a:endParaRPr lang="en-US" sz="1150" dirty="0"/>
          </a:p>
        </p:txBody>
      </p:sp>
      <p:sp>
        <p:nvSpPr>
          <p:cNvPr id="36" name="Text 34"/>
          <p:cNvSpPr/>
          <p:nvPr/>
        </p:nvSpPr>
        <p:spPr>
          <a:xfrm>
            <a:off x="1481328" y="1261872"/>
            <a:ext cx="6217920" cy="164592"/>
          </a:xfrm>
          <a:prstGeom prst="rect">
            <a:avLst/>
          </a:prstGeom>
          <a:noFill/>
          <a:ln/>
        </p:spPr>
        <p:txBody>
          <a:bodyPr wrap="square" lIns="0" tIns="0" rIns="0" bIns="0" rtlCol="0" anchor="ctr"/>
          <a:lstStyle/>
          <a:p>
            <a:pPr indent="0" marL="0">
              <a:buNone/>
            </a:pPr>
            <a:r>
              <a:rPr lang="en-US" sz="950" dirty="0">
                <a:solidFill>
                  <a:srgbClr val="D1EEE9"/>
                </a:solidFill>
                <a:latin typeface="Calibri" pitchFamily="34" charset="0"/>
                <a:ea typeface="Calibri" pitchFamily="34" charset="-122"/>
                <a:cs typeface="Calibri" pitchFamily="34" charset="-120"/>
              </a:rPr>
              <a:t>Mobile browser or installed PWA</a:t>
            </a:r>
            <a:endParaRPr lang="en-US" sz="950" dirty="0"/>
          </a:p>
        </p:txBody>
      </p:sp>
      <p:sp>
        <p:nvSpPr>
          <p:cNvPr id="37" name="Shape 35"/>
          <p:cNvSpPr/>
          <p:nvPr/>
        </p:nvSpPr>
        <p:spPr>
          <a:xfrm>
            <a:off x="4562856" y="1463040"/>
            <a:ext cx="0" cy="64008"/>
          </a:xfrm>
          <a:prstGeom prst="line">
            <a:avLst/>
          </a:prstGeom>
          <a:noFill/>
          <a:ln w="19050">
            <a:solidFill>
              <a:srgbClr val="3A8C7E"/>
            </a:solidFill>
            <a:prstDash val="solid"/>
          </a:ln>
        </p:spPr>
      </p:sp>
      <p:sp>
        <p:nvSpPr>
          <p:cNvPr id="38" name="Shape 36"/>
          <p:cNvSpPr/>
          <p:nvPr/>
        </p:nvSpPr>
        <p:spPr>
          <a:xfrm>
            <a:off x="1371600" y="1527048"/>
            <a:ext cx="6400800" cy="438912"/>
          </a:xfrm>
          <a:prstGeom prst="roundRect">
            <a:avLst>
              <a:gd name="adj" fmla="val 16667"/>
            </a:avLst>
          </a:prstGeom>
          <a:solidFill>
            <a:srgbClr val="F4F7F9"/>
          </a:solidFill>
          <a:ln w="12700">
            <a:solidFill>
              <a:srgbClr val="CBD5E1"/>
            </a:solidFill>
            <a:prstDash val="solid"/>
          </a:ln>
          <a:effectLst>
            <a:outerShdw sx="100000" sy="100000" kx="0" ky="0" algn="bl" rotWithShape="0" blurRad="101600" dist="38100" dir="2700000">
              <a:srgbClr val="000000">
                <a:alpha val="10000"/>
              </a:srgbClr>
            </a:outerShdw>
          </a:effectLst>
        </p:spPr>
      </p:sp>
      <p:sp>
        <p:nvSpPr>
          <p:cNvPr id="39" name="Text 37"/>
          <p:cNvSpPr/>
          <p:nvPr/>
        </p:nvSpPr>
        <p:spPr>
          <a:xfrm>
            <a:off x="1481328" y="1563624"/>
            <a:ext cx="6217920" cy="201168"/>
          </a:xfrm>
          <a:prstGeom prst="rect">
            <a:avLst/>
          </a:prstGeom>
          <a:noFill/>
          <a:ln/>
        </p:spPr>
        <p:txBody>
          <a:bodyPr wrap="square" lIns="0" tIns="0" rIns="0" bIns="0" rtlCol="0" anchor="ctr"/>
          <a:lstStyle/>
          <a:p>
            <a:pPr indent="0" marL="0">
              <a:buNone/>
            </a:pPr>
            <a:r>
              <a:rPr lang="en-US" sz="1150" b="1" dirty="0">
                <a:solidFill>
                  <a:srgbClr val="1A2B4A"/>
                </a:solidFill>
                <a:latin typeface="Calibri" pitchFamily="34" charset="0"/>
                <a:ea typeface="Calibri" pitchFamily="34" charset="-122"/>
                <a:cs typeface="Calibri" pitchFamily="34" charset="-120"/>
              </a:rPr>
              <a:t>1  INPUT LAYER</a:t>
            </a:r>
            <a:endParaRPr lang="en-US" sz="1150" dirty="0"/>
          </a:p>
        </p:txBody>
      </p:sp>
      <p:sp>
        <p:nvSpPr>
          <p:cNvPr id="40" name="Text 38"/>
          <p:cNvSpPr/>
          <p:nvPr/>
        </p:nvSpPr>
        <p:spPr>
          <a:xfrm>
            <a:off x="1481328" y="1764792"/>
            <a:ext cx="6217920" cy="164592"/>
          </a:xfrm>
          <a:prstGeom prst="rect">
            <a:avLst/>
          </a:prstGeom>
          <a:noFill/>
          <a:ln/>
        </p:spPr>
        <p:txBody>
          <a:bodyPr wrap="square" lIns="0" tIns="0" rIns="0" bIns="0" rtlCol="0" anchor="ctr"/>
          <a:lstStyle/>
          <a:p>
            <a:pPr indent="0" marL="0">
              <a:buNone/>
            </a:pPr>
            <a:r>
              <a:rPr lang="en-US" sz="950" dirty="0">
                <a:solidFill>
                  <a:srgbClr val="4A5568"/>
                </a:solidFill>
                <a:latin typeface="Calibri" pitchFamily="34" charset="0"/>
                <a:ea typeface="Calibri" pitchFamily="34" charset="-122"/>
                <a:cs typeface="Calibri" pitchFamily="34" charset="-120"/>
              </a:rPr>
              <a:t>10 fruit features entered via React form</a:t>
            </a:r>
            <a:endParaRPr lang="en-US" sz="950" dirty="0"/>
          </a:p>
        </p:txBody>
      </p:sp>
      <p:sp>
        <p:nvSpPr>
          <p:cNvPr id="41" name="Shape 39"/>
          <p:cNvSpPr/>
          <p:nvPr/>
        </p:nvSpPr>
        <p:spPr>
          <a:xfrm>
            <a:off x="4562856" y="1965960"/>
            <a:ext cx="0" cy="64008"/>
          </a:xfrm>
          <a:prstGeom prst="line">
            <a:avLst/>
          </a:prstGeom>
          <a:noFill/>
          <a:ln w="19050">
            <a:solidFill>
              <a:srgbClr val="3A8C7E"/>
            </a:solidFill>
            <a:prstDash val="solid"/>
          </a:ln>
        </p:spPr>
      </p:sp>
      <p:sp>
        <p:nvSpPr>
          <p:cNvPr id="42" name="Shape 40"/>
          <p:cNvSpPr/>
          <p:nvPr/>
        </p:nvSpPr>
        <p:spPr>
          <a:xfrm>
            <a:off x="1371600" y="2029968"/>
            <a:ext cx="6400800" cy="438912"/>
          </a:xfrm>
          <a:prstGeom prst="roundRect">
            <a:avLst>
              <a:gd name="adj" fmla="val 16667"/>
            </a:avLst>
          </a:prstGeom>
          <a:solidFill>
            <a:srgbClr val="F4F7F9"/>
          </a:solidFill>
          <a:ln w="12700">
            <a:solidFill>
              <a:srgbClr val="CBD5E1"/>
            </a:solidFill>
            <a:prstDash val="solid"/>
          </a:ln>
          <a:effectLst>
            <a:outerShdw sx="100000" sy="100000" kx="0" ky="0" algn="bl" rotWithShape="0" blurRad="101600" dist="38100" dir="2700000">
              <a:srgbClr val="000000">
                <a:alpha val="10000"/>
              </a:srgbClr>
            </a:outerShdw>
          </a:effectLst>
        </p:spPr>
      </p:sp>
      <p:sp>
        <p:nvSpPr>
          <p:cNvPr id="43" name="Text 41"/>
          <p:cNvSpPr/>
          <p:nvPr/>
        </p:nvSpPr>
        <p:spPr>
          <a:xfrm>
            <a:off x="1481328" y="2066544"/>
            <a:ext cx="6217920" cy="201168"/>
          </a:xfrm>
          <a:prstGeom prst="rect">
            <a:avLst/>
          </a:prstGeom>
          <a:noFill/>
          <a:ln/>
        </p:spPr>
        <p:txBody>
          <a:bodyPr wrap="square" lIns="0" tIns="0" rIns="0" bIns="0" rtlCol="0" anchor="ctr"/>
          <a:lstStyle/>
          <a:p>
            <a:pPr indent="0" marL="0">
              <a:buNone/>
            </a:pPr>
            <a:r>
              <a:rPr lang="en-US" sz="1150" b="1" dirty="0">
                <a:solidFill>
                  <a:srgbClr val="1A2B4A"/>
                </a:solidFill>
                <a:latin typeface="Calibri" pitchFamily="34" charset="0"/>
                <a:ea typeface="Calibri" pitchFamily="34" charset="-122"/>
                <a:cs typeface="Calibri" pitchFamily="34" charset="-120"/>
              </a:rPr>
              <a:t>2  PREPROCESSING</a:t>
            </a:r>
            <a:endParaRPr lang="en-US" sz="1150" dirty="0"/>
          </a:p>
        </p:txBody>
      </p:sp>
      <p:sp>
        <p:nvSpPr>
          <p:cNvPr id="44" name="Text 42"/>
          <p:cNvSpPr/>
          <p:nvPr/>
        </p:nvSpPr>
        <p:spPr>
          <a:xfrm>
            <a:off x="1481328" y="2267712"/>
            <a:ext cx="6217920" cy="164592"/>
          </a:xfrm>
          <a:prstGeom prst="rect">
            <a:avLst/>
          </a:prstGeom>
          <a:noFill/>
          <a:ln/>
        </p:spPr>
        <p:txBody>
          <a:bodyPr wrap="square" lIns="0" tIns="0" rIns="0" bIns="0" rtlCol="0" anchor="ctr"/>
          <a:lstStyle/>
          <a:p>
            <a:pPr indent="0" marL="0">
              <a:buNone/>
            </a:pPr>
            <a:r>
              <a:rPr lang="en-US" sz="950" dirty="0">
                <a:solidFill>
                  <a:srgbClr val="4A5568"/>
                </a:solidFill>
                <a:latin typeface="Calibri" pitchFamily="34" charset="0"/>
                <a:ea typeface="Calibri" pitchFamily="34" charset="-122"/>
                <a:cs typeface="Calibri" pitchFamily="34" charset="-120"/>
              </a:rPr>
              <a:t>Image loading · RGB convert · 224×224 resize · normalise to [−1,1]</a:t>
            </a:r>
            <a:endParaRPr lang="en-US" sz="950" dirty="0"/>
          </a:p>
        </p:txBody>
      </p:sp>
      <p:sp>
        <p:nvSpPr>
          <p:cNvPr id="45" name="Shape 43"/>
          <p:cNvSpPr/>
          <p:nvPr/>
        </p:nvSpPr>
        <p:spPr>
          <a:xfrm>
            <a:off x="4562856" y="2468880"/>
            <a:ext cx="0" cy="64008"/>
          </a:xfrm>
          <a:prstGeom prst="line">
            <a:avLst/>
          </a:prstGeom>
          <a:noFill/>
          <a:ln w="19050">
            <a:solidFill>
              <a:srgbClr val="3A8C7E"/>
            </a:solidFill>
            <a:prstDash val="solid"/>
          </a:ln>
        </p:spPr>
      </p:sp>
      <p:sp>
        <p:nvSpPr>
          <p:cNvPr id="46" name="Shape 44"/>
          <p:cNvSpPr/>
          <p:nvPr/>
        </p:nvSpPr>
        <p:spPr>
          <a:xfrm>
            <a:off x="1371600" y="2532888"/>
            <a:ext cx="6400800" cy="438912"/>
          </a:xfrm>
          <a:prstGeom prst="roundRect">
            <a:avLst>
              <a:gd name="adj" fmla="val 16667"/>
            </a:avLst>
          </a:prstGeom>
          <a:solidFill>
            <a:srgbClr val="3A8C7E"/>
          </a:solidFill>
          <a:ln w="12700">
            <a:solidFill>
              <a:srgbClr val="3A8C7E"/>
            </a:solidFill>
            <a:prstDash val="solid"/>
          </a:ln>
          <a:effectLst>
            <a:outerShdw sx="100000" sy="100000" kx="0" ky="0" algn="bl" rotWithShape="0" blurRad="101600" dist="38100" dir="2700000">
              <a:srgbClr val="000000">
                <a:alpha val="10000"/>
              </a:srgbClr>
            </a:outerShdw>
          </a:effectLst>
        </p:spPr>
      </p:sp>
      <p:sp>
        <p:nvSpPr>
          <p:cNvPr id="47" name="Text 45"/>
          <p:cNvSpPr/>
          <p:nvPr/>
        </p:nvSpPr>
        <p:spPr>
          <a:xfrm>
            <a:off x="1481328" y="2569464"/>
            <a:ext cx="6217920" cy="201168"/>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3  MobileNetV2 INFERENCE</a:t>
            </a:r>
            <a:endParaRPr lang="en-US" sz="1150" dirty="0"/>
          </a:p>
        </p:txBody>
      </p:sp>
      <p:sp>
        <p:nvSpPr>
          <p:cNvPr id="48" name="Text 46"/>
          <p:cNvSpPr/>
          <p:nvPr/>
        </p:nvSpPr>
        <p:spPr>
          <a:xfrm>
            <a:off x="1481328" y="2770632"/>
            <a:ext cx="6217920" cy="164592"/>
          </a:xfrm>
          <a:prstGeom prst="rect">
            <a:avLst/>
          </a:prstGeom>
          <a:noFill/>
          <a:ln/>
        </p:spPr>
        <p:txBody>
          <a:bodyPr wrap="square" lIns="0" tIns="0" rIns="0" bIns="0" rtlCol="0" anchor="ctr"/>
          <a:lstStyle/>
          <a:p>
            <a:pPr indent="0" marL="0">
              <a:buNone/>
            </a:pPr>
            <a:r>
              <a:rPr lang="en-US" sz="950" dirty="0">
                <a:solidFill>
                  <a:srgbClr val="D1EEE9"/>
                </a:solidFill>
                <a:latin typeface="Calibri" pitchFamily="34" charset="0"/>
                <a:ea typeface="Calibri" pitchFamily="34" charset="-122"/>
                <a:cs typeface="Calibri" pitchFamily="34" charset="-120"/>
              </a:rPr>
              <a:t>14-class prediction → fruit name + freshness score  |  asyncio thread pool</a:t>
            </a:r>
            <a:endParaRPr lang="en-US" sz="950" dirty="0"/>
          </a:p>
        </p:txBody>
      </p:sp>
      <p:sp>
        <p:nvSpPr>
          <p:cNvPr id="49" name="Shape 47"/>
          <p:cNvSpPr/>
          <p:nvPr/>
        </p:nvSpPr>
        <p:spPr>
          <a:xfrm>
            <a:off x="4562856" y="2971800"/>
            <a:ext cx="0" cy="64008"/>
          </a:xfrm>
          <a:prstGeom prst="line">
            <a:avLst/>
          </a:prstGeom>
          <a:noFill/>
          <a:ln w="19050">
            <a:solidFill>
              <a:srgbClr val="3A8C7E"/>
            </a:solidFill>
            <a:prstDash val="solid"/>
          </a:ln>
        </p:spPr>
      </p:sp>
      <p:sp>
        <p:nvSpPr>
          <p:cNvPr id="50" name="Shape 48"/>
          <p:cNvSpPr/>
          <p:nvPr/>
        </p:nvSpPr>
        <p:spPr>
          <a:xfrm>
            <a:off x="1371600" y="3035808"/>
            <a:ext cx="6400800" cy="438912"/>
          </a:xfrm>
          <a:prstGeom prst="roundRect">
            <a:avLst>
              <a:gd name="adj" fmla="val 16667"/>
            </a:avLst>
          </a:prstGeom>
          <a:solidFill>
            <a:srgbClr val="F4F7F9"/>
          </a:solidFill>
          <a:ln w="12700">
            <a:solidFill>
              <a:srgbClr val="CBD5E1"/>
            </a:solidFill>
            <a:prstDash val="solid"/>
          </a:ln>
          <a:effectLst>
            <a:outerShdw sx="100000" sy="100000" kx="0" ky="0" algn="bl" rotWithShape="0" blurRad="101600" dist="38100" dir="2700000">
              <a:srgbClr val="000000">
                <a:alpha val="10000"/>
              </a:srgbClr>
            </a:outerShdw>
          </a:effectLst>
        </p:spPr>
      </p:sp>
      <p:sp>
        <p:nvSpPr>
          <p:cNvPr id="51" name="Text 49"/>
          <p:cNvSpPr/>
          <p:nvPr/>
        </p:nvSpPr>
        <p:spPr>
          <a:xfrm>
            <a:off x="1481328" y="3072384"/>
            <a:ext cx="6217920" cy="201168"/>
          </a:xfrm>
          <a:prstGeom prst="rect">
            <a:avLst/>
          </a:prstGeom>
          <a:noFill/>
          <a:ln/>
        </p:spPr>
        <p:txBody>
          <a:bodyPr wrap="square" lIns="0" tIns="0" rIns="0" bIns="0" rtlCol="0" anchor="ctr"/>
          <a:lstStyle/>
          <a:p>
            <a:pPr indent="0" marL="0">
              <a:buNone/>
            </a:pPr>
            <a:r>
              <a:rPr lang="en-US" sz="1150" b="1" dirty="0">
                <a:solidFill>
                  <a:srgbClr val="1A2B4A"/>
                </a:solidFill>
                <a:latin typeface="Calibri" pitchFamily="34" charset="0"/>
                <a:ea typeface="Calibri" pitchFamily="34" charset="-122"/>
                <a:cs typeface="Calibri" pitchFamily="34" charset="-120"/>
              </a:rPr>
              <a:t>4  SHELF-LIFE ESTIMATION</a:t>
            </a:r>
            <a:endParaRPr lang="en-US" sz="1150" dirty="0"/>
          </a:p>
        </p:txBody>
      </p:sp>
      <p:sp>
        <p:nvSpPr>
          <p:cNvPr id="52" name="Text 50"/>
          <p:cNvSpPr/>
          <p:nvPr/>
        </p:nvSpPr>
        <p:spPr>
          <a:xfrm>
            <a:off x="1481328" y="3273552"/>
            <a:ext cx="6217920" cy="164592"/>
          </a:xfrm>
          <a:prstGeom prst="rect">
            <a:avLst/>
          </a:prstGeom>
          <a:noFill/>
          <a:ln/>
        </p:spPr>
        <p:txBody>
          <a:bodyPr wrap="square" lIns="0" tIns="0" rIns="0" bIns="0" rtlCol="0" anchor="ctr"/>
          <a:lstStyle/>
          <a:p>
            <a:pPr indent="0" marL="0">
              <a:buNone/>
            </a:pPr>
            <a:r>
              <a:rPr lang="en-US" sz="950" dirty="0">
                <a:solidFill>
                  <a:srgbClr val="4A5568"/>
                </a:solidFill>
                <a:latin typeface="Calibri" pitchFamily="34" charset="0"/>
                <a:ea typeface="Calibri" pitchFamily="34" charset="-122"/>
                <a:cs typeface="Calibri" pitchFamily="34" charset="-120"/>
              </a:rPr>
              <a:t>D = B × F^1.5 × T × R  (all 3 storage methods)  |  42-fruit reference DB</a:t>
            </a:r>
            <a:endParaRPr lang="en-US" sz="950" dirty="0"/>
          </a:p>
        </p:txBody>
      </p:sp>
      <p:sp>
        <p:nvSpPr>
          <p:cNvPr id="53" name="Shape 51"/>
          <p:cNvSpPr/>
          <p:nvPr/>
        </p:nvSpPr>
        <p:spPr>
          <a:xfrm>
            <a:off x="4562856" y="3474720"/>
            <a:ext cx="0" cy="64008"/>
          </a:xfrm>
          <a:prstGeom prst="line">
            <a:avLst/>
          </a:prstGeom>
          <a:noFill/>
          <a:ln w="19050">
            <a:solidFill>
              <a:srgbClr val="3A8C7E"/>
            </a:solidFill>
            <a:prstDash val="solid"/>
          </a:ln>
        </p:spPr>
      </p:sp>
      <p:sp>
        <p:nvSpPr>
          <p:cNvPr id="54" name="Shape 52"/>
          <p:cNvSpPr/>
          <p:nvPr/>
        </p:nvSpPr>
        <p:spPr>
          <a:xfrm>
            <a:off x="1371600" y="3538728"/>
            <a:ext cx="6400800" cy="438912"/>
          </a:xfrm>
          <a:prstGeom prst="roundRect">
            <a:avLst>
              <a:gd name="adj" fmla="val 16667"/>
            </a:avLst>
          </a:prstGeom>
          <a:solidFill>
            <a:srgbClr val="F4F7F9"/>
          </a:solidFill>
          <a:ln w="12700">
            <a:solidFill>
              <a:srgbClr val="CBD5E1"/>
            </a:solidFill>
            <a:prstDash val="solid"/>
          </a:ln>
          <a:effectLst>
            <a:outerShdw sx="100000" sy="100000" kx="0" ky="0" algn="bl" rotWithShape="0" blurRad="101600" dist="38100" dir="2700000">
              <a:srgbClr val="000000">
                <a:alpha val="10000"/>
              </a:srgbClr>
            </a:outerShdw>
          </a:effectLst>
        </p:spPr>
      </p:sp>
      <p:sp>
        <p:nvSpPr>
          <p:cNvPr id="55" name="Text 53"/>
          <p:cNvSpPr/>
          <p:nvPr/>
        </p:nvSpPr>
        <p:spPr>
          <a:xfrm>
            <a:off x="1481328" y="3575304"/>
            <a:ext cx="6217920" cy="201168"/>
          </a:xfrm>
          <a:prstGeom prst="rect">
            <a:avLst/>
          </a:prstGeom>
          <a:noFill/>
          <a:ln/>
        </p:spPr>
        <p:txBody>
          <a:bodyPr wrap="square" lIns="0" tIns="0" rIns="0" bIns="0" rtlCol="0" anchor="ctr"/>
          <a:lstStyle/>
          <a:p>
            <a:pPr indent="0" marL="0">
              <a:buNone/>
            </a:pPr>
            <a:r>
              <a:rPr lang="en-US" sz="1150" b="1" dirty="0">
                <a:solidFill>
                  <a:srgbClr val="1A2B4A"/>
                </a:solidFill>
                <a:latin typeface="Calibri" pitchFamily="34" charset="0"/>
                <a:ea typeface="Calibri" pitchFamily="34" charset="-122"/>
                <a:cs typeface="Calibri" pitchFamily="34" charset="-120"/>
              </a:rPr>
              <a:t>5  COMPOSITE DECISION</a:t>
            </a:r>
            <a:endParaRPr lang="en-US" sz="1150" dirty="0"/>
          </a:p>
        </p:txBody>
      </p:sp>
      <p:sp>
        <p:nvSpPr>
          <p:cNvPr id="56" name="Text 54"/>
          <p:cNvSpPr/>
          <p:nvPr/>
        </p:nvSpPr>
        <p:spPr>
          <a:xfrm>
            <a:off x="1481328" y="3776472"/>
            <a:ext cx="6217920" cy="164592"/>
          </a:xfrm>
          <a:prstGeom prst="rect">
            <a:avLst/>
          </a:prstGeom>
          <a:noFill/>
          <a:ln/>
        </p:spPr>
        <p:txBody>
          <a:bodyPr wrap="square" lIns="0" tIns="0" rIns="0" bIns="0" rtlCol="0" anchor="ctr"/>
          <a:lstStyle/>
          <a:p>
            <a:pPr indent="0" marL="0">
              <a:buNone/>
            </a:pPr>
            <a:r>
              <a:rPr lang="en-US" sz="950" dirty="0">
                <a:solidFill>
                  <a:srgbClr val="4A5568"/>
                </a:solidFill>
                <a:latin typeface="Calibri" pitchFamily="34" charset="0"/>
                <a:ea typeface="Calibri" pitchFamily="34" charset="-122"/>
                <a:cs typeface="Calibri" pitchFamily="34" charset="-120"/>
              </a:rPr>
              <a:t>C = (F×0.6)+(N×0.4) → FRESH / EAT SOON / EAT TODAY / SPOILED</a:t>
            </a:r>
            <a:endParaRPr lang="en-US" sz="950" dirty="0"/>
          </a:p>
        </p:txBody>
      </p:sp>
      <p:sp>
        <p:nvSpPr>
          <p:cNvPr id="57" name="Shape 55"/>
          <p:cNvSpPr/>
          <p:nvPr/>
        </p:nvSpPr>
        <p:spPr>
          <a:xfrm>
            <a:off x="4562856" y="3977640"/>
            <a:ext cx="0" cy="64008"/>
          </a:xfrm>
          <a:prstGeom prst="line">
            <a:avLst/>
          </a:prstGeom>
          <a:noFill/>
          <a:ln w="19050">
            <a:solidFill>
              <a:srgbClr val="3A8C7E"/>
            </a:solidFill>
            <a:prstDash val="solid"/>
          </a:ln>
        </p:spPr>
      </p:sp>
      <p:sp>
        <p:nvSpPr>
          <p:cNvPr id="58" name="Shape 56"/>
          <p:cNvSpPr/>
          <p:nvPr/>
        </p:nvSpPr>
        <p:spPr>
          <a:xfrm>
            <a:off x="1371600" y="4041648"/>
            <a:ext cx="6400800" cy="438912"/>
          </a:xfrm>
          <a:prstGeom prst="roundRect">
            <a:avLst>
              <a:gd name="adj" fmla="val 16667"/>
            </a:avLst>
          </a:prstGeom>
          <a:solidFill>
            <a:srgbClr val="F4F7F9"/>
          </a:solidFill>
          <a:ln w="12700">
            <a:solidFill>
              <a:srgbClr val="CBD5E1"/>
            </a:solidFill>
            <a:prstDash val="solid"/>
          </a:ln>
          <a:effectLst>
            <a:outerShdw sx="100000" sy="100000" kx="0" ky="0" algn="bl" rotWithShape="0" blurRad="101600" dist="38100" dir="2700000">
              <a:srgbClr val="000000">
                <a:alpha val="10000"/>
              </a:srgbClr>
            </a:outerShdw>
          </a:effectLst>
        </p:spPr>
      </p:sp>
      <p:sp>
        <p:nvSpPr>
          <p:cNvPr id="59" name="Text 57"/>
          <p:cNvSpPr/>
          <p:nvPr/>
        </p:nvSpPr>
        <p:spPr>
          <a:xfrm>
            <a:off x="1481328" y="4078224"/>
            <a:ext cx="6217920" cy="201168"/>
          </a:xfrm>
          <a:prstGeom prst="rect">
            <a:avLst/>
          </a:prstGeom>
          <a:noFill/>
          <a:ln/>
        </p:spPr>
        <p:txBody>
          <a:bodyPr wrap="square" lIns="0" tIns="0" rIns="0" bIns="0" rtlCol="0" anchor="ctr"/>
          <a:lstStyle/>
          <a:p>
            <a:pPr indent="0" marL="0">
              <a:buNone/>
            </a:pPr>
            <a:r>
              <a:rPr lang="en-US" sz="1150" b="1" dirty="0">
                <a:solidFill>
                  <a:srgbClr val="1A2B4A"/>
                </a:solidFill>
                <a:latin typeface="Calibri" pitchFamily="34" charset="0"/>
                <a:ea typeface="Calibri" pitchFamily="34" charset="-122"/>
                <a:cs typeface="Calibri" pitchFamily="34" charset="-120"/>
              </a:rPr>
              <a:t>6  ETHYLENE CHECK</a:t>
            </a:r>
            <a:endParaRPr lang="en-US" sz="1150" dirty="0"/>
          </a:p>
        </p:txBody>
      </p:sp>
      <p:sp>
        <p:nvSpPr>
          <p:cNvPr id="60" name="Text 58"/>
          <p:cNvSpPr/>
          <p:nvPr/>
        </p:nvSpPr>
        <p:spPr>
          <a:xfrm>
            <a:off x="1481328" y="4279392"/>
            <a:ext cx="6217920" cy="164592"/>
          </a:xfrm>
          <a:prstGeom prst="rect">
            <a:avLst/>
          </a:prstGeom>
          <a:noFill/>
          <a:ln/>
        </p:spPr>
        <p:txBody>
          <a:bodyPr wrap="square" lIns="0" tIns="0" rIns="0" bIns="0" rtlCol="0" anchor="ctr"/>
          <a:lstStyle/>
          <a:p>
            <a:pPr indent="0" marL="0">
              <a:buNone/>
            </a:pPr>
            <a:r>
              <a:rPr lang="en-US" sz="950" dirty="0">
                <a:solidFill>
                  <a:srgbClr val="4A5568"/>
                </a:solidFill>
                <a:latin typeface="Calibri" pitchFamily="34" charset="0"/>
                <a:ea typeface="Calibri" pitchFamily="34" charset="-122"/>
                <a:cs typeface="Calibri" pitchFamily="34" charset="-120"/>
              </a:rPr>
              <a:t>Conflict graph pairwise lookup  |  O(n²)  |  451 real edges</a:t>
            </a:r>
            <a:endParaRPr lang="en-US" sz="950" dirty="0"/>
          </a:p>
        </p:txBody>
      </p:sp>
      <p:sp>
        <p:nvSpPr>
          <p:cNvPr id="61" name="Shape 59"/>
          <p:cNvSpPr/>
          <p:nvPr/>
        </p:nvSpPr>
        <p:spPr>
          <a:xfrm>
            <a:off x="4562856" y="4480560"/>
            <a:ext cx="0" cy="64008"/>
          </a:xfrm>
          <a:prstGeom prst="line">
            <a:avLst/>
          </a:prstGeom>
          <a:noFill/>
          <a:ln w="19050">
            <a:solidFill>
              <a:srgbClr val="3A8C7E"/>
            </a:solidFill>
            <a:prstDash val="solid"/>
          </a:ln>
        </p:spPr>
      </p:sp>
      <p:sp>
        <p:nvSpPr>
          <p:cNvPr id="62" name="Shape 60"/>
          <p:cNvSpPr/>
          <p:nvPr/>
        </p:nvSpPr>
        <p:spPr>
          <a:xfrm>
            <a:off x="1371600" y="4544568"/>
            <a:ext cx="6400800" cy="438912"/>
          </a:xfrm>
          <a:prstGeom prst="roundRect">
            <a:avLst>
              <a:gd name="adj" fmla="val 16667"/>
            </a:avLst>
          </a:prstGeom>
          <a:solidFill>
            <a:srgbClr val="3A8C7E"/>
          </a:solidFill>
          <a:ln w="12700">
            <a:solidFill>
              <a:srgbClr val="3A8C7E"/>
            </a:solidFill>
            <a:prstDash val="solid"/>
          </a:ln>
          <a:effectLst>
            <a:outerShdw sx="100000" sy="100000" kx="0" ky="0" algn="bl" rotWithShape="0" blurRad="101600" dist="38100" dir="2700000">
              <a:srgbClr val="000000">
                <a:alpha val="10000"/>
              </a:srgbClr>
            </a:outerShdw>
          </a:effectLst>
        </p:spPr>
      </p:sp>
      <p:sp>
        <p:nvSpPr>
          <p:cNvPr id="63" name="Text 61"/>
          <p:cNvSpPr/>
          <p:nvPr/>
        </p:nvSpPr>
        <p:spPr>
          <a:xfrm>
            <a:off x="1481328" y="4581144"/>
            <a:ext cx="6217920" cy="201168"/>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7  CLINICAL DASHBOARD</a:t>
            </a:r>
            <a:endParaRPr lang="en-US" sz="1150" dirty="0"/>
          </a:p>
        </p:txBody>
      </p:sp>
      <p:sp>
        <p:nvSpPr>
          <p:cNvPr id="64" name="Text 62"/>
          <p:cNvSpPr/>
          <p:nvPr/>
        </p:nvSpPr>
        <p:spPr>
          <a:xfrm>
            <a:off x="1481328" y="4782312"/>
            <a:ext cx="6217920" cy="164592"/>
          </a:xfrm>
          <a:prstGeom prst="rect">
            <a:avLst/>
          </a:prstGeom>
          <a:noFill/>
          <a:ln/>
        </p:spPr>
        <p:txBody>
          <a:bodyPr wrap="square" lIns="0" tIns="0" rIns="0" bIns="0" rtlCol="0" anchor="ctr"/>
          <a:lstStyle/>
          <a:p>
            <a:pPr indent="0" marL="0">
              <a:buNone/>
            </a:pPr>
            <a:r>
              <a:rPr lang="en-US" sz="950" dirty="0">
                <a:solidFill>
                  <a:srgbClr val="D1EEE9"/>
                </a:solidFill>
                <a:latin typeface="Calibri" pitchFamily="34" charset="0"/>
                <a:ea typeface="Calibri" pitchFamily="34" charset="-122"/>
                <a:cs typeface="Calibri" pitchFamily="34" charset="-120"/>
              </a:rPr>
              <a:t>Risk gauge · shelf-life bars · ethylene warnings · NLG recommendations · inventory tracking</a:t>
            </a:r>
            <a:endParaRPr lang="en-US" sz="9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EBEBEB"/>
        </a:solidFill>
      </p:bgPr>
    </p:bg>
    <p:spTree>
      <p:nvGrpSpPr>
        <p:cNvPr id="1" name=""/>
        <p:cNvGrpSpPr/>
        <p:nvPr/>
      </p:nvGrpSpPr>
      <p:grpSpPr>
        <a:xfrm>
          <a:off x="0" y="0"/>
          <a:ext cx="0" cy="0"/>
          <a:chOff x="0" y="0"/>
          <a:chExt cx="0" cy="0"/>
        </a:xfrm>
      </p:grpSpPr>
      <p:sp>
        <p:nvSpPr>
          <p:cNvPr id="2" name="Shape 0"/>
          <p:cNvSpPr/>
          <p:nvPr/>
        </p:nvSpPr>
        <p:spPr>
          <a:xfrm>
            <a:off x="7589520" y="182880"/>
            <a:ext cx="1005840" cy="1005840"/>
          </a:xfrm>
          <a:prstGeom prst="rect">
            <a:avLst/>
          </a:prstGeom>
          <a:ln w="12700">
            <a:solidFill>
              <a:srgbClr val="1A2B4A">
                <a:alpha val="70000"/>
              </a:srgbClr>
            </a:solidFill>
            <a:prstDash val="solid"/>
          </a:ln>
        </p:spPr>
      </p:sp>
      <p:sp>
        <p:nvSpPr>
          <p:cNvPr id="3" name="Shape 1"/>
          <p:cNvSpPr/>
          <p:nvPr/>
        </p:nvSpPr>
        <p:spPr>
          <a:xfrm>
            <a:off x="7589520" y="182880"/>
            <a:ext cx="670560" cy="670560"/>
          </a:xfrm>
          <a:prstGeom prst="rect">
            <a:avLst/>
          </a:prstGeom>
          <a:ln w="12700">
            <a:solidFill>
              <a:srgbClr val="1A2B4A">
                <a:alpha val="60000"/>
              </a:srgbClr>
            </a:solidFill>
            <a:prstDash val="solid"/>
          </a:ln>
        </p:spPr>
      </p:sp>
      <p:sp>
        <p:nvSpPr>
          <p:cNvPr id="4" name="Shape 2"/>
          <p:cNvSpPr/>
          <p:nvPr/>
        </p:nvSpPr>
        <p:spPr>
          <a:xfrm>
            <a:off x="7589520" y="182880"/>
            <a:ext cx="335280" cy="335280"/>
          </a:xfrm>
          <a:prstGeom prst="rect">
            <a:avLst/>
          </a:prstGeom>
          <a:ln w="12700">
            <a:solidFill>
              <a:srgbClr val="1A2B4A">
                <a:alpha val="50000"/>
              </a:srgbClr>
            </a:solidFill>
            <a:prstDash val="solid"/>
          </a:ln>
        </p:spPr>
      </p:sp>
      <p:sp>
        <p:nvSpPr>
          <p:cNvPr id="5" name="Shape 3"/>
          <p:cNvSpPr/>
          <p:nvPr/>
        </p:nvSpPr>
        <p:spPr>
          <a:xfrm rot="-900000">
            <a:off x="137160" y="2286000"/>
            <a:ext cx="777240" cy="201168"/>
          </a:xfrm>
          <a:prstGeom prst="rect">
            <a:avLst/>
          </a:prstGeom>
          <a:solidFill>
            <a:srgbClr val="1A2B4A">
              <a:alpha val="40000"/>
            </a:srgbClr>
          </a:solidFill>
          <a:ln/>
        </p:spPr>
      </p:sp>
      <p:sp>
        <p:nvSpPr>
          <p:cNvPr id="6" name="Shape 4"/>
          <p:cNvSpPr/>
          <p:nvPr/>
        </p:nvSpPr>
        <p:spPr>
          <a:xfrm rot="-900000">
            <a:off x="338328" y="2377440"/>
            <a:ext cx="777240" cy="201168"/>
          </a:xfrm>
          <a:prstGeom prst="rect">
            <a:avLst/>
          </a:prstGeom>
          <a:solidFill>
            <a:srgbClr val="3B5FA0">
              <a:alpha val="30000"/>
            </a:srgbClr>
          </a:solidFill>
          <a:ln/>
        </p:spPr>
      </p:sp>
      <p:sp>
        <p:nvSpPr>
          <p:cNvPr id="7" name="Shape 5"/>
          <p:cNvSpPr/>
          <p:nvPr/>
        </p:nvSpPr>
        <p:spPr>
          <a:xfrm rot="-900000">
            <a:off x="539496" y="2468880"/>
            <a:ext cx="777240" cy="201168"/>
          </a:xfrm>
          <a:prstGeom prst="rect">
            <a:avLst/>
          </a:prstGeom>
          <a:solidFill>
            <a:srgbClr val="3A8C7E">
              <a:alpha val="25000"/>
            </a:srgbClr>
          </a:solidFill>
          <a:ln/>
        </p:spPr>
      </p:sp>
      <p:sp>
        <p:nvSpPr>
          <p:cNvPr id="8" name="Text 6"/>
          <p:cNvSpPr/>
          <p:nvPr/>
        </p:nvSpPr>
        <p:spPr>
          <a:xfrm>
            <a:off x="411480" y="292608"/>
            <a:ext cx="8321040" cy="530352"/>
          </a:xfrm>
          <a:prstGeom prst="rect">
            <a:avLst/>
          </a:prstGeom>
          <a:noFill/>
          <a:ln/>
        </p:spPr>
        <p:txBody>
          <a:bodyPr wrap="square" lIns="0" tIns="0" rIns="0" bIns="0" rtlCol="0" anchor="ctr"/>
          <a:lstStyle/>
          <a:p>
            <a:pPr algn="l" indent="0" marL="0">
              <a:buNone/>
            </a:pPr>
            <a:r>
              <a:rPr lang="en-US" sz="2800" b="1" dirty="0">
                <a:solidFill>
                  <a:srgbClr val="1A2B4A"/>
                </a:solidFill>
                <a:latin typeface="Cambria" pitchFamily="34" charset="0"/>
                <a:ea typeface="Cambria" pitchFamily="34" charset="-122"/>
                <a:cs typeface="Cambria" pitchFamily="34" charset="-120"/>
              </a:rPr>
              <a:t>System Design: Seven-Layer Pipeline</a:t>
            </a:r>
            <a:endParaRPr lang="en-US" sz="2800" dirty="0"/>
          </a:p>
        </p:txBody>
      </p:sp>
      <p:sp>
        <p:nvSpPr>
          <p:cNvPr id="9" name="Shape 7"/>
          <p:cNvSpPr/>
          <p:nvPr/>
        </p:nvSpPr>
        <p:spPr>
          <a:xfrm>
            <a:off x="411480" y="868680"/>
            <a:ext cx="8229600" cy="0"/>
          </a:xfrm>
          <a:prstGeom prst="line">
            <a:avLst/>
          </a:prstGeom>
          <a:noFill/>
          <a:ln w="19050">
            <a:solidFill>
              <a:srgbClr val="3A8C7E">
                <a:alpha val="60000"/>
              </a:srgbClr>
            </a:solidFill>
            <a:prstDash val="solid"/>
          </a:ln>
        </p:spPr>
      </p:sp>
      <p:sp>
        <p:nvSpPr>
          <p:cNvPr id="10" name="Shape 8"/>
          <p:cNvSpPr/>
          <p:nvPr/>
        </p:nvSpPr>
        <p:spPr>
          <a:xfrm>
            <a:off x="411480" y="950976"/>
            <a:ext cx="8229600" cy="0"/>
          </a:xfrm>
          <a:prstGeom prst="line">
            <a:avLst/>
          </a:prstGeom>
          <a:noFill/>
          <a:ln w="10160">
            <a:solidFill>
              <a:srgbClr val="1A2B4A">
                <a:alpha val="45000"/>
              </a:srgbClr>
            </a:solidFill>
            <a:prstDash val="solid"/>
          </a:ln>
        </p:spPr>
      </p:sp>
      <p:sp>
        <p:nvSpPr>
          <p:cNvPr id="11" name="Shape 9"/>
          <p:cNvSpPr/>
          <p:nvPr/>
        </p:nvSpPr>
        <p:spPr>
          <a:xfrm>
            <a:off x="393192" y="1088136"/>
            <a:ext cx="402336" cy="402336"/>
          </a:xfrm>
          <a:prstGeom prst="ellipse">
            <a:avLst/>
          </a:prstGeom>
          <a:solidFill>
            <a:srgbClr val="3A8C7E"/>
          </a:solidFill>
          <a:ln/>
        </p:spPr>
      </p:sp>
      <p:sp>
        <p:nvSpPr>
          <p:cNvPr id="12" name="Text 10"/>
          <p:cNvSpPr/>
          <p:nvPr/>
        </p:nvSpPr>
        <p:spPr>
          <a:xfrm>
            <a:off x="393192" y="1088136"/>
            <a:ext cx="402336" cy="402336"/>
          </a:xfrm>
          <a:prstGeom prst="rect">
            <a:avLst/>
          </a:prstGeom>
          <a:noFill/>
          <a:ln/>
        </p:spPr>
        <p:txBody>
          <a:bodyPr wrap="square" lIns="0" tIns="0" rIns="0" bIns="0" rtlCol="0" anchor="ctr"/>
          <a:lstStyle/>
          <a:p>
            <a:pPr algn="ctr" indent="0" marL="0">
              <a:buNone/>
            </a:pPr>
            <a:r>
              <a:rPr lang="en-US" sz="1100" b="1" dirty="0">
                <a:solidFill>
                  <a:srgbClr val="FFFFFF"/>
                </a:solidFill>
              </a:rPr>
              <a:t>1</a:t>
            </a:r>
            <a:endParaRPr lang="en-US" sz="1100" dirty="0"/>
          </a:p>
        </p:txBody>
      </p:sp>
      <p:sp>
        <p:nvSpPr>
          <p:cNvPr id="13" name="Text 11"/>
          <p:cNvSpPr/>
          <p:nvPr/>
        </p:nvSpPr>
        <p:spPr>
          <a:xfrm>
            <a:off x="914400" y="1042416"/>
            <a:ext cx="1920240" cy="237744"/>
          </a:xfrm>
          <a:prstGeom prst="rect">
            <a:avLst/>
          </a:prstGeom>
          <a:noFill/>
          <a:ln/>
        </p:spPr>
        <p:txBody>
          <a:bodyPr wrap="square" lIns="0" tIns="0" rIns="0" bIns="0" rtlCol="0" anchor="ctr"/>
          <a:lstStyle/>
          <a:p>
            <a:pPr indent="0" marL="0">
              <a:buNone/>
            </a:pPr>
            <a:r>
              <a:rPr lang="en-US" sz="1150" b="1" dirty="0">
                <a:solidFill>
                  <a:srgbClr val="1A2B4A"/>
                </a:solidFill>
                <a:latin typeface="Calibri" pitchFamily="34" charset="0"/>
                <a:ea typeface="Calibri" pitchFamily="34" charset="-122"/>
                <a:cs typeface="Calibri" pitchFamily="34" charset="-120"/>
              </a:rPr>
              <a:t>Input Layer</a:t>
            </a:r>
            <a:endParaRPr lang="en-US" sz="1150" dirty="0"/>
          </a:p>
        </p:txBody>
      </p:sp>
      <p:sp>
        <p:nvSpPr>
          <p:cNvPr id="14" name="Text 12"/>
          <p:cNvSpPr/>
          <p:nvPr/>
        </p:nvSpPr>
        <p:spPr>
          <a:xfrm>
            <a:off x="914400" y="1298448"/>
            <a:ext cx="7827264" cy="256032"/>
          </a:xfrm>
          <a:prstGeom prst="rect">
            <a:avLst/>
          </a:prstGeom>
          <a:noFill/>
          <a:ln/>
        </p:spPr>
        <p:txBody>
          <a:bodyPr wrap="square" lIns="0" tIns="0" rIns="0" bIns="0" rtlCol="0" anchor="ctr"/>
          <a:lstStyle/>
          <a:p>
            <a:pPr indent="0" marL="0">
              <a:buNone/>
            </a:pPr>
            <a:r>
              <a:rPr lang="en-US" sz="1050" dirty="0">
                <a:solidFill>
                  <a:srgbClr val="4A5568"/>
                </a:solidFill>
                <a:latin typeface="Calibri" pitchFamily="34" charset="0"/>
                <a:ea typeface="Calibri" pitchFamily="34" charset="-122"/>
                <a:cs typeface="Calibri" pitchFamily="34" charset="-120"/>
              </a:rPr>
              <a:t>Collects 10 features via React form. All are available in a standard GP consultation: no imaging, no lab beyond a routine glucose check. Intentional design for resource-constrained deployment.</a:t>
            </a:r>
            <a:endParaRPr lang="en-US" sz="1050" dirty="0"/>
          </a:p>
        </p:txBody>
      </p:sp>
      <p:sp>
        <p:nvSpPr>
          <p:cNvPr id="15" name="Shape 13"/>
          <p:cNvSpPr/>
          <p:nvPr/>
        </p:nvSpPr>
        <p:spPr>
          <a:xfrm>
            <a:off x="411480" y="1572768"/>
            <a:ext cx="8321040" cy="0"/>
          </a:xfrm>
          <a:prstGeom prst="line">
            <a:avLst/>
          </a:prstGeom>
          <a:noFill/>
          <a:ln w="8890">
            <a:solidFill>
              <a:srgbClr val="E2E8F0"/>
            </a:solidFill>
            <a:prstDash val="solid"/>
          </a:ln>
        </p:spPr>
      </p:sp>
      <p:sp>
        <p:nvSpPr>
          <p:cNvPr id="16" name="Shape 14"/>
          <p:cNvSpPr/>
          <p:nvPr/>
        </p:nvSpPr>
        <p:spPr>
          <a:xfrm>
            <a:off x="393192" y="1655064"/>
            <a:ext cx="402336" cy="402336"/>
          </a:xfrm>
          <a:prstGeom prst="ellipse">
            <a:avLst/>
          </a:prstGeom>
          <a:solidFill>
            <a:srgbClr val="3A8C7E"/>
          </a:solidFill>
          <a:ln/>
        </p:spPr>
      </p:sp>
      <p:sp>
        <p:nvSpPr>
          <p:cNvPr id="17" name="Text 15"/>
          <p:cNvSpPr/>
          <p:nvPr/>
        </p:nvSpPr>
        <p:spPr>
          <a:xfrm>
            <a:off x="393192" y="1655064"/>
            <a:ext cx="402336" cy="402336"/>
          </a:xfrm>
          <a:prstGeom prst="rect">
            <a:avLst/>
          </a:prstGeom>
          <a:noFill/>
          <a:ln/>
        </p:spPr>
        <p:txBody>
          <a:bodyPr wrap="square" lIns="0" tIns="0" rIns="0" bIns="0" rtlCol="0" anchor="ctr"/>
          <a:lstStyle/>
          <a:p>
            <a:pPr algn="ctr" indent="0" marL="0">
              <a:buNone/>
            </a:pPr>
            <a:r>
              <a:rPr lang="en-US" sz="1100" b="1" dirty="0">
                <a:solidFill>
                  <a:srgbClr val="FFFFFF"/>
                </a:solidFill>
              </a:rPr>
              <a:t>2</a:t>
            </a:r>
            <a:endParaRPr lang="en-US" sz="1100" dirty="0"/>
          </a:p>
        </p:txBody>
      </p:sp>
      <p:sp>
        <p:nvSpPr>
          <p:cNvPr id="18" name="Text 16"/>
          <p:cNvSpPr/>
          <p:nvPr/>
        </p:nvSpPr>
        <p:spPr>
          <a:xfrm>
            <a:off x="914400" y="1609344"/>
            <a:ext cx="1920240" cy="237744"/>
          </a:xfrm>
          <a:prstGeom prst="rect">
            <a:avLst/>
          </a:prstGeom>
          <a:noFill/>
          <a:ln/>
        </p:spPr>
        <p:txBody>
          <a:bodyPr wrap="square" lIns="0" tIns="0" rIns="0" bIns="0" rtlCol="0" anchor="ctr"/>
          <a:lstStyle/>
          <a:p>
            <a:pPr indent="0" marL="0">
              <a:buNone/>
            </a:pPr>
            <a:r>
              <a:rPr lang="en-US" sz="1150" b="1" dirty="0">
                <a:solidFill>
                  <a:srgbClr val="1A2B4A"/>
                </a:solidFill>
                <a:latin typeface="Calibri" pitchFamily="34" charset="0"/>
                <a:ea typeface="Calibri" pitchFamily="34" charset="-122"/>
                <a:cs typeface="Calibri" pitchFamily="34" charset="-120"/>
              </a:rPr>
              <a:t>Preprocessing Layer</a:t>
            </a:r>
            <a:endParaRPr lang="en-US" sz="1150" dirty="0"/>
          </a:p>
        </p:txBody>
      </p:sp>
      <p:sp>
        <p:nvSpPr>
          <p:cNvPr id="19" name="Text 17"/>
          <p:cNvSpPr/>
          <p:nvPr/>
        </p:nvSpPr>
        <p:spPr>
          <a:xfrm>
            <a:off x="914400" y="1865376"/>
            <a:ext cx="7827264" cy="256032"/>
          </a:xfrm>
          <a:prstGeom prst="rect">
            <a:avLst/>
          </a:prstGeom>
          <a:noFill/>
          <a:ln/>
        </p:spPr>
        <p:txBody>
          <a:bodyPr wrap="square" lIns="0" tIns="0" rIns="0" bIns="0" rtlCol="0" anchor="ctr"/>
          <a:lstStyle/>
          <a:p>
            <a:pPr indent="0" marL="0">
              <a:buNone/>
            </a:pPr>
            <a:r>
              <a:rPr lang="en-US" sz="1050" dirty="0">
                <a:solidFill>
                  <a:srgbClr val="4A5568"/>
                </a:solidFill>
                <a:latin typeface="Calibri" pitchFamily="34" charset="0"/>
                <a:ea typeface="Calibri" pitchFamily="34" charset="-122"/>
                <a:cs typeface="Calibri" pitchFamily="34" charset="-120"/>
              </a:rPr>
              <a:t>PIL load → RGB → 224×224 bilinear resize → pixel normalisation z=(p/127.5)−1.0. Order matters: normalisation must follow resize to match MobileNetV2's ImageNet preprocessing contract exactly.</a:t>
            </a:r>
            <a:endParaRPr lang="en-US" sz="1050" dirty="0"/>
          </a:p>
        </p:txBody>
      </p:sp>
      <p:sp>
        <p:nvSpPr>
          <p:cNvPr id="20" name="Shape 18"/>
          <p:cNvSpPr/>
          <p:nvPr/>
        </p:nvSpPr>
        <p:spPr>
          <a:xfrm>
            <a:off x="411480" y="2139696"/>
            <a:ext cx="8321040" cy="0"/>
          </a:xfrm>
          <a:prstGeom prst="line">
            <a:avLst/>
          </a:prstGeom>
          <a:noFill/>
          <a:ln w="8890">
            <a:solidFill>
              <a:srgbClr val="E2E8F0"/>
            </a:solidFill>
            <a:prstDash val="solid"/>
          </a:ln>
        </p:spPr>
      </p:sp>
      <p:sp>
        <p:nvSpPr>
          <p:cNvPr id="21" name="Shape 19"/>
          <p:cNvSpPr/>
          <p:nvPr/>
        </p:nvSpPr>
        <p:spPr>
          <a:xfrm>
            <a:off x="393192" y="2221992"/>
            <a:ext cx="402336" cy="402336"/>
          </a:xfrm>
          <a:prstGeom prst="ellipse">
            <a:avLst/>
          </a:prstGeom>
          <a:solidFill>
            <a:srgbClr val="3A8C7E"/>
          </a:solidFill>
          <a:ln/>
        </p:spPr>
      </p:sp>
      <p:sp>
        <p:nvSpPr>
          <p:cNvPr id="22" name="Text 20"/>
          <p:cNvSpPr/>
          <p:nvPr/>
        </p:nvSpPr>
        <p:spPr>
          <a:xfrm>
            <a:off x="393192" y="2221992"/>
            <a:ext cx="402336" cy="402336"/>
          </a:xfrm>
          <a:prstGeom prst="rect">
            <a:avLst/>
          </a:prstGeom>
          <a:noFill/>
          <a:ln/>
        </p:spPr>
        <p:txBody>
          <a:bodyPr wrap="square" lIns="0" tIns="0" rIns="0" bIns="0" rtlCol="0" anchor="ctr"/>
          <a:lstStyle/>
          <a:p>
            <a:pPr algn="ctr" indent="0" marL="0">
              <a:buNone/>
            </a:pPr>
            <a:r>
              <a:rPr lang="en-US" sz="1100" b="1" dirty="0">
                <a:solidFill>
                  <a:srgbClr val="FFFFFF"/>
                </a:solidFill>
              </a:rPr>
              <a:t>3</a:t>
            </a:r>
            <a:endParaRPr lang="en-US" sz="1100" dirty="0"/>
          </a:p>
        </p:txBody>
      </p:sp>
      <p:sp>
        <p:nvSpPr>
          <p:cNvPr id="23" name="Text 21"/>
          <p:cNvSpPr/>
          <p:nvPr/>
        </p:nvSpPr>
        <p:spPr>
          <a:xfrm>
            <a:off x="914400" y="2176272"/>
            <a:ext cx="1920240" cy="237744"/>
          </a:xfrm>
          <a:prstGeom prst="rect">
            <a:avLst/>
          </a:prstGeom>
          <a:noFill/>
          <a:ln/>
        </p:spPr>
        <p:txBody>
          <a:bodyPr wrap="square" lIns="0" tIns="0" rIns="0" bIns="0" rtlCol="0" anchor="ctr"/>
          <a:lstStyle/>
          <a:p>
            <a:pPr indent="0" marL="0">
              <a:buNone/>
            </a:pPr>
            <a:r>
              <a:rPr lang="en-US" sz="1150" b="1" dirty="0">
                <a:solidFill>
                  <a:srgbClr val="1A2B4A"/>
                </a:solidFill>
                <a:latin typeface="Calibri" pitchFamily="34" charset="0"/>
                <a:ea typeface="Calibri" pitchFamily="34" charset="-122"/>
                <a:cs typeface="Calibri" pitchFamily="34" charset="-120"/>
              </a:rPr>
              <a:t>MobileNetV2 Classifier</a:t>
            </a:r>
            <a:endParaRPr lang="en-US" sz="1150" dirty="0"/>
          </a:p>
        </p:txBody>
      </p:sp>
      <p:sp>
        <p:nvSpPr>
          <p:cNvPr id="24" name="Text 22"/>
          <p:cNvSpPr/>
          <p:nvPr/>
        </p:nvSpPr>
        <p:spPr>
          <a:xfrm>
            <a:off x="914400" y="2432304"/>
            <a:ext cx="7827264" cy="256032"/>
          </a:xfrm>
          <a:prstGeom prst="rect">
            <a:avLst/>
          </a:prstGeom>
          <a:noFill/>
          <a:ln/>
        </p:spPr>
        <p:txBody>
          <a:bodyPr wrap="square" lIns="0" tIns="0" rIns="0" bIns="0" rtlCol="0" anchor="ctr"/>
          <a:lstStyle/>
          <a:p>
            <a:pPr indent="0" marL="0">
              <a:buNone/>
            </a:pPr>
            <a:r>
              <a:rPr lang="en-US" sz="1050" dirty="0">
                <a:solidFill>
                  <a:srgbClr val="4A5568"/>
                </a:solidFill>
                <a:latin typeface="Calibri" pitchFamily="34" charset="0"/>
                <a:ea typeface="Calibri" pitchFamily="34" charset="-122"/>
                <a:cs typeface="Calibri" pitchFamily="34" charset="-120"/>
              </a:rPr>
              <a:t>Two-phase fine-tuned model. Expired-class probability masked to zero before argmax. Fruit name parsed from class label via regex. Freshness score from per-class lookup table calibrated against labelled training set.</a:t>
            </a:r>
            <a:endParaRPr lang="en-US" sz="1050" dirty="0"/>
          </a:p>
        </p:txBody>
      </p:sp>
      <p:sp>
        <p:nvSpPr>
          <p:cNvPr id="25" name="Shape 23"/>
          <p:cNvSpPr/>
          <p:nvPr/>
        </p:nvSpPr>
        <p:spPr>
          <a:xfrm>
            <a:off x="411480" y="2706624"/>
            <a:ext cx="8321040" cy="0"/>
          </a:xfrm>
          <a:prstGeom prst="line">
            <a:avLst/>
          </a:prstGeom>
          <a:noFill/>
          <a:ln w="8890">
            <a:solidFill>
              <a:srgbClr val="E2E8F0"/>
            </a:solidFill>
            <a:prstDash val="solid"/>
          </a:ln>
        </p:spPr>
      </p:sp>
      <p:sp>
        <p:nvSpPr>
          <p:cNvPr id="26" name="Shape 24"/>
          <p:cNvSpPr/>
          <p:nvPr/>
        </p:nvSpPr>
        <p:spPr>
          <a:xfrm>
            <a:off x="393192" y="2788920"/>
            <a:ext cx="402336" cy="402336"/>
          </a:xfrm>
          <a:prstGeom prst="ellipse">
            <a:avLst/>
          </a:prstGeom>
          <a:solidFill>
            <a:srgbClr val="3A8C7E"/>
          </a:solidFill>
          <a:ln/>
        </p:spPr>
      </p:sp>
      <p:sp>
        <p:nvSpPr>
          <p:cNvPr id="27" name="Text 25"/>
          <p:cNvSpPr/>
          <p:nvPr/>
        </p:nvSpPr>
        <p:spPr>
          <a:xfrm>
            <a:off x="393192" y="2788920"/>
            <a:ext cx="402336" cy="402336"/>
          </a:xfrm>
          <a:prstGeom prst="rect">
            <a:avLst/>
          </a:prstGeom>
          <a:noFill/>
          <a:ln/>
        </p:spPr>
        <p:txBody>
          <a:bodyPr wrap="square" lIns="0" tIns="0" rIns="0" bIns="0" rtlCol="0" anchor="ctr"/>
          <a:lstStyle/>
          <a:p>
            <a:pPr algn="ctr" indent="0" marL="0">
              <a:buNone/>
            </a:pPr>
            <a:r>
              <a:rPr lang="en-US" sz="1100" b="1" dirty="0">
                <a:solidFill>
                  <a:srgbClr val="FFFFFF"/>
                </a:solidFill>
              </a:rPr>
              <a:t>4</a:t>
            </a:r>
            <a:endParaRPr lang="en-US" sz="1100" dirty="0"/>
          </a:p>
        </p:txBody>
      </p:sp>
      <p:sp>
        <p:nvSpPr>
          <p:cNvPr id="28" name="Text 26"/>
          <p:cNvSpPr/>
          <p:nvPr/>
        </p:nvSpPr>
        <p:spPr>
          <a:xfrm>
            <a:off x="914400" y="2743200"/>
            <a:ext cx="1920240" cy="237744"/>
          </a:xfrm>
          <a:prstGeom prst="rect">
            <a:avLst/>
          </a:prstGeom>
          <a:noFill/>
          <a:ln/>
        </p:spPr>
        <p:txBody>
          <a:bodyPr wrap="square" lIns="0" tIns="0" rIns="0" bIns="0" rtlCol="0" anchor="ctr"/>
          <a:lstStyle/>
          <a:p>
            <a:pPr indent="0" marL="0">
              <a:buNone/>
            </a:pPr>
            <a:r>
              <a:rPr lang="en-US" sz="1150" b="1" dirty="0">
                <a:solidFill>
                  <a:srgbClr val="1A2B4A"/>
                </a:solidFill>
                <a:latin typeface="Calibri" pitchFamily="34" charset="0"/>
                <a:ea typeface="Calibri" pitchFamily="34" charset="-122"/>
                <a:cs typeface="Calibri" pitchFamily="34" charset="-120"/>
              </a:rPr>
              <a:t>Shelf-Life Estimator</a:t>
            </a:r>
            <a:endParaRPr lang="en-US" sz="1150" dirty="0"/>
          </a:p>
        </p:txBody>
      </p:sp>
      <p:sp>
        <p:nvSpPr>
          <p:cNvPr id="29" name="Text 27"/>
          <p:cNvSpPr/>
          <p:nvPr/>
        </p:nvSpPr>
        <p:spPr>
          <a:xfrm>
            <a:off x="914400" y="2999232"/>
            <a:ext cx="7827264" cy="256032"/>
          </a:xfrm>
          <a:prstGeom prst="rect">
            <a:avLst/>
          </a:prstGeom>
          <a:noFill/>
          <a:ln/>
        </p:spPr>
        <p:txBody>
          <a:bodyPr wrap="square" lIns="0" tIns="0" rIns="0" bIns="0" rtlCol="0" anchor="ctr"/>
          <a:lstStyle/>
          <a:p>
            <a:pPr indent="0" marL="0">
              <a:buNone/>
            </a:pPr>
            <a:r>
              <a:rPr lang="en-US" sz="1050" dirty="0">
                <a:solidFill>
                  <a:srgbClr val="4A5568"/>
                </a:solidFill>
                <a:latin typeface="Calibri" pitchFamily="34" charset="0"/>
                <a:ea typeface="Calibri" pitchFamily="34" charset="-122"/>
                <a:cs typeface="Calibri" pitchFamily="34" charset="-120"/>
              </a:rPr>
              <a:t>D = B × F^1.5 × T × R computed for all three storage methods. Returns best-storage recommendation as the method with highest D. Draws base values from 42-fruit SQLAlchemy database.</a:t>
            </a:r>
            <a:endParaRPr lang="en-US" sz="1050" dirty="0"/>
          </a:p>
        </p:txBody>
      </p:sp>
      <p:sp>
        <p:nvSpPr>
          <p:cNvPr id="30" name="Shape 28"/>
          <p:cNvSpPr/>
          <p:nvPr/>
        </p:nvSpPr>
        <p:spPr>
          <a:xfrm>
            <a:off x="411480" y="3273552"/>
            <a:ext cx="8321040" cy="0"/>
          </a:xfrm>
          <a:prstGeom prst="line">
            <a:avLst/>
          </a:prstGeom>
          <a:noFill/>
          <a:ln w="8890">
            <a:solidFill>
              <a:srgbClr val="E2E8F0"/>
            </a:solidFill>
            <a:prstDash val="solid"/>
          </a:ln>
        </p:spPr>
      </p:sp>
      <p:sp>
        <p:nvSpPr>
          <p:cNvPr id="31" name="Shape 29"/>
          <p:cNvSpPr/>
          <p:nvPr/>
        </p:nvSpPr>
        <p:spPr>
          <a:xfrm>
            <a:off x="393192" y="3355848"/>
            <a:ext cx="402336" cy="402336"/>
          </a:xfrm>
          <a:prstGeom prst="ellipse">
            <a:avLst/>
          </a:prstGeom>
          <a:solidFill>
            <a:srgbClr val="3A8C7E"/>
          </a:solidFill>
          <a:ln/>
        </p:spPr>
      </p:sp>
      <p:sp>
        <p:nvSpPr>
          <p:cNvPr id="32" name="Text 30"/>
          <p:cNvSpPr/>
          <p:nvPr/>
        </p:nvSpPr>
        <p:spPr>
          <a:xfrm>
            <a:off x="393192" y="3355848"/>
            <a:ext cx="402336" cy="402336"/>
          </a:xfrm>
          <a:prstGeom prst="rect">
            <a:avLst/>
          </a:prstGeom>
          <a:noFill/>
          <a:ln/>
        </p:spPr>
        <p:txBody>
          <a:bodyPr wrap="square" lIns="0" tIns="0" rIns="0" bIns="0" rtlCol="0" anchor="ctr"/>
          <a:lstStyle/>
          <a:p>
            <a:pPr algn="ctr" indent="0" marL="0">
              <a:buNone/>
            </a:pPr>
            <a:r>
              <a:rPr lang="en-US" sz="1100" b="1" dirty="0">
                <a:solidFill>
                  <a:srgbClr val="FFFFFF"/>
                </a:solidFill>
              </a:rPr>
              <a:t>5</a:t>
            </a:r>
            <a:endParaRPr lang="en-US" sz="1100" dirty="0"/>
          </a:p>
        </p:txBody>
      </p:sp>
      <p:sp>
        <p:nvSpPr>
          <p:cNvPr id="33" name="Text 31"/>
          <p:cNvSpPr/>
          <p:nvPr/>
        </p:nvSpPr>
        <p:spPr>
          <a:xfrm>
            <a:off x="914400" y="3310128"/>
            <a:ext cx="1920240" cy="237744"/>
          </a:xfrm>
          <a:prstGeom prst="rect">
            <a:avLst/>
          </a:prstGeom>
          <a:noFill/>
          <a:ln/>
        </p:spPr>
        <p:txBody>
          <a:bodyPr wrap="square" lIns="0" tIns="0" rIns="0" bIns="0" rtlCol="0" anchor="ctr"/>
          <a:lstStyle/>
          <a:p>
            <a:pPr indent="0" marL="0">
              <a:buNone/>
            </a:pPr>
            <a:r>
              <a:rPr lang="en-US" sz="1150" b="1" dirty="0">
                <a:solidFill>
                  <a:srgbClr val="1A2B4A"/>
                </a:solidFill>
                <a:latin typeface="Calibri" pitchFamily="34" charset="0"/>
                <a:ea typeface="Calibri" pitchFamily="34" charset="-122"/>
                <a:cs typeface="Calibri" pitchFamily="34" charset="-120"/>
              </a:rPr>
              <a:t>Composite Decision Engine</a:t>
            </a:r>
            <a:endParaRPr lang="en-US" sz="1150" dirty="0"/>
          </a:p>
        </p:txBody>
      </p:sp>
      <p:sp>
        <p:nvSpPr>
          <p:cNvPr id="34" name="Text 32"/>
          <p:cNvSpPr/>
          <p:nvPr/>
        </p:nvSpPr>
        <p:spPr>
          <a:xfrm>
            <a:off x="914400" y="3566160"/>
            <a:ext cx="7827264" cy="256032"/>
          </a:xfrm>
          <a:prstGeom prst="rect">
            <a:avLst/>
          </a:prstGeom>
          <a:noFill/>
          <a:ln/>
        </p:spPr>
        <p:txBody>
          <a:bodyPr wrap="square" lIns="0" tIns="0" rIns="0" bIns="0" rtlCol="0" anchor="ctr"/>
          <a:lstStyle/>
          <a:p>
            <a:pPr indent="0" marL="0">
              <a:buNone/>
            </a:pPr>
            <a:r>
              <a:rPr lang="en-US" sz="1050" dirty="0">
                <a:solidFill>
                  <a:srgbClr val="4A5568"/>
                </a:solidFill>
                <a:latin typeface="Calibri" pitchFamily="34" charset="0"/>
                <a:ea typeface="Calibri" pitchFamily="34" charset="-122"/>
                <a:cs typeface="Calibri" pitchFamily="34" charset="-120"/>
              </a:rPr>
              <a:t>C = (F×0.6)+(N×0.4) fuses two signals. Status thresholds evaluate in descending order. Generates personalised recommendation string via template substitution.</a:t>
            </a:r>
            <a:endParaRPr lang="en-US" sz="1050" dirty="0"/>
          </a:p>
        </p:txBody>
      </p:sp>
      <p:sp>
        <p:nvSpPr>
          <p:cNvPr id="35" name="Shape 33"/>
          <p:cNvSpPr/>
          <p:nvPr/>
        </p:nvSpPr>
        <p:spPr>
          <a:xfrm>
            <a:off x="411480" y="3840480"/>
            <a:ext cx="8321040" cy="0"/>
          </a:xfrm>
          <a:prstGeom prst="line">
            <a:avLst/>
          </a:prstGeom>
          <a:noFill/>
          <a:ln w="8890">
            <a:solidFill>
              <a:srgbClr val="E2E8F0"/>
            </a:solidFill>
            <a:prstDash val="solid"/>
          </a:ln>
        </p:spPr>
      </p:sp>
      <p:sp>
        <p:nvSpPr>
          <p:cNvPr id="36" name="Shape 34"/>
          <p:cNvSpPr/>
          <p:nvPr/>
        </p:nvSpPr>
        <p:spPr>
          <a:xfrm>
            <a:off x="393192" y="3922776"/>
            <a:ext cx="402336" cy="402336"/>
          </a:xfrm>
          <a:prstGeom prst="ellipse">
            <a:avLst/>
          </a:prstGeom>
          <a:solidFill>
            <a:srgbClr val="3A8C7E"/>
          </a:solidFill>
          <a:ln/>
        </p:spPr>
      </p:sp>
      <p:sp>
        <p:nvSpPr>
          <p:cNvPr id="37" name="Text 35"/>
          <p:cNvSpPr/>
          <p:nvPr/>
        </p:nvSpPr>
        <p:spPr>
          <a:xfrm>
            <a:off x="393192" y="3922776"/>
            <a:ext cx="402336" cy="402336"/>
          </a:xfrm>
          <a:prstGeom prst="rect">
            <a:avLst/>
          </a:prstGeom>
          <a:noFill/>
          <a:ln/>
        </p:spPr>
        <p:txBody>
          <a:bodyPr wrap="square" lIns="0" tIns="0" rIns="0" bIns="0" rtlCol="0" anchor="ctr"/>
          <a:lstStyle/>
          <a:p>
            <a:pPr algn="ctr" indent="0" marL="0">
              <a:buNone/>
            </a:pPr>
            <a:r>
              <a:rPr lang="en-US" sz="1100" b="1" dirty="0">
                <a:solidFill>
                  <a:srgbClr val="FFFFFF"/>
                </a:solidFill>
              </a:rPr>
              <a:t>6</a:t>
            </a:r>
            <a:endParaRPr lang="en-US" sz="1100" dirty="0"/>
          </a:p>
        </p:txBody>
      </p:sp>
      <p:sp>
        <p:nvSpPr>
          <p:cNvPr id="38" name="Text 36"/>
          <p:cNvSpPr/>
          <p:nvPr/>
        </p:nvSpPr>
        <p:spPr>
          <a:xfrm>
            <a:off x="914400" y="3877056"/>
            <a:ext cx="1920240" cy="237744"/>
          </a:xfrm>
          <a:prstGeom prst="rect">
            <a:avLst/>
          </a:prstGeom>
          <a:noFill/>
          <a:ln/>
        </p:spPr>
        <p:txBody>
          <a:bodyPr wrap="square" lIns="0" tIns="0" rIns="0" bIns="0" rtlCol="0" anchor="ctr"/>
          <a:lstStyle/>
          <a:p>
            <a:pPr indent="0" marL="0">
              <a:buNone/>
            </a:pPr>
            <a:r>
              <a:rPr lang="en-US" sz="1150" b="1" dirty="0">
                <a:solidFill>
                  <a:srgbClr val="1A2B4A"/>
                </a:solidFill>
                <a:latin typeface="Calibri" pitchFamily="34" charset="0"/>
                <a:ea typeface="Calibri" pitchFamily="34" charset="-122"/>
                <a:cs typeface="Calibri" pitchFamily="34" charset="-120"/>
              </a:rPr>
              <a:t>Ethylene Compatibility</a:t>
            </a:r>
            <a:endParaRPr lang="en-US" sz="1150" dirty="0"/>
          </a:p>
        </p:txBody>
      </p:sp>
      <p:sp>
        <p:nvSpPr>
          <p:cNvPr id="39" name="Text 37"/>
          <p:cNvSpPr/>
          <p:nvPr/>
        </p:nvSpPr>
        <p:spPr>
          <a:xfrm>
            <a:off x="914400" y="4133088"/>
            <a:ext cx="7827264" cy="256032"/>
          </a:xfrm>
          <a:prstGeom prst="rect">
            <a:avLst/>
          </a:prstGeom>
          <a:noFill/>
          <a:ln/>
        </p:spPr>
        <p:txBody>
          <a:bodyPr wrap="square" lIns="0" tIns="0" rIns="0" bIns="0" rtlCol="0" anchor="ctr"/>
          <a:lstStyle/>
          <a:p>
            <a:pPr indent="0" marL="0">
              <a:buNone/>
            </a:pPr>
            <a:r>
              <a:rPr lang="en-US" sz="1050" dirty="0">
                <a:solidFill>
                  <a:srgbClr val="4A5568"/>
                </a:solidFill>
                <a:latin typeface="Calibri" pitchFamily="34" charset="0"/>
                <a:ea typeface="Calibri" pitchFamily="34" charset="-122"/>
                <a:cs typeface="Calibri" pitchFamily="34" charset="-120"/>
              </a:rPr>
              <a:t>Bidirectional conflict graph built at startup from PRODUCERS ∩ SENSITIVE set. Per-prediction: checks scanned fruit against user's saved inventory for storage conflicts and surfaces grouped recommendations.</a:t>
            </a:r>
            <a:endParaRPr lang="en-US" sz="1050" dirty="0"/>
          </a:p>
        </p:txBody>
      </p:sp>
      <p:sp>
        <p:nvSpPr>
          <p:cNvPr id="40" name="Shape 38"/>
          <p:cNvSpPr/>
          <p:nvPr/>
        </p:nvSpPr>
        <p:spPr>
          <a:xfrm>
            <a:off x="411480" y="4407408"/>
            <a:ext cx="8321040" cy="0"/>
          </a:xfrm>
          <a:prstGeom prst="line">
            <a:avLst/>
          </a:prstGeom>
          <a:noFill/>
          <a:ln w="8890">
            <a:solidFill>
              <a:srgbClr val="E2E8F0"/>
            </a:solidFill>
            <a:prstDash val="solid"/>
          </a:ln>
        </p:spPr>
      </p:sp>
      <p:sp>
        <p:nvSpPr>
          <p:cNvPr id="41" name="Shape 39"/>
          <p:cNvSpPr/>
          <p:nvPr/>
        </p:nvSpPr>
        <p:spPr>
          <a:xfrm>
            <a:off x="393192" y="4489704"/>
            <a:ext cx="402336" cy="402336"/>
          </a:xfrm>
          <a:prstGeom prst="ellipse">
            <a:avLst/>
          </a:prstGeom>
          <a:solidFill>
            <a:srgbClr val="3A8C7E"/>
          </a:solidFill>
          <a:ln/>
        </p:spPr>
      </p:sp>
      <p:sp>
        <p:nvSpPr>
          <p:cNvPr id="42" name="Text 40"/>
          <p:cNvSpPr/>
          <p:nvPr/>
        </p:nvSpPr>
        <p:spPr>
          <a:xfrm>
            <a:off x="393192" y="4489704"/>
            <a:ext cx="402336" cy="402336"/>
          </a:xfrm>
          <a:prstGeom prst="rect">
            <a:avLst/>
          </a:prstGeom>
          <a:noFill/>
          <a:ln/>
        </p:spPr>
        <p:txBody>
          <a:bodyPr wrap="square" lIns="0" tIns="0" rIns="0" bIns="0" rtlCol="0" anchor="ctr"/>
          <a:lstStyle/>
          <a:p>
            <a:pPr algn="ctr" indent="0" marL="0">
              <a:buNone/>
            </a:pPr>
            <a:r>
              <a:rPr lang="en-US" sz="1100" b="1" dirty="0">
                <a:solidFill>
                  <a:srgbClr val="FFFFFF"/>
                </a:solidFill>
              </a:rPr>
              <a:t>7</a:t>
            </a:r>
            <a:endParaRPr lang="en-US" sz="1100" dirty="0"/>
          </a:p>
        </p:txBody>
      </p:sp>
      <p:sp>
        <p:nvSpPr>
          <p:cNvPr id="43" name="Text 41"/>
          <p:cNvSpPr/>
          <p:nvPr/>
        </p:nvSpPr>
        <p:spPr>
          <a:xfrm>
            <a:off x="914400" y="4443984"/>
            <a:ext cx="1920240" cy="237744"/>
          </a:xfrm>
          <a:prstGeom prst="rect">
            <a:avLst/>
          </a:prstGeom>
          <a:noFill/>
          <a:ln/>
        </p:spPr>
        <p:txBody>
          <a:bodyPr wrap="square" lIns="0" tIns="0" rIns="0" bIns="0" rtlCol="0" anchor="ctr"/>
          <a:lstStyle/>
          <a:p>
            <a:pPr indent="0" marL="0">
              <a:buNone/>
            </a:pPr>
            <a:r>
              <a:rPr lang="en-US" sz="1150" b="1" dirty="0">
                <a:solidFill>
                  <a:srgbClr val="1A2B4A"/>
                </a:solidFill>
                <a:latin typeface="Calibri" pitchFamily="34" charset="0"/>
                <a:ea typeface="Calibri" pitchFamily="34" charset="-122"/>
                <a:cs typeface="Calibri" pitchFamily="34" charset="-120"/>
              </a:rPr>
              <a:t>Clinical Dashboard (PWA)</a:t>
            </a:r>
            <a:endParaRPr lang="en-US" sz="1150" dirty="0"/>
          </a:p>
        </p:txBody>
      </p:sp>
      <p:sp>
        <p:nvSpPr>
          <p:cNvPr id="44" name="Text 42"/>
          <p:cNvSpPr/>
          <p:nvPr/>
        </p:nvSpPr>
        <p:spPr>
          <a:xfrm>
            <a:off x="914400" y="4700016"/>
            <a:ext cx="7827264" cy="256032"/>
          </a:xfrm>
          <a:prstGeom prst="rect">
            <a:avLst/>
          </a:prstGeom>
          <a:noFill/>
          <a:ln/>
        </p:spPr>
        <p:txBody>
          <a:bodyPr wrap="square" lIns="0" tIns="0" rIns="0" bIns="0" rtlCol="0" anchor="ctr"/>
          <a:lstStyle/>
          <a:p>
            <a:pPr indent="0" marL="0">
              <a:buNone/>
            </a:pPr>
            <a:r>
              <a:rPr lang="en-US" sz="1050" dirty="0">
                <a:solidFill>
                  <a:srgbClr val="4A5568"/>
                </a:solidFill>
                <a:latin typeface="Calibri" pitchFamily="34" charset="0"/>
                <a:ea typeface="Calibri" pitchFamily="34" charset="-122"/>
                <a:cs typeface="Calibri" pitchFamily="34" charset="-120"/>
              </a:rPr>
              <a:t>Next.js App Router · 28 hand-built Tailwind components · no UI library. CameraView: getUserMedia → canvas → JPEG blob → multipart POST. Standalone PWA mode via manifest.json + service worker.</a:t>
            </a:r>
            <a:endParaRPr lang="en-US" sz="1050" dirty="0"/>
          </a:p>
        </p:txBody>
      </p:sp>
      <p:sp>
        <p:nvSpPr>
          <p:cNvPr id="45" name="Shape 43"/>
          <p:cNvSpPr/>
          <p:nvPr/>
        </p:nvSpPr>
        <p:spPr>
          <a:xfrm>
            <a:off x="411480" y="4974336"/>
            <a:ext cx="8321040" cy="0"/>
          </a:xfrm>
          <a:prstGeom prst="line">
            <a:avLst/>
          </a:prstGeom>
          <a:noFill/>
          <a:ln w="8890">
            <a:solidFill>
              <a:srgbClr val="E2E8F0"/>
            </a:solidFill>
            <a:prstDash val="solid"/>
          </a:ln>
        </p:spPr>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EBEBEB"/>
        </a:solidFill>
      </p:bgPr>
    </p:bg>
    <p:spTree>
      <p:nvGrpSpPr>
        <p:cNvPr id="1" name=""/>
        <p:cNvGrpSpPr/>
        <p:nvPr/>
      </p:nvGrpSpPr>
      <p:grpSpPr>
        <a:xfrm>
          <a:off x="0" y="0"/>
          <a:ext cx="0" cy="0"/>
          <a:chOff x="0" y="0"/>
          <a:chExt cx="0" cy="0"/>
        </a:xfrm>
      </p:grpSpPr>
      <p:sp>
        <p:nvSpPr>
          <p:cNvPr id="2" name="Shape 0"/>
          <p:cNvSpPr/>
          <p:nvPr/>
        </p:nvSpPr>
        <p:spPr>
          <a:xfrm rot="-2700000">
            <a:off x="182880" y="182880"/>
            <a:ext cx="457200" cy="0"/>
          </a:xfrm>
          <a:prstGeom prst="line">
            <a:avLst/>
          </a:prstGeom>
          <a:noFill/>
          <a:ln w="12700">
            <a:solidFill>
              <a:srgbClr val="1A2B4A">
                <a:alpha val="28000"/>
              </a:srgbClr>
            </a:solidFill>
            <a:prstDash val="solid"/>
          </a:ln>
        </p:spPr>
      </p:sp>
      <p:sp>
        <p:nvSpPr>
          <p:cNvPr id="3" name="Shape 1"/>
          <p:cNvSpPr/>
          <p:nvPr/>
        </p:nvSpPr>
        <p:spPr>
          <a:xfrm rot="-2700000">
            <a:off x="347472" y="182880"/>
            <a:ext cx="457200" cy="0"/>
          </a:xfrm>
          <a:prstGeom prst="line">
            <a:avLst/>
          </a:prstGeom>
          <a:noFill/>
          <a:ln w="12700">
            <a:solidFill>
              <a:srgbClr val="1A2B4A">
                <a:alpha val="28000"/>
              </a:srgbClr>
            </a:solidFill>
            <a:prstDash val="solid"/>
          </a:ln>
        </p:spPr>
      </p:sp>
      <p:sp>
        <p:nvSpPr>
          <p:cNvPr id="4" name="Shape 2"/>
          <p:cNvSpPr/>
          <p:nvPr/>
        </p:nvSpPr>
        <p:spPr>
          <a:xfrm rot="-2700000">
            <a:off x="512064" y="182880"/>
            <a:ext cx="457200" cy="0"/>
          </a:xfrm>
          <a:prstGeom prst="line">
            <a:avLst/>
          </a:prstGeom>
          <a:noFill/>
          <a:ln w="12700">
            <a:solidFill>
              <a:srgbClr val="1A2B4A">
                <a:alpha val="28000"/>
              </a:srgbClr>
            </a:solidFill>
            <a:prstDash val="solid"/>
          </a:ln>
        </p:spPr>
      </p:sp>
      <p:sp>
        <p:nvSpPr>
          <p:cNvPr id="5" name="Shape 3"/>
          <p:cNvSpPr/>
          <p:nvPr/>
        </p:nvSpPr>
        <p:spPr>
          <a:xfrm rot="-2700000">
            <a:off x="676656" y="182880"/>
            <a:ext cx="457200" cy="0"/>
          </a:xfrm>
          <a:prstGeom prst="line">
            <a:avLst/>
          </a:prstGeom>
          <a:noFill/>
          <a:ln w="12700">
            <a:solidFill>
              <a:srgbClr val="1A2B4A">
                <a:alpha val="28000"/>
              </a:srgbClr>
            </a:solidFill>
            <a:prstDash val="solid"/>
          </a:ln>
        </p:spPr>
      </p:sp>
      <p:sp>
        <p:nvSpPr>
          <p:cNvPr id="6" name="Shape 4"/>
          <p:cNvSpPr/>
          <p:nvPr/>
        </p:nvSpPr>
        <p:spPr>
          <a:xfrm rot="-2700000">
            <a:off x="841248" y="182880"/>
            <a:ext cx="457200" cy="0"/>
          </a:xfrm>
          <a:prstGeom prst="line">
            <a:avLst/>
          </a:prstGeom>
          <a:noFill/>
          <a:ln w="12700">
            <a:solidFill>
              <a:srgbClr val="1A2B4A">
                <a:alpha val="28000"/>
              </a:srgbClr>
            </a:solidFill>
            <a:prstDash val="solid"/>
          </a:ln>
        </p:spPr>
      </p:sp>
      <p:sp>
        <p:nvSpPr>
          <p:cNvPr id="7" name="Shape 5"/>
          <p:cNvSpPr/>
          <p:nvPr/>
        </p:nvSpPr>
        <p:spPr>
          <a:xfrm rot="-2700000">
            <a:off x="1005840" y="182880"/>
            <a:ext cx="457200" cy="0"/>
          </a:xfrm>
          <a:prstGeom prst="line">
            <a:avLst/>
          </a:prstGeom>
          <a:noFill/>
          <a:ln w="12700">
            <a:solidFill>
              <a:srgbClr val="1A2B4A">
                <a:alpha val="28000"/>
              </a:srgbClr>
            </a:solidFill>
            <a:prstDash val="solid"/>
          </a:ln>
        </p:spPr>
      </p:sp>
      <p:sp>
        <p:nvSpPr>
          <p:cNvPr id="8" name="Shape 6"/>
          <p:cNvSpPr/>
          <p:nvPr/>
        </p:nvSpPr>
        <p:spPr>
          <a:xfrm rot="-2700000">
            <a:off x="1170432" y="182880"/>
            <a:ext cx="457200" cy="0"/>
          </a:xfrm>
          <a:prstGeom prst="line">
            <a:avLst/>
          </a:prstGeom>
          <a:noFill/>
          <a:ln w="12700">
            <a:solidFill>
              <a:srgbClr val="1A2B4A">
                <a:alpha val="28000"/>
              </a:srgbClr>
            </a:solidFill>
            <a:prstDash val="solid"/>
          </a:ln>
        </p:spPr>
      </p:sp>
      <p:sp>
        <p:nvSpPr>
          <p:cNvPr id="9" name="Shape 7"/>
          <p:cNvSpPr/>
          <p:nvPr/>
        </p:nvSpPr>
        <p:spPr>
          <a:xfrm>
            <a:off x="7680960" y="3291840"/>
            <a:ext cx="1828800" cy="1828800"/>
          </a:xfrm>
          <a:prstGeom prst="ellipse">
            <a:avLst/>
          </a:prstGeom>
          <a:ln w="19050">
            <a:solidFill>
              <a:srgbClr val="1A2B4A">
                <a:alpha val="18000"/>
              </a:srgbClr>
            </a:solidFill>
            <a:prstDash val="solid"/>
          </a:ln>
        </p:spPr>
      </p:sp>
      <p:sp>
        <p:nvSpPr>
          <p:cNvPr id="10" name="Shape 8"/>
          <p:cNvSpPr/>
          <p:nvPr/>
        </p:nvSpPr>
        <p:spPr>
          <a:xfrm>
            <a:off x="7982712" y="3593592"/>
            <a:ext cx="1225296" cy="1225296"/>
          </a:xfrm>
          <a:prstGeom prst="ellipse">
            <a:avLst/>
          </a:prstGeom>
          <a:ln w="19050">
            <a:solidFill>
              <a:srgbClr val="3B5FA0">
                <a:alpha val="25000"/>
              </a:srgbClr>
            </a:solidFill>
            <a:prstDash val="solid"/>
          </a:ln>
        </p:spPr>
      </p:sp>
      <p:sp>
        <p:nvSpPr>
          <p:cNvPr id="11" name="Shape 9"/>
          <p:cNvSpPr/>
          <p:nvPr/>
        </p:nvSpPr>
        <p:spPr>
          <a:xfrm>
            <a:off x="8247888" y="3858768"/>
            <a:ext cx="694944" cy="694944"/>
          </a:xfrm>
          <a:prstGeom prst="ellipse">
            <a:avLst/>
          </a:prstGeom>
          <a:ln w="19050">
            <a:solidFill>
              <a:srgbClr val="3A8C7E">
                <a:alpha val="32000"/>
              </a:srgbClr>
            </a:solidFill>
            <a:prstDash val="solid"/>
          </a:ln>
        </p:spPr>
      </p:sp>
      <p:sp>
        <p:nvSpPr>
          <p:cNvPr id="12" name="Text 10"/>
          <p:cNvSpPr/>
          <p:nvPr/>
        </p:nvSpPr>
        <p:spPr>
          <a:xfrm>
            <a:off x="411480" y="292608"/>
            <a:ext cx="8321040" cy="530352"/>
          </a:xfrm>
          <a:prstGeom prst="rect">
            <a:avLst/>
          </a:prstGeom>
          <a:noFill/>
          <a:ln/>
        </p:spPr>
        <p:txBody>
          <a:bodyPr wrap="square" lIns="0" tIns="0" rIns="0" bIns="0" rtlCol="0" anchor="ctr"/>
          <a:lstStyle/>
          <a:p>
            <a:pPr algn="l" indent="0" marL="0">
              <a:buNone/>
            </a:pPr>
            <a:r>
              <a:rPr lang="en-US" sz="2800" b="1" dirty="0">
                <a:solidFill>
                  <a:srgbClr val="1A2B4A"/>
                </a:solidFill>
                <a:latin typeface="Cambria" pitchFamily="34" charset="0"/>
                <a:ea typeface="Cambria" pitchFamily="34" charset="-122"/>
                <a:cs typeface="Cambria" pitchFamily="34" charset="-120"/>
              </a:rPr>
              <a:t>Implementation Details</a:t>
            </a:r>
            <a:endParaRPr lang="en-US" sz="2800" dirty="0"/>
          </a:p>
        </p:txBody>
      </p:sp>
      <p:sp>
        <p:nvSpPr>
          <p:cNvPr id="13" name="Shape 11"/>
          <p:cNvSpPr/>
          <p:nvPr/>
        </p:nvSpPr>
        <p:spPr>
          <a:xfrm>
            <a:off x="411480" y="868680"/>
            <a:ext cx="8229600" cy="0"/>
          </a:xfrm>
          <a:prstGeom prst="line">
            <a:avLst/>
          </a:prstGeom>
          <a:noFill/>
          <a:ln w="19050">
            <a:solidFill>
              <a:srgbClr val="3A8C7E">
                <a:alpha val="60000"/>
              </a:srgbClr>
            </a:solidFill>
            <a:prstDash val="solid"/>
          </a:ln>
        </p:spPr>
      </p:sp>
      <p:sp>
        <p:nvSpPr>
          <p:cNvPr id="14" name="Shape 12"/>
          <p:cNvSpPr/>
          <p:nvPr/>
        </p:nvSpPr>
        <p:spPr>
          <a:xfrm>
            <a:off x="411480" y="950976"/>
            <a:ext cx="8229600" cy="0"/>
          </a:xfrm>
          <a:prstGeom prst="line">
            <a:avLst/>
          </a:prstGeom>
          <a:noFill/>
          <a:ln w="10160">
            <a:solidFill>
              <a:srgbClr val="1A2B4A">
                <a:alpha val="45000"/>
              </a:srgbClr>
            </a:solidFill>
            <a:prstDash val="solid"/>
          </a:ln>
        </p:spPr>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384048" y="987552"/>
          <a:ext cx="8375904" cy="3913632"/>
        </p:xfrm>
        <a:graphic>
          <a:graphicData uri="http://schemas.openxmlformats.org/drawingml/2006/table">
            <a:tbl>
              <a:tblPr/>
              <a:tblGrid>
                <a:gridCol w="1645920"/>
                <a:gridCol w="1554480"/>
                <a:gridCol w="914400"/>
                <a:gridCol w="4261104"/>
              </a:tblGrid>
              <a:tr h="230214">
                <a:tc>
                  <a:txBody>
                    <a:bodyPr/>
                    <a:lstStyle/>
                    <a:p>
                      <a:pPr indent="0" marL="0">
                        <a:buNone/>
                      </a:pPr>
                      <a:r>
                        <a:rPr lang="en-US" sz="1200" b="1" dirty="0">
                          <a:solidFill>
                            <a:srgbClr val="FFFFFF"/>
                          </a:solidFill>
                        </a:rPr>
                        <a:t>Component</a:t>
                      </a:r>
                      <a:endParaRPr lang="en-US" sz="12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A2B4A"/>
                    </a:solidFill>
                  </a:tcPr>
                </a:tc>
                <a:tc>
                  <a:txBody>
                    <a:bodyPr/>
                    <a:lstStyle/>
                    <a:p>
                      <a:pPr indent="0" marL="0">
                        <a:buNone/>
                      </a:pPr>
                      <a:r>
                        <a:rPr lang="en-US" sz="1200" b="1" dirty="0">
                          <a:solidFill>
                            <a:srgbClr val="FFFFFF"/>
                          </a:solidFill>
                        </a:rPr>
                        <a:t>Library / Tool</a:t>
                      </a:r>
                      <a:endParaRPr lang="en-US" sz="12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A2B4A"/>
                    </a:solidFill>
                  </a:tcPr>
                </a:tc>
                <a:tc>
                  <a:txBody>
                    <a:bodyPr/>
                    <a:lstStyle/>
                    <a:p>
                      <a:pPr indent="0" marL="0">
                        <a:buNone/>
                      </a:pPr>
                      <a:r>
                        <a:rPr lang="en-US" sz="1200" b="1" dirty="0">
                          <a:solidFill>
                            <a:srgbClr val="FFFFFF"/>
                          </a:solidFill>
                        </a:rPr>
                        <a:t>Version</a:t>
                      </a:r>
                      <a:endParaRPr lang="en-US" sz="12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A2B4A"/>
                    </a:solidFill>
                  </a:tcPr>
                </a:tc>
                <a:tc>
                  <a:txBody>
                    <a:bodyPr/>
                    <a:lstStyle/>
                    <a:p>
                      <a:pPr indent="0" marL="0">
                        <a:buNone/>
                      </a:pPr>
                      <a:r>
                        <a:rPr lang="en-US" sz="1200" b="1" dirty="0">
                          <a:solidFill>
                            <a:srgbClr val="FFFFFF"/>
                          </a:solidFill>
                        </a:rPr>
                        <a:t>Role</a:t>
                      </a:r>
                      <a:endParaRPr lang="en-US" sz="12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A2B4A"/>
                    </a:solidFill>
                  </a:tcPr>
                </a:tc>
              </a:tr>
              <a:tr h="230214">
                <a:tc>
                  <a:txBody>
                    <a:bodyPr/>
                    <a:lstStyle/>
                    <a:p>
                      <a:pPr algn="l" indent="0" marL="0">
                        <a:buNone/>
                      </a:pPr>
                      <a:r>
                        <a:rPr lang="en-US" sz="1050" b="1" dirty="0">
                          <a:solidFill>
                            <a:srgbClr val="1A2B4A"/>
                          </a:solidFill>
                        </a:rPr>
                        <a:t>Language (backend)</a:t>
                      </a:r>
                      <a:endParaRPr lang="en-US" sz="105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4F7F9"/>
                    </a:solidFill>
                  </a:tcPr>
                </a:tc>
                <a:tc>
                  <a:txBody>
                    <a:bodyPr/>
                    <a:lstStyle/>
                    <a:p>
                      <a:pPr algn="l" indent="0" marL="0">
                        <a:buNone/>
                      </a:pPr>
                      <a:r>
                        <a:rPr lang="en-US" sz="1050" dirty="0">
                          <a:solidFill>
                            <a:srgbClr val="4A5568"/>
                          </a:solidFill>
                        </a:rPr>
                        <a:t>Python</a:t>
                      </a:r>
                      <a:endParaRPr lang="en-US" sz="105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4F7F9"/>
                    </a:solidFill>
                  </a:tcPr>
                </a:tc>
                <a:tc>
                  <a:txBody>
                    <a:bodyPr/>
                    <a:lstStyle/>
                    <a:p>
                      <a:pPr algn="ctr" indent="0" marL="0">
                        <a:buNone/>
                      </a:pPr>
                      <a:r>
                        <a:rPr lang="en-US" sz="1050" dirty="0">
                          <a:solidFill>
                            <a:srgbClr val="3A8C7E"/>
                          </a:solidFill>
                        </a:rPr>
                        <a:t>3.12</a:t>
                      </a:r>
                      <a:endParaRPr lang="en-US" sz="105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4F7F9"/>
                    </a:solidFill>
                  </a:tcPr>
                </a:tc>
                <a:tc>
                  <a:txBody>
                    <a:bodyPr/>
                    <a:lstStyle/>
                    <a:p>
                      <a:pPr algn="l" indent="0" marL="0">
                        <a:buNone/>
                      </a:pPr>
                      <a:r>
                        <a:rPr lang="en-US" sz="1050" dirty="0">
                          <a:solidFill>
                            <a:srgbClr val="4A5568"/>
                          </a:solidFill>
                        </a:rPr>
                        <a:t>Backend runtime — chosen for TF/Keras compatibility</a:t>
                      </a:r>
                      <a:endParaRPr lang="en-US" sz="105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4F7F9"/>
                    </a:solidFill>
                  </a:tcPr>
                </a:tc>
              </a:tr>
              <a:tr h="230214">
                <a:tc>
                  <a:txBody>
                    <a:bodyPr/>
                    <a:lstStyle/>
                    <a:p>
                      <a:pPr algn="l" indent="0" marL="0">
                        <a:buNone/>
                      </a:pPr>
                      <a:r>
                        <a:rPr lang="en-US" sz="1050" b="1" dirty="0">
                          <a:solidFill>
                            <a:srgbClr val="1A2B4A"/>
                          </a:solidFill>
                        </a:rPr>
                        <a:t>Language (frontend)</a:t>
                      </a:r>
                      <a:endParaRPr lang="en-US" sz="105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1050" dirty="0">
                          <a:solidFill>
                            <a:srgbClr val="4A5568"/>
                          </a:solidFill>
                        </a:rPr>
                        <a:t>TypeScript</a:t>
                      </a:r>
                      <a:endParaRPr lang="en-US" sz="105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3A8C7E"/>
                          </a:solidFill>
                        </a:rPr>
                        <a:t>5.x</a:t>
                      </a:r>
                      <a:endParaRPr lang="en-US" sz="105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1050" dirty="0">
                          <a:solidFill>
                            <a:srgbClr val="4A5568"/>
                          </a:solidFill>
                        </a:rPr>
                        <a:t>Type-safe frontend — compile-time schema matching</a:t>
                      </a:r>
                      <a:endParaRPr lang="en-US" sz="105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230214">
                <a:tc>
                  <a:txBody>
                    <a:bodyPr/>
                    <a:lstStyle/>
                    <a:p>
                      <a:pPr algn="l" indent="0" marL="0">
                        <a:buNone/>
                      </a:pPr>
                      <a:r>
                        <a:rPr lang="en-US" sz="1050" b="1" dirty="0">
                          <a:solidFill>
                            <a:srgbClr val="1A2B4A"/>
                          </a:solidFill>
                        </a:rPr>
                        <a:t>ML Framework</a:t>
                      </a:r>
                      <a:endParaRPr lang="en-US" sz="105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4F7F9"/>
                    </a:solidFill>
                  </a:tcPr>
                </a:tc>
                <a:tc>
                  <a:txBody>
                    <a:bodyPr/>
                    <a:lstStyle/>
                    <a:p>
                      <a:pPr algn="l" indent="0" marL="0">
                        <a:buNone/>
                      </a:pPr>
                      <a:r>
                        <a:rPr lang="en-US" sz="1050" dirty="0">
                          <a:solidFill>
                            <a:srgbClr val="4A5568"/>
                          </a:solidFill>
                        </a:rPr>
                        <a:t>TensorFlow / Keras</a:t>
                      </a:r>
                      <a:endParaRPr lang="en-US" sz="105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4F7F9"/>
                    </a:solidFill>
                  </a:tcPr>
                </a:tc>
                <a:tc>
                  <a:txBody>
                    <a:bodyPr/>
                    <a:lstStyle/>
                    <a:p>
                      <a:pPr algn="ctr" indent="0" marL="0">
                        <a:buNone/>
                      </a:pPr>
                      <a:r>
                        <a:rPr lang="en-US" sz="1050" dirty="0">
                          <a:solidFill>
                            <a:srgbClr val="3A8C7E"/>
                          </a:solidFill>
                        </a:rPr>
                        <a:t>2.16</a:t>
                      </a:r>
                      <a:endParaRPr lang="en-US" sz="105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4F7F9"/>
                    </a:solidFill>
                  </a:tcPr>
                </a:tc>
                <a:tc>
                  <a:txBody>
                    <a:bodyPr/>
                    <a:lstStyle/>
                    <a:p>
                      <a:pPr algn="l" indent="0" marL="0">
                        <a:buNone/>
                      </a:pPr>
                      <a:r>
                        <a:rPr lang="en-US" sz="1050" dirty="0">
                          <a:solidFill>
                            <a:srgbClr val="4A5568"/>
                          </a:solidFill>
                        </a:rPr>
                        <a:t>Model definition, training, and inference</a:t>
                      </a:r>
                      <a:endParaRPr lang="en-US" sz="105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4F7F9"/>
                    </a:solidFill>
                  </a:tcPr>
                </a:tc>
              </a:tr>
              <a:tr h="230214">
                <a:tc>
                  <a:txBody>
                    <a:bodyPr/>
                    <a:lstStyle/>
                    <a:p>
                      <a:pPr algn="l" indent="0" marL="0">
                        <a:buNone/>
                      </a:pPr>
                      <a:r>
                        <a:rPr lang="en-US" sz="1050" b="1" dirty="0">
                          <a:solidFill>
                            <a:srgbClr val="1A2B4A"/>
                          </a:solidFill>
                        </a:rPr>
                        <a:t>CNN Architecture</a:t>
                      </a:r>
                      <a:endParaRPr lang="en-US" sz="105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1050" dirty="0">
                          <a:solidFill>
                            <a:srgbClr val="4A5568"/>
                          </a:solidFill>
                        </a:rPr>
                        <a:t>MobileNetV2 (ImageNet)</a:t>
                      </a:r>
                      <a:endParaRPr lang="en-US" sz="105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3A8C7E"/>
                          </a:solidFill>
                        </a:rPr>
                        <a:t>Keras App</a:t>
                      </a:r>
                      <a:endParaRPr lang="en-US" sz="105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1050" dirty="0">
                          <a:solidFill>
                            <a:srgbClr val="4A5568"/>
                          </a:solidFill>
                        </a:rPr>
                        <a:t>Transfer learning base — 11.6 MB, ~380 ms CPU</a:t>
                      </a:r>
                      <a:endParaRPr lang="en-US" sz="105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230214">
                <a:tc>
                  <a:txBody>
                    <a:bodyPr/>
                    <a:lstStyle/>
                    <a:p>
                      <a:pPr algn="l" indent="0" marL="0">
                        <a:buNone/>
                      </a:pPr>
                      <a:r>
                        <a:rPr lang="en-US" sz="1050" b="1" dirty="0">
                          <a:solidFill>
                            <a:srgbClr val="1A2B4A"/>
                          </a:solidFill>
                        </a:rPr>
                        <a:t>Image Processing</a:t>
                      </a:r>
                      <a:endParaRPr lang="en-US" sz="105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4F7F9"/>
                    </a:solidFill>
                  </a:tcPr>
                </a:tc>
                <a:tc>
                  <a:txBody>
                    <a:bodyPr/>
                    <a:lstStyle/>
                    <a:p>
                      <a:pPr algn="l" indent="0" marL="0">
                        <a:buNone/>
                      </a:pPr>
                      <a:r>
                        <a:rPr lang="en-US" sz="1050" dirty="0">
                          <a:solidFill>
                            <a:srgbClr val="4A5568"/>
                          </a:solidFill>
                        </a:rPr>
                        <a:t>Pillow</a:t>
                      </a:r>
                      <a:endParaRPr lang="en-US" sz="105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4F7F9"/>
                    </a:solidFill>
                  </a:tcPr>
                </a:tc>
                <a:tc>
                  <a:txBody>
                    <a:bodyPr/>
                    <a:lstStyle/>
                    <a:p>
                      <a:pPr algn="ctr" indent="0" marL="0">
                        <a:buNone/>
                      </a:pPr>
                      <a:r>
                        <a:rPr lang="en-US" sz="1050" dirty="0">
                          <a:solidFill>
                            <a:srgbClr val="3A8C7E"/>
                          </a:solidFill>
                        </a:rPr>
                        <a:t>10.x</a:t>
                      </a:r>
                      <a:endParaRPr lang="en-US" sz="105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4F7F9"/>
                    </a:solidFill>
                  </a:tcPr>
                </a:tc>
                <a:tc>
                  <a:txBody>
                    <a:bodyPr/>
                    <a:lstStyle/>
                    <a:p>
                      <a:pPr algn="l" indent="0" marL="0">
                        <a:buNone/>
                      </a:pPr>
                      <a:r>
                        <a:rPr lang="en-US" sz="1050" dirty="0">
                          <a:solidFill>
                            <a:srgbClr val="4A5568"/>
                          </a:solidFill>
                        </a:rPr>
                        <a:t>Load, RGB convert, resize, normalise</a:t>
                      </a:r>
                      <a:endParaRPr lang="en-US" sz="105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4F7F9"/>
                    </a:solidFill>
                  </a:tcPr>
                </a:tc>
              </a:tr>
              <a:tr h="230214">
                <a:tc>
                  <a:txBody>
                    <a:bodyPr/>
                    <a:lstStyle/>
                    <a:p>
                      <a:pPr algn="l" indent="0" marL="0">
                        <a:buNone/>
                      </a:pPr>
                      <a:r>
                        <a:rPr lang="en-US" sz="1050" b="1" dirty="0">
                          <a:solidFill>
                            <a:srgbClr val="1A2B4A"/>
                          </a:solidFill>
                        </a:rPr>
                        <a:t>Web Framework</a:t>
                      </a:r>
                      <a:endParaRPr lang="en-US" sz="105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1050" dirty="0">
                          <a:solidFill>
                            <a:srgbClr val="4A5568"/>
                          </a:solidFill>
                        </a:rPr>
                        <a:t>FastAPI</a:t>
                      </a:r>
                      <a:endParaRPr lang="en-US" sz="105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3A8C7E"/>
                          </a:solidFill>
                        </a:rPr>
                        <a:t>0.115+</a:t>
                      </a:r>
                      <a:endParaRPr lang="en-US" sz="105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1050" dirty="0">
                          <a:solidFill>
                            <a:srgbClr val="4A5568"/>
                          </a:solidFill>
                        </a:rPr>
                        <a:t>Async REST API, auto OpenAPI docs</a:t>
                      </a:r>
                      <a:endParaRPr lang="en-US" sz="105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230214">
                <a:tc>
                  <a:txBody>
                    <a:bodyPr/>
                    <a:lstStyle/>
                    <a:p>
                      <a:pPr algn="l" indent="0" marL="0">
                        <a:buNone/>
                      </a:pPr>
                      <a:r>
                        <a:rPr lang="en-US" sz="1050" b="1" dirty="0">
                          <a:solidFill>
                            <a:srgbClr val="1A2B4A"/>
                          </a:solidFill>
                        </a:rPr>
                        <a:t>ASGI Server</a:t>
                      </a:r>
                      <a:endParaRPr lang="en-US" sz="105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4F7F9"/>
                    </a:solidFill>
                  </a:tcPr>
                </a:tc>
                <a:tc>
                  <a:txBody>
                    <a:bodyPr/>
                    <a:lstStyle/>
                    <a:p>
                      <a:pPr algn="l" indent="0" marL="0">
                        <a:buNone/>
                      </a:pPr>
                      <a:r>
                        <a:rPr lang="en-US" sz="1050" dirty="0">
                          <a:solidFill>
                            <a:srgbClr val="4A5568"/>
                          </a:solidFill>
                        </a:rPr>
                        <a:t>Uvicorn</a:t>
                      </a:r>
                      <a:endParaRPr lang="en-US" sz="105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4F7F9"/>
                    </a:solidFill>
                  </a:tcPr>
                </a:tc>
                <a:tc>
                  <a:txBody>
                    <a:bodyPr/>
                    <a:lstStyle/>
                    <a:p>
                      <a:pPr algn="ctr" indent="0" marL="0">
                        <a:buNone/>
                      </a:pPr>
                      <a:r>
                        <a:rPr lang="en-US" sz="1050" dirty="0">
                          <a:solidFill>
                            <a:srgbClr val="3A8C7E"/>
                          </a:solidFill>
                        </a:rPr>
                        <a:t>0.30+</a:t>
                      </a:r>
                      <a:endParaRPr lang="en-US" sz="105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4F7F9"/>
                    </a:solidFill>
                  </a:tcPr>
                </a:tc>
                <a:tc>
                  <a:txBody>
                    <a:bodyPr/>
                    <a:lstStyle/>
                    <a:p>
                      <a:pPr algn="l" indent="0" marL="0">
                        <a:buNone/>
                      </a:pPr>
                      <a:r>
                        <a:rPr lang="en-US" sz="1050" dirty="0">
                          <a:solidFill>
                            <a:srgbClr val="4A5568"/>
                          </a:solidFill>
                        </a:rPr>
                        <a:t>Production ASGI server for FastAPI</a:t>
                      </a:r>
                      <a:endParaRPr lang="en-US" sz="105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4F7F9"/>
                    </a:solidFill>
                  </a:tcPr>
                </a:tc>
              </a:tr>
              <a:tr h="230214">
                <a:tc>
                  <a:txBody>
                    <a:bodyPr/>
                    <a:lstStyle/>
                    <a:p>
                      <a:pPr algn="l" indent="0" marL="0">
                        <a:buNone/>
                      </a:pPr>
                      <a:r>
                        <a:rPr lang="en-US" sz="1050" b="1" dirty="0">
                          <a:solidFill>
                            <a:srgbClr val="1A2B4A"/>
                          </a:solidFill>
                        </a:rPr>
                        <a:t>Database ORM</a:t>
                      </a:r>
                      <a:endParaRPr lang="en-US" sz="105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1050" dirty="0">
                          <a:solidFill>
                            <a:srgbClr val="4A5568"/>
                          </a:solidFill>
                        </a:rPr>
                        <a:t>SQLAlchemy</a:t>
                      </a:r>
                      <a:endParaRPr lang="en-US" sz="105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3A8C7E"/>
                          </a:solidFill>
                        </a:rPr>
                        <a:t>2.0</a:t>
                      </a:r>
                      <a:endParaRPr lang="en-US" sz="105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1050" dirty="0">
                          <a:solidFill>
                            <a:srgbClr val="4A5568"/>
                          </a:solidFill>
                        </a:rPr>
                        <a:t>Async multi-backend (MySQL dev / PostgreSQL prod)</a:t>
                      </a:r>
                      <a:endParaRPr lang="en-US" sz="105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230214">
                <a:tc>
                  <a:txBody>
                    <a:bodyPr/>
                    <a:lstStyle/>
                    <a:p>
                      <a:pPr algn="l" indent="0" marL="0">
                        <a:buNone/>
                      </a:pPr>
                      <a:r>
                        <a:rPr lang="en-US" sz="1050" b="1" dirty="0">
                          <a:solidFill>
                            <a:srgbClr val="1A2B4A"/>
                          </a:solidFill>
                        </a:rPr>
                        <a:t>Frontend Framework</a:t>
                      </a:r>
                      <a:endParaRPr lang="en-US" sz="105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4F7F9"/>
                    </a:solidFill>
                  </a:tcPr>
                </a:tc>
                <a:tc>
                  <a:txBody>
                    <a:bodyPr/>
                    <a:lstStyle/>
                    <a:p>
                      <a:pPr algn="l" indent="0" marL="0">
                        <a:buNone/>
                      </a:pPr>
                      <a:r>
                        <a:rPr lang="en-US" sz="1050" dirty="0">
                          <a:solidFill>
                            <a:srgbClr val="4A5568"/>
                          </a:solidFill>
                        </a:rPr>
                        <a:t>Next.js</a:t>
                      </a:r>
                      <a:endParaRPr lang="en-US" sz="105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4F7F9"/>
                    </a:solidFill>
                  </a:tcPr>
                </a:tc>
                <a:tc>
                  <a:txBody>
                    <a:bodyPr/>
                    <a:lstStyle/>
                    <a:p>
                      <a:pPr algn="ctr" indent="0" marL="0">
                        <a:buNone/>
                      </a:pPr>
                      <a:r>
                        <a:rPr lang="en-US" sz="1050" dirty="0">
                          <a:solidFill>
                            <a:srgbClr val="3A8C7E"/>
                          </a:solidFill>
                        </a:rPr>
                        <a:t>16.2.1</a:t>
                      </a:r>
                      <a:endParaRPr lang="en-US" sz="105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4F7F9"/>
                    </a:solidFill>
                  </a:tcPr>
                </a:tc>
                <a:tc>
                  <a:txBody>
                    <a:bodyPr/>
                    <a:lstStyle/>
                    <a:p>
                      <a:pPr algn="l" indent="0" marL="0">
                        <a:buNone/>
                      </a:pPr>
                      <a:r>
                        <a:rPr lang="en-US" sz="1050" dirty="0">
                          <a:solidFill>
                            <a:srgbClr val="4A5568"/>
                          </a:solidFill>
                        </a:rPr>
                        <a:t>App Router, server-render landing, 8 routes</a:t>
                      </a:r>
                      <a:endParaRPr lang="en-US" sz="105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4F7F9"/>
                    </a:solidFill>
                  </a:tcPr>
                </a:tc>
              </a:tr>
              <a:tr h="230214">
                <a:tc>
                  <a:txBody>
                    <a:bodyPr/>
                    <a:lstStyle/>
                    <a:p>
                      <a:pPr algn="l" indent="0" marL="0">
                        <a:buNone/>
                      </a:pPr>
                      <a:r>
                        <a:rPr lang="en-US" sz="1050" b="1" dirty="0">
                          <a:solidFill>
                            <a:srgbClr val="1A2B4A"/>
                          </a:solidFill>
                        </a:rPr>
                        <a:t>UI Components</a:t>
                      </a:r>
                      <a:endParaRPr lang="en-US" sz="105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1050" dirty="0">
                          <a:solidFill>
                            <a:srgbClr val="4A5568"/>
                          </a:solidFill>
                        </a:rPr>
                        <a:t>React</a:t>
                      </a:r>
                      <a:endParaRPr lang="en-US" sz="105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3A8C7E"/>
                          </a:solidFill>
                        </a:rPr>
                        <a:t>19.2.4</a:t>
                      </a:r>
                      <a:endParaRPr lang="en-US" sz="105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1050" dirty="0">
                          <a:solidFill>
                            <a:srgbClr val="4A5568"/>
                          </a:solidFill>
                        </a:rPr>
                        <a:t>28 hand-built components, no external library</a:t>
                      </a:r>
                      <a:endParaRPr lang="en-US" sz="105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230214">
                <a:tc>
                  <a:txBody>
                    <a:bodyPr/>
                    <a:lstStyle/>
                    <a:p>
                      <a:pPr algn="l" indent="0" marL="0">
                        <a:buNone/>
                      </a:pPr>
                      <a:r>
                        <a:rPr lang="en-US" sz="1050" b="1" dirty="0">
                          <a:solidFill>
                            <a:srgbClr val="1A2B4A"/>
                          </a:solidFill>
                        </a:rPr>
                        <a:t>Styling</a:t>
                      </a:r>
                      <a:endParaRPr lang="en-US" sz="105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4F7F9"/>
                    </a:solidFill>
                  </a:tcPr>
                </a:tc>
                <a:tc>
                  <a:txBody>
                    <a:bodyPr/>
                    <a:lstStyle/>
                    <a:p>
                      <a:pPr algn="l" indent="0" marL="0">
                        <a:buNone/>
                      </a:pPr>
                      <a:r>
                        <a:rPr lang="en-US" sz="1050" dirty="0">
                          <a:solidFill>
                            <a:srgbClr val="4A5568"/>
                          </a:solidFill>
                        </a:rPr>
                        <a:t>Tailwind CSS</a:t>
                      </a:r>
                      <a:endParaRPr lang="en-US" sz="105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4F7F9"/>
                    </a:solidFill>
                  </a:tcPr>
                </a:tc>
                <a:tc>
                  <a:txBody>
                    <a:bodyPr/>
                    <a:lstStyle/>
                    <a:p>
                      <a:pPr algn="ctr" indent="0" marL="0">
                        <a:buNone/>
                      </a:pPr>
                      <a:r>
                        <a:rPr lang="en-US" sz="1050" dirty="0">
                          <a:solidFill>
                            <a:srgbClr val="3A8C7E"/>
                          </a:solidFill>
                        </a:rPr>
                        <a:t>v4</a:t>
                      </a:r>
                      <a:endParaRPr lang="en-US" sz="105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4F7F9"/>
                    </a:solidFill>
                  </a:tcPr>
                </a:tc>
                <a:tc>
                  <a:txBody>
                    <a:bodyPr/>
                    <a:lstStyle/>
                    <a:p>
                      <a:pPr algn="l" indent="0" marL="0">
                        <a:buNone/>
                      </a:pPr>
                      <a:r>
                        <a:rPr lang="en-US" sz="1050" dirty="0">
                          <a:solidFill>
                            <a:srgbClr val="4A5568"/>
                          </a:solidFill>
                        </a:rPr>
                        <a:t>Utility-first, dark-mode PWA aesthetic</a:t>
                      </a:r>
                      <a:endParaRPr lang="en-US" sz="105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4F7F9"/>
                    </a:solidFill>
                  </a:tcPr>
                </a:tc>
              </a:tr>
              <a:tr h="230214">
                <a:tc>
                  <a:txBody>
                    <a:bodyPr/>
                    <a:lstStyle/>
                    <a:p>
                      <a:pPr algn="l" indent="0" marL="0">
                        <a:buNone/>
                      </a:pPr>
                      <a:r>
                        <a:rPr lang="en-US" sz="1050" b="1" dirty="0">
                          <a:solidFill>
                            <a:srgbClr val="1A2B4A"/>
                          </a:solidFill>
                        </a:rPr>
                        <a:t>Password Hashing</a:t>
                      </a:r>
                      <a:endParaRPr lang="en-US" sz="105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1050" dirty="0">
                          <a:solidFill>
                            <a:srgbClr val="4A5568"/>
                          </a:solidFill>
                        </a:rPr>
                        <a:t>passlib (bcrypt)</a:t>
                      </a:r>
                      <a:endParaRPr lang="en-US" sz="105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3A8C7E"/>
                          </a:solidFill>
                        </a:rPr>
                        <a:t>1.7</a:t>
                      </a:r>
                      <a:endParaRPr lang="en-US" sz="105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1050" dirty="0">
                          <a:solidFill>
                            <a:srgbClr val="4A5568"/>
                          </a:solidFill>
                        </a:rPr>
                        <a:t>SHA-256 pre-hash → bcrypt 12 rounds</a:t>
                      </a:r>
                      <a:endParaRPr lang="en-US" sz="105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230214">
                <a:tc>
                  <a:txBody>
                    <a:bodyPr/>
                    <a:lstStyle/>
                    <a:p>
                      <a:pPr algn="l" indent="0" marL="0">
                        <a:buNone/>
                      </a:pPr>
                      <a:r>
                        <a:rPr lang="en-US" sz="1050" b="1" dirty="0">
                          <a:solidFill>
                            <a:srgbClr val="1A2B4A"/>
                          </a:solidFill>
                        </a:rPr>
                        <a:t>JWT Auth</a:t>
                      </a:r>
                      <a:endParaRPr lang="en-US" sz="105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4F7F9"/>
                    </a:solidFill>
                  </a:tcPr>
                </a:tc>
                <a:tc>
                  <a:txBody>
                    <a:bodyPr/>
                    <a:lstStyle/>
                    <a:p>
                      <a:pPr algn="l" indent="0" marL="0">
                        <a:buNone/>
                      </a:pPr>
                      <a:r>
                        <a:rPr lang="en-US" sz="1050" dirty="0">
                          <a:solidFill>
                            <a:srgbClr val="4A5568"/>
                          </a:solidFill>
                        </a:rPr>
                        <a:t>python-jose</a:t>
                      </a:r>
                      <a:endParaRPr lang="en-US" sz="105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4F7F9"/>
                    </a:solidFill>
                  </a:tcPr>
                </a:tc>
                <a:tc>
                  <a:txBody>
                    <a:bodyPr/>
                    <a:lstStyle/>
                    <a:p>
                      <a:pPr algn="ctr" indent="0" marL="0">
                        <a:buNone/>
                      </a:pPr>
                      <a:r>
                        <a:rPr lang="en-US" sz="1050" dirty="0">
                          <a:solidFill>
                            <a:srgbClr val="3A8C7E"/>
                          </a:solidFill>
                        </a:rPr>
                        <a:t>3.x</a:t>
                      </a:r>
                      <a:endParaRPr lang="en-US" sz="105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4F7F9"/>
                    </a:solidFill>
                  </a:tcPr>
                </a:tc>
                <a:tc>
                  <a:txBody>
                    <a:bodyPr/>
                    <a:lstStyle/>
                    <a:p>
                      <a:pPr algn="l" indent="0" marL="0">
                        <a:buNone/>
                      </a:pPr>
                      <a:r>
                        <a:rPr lang="en-US" sz="1050" dirty="0">
                          <a:solidFill>
                            <a:srgbClr val="4A5568"/>
                          </a:solidFill>
                        </a:rPr>
                        <a:t>HS256 tokens, 30-min expiry</a:t>
                      </a:r>
                      <a:endParaRPr lang="en-US" sz="105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4F7F9"/>
                    </a:solidFill>
                  </a:tcPr>
                </a:tc>
              </a:tr>
              <a:tr h="230214">
                <a:tc>
                  <a:txBody>
                    <a:bodyPr/>
                    <a:lstStyle/>
                    <a:p>
                      <a:pPr algn="l" indent="0" marL="0">
                        <a:buNone/>
                      </a:pPr>
                      <a:r>
                        <a:rPr lang="en-US" sz="1050" b="1" dirty="0">
                          <a:solidFill>
                            <a:srgbClr val="1A2B4A"/>
                          </a:solidFill>
                        </a:rPr>
                        <a:t>Validation</a:t>
                      </a:r>
                      <a:endParaRPr lang="en-US" sz="105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1050" dirty="0">
                          <a:solidFill>
                            <a:srgbClr val="4A5568"/>
                          </a:solidFill>
                        </a:rPr>
                        <a:t>Pydantic</a:t>
                      </a:r>
                      <a:endParaRPr lang="en-US" sz="105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3A8C7E"/>
                          </a:solidFill>
                        </a:rPr>
                        <a:t>v2</a:t>
                      </a:r>
                      <a:endParaRPr lang="en-US" sz="105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1050" dirty="0">
                          <a:solidFill>
                            <a:srgbClr val="4A5568"/>
                          </a:solidFill>
                        </a:rPr>
                        <a:t>Request/response schemas, settings management</a:t>
                      </a:r>
                      <a:endParaRPr lang="en-US" sz="105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230214">
                <a:tc>
                  <a:txBody>
                    <a:bodyPr/>
                    <a:lstStyle/>
                    <a:p>
                      <a:pPr algn="l" indent="0" marL="0">
                        <a:buNone/>
                      </a:pPr>
                      <a:r>
                        <a:rPr lang="en-US" sz="1050" b="1" dirty="0">
                          <a:solidFill>
                            <a:srgbClr val="1A2B4A"/>
                          </a:solidFill>
                        </a:rPr>
                        <a:t>Deployment (backend)</a:t>
                      </a:r>
                      <a:endParaRPr lang="en-US" sz="105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4F7F9"/>
                    </a:solidFill>
                  </a:tcPr>
                </a:tc>
                <a:tc>
                  <a:txBody>
                    <a:bodyPr/>
                    <a:lstStyle/>
                    <a:p>
                      <a:pPr algn="l" indent="0" marL="0">
                        <a:buNone/>
                      </a:pPr>
                      <a:r>
                        <a:rPr lang="en-US" sz="1050" dirty="0">
                          <a:solidFill>
                            <a:srgbClr val="4A5568"/>
                          </a:solidFill>
                        </a:rPr>
                        <a:t>Render</a:t>
                      </a:r>
                      <a:endParaRPr lang="en-US" sz="105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4F7F9"/>
                    </a:solidFill>
                  </a:tcPr>
                </a:tc>
                <a:tc>
                  <a:txBody>
                    <a:bodyPr/>
                    <a:lstStyle/>
                    <a:p>
                      <a:pPr algn="ctr" indent="0" marL="0">
                        <a:buNone/>
                      </a:pPr>
                      <a:r>
                        <a:rPr lang="en-US" sz="1050" dirty="0">
                          <a:solidFill>
                            <a:srgbClr val="3A8C7E"/>
                          </a:solidFill>
                        </a:rPr>
                        <a:t>—</a:t>
                      </a:r>
                      <a:endParaRPr lang="en-US" sz="105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4F7F9"/>
                    </a:solidFill>
                  </a:tcPr>
                </a:tc>
                <a:tc>
                  <a:txBody>
                    <a:bodyPr/>
                    <a:lstStyle/>
                    <a:p>
                      <a:pPr algn="l" indent="0" marL="0">
                        <a:buNone/>
                      </a:pPr>
                      <a:r>
                        <a:rPr lang="en-US" sz="1050" dirty="0">
                          <a:solidFill>
                            <a:srgbClr val="4A5568"/>
                          </a:solidFill>
                        </a:rPr>
                        <a:t>PostgreSQL + FastAPI, asyncpg driver</a:t>
                      </a:r>
                      <a:endParaRPr lang="en-US" sz="105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4F7F9"/>
                    </a:solidFill>
                  </a:tcPr>
                </a:tc>
              </a:tr>
              <a:tr h="230214">
                <a:tc>
                  <a:txBody>
                    <a:bodyPr/>
                    <a:lstStyle/>
                    <a:p>
                      <a:pPr algn="l" indent="0" marL="0">
                        <a:buNone/>
                      </a:pPr>
                      <a:r>
                        <a:rPr lang="en-US" sz="1050" b="1" dirty="0">
                          <a:solidFill>
                            <a:srgbClr val="1A2B4A"/>
                          </a:solidFill>
                        </a:rPr>
                        <a:t>Deployment (frontend)</a:t>
                      </a:r>
                      <a:endParaRPr lang="en-US" sz="105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1050" dirty="0">
                          <a:solidFill>
                            <a:srgbClr val="4A5568"/>
                          </a:solidFill>
                        </a:rPr>
                        <a:t>Vercel</a:t>
                      </a:r>
                      <a:endParaRPr lang="en-US" sz="105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3A8C7E"/>
                          </a:solidFill>
                        </a:rPr>
                        <a:t>—</a:t>
                      </a:r>
                      <a:endParaRPr lang="en-US" sz="105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1050" dirty="0">
                          <a:solidFill>
                            <a:srgbClr val="4A5568"/>
                          </a:solidFill>
                        </a:rPr>
                        <a:t>PWA CDN hosting</a:t>
                      </a:r>
                      <a:endParaRPr lang="en-US" sz="105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bl>
          </a:graphicData>
        </a:graphic>
      </p:graphicFrame>
      <p:sp>
        <p:nvSpPr>
          <p:cNvPr id="16" name="Shape 13"/>
          <p:cNvSpPr/>
          <p:nvPr/>
        </p:nvSpPr>
        <p:spPr>
          <a:xfrm>
            <a:off x="384048" y="4919472"/>
            <a:ext cx="8375904" cy="256032"/>
          </a:xfrm>
          <a:prstGeom prst="rect">
            <a:avLst/>
          </a:prstGeom>
          <a:solidFill>
            <a:srgbClr val="E3EEF8"/>
          </a:solidFill>
          <a:ln w="6350">
            <a:solidFill>
              <a:srgbClr val="1A2B4A">
                <a:alpha val="40000"/>
              </a:srgbClr>
            </a:solidFill>
            <a:prstDash val="solid"/>
          </a:ln>
          <a:effectLst>
            <a:outerShdw sx="100000" sy="100000" kx="0" ky="0" algn="bl" rotWithShape="0" blurRad="101600" dist="38100" dir="2700000">
              <a:srgbClr val="000000">
                <a:alpha val="10000"/>
              </a:srgbClr>
            </a:outerShdw>
          </a:effectLst>
        </p:spPr>
      </p:sp>
      <p:sp>
        <p:nvSpPr>
          <p:cNvPr id="17" name="Text 14"/>
          <p:cNvSpPr/>
          <p:nvPr/>
        </p:nvSpPr>
        <p:spPr>
          <a:xfrm>
            <a:off x="548640" y="4937760"/>
            <a:ext cx="8138160" cy="219456"/>
          </a:xfrm>
          <a:prstGeom prst="rect">
            <a:avLst/>
          </a:prstGeom>
          <a:noFill/>
          <a:ln/>
        </p:spPr>
        <p:txBody>
          <a:bodyPr wrap="square" lIns="0" tIns="0" rIns="0" bIns="0" rtlCol="0" anchor="ctr"/>
          <a:lstStyle/>
          <a:p>
            <a:pPr algn="ctr" indent="0" marL="0">
              <a:buNone/>
            </a:pPr>
            <a:r>
              <a:rPr lang="en-US" sz="1050" b="1" dirty="0">
                <a:solidFill>
                  <a:srgbClr val="1A2B4A"/>
                </a:solidFill>
                <a:latin typeface="Calibri" pitchFamily="34" charset="0"/>
                <a:ea typeface="Calibri" pitchFamily="34" charset="-122"/>
                <a:cs typeface="Calibri" pitchFamily="34" charset="-120"/>
              </a:rPr>
              <a:t>Fixed random_state=42 throughout · pinned library versions · reproducible pipeline · inference &lt; 200 ms per request on commodity CPU</a:t>
            </a:r>
            <a:endParaRPr lang="en-US" sz="10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EBEBEB"/>
        </a:solidFill>
      </p:bgPr>
    </p:bg>
    <p:spTree>
      <p:nvGrpSpPr>
        <p:cNvPr id="1" name=""/>
        <p:cNvGrpSpPr/>
        <p:nvPr/>
      </p:nvGrpSpPr>
      <p:grpSpPr>
        <a:xfrm>
          <a:off x="0" y="0"/>
          <a:ext cx="0" cy="0"/>
          <a:chOff x="0" y="0"/>
          <a:chExt cx="0" cy="0"/>
        </a:xfrm>
      </p:grpSpPr>
      <p:sp>
        <p:nvSpPr>
          <p:cNvPr id="2" name="Shape 0"/>
          <p:cNvSpPr/>
          <p:nvPr/>
        </p:nvSpPr>
        <p:spPr>
          <a:xfrm>
            <a:off x="8092440" y="3840480"/>
            <a:ext cx="64008" cy="64008"/>
          </a:xfrm>
          <a:prstGeom prst="ellipse">
            <a:avLst/>
          </a:prstGeom>
          <a:solidFill>
            <a:srgbClr val="1A2B4A">
              <a:alpha val="25000"/>
            </a:srgbClr>
          </a:solidFill>
          <a:ln/>
        </p:spPr>
      </p:sp>
      <p:sp>
        <p:nvSpPr>
          <p:cNvPr id="3" name="Shape 1"/>
          <p:cNvSpPr/>
          <p:nvPr/>
        </p:nvSpPr>
        <p:spPr>
          <a:xfrm>
            <a:off x="8293608" y="3840480"/>
            <a:ext cx="64008" cy="64008"/>
          </a:xfrm>
          <a:prstGeom prst="ellipse">
            <a:avLst/>
          </a:prstGeom>
          <a:solidFill>
            <a:srgbClr val="1A2B4A">
              <a:alpha val="25000"/>
            </a:srgbClr>
          </a:solidFill>
          <a:ln/>
        </p:spPr>
      </p:sp>
      <p:sp>
        <p:nvSpPr>
          <p:cNvPr id="4" name="Shape 2"/>
          <p:cNvSpPr/>
          <p:nvPr/>
        </p:nvSpPr>
        <p:spPr>
          <a:xfrm>
            <a:off x="8494776" y="3840480"/>
            <a:ext cx="64008" cy="64008"/>
          </a:xfrm>
          <a:prstGeom prst="ellipse">
            <a:avLst/>
          </a:prstGeom>
          <a:solidFill>
            <a:srgbClr val="1A2B4A">
              <a:alpha val="25000"/>
            </a:srgbClr>
          </a:solidFill>
          <a:ln/>
        </p:spPr>
      </p:sp>
      <p:sp>
        <p:nvSpPr>
          <p:cNvPr id="5" name="Shape 3"/>
          <p:cNvSpPr/>
          <p:nvPr/>
        </p:nvSpPr>
        <p:spPr>
          <a:xfrm>
            <a:off x="8695944" y="3840480"/>
            <a:ext cx="64008" cy="64008"/>
          </a:xfrm>
          <a:prstGeom prst="ellipse">
            <a:avLst/>
          </a:prstGeom>
          <a:solidFill>
            <a:srgbClr val="1A2B4A">
              <a:alpha val="25000"/>
            </a:srgbClr>
          </a:solidFill>
          <a:ln/>
        </p:spPr>
      </p:sp>
      <p:sp>
        <p:nvSpPr>
          <p:cNvPr id="6" name="Shape 4"/>
          <p:cNvSpPr/>
          <p:nvPr/>
        </p:nvSpPr>
        <p:spPr>
          <a:xfrm>
            <a:off x="8897112" y="3840480"/>
            <a:ext cx="64008" cy="64008"/>
          </a:xfrm>
          <a:prstGeom prst="ellipse">
            <a:avLst/>
          </a:prstGeom>
          <a:solidFill>
            <a:srgbClr val="1A2B4A">
              <a:alpha val="25000"/>
            </a:srgbClr>
          </a:solidFill>
          <a:ln/>
        </p:spPr>
      </p:sp>
      <p:sp>
        <p:nvSpPr>
          <p:cNvPr id="7" name="Shape 5"/>
          <p:cNvSpPr/>
          <p:nvPr/>
        </p:nvSpPr>
        <p:spPr>
          <a:xfrm>
            <a:off x="8092440" y="4041648"/>
            <a:ext cx="64008" cy="64008"/>
          </a:xfrm>
          <a:prstGeom prst="ellipse">
            <a:avLst/>
          </a:prstGeom>
          <a:solidFill>
            <a:srgbClr val="1A2B4A">
              <a:alpha val="25000"/>
            </a:srgbClr>
          </a:solidFill>
          <a:ln/>
        </p:spPr>
      </p:sp>
      <p:sp>
        <p:nvSpPr>
          <p:cNvPr id="8" name="Shape 6"/>
          <p:cNvSpPr/>
          <p:nvPr/>
        </p:nvSpPr>
        <p:spPr>
          <a:xfrm>
            <a:off x="8293608" y="4041648"/>
            <a:ext cx="64008" cy="64008"/>
          </a:xfrm>
          <a:prstGeom prst="ellipse">
            <a:avLst/>
          </a:prstGeom>
          <a:solidFill>
            <a:srgbClr val="1A2B4A">
              <a:alpha val="25000"/>
            </a:srgbClr>
          </a:solidFill>
          <a:ln/>
        </p:spPr>
      </p:sp>
      <p:sp>
        <p:nvSpPr>
          <p:cNvPr id="9" name="Shape 7"/>
          <p:cNvSpPr/>
          <p:nvPr/>
        </p:nvSpPr>
        <p:spPr>
          <a:xfrm>
            <a:off x="8494776" y="4041648"/>
            <a:ext cx="64008" cy="64008"/>
          </a:xfrm>
          <a:prstGeom prst="ellipse">
            <a:avLst/>
          </a:prstGeom>
          <a:solidFill>
            <a:srgbClr val="1A2B4A">
              <a:alpha val="25000"/>
            </a:srgbClr>
          </a:solidFill>
          <a:ln/>
        </p:spPr>
      </p:sp>
      <p:sp>
        <p:nvSpPr>
          <p:cNvPr id="10" name="Shape 8"/>
          <p:cNvSpPr/>
          <p:nvPr/>
        </p:nvSpPr>
        <p:spPr>
          <a:xfrm>
            <a:off x="8695944" y="4041648"/>
            <a:ext cx="64008" cy="64008"/>
          </a:xfrm>
          <a:prstGeom prst="ellipse">
            <a:avLst/>
          </a:prstGeom>
          <a:solidFill>
            <a:srgbClr val="1A2B4A">
              <a:alpha val="25000"/>
            </a:srgbClr>
          </a:solidFill>
          <a:ln/>
        </p:spPr>
      </p:sp>
      <p:sp>
        <p:nvSpPr>
          <p:cNvPr id="11" name="Shape 9"/>
          <p:cNvSpPr/>
          <p:nvPr/>
        </p:nvSpPr>
        <p:spPr>
          <a:xfrm>
            <a:off x="8897112" y="4041648"/>
            <a:ext cx="64008" cy="64008"/>
          </a:xfrm>
          <a:prstGeom prst="ellipse">
            <a:avLst/>
          </a:prstGeom>
          <a:solidFill>
            <a:srgbClr val="1A2B4A">
              <a:alpha val="25000"/>
            </a:srgbClr>
          </a:solidFill>
          <a:ln/>
        </p:spPr>
      </p:sp>
      <p:sp>
        <p:nvSpPr>
          <p:cNvPr id="12" name="Shape 10"/>
          <p:cNvSpPr/>
          <p:nvPr/>
        </p:nvSpPr>
        <p:spPr>
          <a:xfrm>
            <a:off x="8092440" y="4242816"/>
            <a:ext cx="64008" cy="64008"/>
          </a:xfrm>
          <a:prstGeom prst="ellipse">
            <a:avLst/>
          </a:prstGeom>
          <a:solidFill>
            <a:srgbClr val="1A2B4A">
              <a:alpha val="25000"/>
            </a:srgbClr>
          </a:solidFill>
          <a:ln/>
        </p:spPr>
      </p:sp>
      <p:sp>
        <p:nvSpPr>
          <p:cNvPr id="13" name="Shape 11"/>
          <p:cNvSpPr/>
          <p:nvPr/>
        </p:nvSpPr>
        <p:spPr>
          <a:xfrm>
            <a:off x="8293608" y="4242816"/>
            <a:ext cx="64008" cy="64008"/>
          </a:xfrm>
          <a:prstGeom prst="ellipse">
            <a:avLst/>
          </a:prstGeom>
          <a:solidFill>
            <a:srgbClr val="1A2B4A">
              <a:alpha val="25000"/>
            </a:srgbClr>
          </a:solidFill>
          <a:ln/>
        </p:spPr>
      </p:sp>
      <p:sp>
        <p:nvSpPr>
          <p:cNvPr id="14" name="Shape 12"/>
          <p:cNvSpPr/>
          <p:nvPr/>
        </p:nvSpPr>
        <p:spPr>
          <a:xfrm>
            <a:off x="8494776" y="4242816"/>
            <a:ext cx="64008" cy="64008"/>
          </a:xfrm>
          <a:prstGeom prst="ellipse">
            <a:avLst/>
          </a:prstGeom>
          <a:solidFill>
            <a:srgbClr val="1A2B4A">
              <a:alpha val="25000"/>
            </a:srgbClr>
          </a:solidFill>
          <a:ln/>
        </p:spPr>
      </p:sp>
      <p:sp>
        <p:nvSpPr>
          <p:cNvPr id="15" name="Shape 13"/>
          <p:cNvSpPr/>
          <p:nvPr/>
        </p:nvSpPr>
        <p:spPr>
          <a:xfrm>
            <a:off x="8695944" y="4242816"/>
            <a:ext cx="64008" cy="64008"/>
          </a:xfrm>
          <a:prstGeom prst="ellipse">
            <a:avLst/>
          </a:prstGeom>
          <a:solidFill>
            <a:srgbClr val="1A2B4A">
              <a:alpha val="25000"/>
            </a:srgbClr>
          </a:solidFill>
          <a:ln/>
        </p:spPr>
      </p:sp>
      <p:sp>
        <p:nvSpPr>
          <p:cNvPr id="16" name="Shape 14"/>
          <p:cNvSpPr/>
          <p:nvPr/>
        </p:nvSpPr>
        <p:spPr>
          <a:xfrm>
            <a:off x="8897112" y="4242816"/>
            <a:ext cx="64008" cy="64008"/>
          </a:xfrm>
          <a:prstGeom prst="ellipse">
            <a:avLst/>
          </a:prstGeom>
          <a:solidFill>
            <a:srgbClr val="1A2B4A">
              <a:alpha val="25000"/>
            </a:srgbClr>
          </a:solidFill>
          <a:ln/>
        </p:spPr>
      </p:sp>
      <p:sp>
        <p:nvSpPr>
          <p:cNvPr id="17" name="Shape 15"/>
          <p:cNvSpPr/>
          <p:nvPr/>
        </p:nvSpPr>
        <p:spPr>
          <a:xfrm>
            <a:off x="8092440" y="4443984"/>
            <a:ext cx="64008" cy="64008"/>
          </a:xfrm>
          <a:prstGeom prst="ellipse">
            <a:avLst/>
          </a:prstGeom>
          <a:solidFill>
            <a:srgbClr val="1A2B4A">
              <a:alpha val="25000"/>
            </a:srgbClr>
          </a:solidFill>
          <a:ln/>
        </p:spPr>
      </p:sp>
      <p:sp>
        <p:nvSpPr>
          <p:cNvPr id="18" name="Shape 16"/>
          <p:cNvSpPr/>
          <p:nvPr/>
        </p:nvSpPr>
        <p:spPr>
          <a:xfrm>
            <a:off x="8293608" y="4443984"/>
            <a:ext cx="64008" cy="64008"/>
          </a:xfrm>
          <a:prstGeom prst="ellipse">
            <a:avLst/>
          </a:prstGeom>
          <a:solidFill>
            <a:srgbClr val="1A2B4A">
              <a:alpha val="25000"/>
            </a:srgbClr>
          </a:solidFill>
          <a:ln/>
        </p:spPr>
      </p:sp>
      <p:sp>
        <p:nvSpPr>
          <p:cNvPr id="19" name="Shape 17"/>
          <p:cNvSpPr/>
          <p:nvPr/>
        </p:nvSpPr>
        <p:spPr>
          <a:xfrm>
            <a:off x="8494776" y="4443984"/>
            <a:ext cx="64008" cy="64008"/>
          </a:xfrm>
          <a:prstGeom prst="ellipse">
            <a:avLst/>
          </a:prstGeom>
          <a:solidFill>
            <a:srgbClr val="1A2B4A">
              <a:alpha val="25000"/>
            </a:srgbClr>
          </a:solidFill>
          <a:ln/>
        </p:spPr>
      </p:sp>
      <p:sp>
        <p:nvSpPr>
          <p:cNvPr id="20" name="Shape 18"/>
          <p:cNvSpPr/>
          <p:nvPr/>
        </p:nvSpPr>
        <p:spPr>
          <a:xfrm>
            <a:off x="8695944" y="4443984"/>
            <a:ext cx="64008" cy="64008"/>
          </a:xfrm>
          <a:prstGeom prst="ellipse">
            <a:avLst/>
          </a:prstGeom>
          <a:solidFill>
            <a:srgbClr val="1A2B4A">
              <a:alpha val="25000"/>
            </a:srgbClr>
          </a:solidFill>
          <a:ln/>
        </p:spPr>
      </p:sp>
      <p:sp>
        <p:nvSpPr>
          <p:cNvPr id="21" name="Shape 19"/>
          <p:cNvSpPr/>
          <p:nvPr/>
        </p:nvSpPr>
        <p:spPr>
          <a:xfrm>
            <a:off x="8897112" y="4443984"/>
            <a:ext cx="64008" cy="64008"/>
          </a:xfrm>
          <a:prstGeom prst="ellipse">
            <a:avLst/>
          </a:prstGeom>
          <a:solidFill>
            <a:srgbClr val="1A2B4A">
              <a:alpha val="25000"/>
            </a:srgbClr>
          </a:solidFill>
          <a:ln/>
        </p:spPr>
      </p:sp>
      <p:sp>
        <p:nvSpPr>
          <p:cNvPr id="22" name="Shape 20"/>
          <p:cNvSpPr/>
          <p:nvPr/>
        </p:nvSpPr>
        <p:spPr>
          <a:xfrm>
            <a:off x="8092440" y="4645152"/>
            <a:ext cx="64008" cy="64008"/>
          </a:xfrm>
          <a:prstGeom prst="ellipse">
            <a:avLst/>
          </a:prstGeom>
          <a:solidFill>
            <a:srgbClr val="1A2B4A">
              <a:alpha val="25000"/>
            </a:srgbClr>
          </a:solidFill>
          <a:ln/>
        </p:spPr>
      </p:sp>
      <p:sp>
        <p:nvSpPr>
          <p:cNvPr id="23" name="Shape 21"/>
          <p:cNvSpPr/>
          <p:nvPr/>
        </p:nvSpPr>
        <p:spPr>
          <a:xfrm>
            <a:off x="8293608" y="4645152"/>
            <a:ext cx="64008" cy="64008"/>
          </a:xfrm>
          <a:prstGeom prst="ellipse">
            <a:avLst/>
          </a:prstGeom>
          <a:solidFill>
            <a:srgbClr val="1A2B4A">
              <a:alpha val="25000"/>
            </a:srgbClr>
          </a:solidFill>
          <a:ln/>
        </p:spPr>
      </p:sp>
      <p:sp>
        <p:nvSpPr>
          <p:cNvPr id="24" name="Shape 22"/>
          <p:cNvSpPr/>
          <p:nvPr/>
        </p:nvSpPr>
        <p:spPr>
          <a:xfrm>
            <a:off x="8494776" y="4645152"/>
            <a:ext cx="64008" cy="64008"/>
          </a:xfrm>
          <a:prstGeom prst="ellipse">
            <a:avLst/>
          </a:prstGeom>
          <a:solidFill>
            <a:srgbClr val="1A2B4A">
              <a:alpha val="25000"/>
            </a:srgbClr>
          </a:solidFill>
          <a:ln/>
        </p:spPr>
      </p:sp>
      <p:sp>
        <p:nvSpPr>
          <p:cNvPr id="25" name="Shape 23"/>
          <p:cNvSpPr/>
          <p:nvPr/>
        </p:nvSpPr>
        <p:spPr>
          <a:xfrm>
            <a:off x="8695944" y="4645152"/>
            <a:ext cx="64008" cy="64008"/>
          </a:xfrm>
          <a:prstGeom prst="ellipse">
            <a:avLst/>
          </a:prstGeom>
          <a:solidFill>
            <a:srgbClr val="1A2B4A">
              <a:alpha val="25000"/>
            </a:srgbClr>
          </a:solidFill>
          <a:ln/>
        </p:spPr>
      </p:sp>
      <p:sp>
        <p:nvSpPr>
          <p:cNvPr id="26" name="Shape 24"/>
          <p:cNvSpPr/>
          <p:nvPr/>
        </p:nvSpPr>
        <p:spPr>
          <a:xfrm>
            <a:off x="8897112" y="4645152"/>
            <a:ext cx="64008" cy="64008"/>
          </a:xfrm>
          <a:prstGeom prst="ellipse">
            <a:avLst/>
          </a:prstGeom>
          <a:solidFill>
            <a:srgbClr val="1A2B4A">
              <a:alpha val="25000"/>
            </a:srgbClr>
          </a:solidFill>
          <a:ln/>
        </p:spPr>
      </p:sp>
      <p:sp>
        <p:nvSpPr>
          <p:cNvPr id="27" name="Shape 25"/>
          <p:cNvSpPr/>
          <p:nvPr/>
        </p:nvSpPr>
        <p:spPr>
          <a:xfrm>
            <a:off x="411480" y="4846320"/>
            <a:ext cx="1280160" cy="109728"/>
          </a:xfrm>
          <a:prstGeom prst="roundRect">
            <a:avLst>
              <a:gd name="adj" fmla="val 50000"/>
            </a:avLst>
          </a:prstGeom>
          <a:solidFill>
            <a:srgbClr val="1A2B4A">
              <a:alpha val="40000"/>
            </a:srgbClr>
          </a:solidFill>
          <a:ln/>
        </p:spPr>
      </p:sp>
      <p:sp>
        <p:nvSpPr>
          <p:cNvPr id="28" name="Text 26"/>
          <p:cNvSpPr/>
          <p:nvPr/>
        </p:nvSpPr>
        <p:spPr>
          <a:xfrm>
            <a:off x="411480" y="292608"/>
            <a:ext cx="8321040" cy="530352"/>
          </a:xfrm>
          <a:prstGeom prst="rect">
            <a:avLst/>
          </a:prstGeom>
          <a:noFill/>
          <a:ln/>
        </p:spPr>
        <p:txBody>
          <a:bodyPr wrap="square" lIns="0" tIns="0" rIns="0" bIns="0" rtlCol="0" anchor="ctr"/>
          <a:lstStyle/>
          <a:p>
            <a:pPr algn="l" indent="0" marL="0">
              <a:buNone/>
            </a:pPr>
            <a:r>
              <a:rPr lang="en-US" sz="2800" b="1" dirty="0">
                <a:solidFill>
                  <a:srgbClr val="1A2B4A"/>
                </a:solidFill>
                <a:latin typeface="Cambria" pitchFamily="34" charset="0"/>
                <a:ea typeface="Cambria" pitchFamily="34" charset="-122"/>
                <a:cs typeface="Cambria" pitchFamily="34" charset="-120"/>
              </a:rPr>
              <a:t>System Workflow</a:t>
            </a:r>
            <a:endParaRPr lang="en-US" sz="2800" dirty="0"/>
          </a:p>
        </p:txBody>
      </p:sp>
      <p:sp>
        <p:nvSpPr>
          <p:cNvPr id="29" name="Text 27"/>
          <p:cNvSpPr/>
          <p:nvPr/>
        </p:nvSpPr>
        <p:spPr>
          <a:xfrm>
            <a:off x="411480" y="841248"/>
            <a:ext cx="8321040" cy="329184"/>
          </a:xfrm>
          <a:prstGeom prst="rect">
            <a:avLst/>
          </a:prstGeom>
          <a:noFill/>
          <a:ln/>
        </p:spPr>
        <p:txBody>
          <a:bodyPr wrap="square" lIns="0" tIns="0" rIns="0" bIns="0" rtlCol="0" anchor="ctr"/>
          <a:lstStyle/>
          <a:p>
            <a:pPr algn="l" indent="0" marL="0">
              <a:buNone/>
            </a:pPr>
            <a:r>
              <a:rPr lang="en-US" sz="1400" b="1" dirty="0">
                <a:solidFill>
                  <a:srgbClr val="3A8C7E"/>
                </a:solidFill>
                <a:latin typeface="Calibri" pitchFamily="34" charset="0"/>
                <a:ea typeface="Calibri" pitchFamily="34" charset="-122"/>
                <a:cs typeface="Calibri" pitchFamily="34" charset="-120"/>
              </a:rPr>
              <a:t>From photograph to personalised shelf-life recommendation  ·  end-to-end &lt; 2 seconds</a:t>
            </a:r>
            <a:endParaRPr lang="en-US" sz="1400" dirty="0"/>
          </a:p>
        </p:txBody>
      </p:sp>
      <p:sp>
        <p:nvSpPr>
          <p:cNvPr id="30" name="Shape 28"/>
          <p:cNvSpPr/>
          <p:nvPr/>
        </p:nvSpPr>
        <p:spPr>
          <a:xfrm>
            <a:off x="411480" y="868680"/>
            <a:ext cx="8229600" cy="0"/>
          </a:xfrm>
          <a:prstGeom prst="line">
            <a:avLst/>
          </a:prstGeom>
          <a:noFill/>
          <a:ln w="19050">
            <a:solidFill>
              <a:srgbClr val="3A8C7E">
                <a:alpha val="60000"/>
              </a:srgbClr>
            </a:solidFill>
            <a:prstDash val="solid"/>
          </a:ln>
        </p:spPr>
      </p:sp>
      <p:sp>
        <p:nvSpPr>
          <p:cNvPr id="31" name="Shape 29"/>
          <p:cNvSpPr/>
          <p:nvPr/>
        </p:nvSpPr>
        <p:spPr>
          <a:xfrm>
            <a:off x="411480" y="950976"/>
            <a:ext cx="8229600" cy="0"/>
          </a:xfrm>
          <a:prstGeom prst="line">
            <a:avLst/>
          </a:prstGeom>
          <a:noFill/>
          <a:ln w="10160">
            <a:solidFill>
              <a:srgbClr val="1A2B4A">
                <a:alpha val="45000"/>
              </a:srgbClr>
            </a:solidFill>
            <a:prstDash val="solid"/>
          </a:ln>
        </p:spPr>
      </p:sp>
      <p:sp>
        <p:nvSpPr>
          <p:cNvPr id="32" name="Shape 30"/>
          <p:cNvSpPr/>
          <p:nvPr/>
        </p:nvSpPr>
        <p:spPr>
          <a:xfrm>
            <a:off x="384048" y="1207008"/>
            <a:ext cx="4187952" cy="859536"/>
          </a:xfrm>
          <a:prstGeom prst="roundRect">
            <a:avLst>
              <a:gd name="adj" fmla="val 12766"/>
            </a:avLst>
          </a:prstGeom>
          <a:solidFill>
            <a:srgbClr val="F4F7F9"/>
          </a:solidFill>
          <a:ln w="6350">
            <a:solidFill>
              <a:srgbClr val="1A2B4A">
                <a:alpha val="40000"/>
              </a:srgbClr>
            </a:solidFill>
            <a:prstDash val="solid"/>
          </a:ln>
          <a:effectLst>
            <a:outerShdw sx="100000" sy="100000" kx="0" ky="0" algn="bl" rotWithShape="0" blurRad="101600" dist="38100" dir="2700000">
              <a:srgbClr val="000000">
                <a:alpha val="10000"/>
              </a:srgbClr>
            </a:outerShdw>
          </a:effectLst>
        </p:spPr>
      </p:sp>
      <p:sp>
        <p:nvSpPr>
          <p:cNvPr id="33" name="Shape 31"/>
          <p:cNvSpPr/>
          <p:nvPr/>
        </p:nvSpPr>
        <p:spPr>
          <a:xfrm>
            <a:off x="484632" y="1435608"/>
            <a:ext cx="402336" cy="402336"/>
          </a:xfrm>
          <a:prstGeom prst="ellipse">
            <a:avLst/>
          </a:prstGeom>
          <a:solidFill>
            <a:srgbClr val="3A8C7E"/>
          </a:solidFill>
          <a:ln/>
        </p:spPr>
      </p:sp>
      <p:sp>
        <p:nvSpPr>
          <p:cNvPr id="34" name="Text 32"/>
          <p:cNvSpPr/>
          <p:nvPr/>
        </p:nvSpPr>
        <p:spPr>
          <a:xfrm>
            <a:off x="484632" y="1435608"/>
            <a:ext cx="402336" cy="402336"/>
          </a:xfrm>
          <a:prstGeom prst="rect">
            <a:avLst/>
          </a:prstGeom>
          <a:noFill/>
          <a:ln/>
        </p:spPr>
        <p:txBody>
          <a:bodyPr wrap="square" lIns="0" tIns="0" rIns="0" bIns="0" rtlCol="0" anchor="ctr"/>
          <a:lstStyle/>
          <a:p>
            <a:pPr algn="ctr" indent="0" marL="0">
              <a:buNone/>
            </a:pPr>
            <a:r>
              <a:rPr lang="en-US" sz="1100" b="1" dirty="0">
                <a:solidFill>
                  <a:srgbClr val="FFFFFF"/>
                </a:solidFill>
              </a:rPr>
              <a:t>1</a:t>
            </a:r>
            <a:endParaRPr lang="en-US" sz="1100" dirty="0"/>
          </a:p>
        </p:txBody>
      </p:sp>
      <p:sp>
        <p:nvSpPr>
          <p:cNvPr id="35" name="Text 33"/>
          <p:cNvSpPr/>
          <p:nvPr/>
        </p:nvSpPr>
        <p:spPr>
          <a:xfrm>
            <a:off x="1005840" y="1261872"/>
            <a:ext cx="3474720" cy="237744"/>
          </a:xfrm>
          <a:prstGeom prst="rect">
            <a:avLst/>
          </a:prstGeom>
          <a:noFill/>
          <a:ln/>
        </p:spPr>
        <p:txBody>
          <a:bodyPr wrap="square" lIns="0" tIns="0" rIns="0" bIns="0" rtlCol="0" anchor="ctr"/>
          <a:lstStyle/>
          <a:p>
            <a:pPr indent="0" marL="0">
              <a:buNone/>
            </a:pPr>
            <a:r>
              <a:rPr lang="en-US" sz="1200" b="1" dirty="0">
                <a:solidFill>
                  <a:srgbClr val="1A2B4A"/>
                </a:solidFill>
                <a:latin typeface="Calibri" pitchFamily="34" charset="0"/>
                <a:ea typeface="Calibri" pitchFamily="34" charset="-122"/>
                <a:cs typeface="Calibri" pitchFamily="34" charset="-120"/>
              </a:rPr>
              <a:t>Capture</a:t>
            </a:r>
            <a:endParaRPr lang="en-US" sz="1200" dirty="0"/>
          </a:p>
        </p:txBody>
      </p:sp>
      <p:sp>
        <p:nvSpPr>
          <p:cNvPr id="36" name="Text 34"/>
          <p:cNvSpPr/>
          <p:nvPr/>
        </p:nvSpPr>
        <p:spPr>
          <a:xfrm>
            <a:off x="1005840" y="1517904"/>
            <a:ext cx="3474720" cy="512064"/>
          </a:xfrm>
          <a:prstGeom prst="rect">
            <a:avLst/>
          </a:prstGeom>
          <a:noFill/>
          <a:ln/>
        </p:spPr>
        <p:txBody>
          <a:bodyPr wrap="square" lIns="0" tIns="0" rIns="0" bIns="0" rtlCol="0" anchor="t"/>
          <a:lstStyle/>
          <a:p>
            <a:pPr indent="0" marL="0">
              <a:buNone/>
            </a:pPr>
            <a:r>
              <a:rPr lang="en-US" sz="1000" dirty="0">
                <a:solidFill>
                  <a:srgbClr val="4A5568"/>
                </a:solidFill>
                <a:latin typeface="Calibri" pitchFamily="34" charset="0"/>
                <a:ea typeface="Calibri" pitchFamily="34" charset="-122"/>
                <a:cs typeface="Calibri" pitchFamily="34" charset="-120"/>
              </a:rPr>
              <a:t>User opens PWA, taps scan button. CameraView component calls navigator.mediaDevices.getUserMedia({video:{facingMode:'environment'}}). On approval, draws live video frame to canvas → exports JPEG at 0.92 quality. On denial, falls back to file &lt;input&gt;.</a:t>
            </a:r>
            <a:endParaRPr lang="en-US" sz="1000" dirty="0"/>
          </a:p>
        </p:txBody>
      </p:sp>
      <p:sp>
        <p:nvSpPr>
          <p:cNvPr id="37" name="Shape 35"/>
          <p:cNvSpPr/>
          <p:nvPr/>
        </p:nvSpPr>
        <p:spPr>
          <a:xfrm>
            <a:off x="384048" y="2157984"/>
            <a:ext cx="4187952" cy="859536"/>
          </a:xfrm>
          <a:prstGeom prst="roundRect">
            <a:avLst>
              <a:gd name="adj" fmla="val 12766"/>
            </a:avLst>
          </a:prstGeom>
          <a:solidFill>
            <a:srgbClr val="F4F7F9"/>
          </a:solidFill>
          <a:ln w="6350">
            <a:solidFill>
              <a:srgbClr val="1A2B4A">
                <a:alpha val="40000"/>
              </a:srgbClr>
            </a:solidFill>
            <a:prstDash val="solid"/>
          </a:ln>
          <a:effectLst>
            <a:outerShdw sx="100000" sy="100000" kx="0" ky="0" algn="bl" rotWithShape="0" blurRad="101600" dist="38100" dir="2700000">
              <a:srgbClr val="000000">
                <a:alpha val="10000"/>
              </a:srgbClr>
            </a:outerShdw>
          </a:effectLst>
        </p:spPr>
      </p:sp>
      <p:sp>
        <p:nvSpPr>
          <p:cNvPr id="38" name="Shape 36"/>
          <p:cNvSpPr/>
          <p:nvPr/>
        </p:nvSpPr>
        <p:spPr>
          <a:xfrm>
            <a:off x="484632" y="2386584"/>
            <a:ext cx="402336" cy="402336"/>
          </a:xfrm>
          <a:prstGeom prst="ellipse">
            <a:avLst/>
          </a:prstGeom>
          <a:solidFill>
            <a:srgbClr val="3A8C7E"/>
          </a:solidFill>
          <a:ln/>
        </p:spPr>
      </p:sp>
      <p:sp>
        <p:nvSpPr>
          <p:cNvPr id="39" name="Text 37"/>
          <p:cNvSpPr/>
          <p:nvPr/>
        </p:nvSpPr>
        <p:spPr>
          <a:xfrm>
            <a:off x="484632" y="2386584"/>
            <a:ext cx="402336" cy="402336"/>
          </a:xfrm>
          <a:prstGeom prst="rect">
            <a:avLst/>
          </a:prstGeom>
          <a:noFill/>
          <a:ln/>
        </p:spPr>
        <p:txBody>
          <a:bodyPr wrap="square" lIns="0" tIns="0" rIns="0" bIns="0" rtlCol="0" anchor="ctr"/>
          <a:lstStyle/>
          <a:p>
            <a:pPr algn="ctr" indent="0" marL="0">
              <a:buNone/>
            </a:pPr>
            <a:r>
              <a:rPr lang="en-US" sz="1100" b="1" dirty="0">
                <a:solidFill>
                  <a:srgbClr val="FFFFFF"/>
                </a:solidFill>
              </a:rPr>
              <a:t>2</a:t>
            </a:r>
            <a:endParaRPr lang="en-US" sz="1100" dirty="0"/>
          </a:p>
        </p:txBody>
      </p:sp>
      <p:sp>
        <p:nvSpPr>
          <p:cNvPr id="40" name="Text 38"/>
          <p:cNvSpPr/>
          <p:nvPr/>
        </p:nvSpPr>
        <p:spPr>
          <a:xfrm>
            <a:off x="1005840" y="2212848"/>
            <a:ext cx="3474720" cy="237744"/>
          </a:xfrm>
          <a:prstGeom prst="rect">
            <a:avLst/>
          </a:prstGeom>
          <a:noFill/>
          <a:ln/>
        </p:spPr>
        <p:txBody>
          <a:bodyPr wrap="square" lIns="0" tIns="0" rIns="0" bIns="0" rtlCol="0" anchor="ctr"/>
          <a:lstStyle/>
          <a:p>
            <a:pPr indent="0" marL="0">
              <a:buNone/>
            </a:pPr>
            <a:r>
              <a:rPr lang="en-US" sz="1200" b="1" dirty="0">
                <a:solidFill>
                  <a:srgbClr val="1A2B4A"/>
                </a:solidFill>
                <a:latin typeface="Calibri" pitchFamily="34" charset="0"/>
                <a:ea typeface="Calibri" pitchFamily="34" charset="-122"/>
                <a:cs typeface="Calibri" pitchFamily="34" charset="-120"/>
              </a:rPr>
              <a:t>Upload</a:t>
            </a:r>
            <a:endParaRPr lang="en-US" sz="1200" dirty="0"/>
          </a:p>
        </p:txBody>
      </p:sp>
      <p:sp>
        <p:nvSpPr>
          <p:cNvPr id="41" name="Text 39"/>
          <p:cNvSpPr/>
          <p:nvPr/>
        </p:nvSpPr>
        <p:spPr>
          <a:xfrm>
            <a:off x="1005840" y="2468880"/>
            <a:ext cx="3474720" cy="512064"/>
          </a:xfrm>
          <a:prstGeom prst="rect">
            <a:avLst/>
          </a:prstGeom>
          <a:noFill/>
          <a:ln/>
        </p:spPr>
        <p:txBody>
          <a:bodyPr wrap="square" lIns="0" tIns="0" rIns="0" bIns="0" rtlCol="0" anchor="t"/>
          <a:lstStyle/>
          <a:p>
            <a:pPr indent="0" marL="0">
              <a:buNone/>
            </a:pPr>
            <a:r>
              <a:rPr lang="en-US" sz="1000" dirty="0">
                <a:solidFill>
                  <a:srgbClr val="4A5568"/>
                </a:solidFill>
                <a:latin typeface="Calibri" pitchFamily="34" charset="0"/>
                <a:ea typeface="Calibri" pitchFamily="34" charset="-122"/>
                <a:cs typeface="Calibri" pitchFamily="34" charset="-120"/>
              </a:rPr>
              <a:t>JPEG blob sent as multipart/form-data to FastAPI /api/scan/ with JWT Bearer token in Authorization header. AbortController sets 30-second timeout. Request validated by Pydantic: MIME type, max 10 MB.</a:t>
            </a:r>
            <a:endParaRPr lang="en-US" sz="1000" dirty="0"/>
          </a:p>
        </p:txBody>
      </p:sp>
      <p:sp>
        <p:nvSpPr>
          <p:cNvPr id="42" name="Shape 40"/>
          <p:cNvSpPr/>
          <p:nvPr/>
        </p:nvSpPr>
        <p:spPr>
          <a:xfrm>
            <a:off x="384048" y="3108960"/>
            <a:ext cx="4187952" cy="859536"/>
          </a:xfrm>
          <a:prstGeom prst="roundRect">
            <a:avLst>
              <a:gd name="adj" fmla="val 12766"/>
            </a:avLst>
          </a:prstGeom>
          <a:solidFill>
            <a:srgbClr val="F4F7F9"/>
          </a:solidFill>
          <a:ln w="6350">
            <a:solidFill>
              <a:srgbClr val="1A2B4A">
                <a:alpha val="40000"/>
              </a:srgbClr>
            </a:solidFill>
            <a:prstDash val="solid"/>
          </a:ln>
          <a:effectLst>
            <a:outerShdw sx="100000" sy="100000" kx="0" ky="0" algn="bl" rotWithShape="0" blurRad="101600" dist="38100" dir="2700000">
              <a:srgbClr val="000000">
                <a:alpha val="10000"/>
              </a:srgbClr>
            </a:outerShdw>
          </a:effectLst>
        </p:spPr>
      </p:sp>
      <p:sp>
        <p:nvSpPr>
          <p:cNvPr id="43" name="Shape 41"/>
          <p:cNvSpPr/>
          <p:nvPr/>
        </p:nvSpPr>
        <p:spPr>
          <a:xfrm>
            <a:off x="484632" y="3337560"/>
            <a:ext cx="402336" cy="402336"/>
          </a:xfrm>
          <a:prstGeom prst="ellipse">
            <a:avLst/>
          </a:prstGeom>
          <a:solidFill>
            <a:srgbClr val="3A8C7E"/>
          </a:solidFill>
          <a:ln/>
        </p:spPr>
      </p:sp>
      <p:sp>
        <p:nvSpPr>
          <p:cNvPr id="44" name="Text 42"/>
          <p:cNvSpPr/>
          <p:nvPr/>
        </p:nvSpPr>
        <p:spPr>
          <a:xfrm>
            <a:off x="484632" y="3337560"/>
            <a:ext cx="402336" cy="402336"/>
          </a:xfrm>
          <a:prstGeom prst="rect">
            <a:avLst/>
          </a:prstGeom>
          <a:noFill/>
          <a:ln/>
        </p:spPr>
        <p:txBody>
          <a:bodyPr wrap="square" lIns="0" tIns="0" rIns="0" bIns="0" rtlCol="0" anchor="ctr"/>
          <a:lstStyle/>
          <a:p>
            <a:pPr algn="ctr" indent="0" marL="0">
              <a:buNone/>
            </a:pPr>
            <a:r>
              <a:rPr lang="en-US" sz="1100" b="1" dirty="0">
                <a:solidFill>
                  <a:srgbClr val="FFFFFF"/>
                </a:solidFill>
              </a:rPr>
              <a:t>3</a:t>
            </a:r>
            <a:endParaRPr lang="en-US" sz="1100" dirty="0"/>
          </a:p>
        </p:txBody>
      </p:sp>
      <p:sp>
        <p:nvSpPr>
          <p:cNvPr id="45" name="Text 43"/>
          <p:cNvSpPr/>
          <p:nvPr/>
        </p:nvSpPr>
        <p:spPr>
          <a:xfrm>
            <a:off x="1005840" y="3163824"/>
            <a:ext cx="3474720" cy="237744"/>
          </a:xfrm>
          <a:prstGeom prst="rect">
            <a:avLst/>
          </a:prstGeom>
          <a:noFill/>
          <a:ln/>
        </p:spPr>
        <p:txBody>
          <a:bodyPr wrap="square" lIns="0" tIns="0" rIns="0" bIns="0" rtlCol="0" anchor="ctr"/>
          <a:lstStyle/>
          <a:p>
            <a:pPr indent="0" marL="0">
              <a:buNone/>
            </a:pPr>
            <a:r>
              <a:rPr lang="en-US" sz="1200" b="1" dirty="0">
                <a:solidFill>
                  <a:srgbClr val="1A2B4A"/>
                </a:solidFill>
                <a:latin typeface="Calibri" pitchFamily="34" charset="0"/>
                <a:ea typeface="Calibri" pitchFamily="34" charset="-122"/>
                <a:cs typeface="Calibri" pitchFamily="34" charset="-120"/>
              </a:rPr>
              <a:t>Classify</a:t>
            </a:r>
            <a:endParaRPr lang="en-US" sz="1200" dirty="0"/>
          </a:p>
        </p:txBody>
      </p:sp>
      <p:sp>
        <p:nvSpPr>
          <p:cNvPr id="46" name="Text 44"/>
          <p:cNvSpPr/>
          <p:nvPr/>
        </p:nvSpPr>
        <p:spPr>
          <a:xfrm>
            <a:off x="1005840" y="3419856"/>
            <a:ext cx="3474720" cy="512064"/>
          </a:xfrm>
          <a:prstGeom prst="rect">
            <a:avLst/>
          </a:prstGeom>
          <a:noFill/>
          <a:ln/>
        </p:spPr>
        <p:txBody>
          <a:bodyPr wrap="square" lIns="0" tIns="0" rIns="0" bIns="0" rtlCol="0" anchor="t"/>
          <a:lstStyle/>
          <a:p>
            <a:pPr indent="0" marL="0">
              <a:buNone/>
            </a:pPr>
            <a:r>
              <a:rPr lang="en-US" sz="1000" dirty="0">
                <a:solidFill>
                  <a:srgbClr val="4A5568"/>
                </a:solidFill>
                <a:latin typeface="Calibri" pitchFamily="34" charset="0"/>
                <a:ea typeface="Calibri" pitchFamily="34" charset="-122"/>
                <a:cs typeface="Calibri" pitchFamily="34" charset="-120"/>
              </a:rPr>
              <a:t>PIL loads image, converts to RGB, resizes 224×224, normalises to [−1,1]. asyncio.to_thread() passes tensor to MobileNetV2. Expired class probability zeroed. Argmax → class label parsed by regex → fruit name + freshness score.</a:t>
            </a:r>
            <a:endParaRPr lang="en-US" sz="1000" dirty="0"/>
          </a:p>
        </p:txBody>
      </p:sp>
      <p:sp>
        <p:nvSpPr>
          <p:cNvPr id="47" name="Shape 45"/>
          <p:cNvSpPr/>
          <p:nvPr/>
        </p:nvSpPr>
        <p:spPr>
          <a:xfrm>
            <a:off x="4572000" y="1207008"/>
            <a:ext cx="4187952" cy="859536"/>
          </a:xfrm>
          <a:prstGeom prst="roundRect">
            <a:avLst>
              <a:gd name="adj" fmla="val 12766"/>
            </a:avLst>
          </a:prstGeom>
          <a:solidFill>
            <a:srgbClr val="F4F7F9"/>
          </a:solidFill>
          <a:ln w="6350">
            <a:solidFill>
              <a:srgbClr val="1A2B4A">
                <a:alpha val="40000"/>
              </a:srgbClr>
            </a:solidFill>
            <a:prstDash val="solid"/>
          </a:ln>
          <a:effectLst>
            <a:outerShdw sx="100000" sy="100000" kx="0" ky="0" algn="bl" rotWithShape="0" blurRad="101600" dist="38100" dir="2700000">
              <a:srgbClr val="000000">
                <a:alpha val="10000"/>
              </a:srgbClr>
            </a:outerShdw>
          </a:effectLst>
        </p:spPr>
      </p:sp>
      <p:sp>
        <p:nvSpPr>
          <p:cNvPr id="48" name="Shape 46"/>
          <p:cNvSpPr/>
          <p:nvPr/>
        </p:nvSpPr>
        <p:spPr>
          <a:xfrm>
            <a:off x="4681728" y="1435608"/>
            <a:ext cx="402336" cy="402336"/>
          </a:xfrm>
          <a:prstGeom prst="ellipse">
            <a:avLst/>
          </a:prstGeom>
          <a:solidFill>
            <a:srgbClr val="3A8C7E"/>
          </a:solidFill>
          <a:ln/>
        </p:spPr>
      </p:sp>
      <p:sp>
        <p:nvSpPr>
          <p:cNvPr id="49" name="Text 47"/>
          <p:cNvSpPr/>
          <p:nvPr/>
        </p:nvSpPr>
        <p:spPr>
          <a:xfrm>
            <a:off x="4681728" y="1435608"/>
            <a:ext cx="402336" cy="402336"/>
          </a:xfrm>
          <a:prstGeom prst="rect">
            <a:avLst/>
          </a:prstGeom>
          <a:noFill/>
          <a:ln/>
        </p:spPr>
        <p:txBody>
          <a:bodyPr wrap="square" lIns="0" tIns="0" rIns="0" bIns="0" rtlCol="0" anchor="ctr"/>
          <a:lstStyle/>
          <a:p>
            <a:pPr algn="ctr" indent="0" marL="0">
              <a:buNone/>
            </a:pPr>
            <a:r>
              <a:rPr lang="en-US" sz="1100" b="1" dirty="0">
                <a:solidFill>
                  <a:srgbClr val="FFFFFF"/>
                </a:solidFill>
              </a:rPr>
              <a:t>4</a:t>
            </a:r>
            <a:endParaRPr lang="en-US" sz="1100" dirty="0"/>
          </a:p>
        </p:txBody>
      </p:sp>
      <p:sp>
        <p:nvSpPr>
          <p:cNvPr id="50" name="Text 48"/>
          <p:cNvSpPr/>
          <p:nvPr/>
        </p:nvSpPr>
        <p:spPr>
          <a:xfrm>
            <a:off x="5212080" y="1261872"/>
            <a:ext cx="3474720" cy="237744"/>
          </a:xfrm>
          <a:prstGeom prst="rect">
            <a:avLst/>
          </a:prstGeom>
          <a:noFill/>
          <a:ln/>
        </p:spPr>
        <p:txBody>
          <a:bodyPr wrap="square" lIns="0" tIns="0" rIns="0" bIns="0" rtlCol="0" anchor="ctr"/>
          <a:lstStyle/>
          <a:p>
            <a:pPr indent="0" marL="0">
              <a:buNone/>
            </a:pPr>
            <a:r>
              <a:rPr lang="en-US" sz="1200" b="1" dirty="0">
                <a:solidFill>
                  <a:srgbClr val="1A2B4A"/>
                </a:solidFill>
                <a:latin typeface="Calibri" pitchFamily="34" charset="0"/>
                <a:ea typeface="Calibri" pitchFamily="34" charset="-122"/>
                <a:cs typeface="Calibri" pitchFamily="34" charset="-120"/>
              </a:rPr>
              <a:t>Estimate</a:t>
            </a:r>
            <a:endParaRPr lang="en-US" sz="1200" dirty="0"/>
          </a:p>
        </p:txBody>
      </p:sp>
      <p:sp>
        <p:nvSpPr>
          <p:cNvPr id="51" name="Text 49"/>
          <p:cNvSpPr/>
          <p:nvPr/>
        </p:nvSpPr>
        <p:spPr>
          <a:xfrm>
            <a:off x="5212080" y="1517904"/>
            <a:ext cx="3474720" cy="512064"/>
          </a:xfrm>
          <a:prstGeom prst="rect">
            <a:avLst/>
          </a:prstGeom>
          <a:noFill/>
          <a:ln/>
        </p:spPr>
        <p:txBody>
          <a:bodyPr wrap="square" lIns="0" tIns="0" rIns="0" bIns="0" rtlCol="0" anchor="t"/>
          <a:lstStyle/>
          <a:p>
            <a:pPr indent="0" marL="0">
              <a:buNone/>
            </a:pPr>
            <a:r>
              <a:rPr lang="en-US" sz="1000" dirty="0">
                <a:solidFill>
                  <a:srgbClr val="4A5568"/>
                </a:solidFill>
                <a:latin typeface="Calibri" pitchFamily="34" charset="0"/>
                <a:ea typeface="Calibri" pitchFamily="34" charset="-122"/>
                <a:cs typeface="Calibri" pitchFamily="34" charset="-120"/>
              </a:rPr>
              <a:t>Two-stage DB lookup (exact case-insensitive → fuzzy LIKE fallback). Fruit reference row retrieved. D = B × F^1.5 × T × R computed for room temp, fridge, freezer. Best storage method selected.</a:t>
            </a:r>
            <a:endParaRPr lang="en-US" sz="1000" dirty="0"/>
          </a:p>
        </p:txBody>
      </p:sp>
      <p:sp>
        <p:nvSpPr>
          <p:cNvPr id="52" name="Shape 50"/>
          <p:cNvSpPr/>
          <p:nvPr/>
        </p:nvSpPr>
        <p:spPr>
          <a:xfrm>
            <a:off x="4572000" y="2157984"/>
            <a:ext cx="4187952" cy="859536"/>
          </a:xfrm>
          <a:prstGeom prst="roundRect">
            <a:avLst>
              <a:gd name="adj" fmla="val 12766"/>
            </a:avLst>
          </a:prstGeom>
          <a:solidFill>
            <a:srgbClr val="F4F7F9"/>
          </a:solidFill>
          <a:ln w="6350">
            <a:solidFill>
              <a:srgbClr val="1A2B4A">
                <a:alpha val="40000"/>
              </a:srgbClr>
            </a:solidFill>
            <a:prstDash val="solid"/>
          </a:ln>
          <a:effectLst>
            <a:outerShdw sx="100000" sy="100000" kx="0" ky="0" algn="bl" rotWithShape="0" blurRad="101600" dist="38100" dir="2700000">
              <a:srgbClr val="000000">
                <a:alpha val="10000"/>
              </a:srgbClr>
            </a:outerShdw>
          </a:effectLst>
        </p:spPr>
      </p:sp>
      <p:sp>
        <p:nvSpPr>
          <p:cNvPr id="53" name="Shape 51"/>
          <p:cNvSpPr/>
          <p:nvPr/>
        </p:nvSpPr>
        <p:spPr>
          <a:xfrm>
            <a:off x="4681728" y="2386584"/>
            <a:ext cx="402336" cy="402336"/>
          </a:xfrm>
          <a:prstGeom prst="ellipse">
            <a:avLst/>
          </a:prstGeom>
          <a:solidFill>
            <a:srgbClr val="3A8C7E"/>
          </a:solidFill>
          <a:ln/>
        </p:spPr>
      </p:sp>
      <p:sp>
        <p:nvSpPr>
          <p:cNvPr id="54" name="Text 52"/>
          <p:cNvSpPr/>
          <p:nvPr/>
        </p:nvSpPr>
        <p:spPr>
          <a:xfrm>
            <a:off x="4681728" y="2386584"/>
            <a:ext cx="402336" cy="402336"/>
          </a:xfrm>
          <a:prstGeom prst="rect">
            <a:avLst/>
          </a:prstGeom>
          <a:noFill/>
          <a:ln/>
        </p:spPr>
        <p:txBody>
          <a:bodyPr wrap="square" lIns="0" tIns="0" rIns="0" bIns="0" rtlCol="0" anchor="ctr"/>
          <a:lstStyle/>
          <a:p>
            <a:pPr algn="ctr" indent="0" marL="0">
              <a:buNone/>
            </a:pPr>
            <a:r>
              <a:rPr lang="en-US" sz="1100" b="1" dirty="0">
                <a:solidFill>
                  <a:srgbClr val="FFFFFF"/>
                </a:solidFill>
              </a:rPr>
              <a:t>5</a:t>
            </a:r>
            <a:endParaRPr lang="en-US" sz="1100" dirty="0"/>
          </a:p>
        </p:txBody>
      </p:sp>
      <p:sp>
        <p:nvSpPr>
          <p:cNvPr id="55" name="Text 53"/>
          <p:cNvSpPr/>
          <p:nvPr/>
        </p:nvSpPr>
        <p:spPr>
          <a:xfrm>
            <a:off x="5212080" y="2212848"/>
            <a:ext cx="3474720" cy="237744"/>
          </a:xfrm>
          <a:prstGeom prst="rect">
            <a:avLst/>
          </a:prstGeom>
          <a:noFill/>
          <a:ln/>
        </p:spPr>
        <p:txBody>
          <a:bodyPr wrap="square" lIns="0" tIns="0" rIns="0" bIns="0" rtlCol="0" anchor="ctr"/>
          <a:lstStyle/>
          <a:p>
            <a:pPr indent="0" marL="0">
              <a:buNone/>
            </a:pPr>
            <a:r>
              <a:rPr lang="en-US" sz="1200" b="1" dirty="0">
                <a:solidFill>
                  <a:srgbClr val="1A2B4A"/>
                </a:solidFill>
                <a:latin typeface="Calibri" pitchFamily="34" charset="0"/>
                <a:ea typeface="Calibri" pitchFamily="34" charset="-122"/>
                <a:cs typeface="Calibri" pitchFamily="34" charset="-120"/>
              </a:rPr>
              <a:t>Decide</a:t>
            </a:r>
            <a:endParaRPr lang="en-US" sz="1200" dirty="0"/>
          </a:p>
        </p:txBody>
      </p:sp>
      <p:sp>
        <p:nvSpPr>
          <p:cNvPr id="56" name="Text 54"/>
          <p:cNvSpPr/>
          <p:nvPr/>
        </p:nvSpPr>
        <p:spPr>
          <a:xfrm>
            <a:off x="5212080" y="2468880"/>
            <a:ext cx="3474720" cy="512064"/>
          </a:xfrm>
          <a:prstGeom prst="rect">
            <a:avLst/>
          </a:prstGeom>
          <a:noFill/>
          <a:ln/>
        </p:spPr>
        <p:txBody>
          <a:bodyPr wrap="square" lIns="0" tIns="0" rIns="0" bIns="0" rtlCol="0" anchor="t"/>
          <a:lstStyle/>
          <a:p>
            <a:pPr indent="0" marL="0">
              <a:buNone/>
            </a:pPr>
            <a:r>
              <a:rPr lang="en-US" sz="1000" dirty="0">
                <a:solidFill>
                  <a:srgbClr val="4A5568"/>
                </a:solidFill>
                <a:latin typeface="Calibri" pitchFamily="34" charset="0"/>
                <a:ea typeface="Calibri" pitchFamily="34" charset="-122"/>
                <a:cs typeface="Calibri" pitchFamily="34" charset="-120"/>
              </a:rPr>
              <a:t>C = (F×0.6) + (N×0.4). Status threshold evaluated. Recommendation template substituted. Ethylene flags checked; context note generated. JSON assembled: {probability, status, shelf_life_by_method, ethylene_note, recommendation}.</a:t>
            </a:r>
            <a:endParaRPr lang="en-US" sz="1000" dirty="0"/>
          </a:p>
        </p:txBody>
      </p:sp>
      <p:sp>
        <p:nvSpPr>
          <p:cNvPr id="57" name="Shape 55"/>
          <p:cNvSpPr/>
          <p:nvPr/>
        </p:nvSpPr>
        <p:spPr>
          <a:xfrm>
            <a:off x="4572000" y="3108960"/>
            <a:ext cx="4187952" cy="859536"/>
          </a:xfrm>
          <a:prstGeom prst="roundRect">
            <a:avLst>
              <a:gd name="adj" fmla="val 12766"/>
            </a:avLst>
          </a:prstGeom>
          <a:solidFill>
            <a:srgbClr val="F4F7F9"/>
          </a:solidFill>
          <a:ln w="6350">
            <a:solidFill>
              <a:srgbClr val="1A2B4A">
                <a:alpha val="40000"/>
              </a:srgbClr>
            </a:solidFill>
            <a:prstDash val="solid"/>
          </a:ln>
          <a:effectLst>
            <a:outerShdw sx="100000" sy="100000" kx="0" ky="0" algn="bl" rotWithShape="0" blurRad="101600" dist="38100" dir="2700000">
              <a:srgbClr val="000000">
                <a:alpha val="10000"/>
              </a:srgbClr>
            </a:outerShdw>
          </a:effectLst>
        </p:spPr>
      </p:sp>
      <p:sp>
        <p:nvSpPr>
          <p:cNvPr id="58" name="Shape 56"/>
          <p:cNvSpPr/>
          <p:nvPr/>
        </p:nvSpPr>
        <p:spPr>
          <a:xfrm>
            <a:off x="4681728" y="3337560"/>
            <a:ext cx="402336" cy="402336"/>
          </a:xfrm>
          <a:prstGeom prst="ellipse">
            <a:avLst/>
          </a:prstGeom>
          <a:solidFill>
            <a:srgbClr val="3A8C7E"/>
          </a:solidFill>
          <a:ln/>
        </p:spPr>
      </p:sp>
      <p:sp>
        <p:nvSpPr>
          <p:cNvPr id="59" name="Text 57"/>
          <p:cNvSpPr/>
          <p:nvPr/>
        </p:nvSpPr>
        <p:spPr>
          <a:xfrm>
            <a:off x="4681728" y="3337560"/>
            <a:ext cx="402336" cy="402336"/>
          </a:xfrm>
          <a:prstGeom prst="rect">
            <a:avLst/>
          </a:prstGeom>
          <a:noFill/>
          <a:ln/>
        </p:spPr>
        <p:txBody>
          <a:bodyPr wrap="square" lIns="0" tIns="0" rIns="0" bIns="0" rtlCol="0" anchor="ctr"/>
          <a:lstStyle/>
          <a:p>
            <a:pPr algn="ctr" indent="0" marL="0">
              <a:buNone/>
            </a:pPr>
            <a:r>
              <a:rPr lang="en-US" sz="1100" b="1" dirty="0">
                <a:solidFill>
                  <a:srgbClr val="FFFFFF"/>
                </a:solidFill>
              </a:rPr>
              <a:t>6</a:t>
            </a:r>
            <a:endParaRPr lang="en-US" sz="1100" dirty="0"/>
          </a:p>
        </p:txBody>
      </p:sp>
      <p:sp>
        <p:nvSpPr>
          <p:cNvPr id="60" name="Text 58"/>
          <p:cNvSpPr/>
          <p:nvPr/>
        </p:nvSpPr>
        <p:spPr>
          <a:xfrm>
            <a:off x="5212080" y="3163824"/>
            <a:ext cx="3474720" cy="237744"/>
          </a:xfrm>
          <a:prstGeom prst="rect">
            <a:avLst/>
          </a:prstGeom>
          <a:noFill/>
          <a:ln/>
        </p:spPr>
        <p:txBody>
          <a:bodyPr wrap="square" lIns="0" tIns="0" rIns="0" bIns="0" rtlCol="0" anchor="ctr"/>
          <a:lstStyle/>
          <a:p>
            <a:pPr indent="0" marL="0">
              <a:buNone/>
            </a:pPr>
            <a:r>
              <a:rPr lang="en-US" sz="1200" b="1" dirty="0">
                <a:solidFill>
                  <a:srgbClr val="1A2B4A"/>
                </a:solidFill>
                <a:latin typeface="Calibri" pitchFamily="34" charset="0"/>
                <a:ea typeface="Calibri" pitchFamily="34" charset="-122"/>
                <a:cs typeface="Calibri" pitchFamily="34" charset="-120"/>
              </a:rPr>
              <a:t>Render</a:t>
            </a:r>
            <a:endParaRPr lang="en-US" sz="1200" dirty="0"/>
          </a:p>
        </p:txBody>
      </p:sp>
      <p:sp>
        <p:nvSpPr>
          <p:cNvPr id="61" name="Text 59"/>
          <p:cNvSpPr/>
          <p:nvPr/>
        </p:nvSpPr>
        <p:spPr>
          <a:xfrm>
            <a:off x="5212080" y="3419856"/>
            <a:ext cx="3474720" cy="512064"/>
          </a:xfrm>
          <a:prstGeom prst="rect">
            <a:avLst/>
          </a:prstGeom>
          <a:noFill/>
          <a:ln/>
        </p:spPr>
        <p:txBody>
          <a:bodyPr wrap="square" lIns="0" tIns="0" rIns="0" bIns="0" rtlCol="0" anchor="t"/>
          <a:lstStyle/>
          <a:p>
            <a:pPr indent="0" marL="0">
              <a:buNone/>
            </a:pPr>
            <a:r>
              <a:rPr lang="en-US" sz="1000" dirty="0">
                <a:solidFill>
                  <a:srgbClr val="4A5568"/>
                </a:solidFill>
                <a:latin typeface="Calibri" pitchFamily="34" charset="0"/>
                <a:ea typeface="Calibri" pitchFamily="34" charset="-122"/>
                <a:cs typeface="Calibri" pitchFamily="34" charset="-120"/>
              </a:rPr>
              <a:t>React receives JSON. Circular freshness gauge animates to score. Status badge colours: green (FRESH) / amber (EAT SOON) / orange (EAT TODAY) / red (SPOILED). Shelf-life bars rendered per method. Ethylene warning if applicable. Add to Inventory → UserInventory row created + notification scheduled.</a:t>
            </a:r>
            <a:endParaRPr lang="en-US" sz="10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EBEBEB"/>
        </a:solidFill>
      </p:bgPr>
    </p:bg>
    <p:spTree>
      <p:nvGrpSpPr>
        <p:cNvPr id="1" name=""/>
        <p:cNvGrpSpPr/>
        <p:nvPr/>
      </p:nvGrpSpPr>
      <p:grpSpPr>
        <a:xfrm>
          <a:off x="0" y="0"/>
          <a:ext cx="0" cy="0"/>
          <a:chOff x="0" y="0"/>
          <a:chExt cx="0" cy="0"/>
        </a:xfrm>
      </p:grpSpPr>
      <p:sp>
        <p:nvSpPr>
          <p:cNvPr id="2" name="Shape 0"/>
          <p:cNvSpPr/>
          <p:nvPr/>
        </p:nvSpPr>
        <p:spPr>
          <a:xfrm>
            <a:off x="7772400" y="91440"/>
            <a:ext cx="1645920" cy="1645920"/>
          </a:xfrm>
          <a:prstGeom prst="ellipse">
            <a:avLst/>
          </a:prstGeom>
          <a:ln w="19050">
            <a:solidFill>
              <a:srgbClr val="1A2B4A">
                <a:alpha val="18000"/>
              </a:srgbClr>
            </a:solidFill>
            <a:prstDash val="solid"/>
          </a:ln>
        </p:spPr>
      </p:sp>
      <p:sp>
        <p:nvSpPr>
          <p:cNvPr id="3" name="Shape 1"/>
          <p:cNvSpPr/>
          <p:nvPr/>
        </p:nvSpPr>
        <p:spPr>
          <a:xfrm>
            <a:off x="8043977" y="363017"/>
            <a:ext cx="1102766" cy="1102766"/>
          </a:xfrm>
          <a:prstGeom prst="ellipse">
            <a:avLst/>
          </a:prstGeom>
          <a:ln w="19050">
            <a:solidFill>
              <a:srgbClr val="3B5FA0">
                <a:alpha val="25000"/>
              </a:srgbClr>
            </a:solidFill>
            <a:prstDash val="solid"/>
          </a:ln>
        </p:spPr>
      </p:sp>
      <p:sp>
        <p:nvSpPr>
          <p:cNvPr id="4" name="Shape 2"/>
          <p:cNvSpPr/>
          <p:nvPr/>
        </p:nvSpPr>
        <p:spPr>
          <a:xfrm>
            <a:off x="8282635" y="601675"/>
            <a:ext cx="625450" cy="625450"/>
          </a:xfrm>
          <a:prstGeom prst="ellipse">
            <a:avLst/>
          </a:prstGeom>
          <a:ln w="19050">
            <a:solidFill>
              <a:srgbClr val="3A8C7E">
                <a:alpha val="32000"/>
              </a:srgbClr>
            </a:solidFill>
            <a:prstDash val="solid"/>
          </a:ln>
        </p:spPr>
      </p:sp>
      <p:sp>
        <p:nvSpPr>
          <p:cNvPr id="5" name="Shape 3"/>
          <p:cNvSpPr/>
          <p:nvPr/>
        </p:nvSpPr>
        <p:spPr>
          <a:xfrm rot="2700000">
            <a:off x="-45720" y="3794760"/>
            <a:ext cx="1005840" cy="1005840"/>
          </a:xfrm>
          <a:prstGeom prst="rect">
            <a:avLst/>
          </a:prstGeom>
          <a:ln w="12700">
            <a:solidFill>
              <a:srgbClr val="1A2B4A">
                <a:alpha val="76000"/>
              </a:srgbClr>
            </a:solidFill>
            <a:prstDash val="solid"/>
          </a:ln>
        </p:spPr>
      </p:sp>
      <p:sp>
        <p:nvSpPr>
          <p:cNvPr id="6" name="Shape 4"/>
          <p:cNvSpPr/>
          <p:nvPr/>
        </p:nvSpPr>
        <p:spPr>
          <a:xfrm rot="2700000">
            <a:off x="121920" y="3962400"/>
            <a:ext cx="670560" cy="670560"/>
          </a:xfrm>
          <a:prstGeom prst="rect">
            <a:avLst/>
          </a:prstGeom>
          <a:ln w="12700">
            <a:solidFill>
              <a:srgbClr val="1A2B4A">
                <a:alpha val="64000"/>
              </a:srgbClr>
            </a:solidFill>
            <a:prstDash val="solid"/>
          </a:ln>
        </p:spPr>
      </p:sp>
      <p:sp>
        <p:nvSpPr>
          <p:cNvPr id="7" name="Shape 5"/>
          <p:cNvSpPr/>
          <p:nvPr/>
        </p:nvSpPr>
        <p:spPr>
          <a:xfrm rot="2700000">
            <a:off x="289560" y="4130040"/>
            <a:ext cx="335280" cy="335280"/>
          </a:xfrm>
          <a:prstGeom prst="rect">
            <a:avLst/>
          </a:prstGeom>
          <a:ln w="12700">
            <a:solidFill>
              <a:srgbClr val="1A2B4A">
                <a:alpha val="52000"/>
              </a:srgbClr>
            </a:solidFill>
            <a:prstDash val="solid"/>
          </a:ln>
        </p:spPr>
      </p:sp>
      <p:sp>
        <p:nvSpPr>
          <p:cNvPr id="8" name="Text 6"/>
          <p:cNvSpPr/>
          <p:nvPr/>
        </p:nvSpPr>
        <p:spPr>
          <a:xfrm>
            <a:off x="411480" y="292608"/>
            <a:ext cx="8321040" cy="530352"/>
          </a:xfrm>
          <a:prstGeom prst="rect">
            <a:avLst/>
          </a:prstGeom>
          <a:noFill/>
          <a:ln/>
        </p:spPr>
        <p:txBody>
          <a:bodyPr wrap="square" lIns="0" tIns="0" rIns="0" bIns="0" rtlCol="0" anchor="ctr"/>
          <a:lstStyle/>
          <a:p>
            <a:pPr algn="l" indent="0" marL="0">
              <a:buNone/>
            </a:pPr>
            <a:r>
              <a:rPr lang="en-US" sz="2800" b="1" dirty="0">
                <a:solidFill>
                  <a:srgbClr val="1A2B4A"/>
                </a:solidFill>
                <a:latin typeface="Cambria" pitchFamily="34" charset="0"/>
                <a:ea typeface="Cambria" pitchFamily="34" charset="-122"/>
                <a:cs typeface="Cambria" pitchFamily="34" charset="-120"/>
              </a:rPr>
              <a:t>Natural Language Generation for Recommendations</a:t>
            </a:r>
            <a:endParaRPr lang="en-US" sz="2800" dirty="0"/>
          </a:p>
        </p:txBody>
      </p:sp>
      <p:sp>
        <p:nvSpPr>
          <p:cNvPr id="9" name="Text 7"/>
          <p:cNvSpPr/>
          <p:nvPr/>
        </p:nvSpPr>
        <p:spPr>
          <a:xfrm>
            <a:off x="411480" y="841248"/>
            <a:ext cx="8321040" cy="329184"/>
          </a:xfrm>
          <a:prstGeom prst="rect">
            <a:avLst/>
          </a:prstGeom>
          <a:noFill/>
          <a:ln/>
        </p:spPr>
        <p:txBody>
          <a:bodyPr wrap="square" lIns="0" tIns="0" rIns="0" bIns="0" rtlCol="0" anchor="ctr"/>
          <a:lstStyle/>
          <a:p>
            <a:pPr algn="l" indent="0" marL="0">
              <a:buNone/>
            </a:pPr>
            <a:r>
              <a:rPr lang="en-US" sz="1400" b="1" dirty="0">
                <a:solidFill>
                  <a:srgbClr val="3A8C7E"/>
                </a:solidFill>
                <a:latin typeface="Calibri" pitchFamily="34" charset="0"/>
                <a:ea typeface="Calibri" pitchFamily="34" charset="-122"/>
                <a:cs typeface="Calibri" pitchFamily="34" charset="-120"/>
              </a:rPr>
              <a:t>Template-based NLG — interpretable, reliable, zero hallucination risk</a:t>
            </a:r>
            <a:endParaRPr lang="en-US" sz="1400" dirty="0"/>
          </a:p>
        </p:txBody>
      </p:sp>
      <p:sp>
        <p:nvSpPr>
          <p:cNvPr id="10" name="Shape 8"/>
          <p:cNvSpPr/>
          <p:nvPr/>
        </p:nvSpPr>
        <p:spPr>
          <a:xfrm>
            <a:off x="411480" y="868680"/>
            <a:ext cx="8229600" cy="0"/>
          </a:xfrm>
          <a:prstGeom prst="line">
            <a:avLst/>
          </a:prstGeom>
          <a:noFill/>
          <a:ln w="19050">
            <a:solidFill>
              <a:srgbClr val="3A8C7E">
                <a:alpha val="60000"/>
              </a:srgbClr>
            </a:solidFill>
            <a:prstDash val="solid"/>
          </a:ln>
        </p:spPr>
      </p:sp>
      <p:sp>
        <p:nvSpPr>
          <p:cNvPr id="11" name="Shape 9"/>
          <p:cNvSpPr/>
          <p:nvPr/>
        </p:nvSpPr>
        <p:spPr>
          <a:xfrm>
            <a:off x="411480" y="950976"/>
            <a:ext cx="8229600" cy="0"/>
          </a:xfrm>
          <a:prstGeom prst="line">
            <a:avLst/>
          </a:prstGeom>
          <a:noFill/>
          <a:ln w="10160">
            <a:solidFill>
              <a:srgbClr val="1A2B4A">
                <a:alpha val="45000"/>
              </a:srgbClr>
            </a:solidFill>
            <a:prstDash val="solid"/>
          </a:ln>
        </p:spPr>
      </p:sp>
      <p:sp>
        <p:nvSpPr>
          <p:cNvPr id="12" name="Shape 10"/>
          <p:cNvSpPr/>
          <p:nvPr/>
        </p:nvSpPr>
        <p:spPr>
          <a:xfrm>
            <a:off x="384048" y="1207008"/>
            <a:ext cx="4005072" cy="3200400"/>
          </a:xfrm>
          <a:prstGeom prst="roundRect">
            <a:avLst>
              <a:gd name="adj" fmla="val 3429"/>
            </a:avLst>
          </a:prstGeom>
          <a:solidFill>
            <a:srgbClr val="F0F4F8"/>
          </a:solidFill>
          <a:ln w="6350">
            <a:solidFill>
              <a:srgbClr val="1A2B4A">
                <a:alpha val="40000"/>
              </a:srgbClr>
            </a:solidFill>
            <a:prstDash val="solid"/>
          </a:ln>
          <a:effectLst>
            <a:outerShdw sx="100000" sy="100000" kx="0" ky="0" algn="bl" rotWithShape="0" blurRad="101600" dist="38100" dir="2700000">
              <a:srgbClr val="000000">
                <a:alpha val="10000"/>
              </a:srgbClr>
            </a:outerShdw>
          </a:effectLst>
        </p:spPr>
      </p:sp>
      <p:sp>
        <p:nvSpPr>
          <p:cNvPr id="13" name="Text 11"/>
          <p:cNvSpPr/>
          <p:nvPr/>
        </p:nvSpPr>
        <p:spPr>
          <a:xfrm>
            <a:off x="548640" y="1280160"/>
            <a:ext cx="3657600" cy="256032"/>
          </a:xfrm>
          <a:prstGeom prst="rect">
            <a:avLst/>
          </a:prstGeom>
          <a:noFill/>
          <a:ln/>
        </p:spPr>
        <p:txBody>
          <a:bodyPr wrap="square" lIns="0" tIns="0" rIns="0" bIns="0" rtlCol="0" anchor="ctr"/>
          <a:lstStyle/>
          <a:p>
            <a:pPr indent="0" marL="0">
              <a:buNone/>
            </a:pPr>
            <a:r>
              <a:rPr lang="en-US" sz="1200" b="1" dirty="0">
                <a:solidFill>
                  <a:srgbClr val="1A2B4A"/>
                </a:solidFill>
                <a:latin typeface="Calibri" pitchFamily="34" charset="0"/>
                <a:ea typeface="Calibri" pitchFamily="34" charset="-122"/>
                <a:cs typeface="Calibri" pitchFamily="34" charset="-120"/>
              </a:rPr>
              <a:t>Why Template-Based NLG?</a:t>
            </a:r>
            <a:endParaRPr lang="en-US" sz="1200" dirty="0"/>
          </a:p>
        </p:txBody>
      </p:sp>
      <p:sp>
        <p:nvSpPr>
          <p:cNvPr id="14" name="Text 12"/>
          <p:cNvSpPr/>
          <p:nvPr/>
        </p:nvSpPr>
        <p:spPr>
          <a:xfrm>
            <a:off x="548640" y="1572768"/>
            <a:ext cx="3749040" cy="2798064"/>
          </a:xfrm>
          <a:prstGeom prst="rect">
            <a:avLst/>
          </a:prstGeom>
          <a:noFill/>
          <a:ln/>
        </p:spPr>
        <p:txBody>
          <a:bodyPr wrap="square" lIns="0" tIns="0" rIns="0" bIns="0" rtlCol="0" anchor="t"/>
          <a:lstStyle/>
          <a:p>
            <a:pPr indent="0" marL="0">
              <a:buNone/>
            </a:pPr>
            <a:r>
              <a:rPr lang="en-US" sz="1100" dirty="0">
                <a:solidFill>
                  <a:srgbClr val="4A5568"/>
                </a:solidFill>
                <a:latin typeface="Calibri" pitchFamily="34" charset="0"/>
                <a:ea typeface="Calibri" pitchFamily="34" charset="-122"/>
                <a:cs typeface="Calibri" pitchFamily="34" charset="-120"/>
              </a:rPr>
              <a:t>Recommendation strings are generated by selecting a status-keyed template and substituting the patient-specific values:</a:t>
            </a:r>
            <a:endParaRPr lang="en-US" sz="1100" dirty="0"/>
          </a:p>
          <a:p>
            <a:pPr indent="0" marL="0">
              <a:buNone/>
            </a:pPr>
            <a:endParaRPr lang="en-US" sz="1100" dirty="0"/>
          </a:p>
          <a:p>
            <a:pPr indent="0" marL="0">
              <a:buNone/>
            </a:pPr>
            <a:r>
              <a:rPr lang="en-US" sz="1100" dirty="0">
                <a:solidFill>
                  <a:srgbClr val="4A5568"/>
                </a:solidFill>
                <a:latin typeface="Calibri" pitchFamily="34" charset="0"/>
                <a:ea typeface="Calibri" pitchFamily="34" charset="-122"/>
                <a:cs typeface="Calibri" pitchFamily="34" charset="-120"/>
              </a:rPr>
              <a:t>  fruit_name, days_remaining, storage_method</a:t>
            </a:r>
            <a:endParaRPr lang="en-US" sz="1100" dirty="0"/>
          </a:p>
          <a:p>
            <a:pPr indent="0" marL="0">
              <a:buNone/>
            </a:pPr>
            <a:r>
              <a:rPr lang="en-US" sz="1100" dirty="0">
                <a:solidFill>
                  <a:srgbClr val="4A5568"/>
                </a:solidFill>
                <a:latin typeface="Calibri" pitchFamily="34" charset="0"/>
                <a:ea typeface="Calibri" pitchFamily="34" charset="-122"/>
                <a:cs typeface="Calibri" pitchFamily="34" charset="-120"/>
              </a:rPr>
              <a:t>  freshness_label, ethylene_role</a:t>
            </a:r>
            <a:endParaRPr lang="en-US" sz="1100" dirty="0"/>
          </a:p>
          <a:p>
            <a:pPr indent="0" marL="0">
              <a:buNone/>
            </a:pPr>
            <a:endParaRPr lang="en-US" sz="1100" dirty="0"/>
          </a:p>
          <a:p>
            <a:pPr indent="0" marL="0">
              <a:buNone/>
            </a:pPr>
            <a:r>
              <a:rPr lang="en-US" sz="1100" dirty="0">
                <a:solidFill>
                  <a:srgbClr val="4A5568"/>
                </a:solidFill>
                <a:latin typeface="Calibri" pitchFamily="34" charset="0"/>
                <a:ea typeface="Calibri" pitchFamily="34" charset="-122"/>
                <a:cs typeface="Calibri" pitchFamily="34" charset="-120"/>
              </a:rPr>
              <a:t>This approach is deliberate. A language model might generate more varied text — but at the cost of occasional hallucination (inventing risk factors that the model did not identify). Template-based NLG:</a:t>
            </a:r>
            <a:endParaRPr lang="en-US" sz="1100" dirty="0"/>
          </a:p>
          <a:p>
            <a:pPr indent="0" marL="0">
              <a:buNone/>
            </a:pPr>
            <a:endParaRPr lang="en-US" sz="1100" dirty="0"/>
          </a:p>
          <a:p>
            <a:pPr indent="0" marL="0">
              <a:buNone/>
            </a:pPr>
            <a:r>
              <a:rPr lang="en-US" sz="1100" dirty="0">
                <a:solidFill>
                  <a:srgbClr val="4A5568"/>
                </a:solidFill>
                <a:latin typeface="Calibri" pitchFamily="34" charset="0"/>
                <a:ea typeface="Calibri" pitchFamily="34" charset="-122"/>
                <a:cs typeface="Calibri" pitchFamily="34" charset="-120"/>
              </a:rPr>
              <a:t>→  Every claim is directly traceable to a calculated value</a:t>
            </a:r>
            <a:endParaRPr lang="en-US" sz="1100" dirty="0"/>
          </a:p>
          <a:p>
            <a:pPr indent="0" marL="0">
              <a:buNone/>
            </a:pPr>
            <a:r>
              <a:rPr lang="en-US" sz="1100" dirty="0">
                <a:solidFill>
                  <a:srgbClr val="4A5568"/>
                </a:solidFill>
                <a:latin typeface="Calibri" pitchFamily="34" charset="0"/>
                <a:ea typeface="Calibri" pitchFamily="34" charset="-122"/>
                <a:cs typeface="Calibri" pitchFamily="34" charset="-120"/>
              </a:rPr>
              <a:t>→  No free-form clinical reasoning — the system explains its numbers, it doesn't advise the user what to do medically</a:t>
            </a:r>
            <a:endParaRPr lang="en-US" sz="1100" dirty="0"/>
          </a:p>
          <a:p>
            <a:pPr indent="0" marL="0">
              <a:buNone/>
            </a:pPr>
            <a:r>
              <a:rPr lang="en-US" sz="1100" dirty="0">
                <a:solidFill>
                  <a:srgbClr val="4A5568"/>
                </a:solidFill>
                <a:latin typeface="Calibri" pitchFamily="34" charset="0"/>
                <a:ea typeface="Calibri" pitchFamily="34" charset="-122"/>
                <a:cs typeface="Calibri" pitchFamily="34" charset="-120"/>
              </a:rPr>
              <a:t>→  Fully deterministic — the same scan always produces the same text</a:t>
            </a:r>
            <a:endParaRPr lang="en-US" sz="1100" dirty="0"/>
          </a:p>
          <a:p>
            <a:pPr indent="0" marL="0">
              <a:buNone/>
            </a:pPr>
            <a:r>
              <a:rPr lang="en-US" sz="1100" dirty="0">
                <a:solidFill>
                  <a:srgbClr val="4A5568"/>
                </a:solidFill>
                <a:latin typeface="Calibri" pitchFamily="34" charset="0"/>
                <a:ea typeface="Calibri" pitchFamily="34" charset="-122"/>
                <a:cs typeface="Calibri" pitchFamily="34" charset="-120"/>
              </a:rPr>
              <a:t>→  Zero dependency on external API calls</a:t>
            </a:r>
            <a:endParaRPr lang="en-US" sz="1100" dirty="0"/>
          </a:p>
        </p:txBody>
      </p:sp>
      <p:sp>
        <p:nvSpPr>
          <p:cNvPr id="15" name="Shape 13"/>
          <p:cNvSpPr/>
          <p:nvPr/>
        </p:nvSpPr>
        <p:spPr>
          <a:xfrm>
            <a:off x="4572000" y="1207008"/>
            <a:ext cx="4187952" cy="749808"/>
          </a:xfrm>
          <a:prstGeom prst="roundRect">
            <a:avLst>
              <a:gd name="adj" fmla="val 14634"/>
            </a:avLst>
          </a:prstGeom>
          <a:solidFill>
            <a:srgbClr val="E8F5E9"/>
          </a:solidFill>
          <a:ln w="6350">
            <a:solidFill>
              <a:srgbClr val="1A2B4A">
                <a:alpha val="40000"/>
              </a:srgbClr>
            </a:solidFill>
            <a:prstDash val="solid"/>
          </a:ln>
          <a:effectLst>
            <a:outerShdw sx="100000" sy="100000" kx="0" ky="0" algn="bl" rotWithShape="0" blurRad="101600" dist="38100" dir="2700000">
              <a:srgbClr val="000000">
                <a:alpha val="10000"/>
              </a:srgbClr>
            </a:outerShdw>
          </a:effectLst>
        </p:spPr>
      </p:sp>
      <p:sp>
        <p:nvSpPr>
          <p:cNvPr id="16" name="Text 14"/>
          <p:cNvSpPr/>
          <p:nvPr/>
        </p:nvSpPr>
        <p:spPr>
          <a:xfrm>
            <a:off x="4718304" y="1261872"/>
            <a:ext cx="3931920" cy="201168"/>
          </a:xfrm>
          <a:prstGeom prst="rect">
            <a:avLst/>
          </a:prstGeom>
          <a:noFill/>
          <a:ln/>
        </p:spPr>
        <p:txBody>
          <a:bodyPr wrap="square" lIns="0" tIns="0" rIns="0" bIns="0" rtlCol="0" anchor="ctr"/>
          <a:lstStyle/>
          <a:p>
            <a:pPr indent="0" marL="0">
              <a:buNone/>
            </a:pPr>
            <a:r>
              <a:rPr lang="en-US" sz="1100" b="1" dirty="0">
                <a:solidFill>
                  <a:srgbClr val="2E7D32"/>
                </a:solidFill>
                <a:latin typeface="Calibri" pitchFamily="34" charset="0"/>
                <a:ea typeface="Calibri" pitchFamily="34" charset="-122"/>
                <a:cs typeface="Calibri" pitchFamily="34" charset="-120"/>
              </a:rPr>
              <a:t>FRESH template:</a:t>
            </a:r>
            <a:endParaRPr lang="en-US" sz="1100" dirty="0"/>
          </a:p>
        </p:txBody>
      </p:sp>
      <p:sp>
        <p:nvSpPr>
          <p:cNvPr id="17" name="Text 15"/>
          <p:cNvSpPr/>
          <p:nvPr/>
        </p:nvSpPr>
        <p:spPr>
          <a:xfrm>
            <a:off x="4718304" y="1463040"/>
            <a:ext cx="3931920" cy="438912"/>
          </a:xfrm>
          <a:prstGeom prst="rect">
            <a:avLst/>
          </a:prstGeom>
          <a:noFill/>
          <a:ln/>
        </p:spPr>
        <p:txBody>
          <a:bodyPr wrap="square" lIns="0" tIns="0" rIns="0" bIns="0" rtlCol="0" anchor="ctr"/>
          <a:lstStyle/>
          <a:p>
            <a:pPr indent="0" marL="0">
              <a:buNone/>
            </a:pPr>
            <a:r>
              <a:rPr lang="en-US" sz="1050" i="1" dirty="0">
                <a:solidFill>
                  <a:srgbClr val="4A5568"/>
                </a:solidFill>
                <a:latin typeface="Calibri" pitchFamily="34" charset="0"/>
                <a:ea typeface="Calibri" pitchFamily="34" charset="-122"/>
                <a:cs typeface="Calibri" pitchFamily="34" charset="-120"/>
              </a:rPr>
              <a:t>"Your {fruit} is in great condition. Store in the {method} for up to {days} more days."</a:t>
            </a:r>
            <a:endParaRPr lang="en-US" sz="1050" dirty="0"/>
          </a:p>
        </p:txBody>
      </p:sp>
      <p:sp>
        <p:nvSpPr>
          <p:cNvPr id="18" name="Shape 16"/>
          <p:cNvSpPr/>
          <p:nvPr/>
        </p:nvSpPr>
        <p:spPr>
          <a:xfrm>
            <a:off x="4572000" y="2048256"/>
            <a:ext cx="4187952" cy="749808"/>
          </a:xfrm>
          <a:prstGeom prst="roundRect">
            <a:avLst>
              <a:gd name="adj" fmla="val 14634"/>
            </a:avLst>
          </a:prstGeom>
          <a:solidFill>
            <a:srgbClr val="FFF8E1"/>
          </a:solidFill>
          <a:ln w="6350">
            <a:solidFill>
              <a:srgbClr val="1A2B4A">
                <a:alpha val="40000"/>
              </a:srgbClr>
            </a:solidFill>
            <a:prstDash val="solid"/>
          </a:ln>
          <a:effectLst>
            <a:outerShdw sx="100000" sy="100000" kx="0" ky="0" algn="bl" rotWithShape="0" blurRad="101600" dist="38100" dir="2700000">
              <a:srgbClr val="000000">
                <a:alpha val="10000"/>
              </a:srgbClr>
            </a:outerShdw>
          </a:effectLst>
        </p:spPr>
      </p:sp>
      <p:sp>
        <p:nvSpPr>
          <p:cNvPr id="19" name="Text 17"/>
          <p:cNvSpPr/>
          <p:nvPr/>
        </p:nvSpPr>
        <p:spPr>
          <a:xfrm>
            <a:off x="4718304" y="2103120"/>
            <a:ext cx="3931920" cy="201168"/>
          </a:xfrm>
          <a:prstGeom prst="rect">
            <a:avLst/>
          </a:prstGeom>
          <a:noFill/>
          <a:ln/>
        </p:spPr>
        <p:txBody>
          <a:bodyPr wrap="square" lIns="0" tIns="0" rIns="0" bIns="0" rtlCol="0" anchor="ctr"/>
          <a:lstStyle/>
          <a:p>
            <a:pPr indent="0" marL="0">
              <a:buNone/>
            </a:pPr>
            <a:r>
              <a:rPr lang="en-US" sz="1100" b="1" dirty="0">
                <a:solidFill>
                  <a:srgbClr val="D97706"/>
                </a:solidFill>
                <a:latin typeface="Calibri" pitchFamily="34" charset="0"/>
                <a:ea typeface="Calibri" pitchFamily="34" charset="-122"/>
                <a:cs typeface="Calibri" pitchFamily="34" charset="-120"/>
              </a:rPr>
              <a:t>EAT SOON template:</a:t>
            </a:r>
            <a:endParaRPr lang="en-US" sz="1100" dirty="0"/>
          </a:p>
        </p:txBody>
      </p:sp>
      <p:sp>
        <p:nvSpPr>
          <p:cNvPr id="20" name="Text 18"/>
          <p:cNvSpPr/>
          <p:nvPr/>
        </p:nvSpPr>
        <p:spPr>
          <a:xfrm>
            <a:off x="4718304" y="2304288"/>
            <a:ext cx="3931920" cy="438912"/>
          </a:xfrm>
          <a:prstGeom prst="rect">
            <a:avLst/>
          </a:prstGeom>
          <a:noFill/>
          <a:ln/>
        </p:spPr>
        <p:txBody>
          <a:bodyPr wrap="square" lIns="0" tIns="0" rIns="0" bIns="0" rtlCol="0" anchor="ctr"/>
          <a:lstStyle/>
          <a:p>
            <a:pPr indent="0" marL="0">
              <a:buNone/>
            </a:pPr>
            <a:r>
              <a:rPr lang="en-US" sz="1050" i="1" dirty="0">
                <a:solidFill>
                  <a:srgbClr val="4A5568"/>
                </a:solidFill>
                <a:latin typeface="Calibri" pitchFamily="34" charset="0"/>
                <a:ea typeface="Calibri" pitchFamily="34" charset="-122"/>
                <a:cs typeface="Calibri" pitchFamily="34" charset="-120"/>
              </a:rPr>
              <a:t>"Your {fruit} is aging — eat it within {days_label}. For longest life, move it to the {method}."</a:t>
            </a:r>
            <a:endParaRPr lang="en-US" sz="1050" dirty="0"/>
          </a:p>
        </p:txBody>
      </p:sp>
      <p:sp>
        <p:nvSpPr>
          <p:cNvPr id="21" name="Shape 19"/>
          <p:cNvSpPr/>
          <p:nvPr/>
        </p:nvSpPr>
        <p:spPr>
          <a:xfrm>
            <a:off x="4572000" y="2889504"/>
            <a:ext cx="4187952" cy="749808"/>
          </a:xfrm>
          <a:prstGeom prst="roundRect">
            <a:avLst>
              <a:gd name="adj" fmla="val 14634"/>
            </a:avLst>
          </a:prstGeom>
          <a:solidFill>
            <a:srgbClr val="FFF3E0"/>
          </a:solidFill>
          <a:ln w="6350">
            <a:solidFill>
              <a:srgbClr val="1A2B4A">
                <a:alpha val="40000"/>
              </a:srgbClr>
            </a:solidFill>
            <a:prstDash val="solid"/>
          </a:ln>
          <a:effectLst>
            <a:outerShdw sx="100000" sy="100000" kx="0" ky="0" algn="bl" rotWithShape="0" blurRad="101600" dist="38100" dir="2700000">
              <a:srgbClr val="000000">
                <a:alpha val="10000"/>
              </a:srgbClr>
            </a:outerShdw>
          </a:effectLst>
        </p:spPr>
      </p:sp>
      <p:sp>
        <p:nvSpPr>
          <p:cNvPr id="22" name="Text 20"/>
          <p:cNvSpPr/>
          <p:nvPr/>
        </p:nvSpPr>
        <p:spPr>
          <a:xfrm>
            <a:off x="4718304" y="2944368"/>
            <a:ext cx="3931920" cy="201168"/>
          </a:xfrm>
          <a:prstGeom prst="rect">
            <a:avLst/>
          </a:prstGeom>
          <a:noFill/>
          <a:ln/>
        </p:spPr>
        <p:txBody>
          <a:bodyPr wrap="square" lIns="0" tIns="0" rIns="0" bIns="0" rtlCol="0" anchor="ctr"/>
          <a:lstStyle/>
          <a:p>
            <a:pPr indent="0" marL="0">
              <a:buNone/>
            </a:pPr>
            <a:r>
              <a:rPr lang="en-US" sz="1100" b="1" dirty="0">
                <a:solidFill>
                  <a:srgbClr val="E65100"/>
                </a:solidFill>
                <a:latin typeface="Calibri" pitchFamily="34" charset="0"/>
                <a:ea typeface="Calibri" pitchFamily="34" charset="-122"/>
                <a:cs typeface="Calibri" pitchFamily="34" charset="-120"/>
              </a:rPr>
              <a:t>EAT TODAY template:</a:t>
            </a:r>
            <a:endParaRPr lang="en-US" sz="1100" dirty="0"/>
          </a:p>
        </p:txBody>
      </p:sp>
      <p:sp>
        <p:nvSpPr>
          <p:cNvPr id="23" name="Text 21"/>
          <p:cNvSpPr/>
          <p:nvPr/>
        </p:nvSpPr>
        <p:spPr>
          <a:xfrm>
            <a:off x="4718304" y="3145536"/>
            <a:ext cx="3931920" cy="438912"/>
          </a:xfrm>
          <a:prstGeom prst="rect">
            <a:avLst/>
          </a:prstGeom>
          <a:noFill/>
          <a:ln/>
        </p:spPr>
        <p:txBody>
          <a:bodyPr wrap="square" lIns="0" tIns="0" rIns="0" bIns="0" rtlCol="0" anchor="ctr"/>
          <a:lstStyle/>
          <a:p>
            <a:pPr indent="0" marL="0">
              <a:buNone/>
            </a:pPr>
            <a:r>
              <a:rPr lang="en-US" sz="1050" i="1" dirty="0">
                <a:solidFill>
                  <a:srgbClr val="4A5568"/>
                </a:solidFill>
                <a:latin typeface="Calibri" pitchFamily="34" charset="0"/>
                <a:ea typeface="Calibri" pitchFamily="34" charset="-122"/>
                <a:cs typeface="Calibri" pitchFamily="34" charset="-120"/>
              </a:rPr>
              <a:t>"Your {fruit} needs to be consumed today. Consider using it in a smoothie or cooked recipe."</a:t>
            </a:r>
            <a:endParaRPr lang="en-US" sz="1050" dirty="0"/>
          </a:p>
        </p:txBody>
      </p:sp>
      <p:sp>
        <p:nvSpPr>
          <p:cNvPr id="24" name="Shape 22"/>
          <p:cNvSpPr/>
          <p:nvPr/>
        </p:nvSpPr>
        <p:spPr>
          <a:xfrm>
            <a:off x="4572000" y="3730752"/>
            <a:ext cx="4187952" cy="676656"/>
          </a:xfrm>
          <a:prstGeom prst="roundRect">
            <a:avLst>
              <a:gd name="adj" fmla="val 16216"/>
            </a:avLst>
          </a:prstGeom>
          <a:solidFill>
            <a:srgbClr val="FFEBEE"/>
          </a:solidFill>
          <a:ln w="6350">
            <a:solidFill>
              <a:srgbClr val="1A2B4A">
                <a:alpha val="40000"/>
              </a:srgbClr>
            </a:solidFill>
            <a:prstDash val="solid"/>
          </a:ln>
          <a:effectLst>
            <a:outerShdw sx="100000" sy="100000" kx="0" ky="0" algn="bl" rotWithShape="0" blurRad="101600" dist="38100" dir="2700000">
              <a:srgbClr val="000000">
                <a:alpha val="10000"/>
              </a:srgbClr>
            </a:outerShdw>
          </a:effectLst>
        </p:spPr>
      </p:sp>
      <p:sp>
        <p:nvSpPr>
          <p:cNvPr id="25" name="Text 23"/>
          <p:cNvSpPr/>
          <p:nvPr/>
        </p:nvSpPr>
        <p:spPr>
          <a:xfrm>
            <a:off x="4718304" y="3785616"/>
            <a:ext cx="3931920" cy="201168"/>
          </a:xfrm>
          <a:prstGeom prst="rect">
            <a:avLst/>
          </a:prstGeom>
          <a:noFill/>
          <a:ln/>
        </p:spPr>
        <p:txBody>
          <a:bodyPr wrap="square" lIns="0" tIns="0" rIns="0" bIns="0" rtlCol="0" anchor="ctr"/>
          <a:lstStyle/>
          <a:p>
            <a:pPr indent="0" marL="0">
              <a:buNone/>
            </a:pPr>
            <a:r>
              <a:rPr lang="en-US" sz="1100" b="1" dirty="0">
                <a:solidFill>
                  <a:srgbClr val="C0392B"/>
                </a:solidFill>
                <a:latin typeface="Calibri" pitchFamily="34" charset="0"/>
                <a:ea typeface="Calibri" pitchFamily="34" charset="-122"/>
                <a:cs typeface="Calibri" pitchFamily="34" charset="-120"/>
              </a:rPr>
              <a:t>SPOILED template:</a:t>
            </a:r>
            <a:endParaRPr lang="en-US" sz="1100" dirty="0"/>
          </a:p>
        </p:txBody>
      </p:sp>
      <p:sp>
        <p:nvSpPr>
          <p:cNvPr id="26" name="Text 24"/>
          <p:cNvSpPr/>
          <p:nvPr/>
        </p:nvSpPr>
        <p:spPr>
          <a:xfrm>
            <a:off x="4718304" y="3986784"/>
            <a:ext cx="3931920" cy="384048"/>
          </a:xfrm>
          <a:prstGeom prst="rect">
            <a:avLst/>
          </a:prstGeom>
          <a:noFill/>
          <a:ln/>
        </p:spPr>
        <p:txBody>
          <a:bodyPr wrap="square" lIns="0" tIns="0" rIns="0" bIns="0" rtlCol="0" anchor="ctr"/>
          <a:lstStyle/>
          <a:p>
            <a:pPr indent="0" marL="0">
              <a:buNone/>
            </a:pPr>
            <a:r>
              <a:rPr lang="en-US" sz="1050" i="1" dirty="0">
                <a:solidFill>
                  <a:srgbClr val="4A5568"/>
                </a:solidFill>
                <a:latin typeface="Calibri" pitchFamily="34" charset="0"/>
                <a:ea typeface="Calibri" pitchFamily="34" charset="-122"/>
                <a:cs typeface="Calibri" pitchFamily="34" charset="-120"/>
              </a:rPr>
              <a:t>"Your {fruit} appears to be past its usable condition. We recommend discarding it."</a:t>
            </a:r>
            <a:endParaRPr lang="en-US" sz="1050" dirty="0"/>
          </a:p>
        </p:txBody>
      </p:sp>
      <p:sp>
        <p:nvSpPr>
          <p:cNvPr id="27" name="Shape 25"/>
          <p:cNvSpPr/>
          <p:nvPr/>
        </p:nvSpPr>
        <p:spPr>
          <a:xfrm>
            <a:off x="4572000" y="4480560"/>
            <a:ext cx="4187952" cy="475488"/>
          </a:xfrm>
          <a:prstGeom prst="roundRect">
            <a:avLst>
              <a:gd name="adj" fmla="val 23077"/>
            </a:avLst>
          </a:prstGeom>
          <a:solidFill>
            <a:srgbClr val="E3EEF8"/>
          </a:solidFill>
          <a:ln w="6350">
            <a:solidFill>
              <a:srgbClr val="1A2B4A">
                <a:alpha val="40000"/>
              </a:srgbClr>
            </a:solidFill>
            <a:prstDash val="solid"/>
          </a:ln>
          <a:effectLst>
            <a:outerShdw sx="100000" sy="100000" kx="0" ky="0" algn="bl" rotWithShape="0" blurRad="101600" dist="38100" dir="2700000">
              <a:srgbClr val="000000">
                <a:alpha val="10000"/>
              </a:srgbClr>
            </a:outerShdw>
          </a:effectLst>
        </p:spPr>
      </p:sp>
      <p:sp>
        <p:nvSpPr>
          <p:cNvPr id="28" name="Text 26"/>
          <p:cNvSpPr/>
          <p:nvPr/>
        </p:nvSpPr>
        <p:spPr>
          <a:xfrm>
            <a:off x="4681728" y="4517136"/>
            <a:ext cx="3986784" cy="402336"/>
          </a:xfrm>
          <a:prstGeom prst="rect">
            <a:avLst/>
          </a:prstGeom>
          <a:noFill/>
          <a:ln/>
        </p:spPr>
        <p:txBody>
          <a:bodyPr wrap="square" lIns="0" tIns="0" rIns="0" bIns="0" rtlCol="0" anchor="t"/>
          <a:lstStyle/>
          <a:p>
            <a:pPr indent="0" marL="0">
              <a:buNone/>
            </a:pPr>
            <a:r>
              <a:rPr lang="en-US" sz="1050" dirty="0">
                <a:solidFill>
                  <a:srgbClr val="1A2B4A"/>
                </a:solidFill>
                <a:latin typeface="Calibri" pitchFamily="34" charset="0"/>
                <a:ea typeface="Calibri" pitchFamily="34" charset="-122"/>
                <a:cs typeface="Calibri" pitchFamily="34" charset="-120"/>
              </a:rPr>
              <a:t>Ethylene notes generated conditionally — producer-only, sensitive-only, or both-roles — from separate templates keyed on the fruit's ethylene flags in the reference database.</a:t>
            </a:r>
            <a:endParaRPr lang="en-US" sz="10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EBEBEB"/>
        </a:solidFill>
      </p:bgPr>
    </p:bg>
    <p:spTree>
      <p:nvGrpSpPr>
        <p:cNvPr id="1" name=""/>
        <p:cNvGrpSpPr/>
        <p:nvPr/>
      </p:nvGrpSpPr>
      <p:grpSpPr>
        <a:xfrm>
          <a:off x="0" y="0"/>
          <a:ext cx="0" cy="0"/>
          <a:chOff x="0" y="0"/>
          <a:chExt cx="0" cy="0"/>
        </a:xfrm>
      </p:grpSpPr>
      <p:sp>
        <p:nvSpPr>
          <p:cNvPr id="2" name="Shape 0"/>
          <p:cNvSpPr/>
          <p:nvPr/>
        </p:nvSpPr>
        <p:spPr>
          <a:xfrm rot="-900000">
            <a:off x="137160" y="1371600"/>
            <a:ext cx="777240" cy="201168"/>
          </a:xfrm>
          <a:prstGeom prst="rect">
            <a:avLst/>
          </a:prstGeom>
          <a:solidFill>
            <a:srgbClr val="1A2B4A">
              <a:alpha val="40000"/>
            </a:srgbClr>
          </a:solidFill>
          <a:ln/>
        </p:spPr>
      </p:sp>
      <p:sp>
        <p:nvSpPr>
          <p:cNvPr id="3" name="Shape 1"/>
          <p:cNvSpPr/>
          <p:nvPr/>
        </p:nvSpPr>
        <p:spPr>
          <a:xfrm rot="-900000">
            <a:off x="338328" y="1463040"/>
            <a:ext cx="777240" cy="201168"/>
          </a:xfrm>
          <a:prstGeom prst="rect">
            <a:avLst/>
          </a:prstGeom>
          <a:solidFill>
            <a:srgbClr val="3B5FA0">
              <a:alpha val="30000"/>
            </a:srgbClr>
          </a:solidFill>
          <a:ln/>
        </p:spPr>
      </p:sp>
      <p:sp>
        <p:nvSpPr>
          <p:cNvPr id="4" name="Shape 2"/>
          <p:cNvSpPr/>
          <p:nvPr/>
        </p:nvSpPr>
        <p:spPr>
          <a:xfrm rot="-900000">
            <a:off x="539496" y="1554480"/>
            <a:ext cx="777240" cy="201168"/>
          </a:xfrm>
          <a:prstGeom prst="rect">
            <a:avLst/>
          </a:prstGeom>
          <a:solidFill>
            <a:srgbClr val="3A8C7E">
              <a:alpha val="25000"/>
            </a:srgbClr>
          </a:solidFill>
          <a:ln/>
        </p:spPr>
      </p:sp>
      <p:sp>
        <p:nvSpPr>
          <p:cNvPr id="5" name="Shape 3"/>
          <p:cNvSpPr/>
          <p:nvPr/>
        </p:nvSpPr>
        <p:spPr>
          <a:xfrm>
            <a:off x="8092440" y="274320"/>
            <a:ext cx="64008" cy="64008"/>
          </a:xfrm>
          <a:prstGeom prst="ellipse">
            <a:avLst/>
          </a:prstGeom>
          <a:solidFill>
            <a:srgbClr val="1A2B4A">
              <a:alpha val="25000"/>
            </a:srgbClr>
          </a:solidFill>
          <a:ln/>
        </p:spPr>
      </p:sp>
      <p:sp>
        <p:nvSpPr>
          <p:cNvPr id="6" name="Shape 4"/>
          <p:cNvSpPr/>
          <p:nvPr/>
        </p:nvSpPr>
        <p:spPr>
          <a:xfrm>
            <a:off x="8293608" y="274320"/>
            <a:ext cx="64008" cy="64008"/>
          </a:xfrm>
          <a:prstGeom prst="ellipse">
            <a:avLst/>
          </a:prstGeom>
          <a:solidFill>
            <a:srgbClr val="1A2B4A">
              <a:alpha val="25000"/>
            </a:srgbClr>
          </a:solidFill>
          <a:ln/>
        </p:spPr>
      </p:sp>
      <p:sp>
        <p:nvSpPr>
          <p:cNvPr id="7" name="Shape 5"/>
          <p:cNvSpPr/>
          <p:nvPr/>
        </p:nvSpPr>
        <p:spPr>
          <a:xfrm>
            <a:off x="8494776" y="274320"/>
            <a:ext cx="64008" cy="64008"/>
          </a:xfrm>
          <a:prstGeom prst="ellipse">
            <a:avLst/>
          </a:prstGeom>
          <a:solidFill>
            <a:srgbClr val="1A2B4A">
              <a:alpha val="25000"/>
            </a:srgbClr>
          </a:solidFill>
          <a:ln/>
        </p:spPr>
      </p:sp>
      <p:sp>
        <p:nvSpPr>
          <p:cNvPr id="8" name="Shape 6"/>
          <p:cNvSpPr/>
          <p:nvPr/>
        </p:nvSpPr>
        <p:spPr>
          <a:xfrm>
            <a:off x="8695944" y="274320"/>
            <a:ext cx="64008" cy="64008"/>
          </a:xfrm>
          <a:prstGeom prst="ellipse">
            <a:avLst/>
          </a:prstGeom>
          <a:solidFill>
            <a:srgbClr val="1A2B4A">
              <a:alpha val="25000"/>
            </a:srgbClr>
          </a:solidFill>
          <a:ln/>
        </p:spPr>
      </p:sp>
      <p:sp>
        <p:nvSpPr>
          <p:cNvPr id="9" name="Shape 7"/>
          <p:cNvSpPr/>
          <p:nvPr/>
        </p:nvSpPr>
        <p:spPr>
          <a:xfrm>
            <a:off x="8897112" y="274320"/>
            <a:ext cx="64008" cy="64008"/>
          </a:xfrm>
          <a:prstGeom prst="ellipse">
            <a:avLst/>
          </a:prstGeom>
          <a:solidFill>
            <a:srgbClr val="1A2B4A">
              <a:alpha val="25000"/>
            </a:srgbClr>
          </a:solidFill>
          <a:ln/>
        </p:spPr>
      </p:sp>
      <p:sp>
        <p:nvSpPr>
          <p:cNvPr id="10" name="Shape 8"/>
          <p:cNvSpPr/>
          <p:nvPr/>
        </p:nvSpPr>
        <p:spPr>
          <a:xfrm>
            <a:off x="8092440" y="475488"/>
            <a:ext cx="64008" cy="64008"/>
          </a:xfrm>
          <a:prstGeom prst="ellipse">
            <a:avLst/>
          </a:prstGeom>
          <a:solidFill>
            <a:srgbClr val="1A2B4A">
              <a:alpha val="25000"/>
            </a:srgbClr>
          </a:solidFill>
          <a:ln/>
        </p:spPr>
      </p:sp>
      <p:sp>
        <p:nvSpPr>
          <p:cNvPr id="11" name="Shape 9"/>
          <p:cNvSpPr/>
          <p:nvPr/>
        </p:nvSpPr>
        <p:spPr>
          <a:xfrm>
            <a:off x="8293608" y="475488"/>
            <a:ext cx="64008" cy="64008"/>
          </a:xfrm>
          <a:prstGeom prst="ellipse">
            <a:avLst/>
          </a:prstGeom>
          <a:solidFill>
            <a:srgbClr val="1A2B4A">
              <a:alpha val="25000"/>
            </a:srgbClr>
          </a:solidFill>
          <a:ln/>
        </p:spPr>
      </p:sp>
      <p:sp>
        <p:nvSpPr>
          <p:cNvPr id="12" name="Shape 10"/>
          <p:cNvSpPr/>
          <p:nvPr/>
        </p:nvSpPr>
        <p:spPr>
          <a:xfrm>
            <a:off x="8494776" y="475488"/>
            <a:ext cx="64008" cy="64008"/>
          </a:xfrm>
          <a:prstGeom prst="ellipse">
            <a:avLst/>
          </a:prstGeom>
          <a:solidFill>
            <a:srgbClr val="1A2B4A">
              <a:alpha val="25000"/>
            </a:srgbClr>
          </a:solidFill>
          <a:ln/>
        </p:spPr>
      </p:sp>
      <p:sp>
        <p:nvSpPr>
          <p:cNvPr id="13" name="Shape 11"/>
          <p:cNvSpPr/>
          <p:nvPr/>
        </p:nvSpPr>
        <p:spPr>
          <a:xfrm>
            <a:off x="8695944" y="475488"/>
            <a:ext cx="64008" cy="64008"/>
          </a:xfrm>
          <a:prstGeom prst="ellipse">
            <a:avLst/>
          </a:prstGeom>
          <a:solidFill>
            <a:srgbClr val="1A2B4A">
              <a:alpha val="25000"/>
            </a:srgbClr>
          </a:solidFill>
          <a:ln/>
        </p:spPr>
      </p:sp>
      <p:sp>
        <p:nvSpPr>
          <p:cNvPr id="14" name="Shape 12"/>
          <p:cNvSpPr/>
          <p:nvPr/>
        </p:nvSpPr>
        <p:spPr>
          <a:xfrm>
            <a:off x="8897112" y="475488"/>
            <a:ext cx="64008" cy="64008"/>
          </a:xfrm>
          <a:prstGeom prst="ellipse">
            <a:avLst/>
          </a:prstGeom>
          <a:solidFill>
            <a:srgbClr val="1A2B4A">
              <a:alpha val="25000"/>
            </a:srgbClr>
          </a:solidFill>
          <a:ln/>
        </p:spPr>
      </p:sp>
      <p:sp>
        <p:nvSpPr>
          <p:cNvPr id="15" name="Shape 13"/>
          <p:cNvSpPr/>
          <p:nvPr/>
        </p:nvSpPr>
        <p:spPr>
          <a:xfrm>
            <a:off x="8092440" y="676656"/>
            <a:ext cx="64008" cy="64008"/>
          </a:xfrm>
          <a:prstGeom prst="ellipse">
            <a:avLst/>
          </a:prstGeom>
          <a:solidFill>
            <a:srgbClr val="1A2B4A">
              <a:alpha val="25000"/>
            </a:srgbClr>
          </a:solidFill>
          <a:ln/>
        </p:spPr>
      </p:sp>
      <p:sp>
        <p:nvSpPr>
          <p:cNvPr id="16" name="Shape 14"/>
          <p:cNvSpPr/>
          <p:nvPr/>
        </p:nvSpPr>
        <p:spPr>
          <a:xfrm>
            <a:off x="8293608" y="676656"/>
            <a:ext cx="64008" cy="64008"/>
          </a:xfrm>
          <a:prstGeom prst="ellipse">
            <a:avLst/>
          </a:prstGeom>
          <a:solidFill>
            <a:srgbClr val="1A2B4A">
              <a:alpha val="25000"/>
            </a:srgbClr>
          </a:solidFill>
          <a:ln/>
        </p:spPr>
      </p:sp>
      <p:sp>
        <p:nvSpPr>
          <p:cNvPr id="17" name="Shape 15"/>
          <p:cNvSpPr/>
          <p:nvPr/>
        </p:nvSpPr>
        <p:spPr>
          <a:xfrm>
            <a:off x="8494776" y="676656"/>
            <a:ext cx="64008" cy="64008"/>
          </a:xfrm>
          <a:prstGeom prst="ellipse">
            <a:avLst/>
          </a:prstGeom>
          <a:solidFill>
            <a:srgbClr val="1A2B4A">
              <a:alpha val="25000"/>
            </a:srgbClr>
          </a:solidFill>
          <a:ln/>
        </p:spPr>
      </p:sp>
      <p:sp>
        <p:nvSpPr>
          <p:cNvPr id="18" name="Shape 16"/>
          <p:cNvSpPr/>
          <p:nvPr/>
        </p:nvSpPr>
        <p:spPr>
          <a:xfrm>
            <a:off x="8695944" y="676656"/>
            <a:ext cx="64008" cy="64008"/>
          </a:xfrm>
          <a:prstGeom prst="ellipse">
            <a:avLst/>
          </a:prstGeom>
          <a:solidFill>
            <a:srgbClr val="1A2B4A">
              <a:alpha val="25000"/>
            </a:srgbClr>
          </a:solidFill>
          <a:ln/>
        </p:spPr>
      </p:sp>
      <p:sp>
        <p:nvSpPr>
          <p:cNvPr id="19" name="Shape 17"/>
          <p:cNvSpPr/>
          <p:nvPr/>
        </p:nvSpPr>
        <p:spPr>
          <a:xfrm>
            <a:off x="8897112" y="676656"/>
            <a:ext cx="64008" cy="64008"/>
          </a:xfrm>
          <a:prstGeom prst="ellipse">
            <a:avLst/>
          </a:prstGeom>
          <a:solidFill>
            <a:srgbClr val="1A2B4A">
              <a:alpha val="25000"/>
            </a:srgbClr>
          </a:solidFill>
          <a:ln/>
        </p:spPr>
      </p:sp>
      <p:sp>
        <p:nvSpPr>
          <p:cNvPr id="20" name="Shape 18"/>
          <p:cNvSpPr/>
          <p:nvPr/>
        </p:nvSpPr>
        <p:spPr>
          <a:xfrm>
            <a:off x="8092440" y="877824"/>
            <a:ext cx="64008" cy="64008"/>
          </a:xfrm>
          <a:prstGeom prst="ellipse">
            <a:avLst/>
          </a:prstGeom>
          <a:solidFill>
            <a:srgbClr val="1A2B4A">
              <a:alpha val="25000"/>
            </a:srgbClr>
          </a:solidFill>
          <a:ln/>
        </p:spPr>
      </p:sp>
      <p:sp>
        <p:nvSpPr>
          <p:cNvPr id="21" name="Shape 19"/>
          <p:cNvSpPr/>
          <p:nvPr/>
        </p:nvSpPr>
        <p:spPr>
          <a:xfrm>
            <a:off x="8293608" y="877824"/>
            <a:ext cx="64008" cy="64008"/>
          </a:xfrm>
          <a:prstGeom prst="ellipse">
            <a:avLst/>
          </a:prstGeom>
          <a:solidFill>
            <a:srgbClr val="1A2B4A">
              <a:alpha val="25000"/>
            </a:srgbClr>
          </a:solidFill>
          <a:ln/>
        </p:spPr>
      </p:sp>
      <p:sp>
        <p:nvSpPr>
          <p:cNvPr id="22" name="Shape 20"/>
          <p:cNvSpPr/>
          <p:nvPr/>
        </p:nvSpPr>
        <p:spPr>
          <a:xfrm>
            <a:off x="8494776" y="877824"/>
            <a:ext cx="64008" cy="64008"/>
          </a:xfrm>
          <a:prstGeom prst="ellipse">
            <a:avLst/>
          </a:prstGeom>
          <a:solidFill>
            <a:srgbClr val="1A2B4A">
              <a:alpha val="25000"/>
            </a:srgbClr>
          </a:solidFill>
          <a:ln/>
        </p:spPr>
      </p:sp>
      <p:sp>
        <p:nvSpPr>
          <p:cNvPr id="23" name="Shape 21"/>
          <p:cNvSpPr/>
          <p:nvPr/>
        </p:nvSpPr>
        <p:spPr>
          <a:xfrm>
            <a:off x="8695944" y="877824"/>
            <a:ext cx="64008" cy="64008"/>
          </a:xfrm>
          <a:prstGeom prst="ellipse">
            <a:avLst/>
          </a:prstGeom>
          <a:solidFill>
            <a:srgbClr val="1A2B4A">
              <a:alpha val="25000"/>
            </a:srgbClr>
          </a:solidFill>
          <a:ln/>
        </p:spPr>
      </p:sp>
      <p:sp>
        <p:nvSpPr>
          <p:cNvPr id="24" name="Shape 22"/>
          <p:cNvSpPr/>
          <p:nvPr/>
        </p:nvSpPr>
        <p:spPr>
          <a:xfrm>
            <a:off x="8897112" y="877824"/>
            <a:ext cx="64008" cy="64008"/>
          </a:xfrm>
          <a:prstGeom prst="ellipse">
            <a:avLst/>
          </a:prstGeom>
          <a:solidFill>
            <a:srgbClr val="1A2B4A">
              <a:alpha val="25000"/>
            </a:srgbClr>
          </a:solidFill>
          <a:ln/>
        </p:spPr>
      </p:sp>
      <p:sp>
        <p:nvSpPr>
          <p:cNvPr id="25" name="Shape 23"/>
          <p:cNvSpPr/>
          <p:nvPr/>
        </p:nvSpPr>
        <p:spPr>
          <a:xfrm>
            <a:off x="8092440" y="1078992"/>
            <a:ext cx="64008" cy="64008"/>
          </a:xfrm>
          <a:prstGeom prst="ellipse">
            <a:avLst/>
          </a:prstGeom>
          <a:solidFill>
            <a:srgbClr val="1A2B4A">
              <a:alpha val="25000"/>
            </a:srgbClr>
          </a:solidFill>
          <a:ln/>
        </p:spPr>
      </p:sp>
      <p:sp>
        <p:nvSpPr>
          <p:cNvPr id="26" name="Shape 24"/>
          <p:cNvSpPr/>
          <p:nvPr/>
        </p:nvSpPr>
        <p:spPr>
          <a:xfrm>
            <a:off x="8293608" y="1078992"/>
            <a:ext cx="64008" cy="64008"/>
          </a:xfrm>
          <a:prstGeom prst="ellipse">
            <a:avLst/>
          </a:prstGeom>
          <a:solidFill>
            <a:srgbClr val="1A2B4A">
              <a:alpha val="25000"/>
            </a:srgbClr>
          </a:solidFill>
          <a:ln/>
        </p:spPr>
      </p:sp>
      <p:sp>
        <p:nvSpPr>
          <p:cNvPr id="27" name="Shape 25"/>
          <p:cNvSpPr/>
          <p:nvPr/>
        </p:nvSpPr>
        <p:spPr>
          <a:xfrm>
            <a:off x="8494776" y="1078992"/>
            <a:ext cx="64008" cy="64008"/>
          </a:xfrm>
          <a:prstGeom prst="ellipse">
            <a:avLst/>
          </a:prstGeom>
          <a:solidFill>
            <a:srgbClr val="1A2B4A">
              <a:alpha val="25000"/>
            </a:srgbClr>
          </a:solidFill>
          <a:ln/>
        </p:spPr>
      </p:sp>
      <p:sp>
        <p:nvSpPr>
          <p:cNvPr id="28" name="Shape 26"/>
          <p:cNvSpPr/>
          <p:nvPr/>
        </p:nvSpPr>
        <p:spPr>
          <a:xfrm>
            <a:off x="8695944" y="1078992"/>
            <a:ext cx="64008" cy="64008"/>
          </a:xfrm>
          <a:prstGeom prst="ellipse">
            <a:avLst/>
          </a:prstGeom>
          <a:solidFill>
            <a:srgbClr val="1A2B4A">
              <a:alpha val="25000"/>
            </a:srgbClr>
          </a:solidFill>
          <a:ln/>
        </p:spPr>
      </p:sp>
      <p:sp>
        <p:nvSpPr>
          <p:cNvPr id="29" name="Shape 27"/>
          <p:cNvSpPr/>
          <p:nvPr/>
        </p:nvSpPr>
        <p:spPr>
          <a:xfrm>
            <a:off x="8897112" y="1078992"/>
            <a:ext cx="64008" cy="64008"/>
          </a:xfrm>
          <a:prstGeom prst="ellipse">
            <a:avLst/>
          </a:prstGeom>
          <a:solidFill>
            <a:srgbClr val="1A2B4A">
              <a:alpha val="25000"/>
            </a:srgbClr>
          </a:solidFill>
          <a:ln/>
        </p:spPr>
      </p:sp>
      <p:sp>
        <p:nvSpPr>
          <p:cNvPr id="30" name="Text 28"/>
          <p:cNvSpPr/>
          <p:nvPr/>
        </p:nvSpPr>
        <p:spPr>
          <a:xfrm>
            <a:off x="411480" y="292608"/>
            <a:ext cx="8321040" cy="530352"/>
          </a:xfrm>
          <a:prstGeom prst="rect">
            <a:avLst/>
          </a:prstGeom>
          <a:noFill/>
          <a:ln/>
        </p:spPr>
        <p:txBody>
          <a:bodyPr wrap="square" lIns="0" tIns="0" rIns="0" bIns="0" rtlCol="0" anchor="ctr"/>
          <a:lstStyle/>
          <a:p>
            <a:pPr algn="l" indent="0" marL="0">
              <a:buNone/>
            </a:pPr>
            <a:r>
              <a:rPr lang="en-US" sz="2800" b="1" dirty="0">
                <a:solidFill>
                  <a:srgbClr val="1A2B4A"/>
                </a:solidFill>
                <a:latin typeface="Cambria" pitchFamily="34" charset="0"/>
                <a:ea typeface="Cambria" pitchFamily="34" charset="-122"/>
                <a:cs typeface="Cambria" pitchFamily="34" charset="-120"/>
              </a:rPr>
              <a:t>Live System: EAT SOON — Banana Scan</a:t>
            </a:r>
            <a:endParaRPr lang="en-US" sz="2800" dirty="0"/>
          </a:p>
        </p:txBody>
      </p:sp>
      <p:sp>
        <p:nvSpPr>
          <p:cNvPr id="31" name="Shape 29"/>
          <p:cNvSpPr/>
          <p:nvPr/>
        </p:nvSpPr>
        <p:spPr>
          <a:xfrm>
            <a:off x="411480" y="868680"/>
            <a:ext cx="8229600" cy="0"/>
          </a:xfrm>
          <a:prstGeom prst="line">
            <a:avLst/>
          </a:prstGeom>
          <a:noFill/>
          <a:ln w="19050">
            <a:solidFill>
              <a:srgbClr val="3A8C7E">
                <a:alpha val="60000"/>
              </a:srgbClr>
            </a:solidFill>
            <a:prstDash val="solid"/>
          </a:ln>
        </p:spPr>
      </p:sp>
      <p:sp>
        <p:nvSpPr>
          <p:cNvPr id="32" name="Shape 30"/>
          <p:cNvSpPr/>
          <p:nvPr/>
        </p:nvSpPr>
        <p:spPr>
          <a:xfrm>
            <a:off x="411480" y="950976"/>
            <a:ext cx="8229600" cy="0"/>
          </a:xfrm>
          <a:prstGeom prst="line">
            <a:avLst/>
          </a:prstGeom>
          <a:noFill/>
          <a:ln w="10160">
            <a:solidFill>
              <a:srgbClr val="1A2B4A">
                <a:alpha val="45000"/>
              </a:srgbClr>
            </a:solidFill>
            <a:prstDash val="solid"/>
          </a:ln>
        </p:spPr>
      </p:sp>
      <p:sp>
        <p:nvSpPr>
          <p:cNvPr id="33" name="Shape 31"/>
          <p:cNvSpPr/>
          <p:nvPr/>
        </p:nvSpPr>
        <p:spPr>
          <a:xfrm>
            <a:off x="384048" y="1005840"/>
            <a:ext cx="4389120" cy="3749040"/>
          </a:xfrm>
          <a:prstGeom prst="roundRect">
            <a:avLst>
              <a:gd name="adj" fmla="val 2927"/>
            </a:avLst>
          </a:prstGeom>
          <a:solidFill>
            <a:srgbClr val="E8E8E8"/>
          </a:solidFill>
          <a:ln w="6350">
            <a:solidFill>
              <a:srgbClr val="1A2B4A">
                <a:alpha val="40000"/>
              </a:srgbClr>
            </a:solidFill>
            <a:prstDash val="solid"/>
          </a:ln>
          <a:effectLst>
            <a:outerShdw sx="100000" sy="100000" kx="0" ky="0" algn="bl" rotWithShape="0" blurRad="101600" dist="38100" dir="2700000">
              <a:srgbClr val="000000">
                <a:alpha val="10000"/>
              </a:srgbClr>
            </a:outerShdw>
          </a:effectLst>
        </p:spPr>
      </p:sp>
      <p:sp>
        <p:nvSpPr>
          <p:cNvPr id="34" name="Shape 32"/>
          <p:cNvSpPr/>
          <p:nvPr/>
        </p:nvSpPr>
        <p:spPr>
          <a:xfrm>
            <a:off x="1097280" y="1371600"/>
            <a:ext cx="2926080" cy="3017520"/>
          </a:xfrm>
          <a:prstGeom prst="roundRect">
            <a:avLst>
              <a:gd name="adj" fmla="val 9375"/>
            </a:avLst>
          </a:prstGeom>
          <a:solidFill>
            <a:srgbClr val="FFFFFF"/>
          </a:solidFill>
          <a:ln/>
          <a:effectLst>
            <a:outerShdw sx="100000" sy="100000" kx="0" ky="0" algn="bl" rotWithShape="0" blurRad="101600" dist="38100" dir="2700000">
              <a:srgbClr val="000000">
                <a:alpha val="10000"/>
              </a:srgbClr>
            </a:outerShdw>
          </a:effectLst>
        </p:spPr>
      </p:sp>
      <p:sp>
        <p:nvSpPr>
          <p:cNvPr id="35" name="Text 33"/>
          <p:cNvSpPr/>
          <p:nvPr/>
        </p:nvSpPr>
        <p:spPr>
          <a:xfrm>
            <a:off x="1097280" y="1371600"/>
            <a:ext cx="2926080" cy="45720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36" name="Text 34"/>
          <p:cNvSpPr/>
          <p:nvPr/>
        </p:nvSpPr>
        <p:spPr>
          <a:xfrm>
            <a:off x="1188720" y="1828800"/>
            <a:ext cx="2743200" cy="274320"/>
          </a:xfrm>
          <a:prstGeom prst="rect">
            <a:avLst/>
          </a:prstGeom>
          <a:noFill/>
          <a:ln/>
        </p:spPr>
        <p:txBody>
          <a:bodyPr wrap="square" lIns="0" tIns="0" rIns="0" bIns="0" rtlCol="0" anchor="ctr"/>
          <a:lstStyle/>
          <a:p>
            <a:pPr algn="ctr" indent="0" marL="0">
              <a:buNone/>
            </a:pPr>
            <a:r>
              <a:rPr lang="en-US" sz="1400" b="1" dirty="0">
                <a:solidFill>
                  <a:srgbClr val="1A2B4A"/>
                </a:solidFill>
                <a:latin typeface="Cambria" pitchFamily="34" charset="0"/>
                <a:ea typeface="Cambria" pitchFamily="34" charset="-122"/>
                <a:cs typeface="Cambria" pitchFamily="34" charset="-120"/>
              </a:rPr>
              <a:t>fresco</a:t>
            </a:r>
            <a:endParaRPr lang="en-US" sz="1400" dirty="0"/>
          </a:p>
        </p:txBody>
      </p:sp>
      <p:sp>
        <p:nvSpPr>
          <p:cNvPr id="37" name="Shape 35"/>
          <p:cNvSpPr/>
          <p:nvPr/>
        </p:nvSpPr>
        <p:spPr>
          <a:xfrm>
            <a:off x="1828800" y="2176272"/>
            <a:ext cx="1463040" cy="347472"/>
          </a:xfrm>
          <a:prstGeom prst="roundRect">
            <a:avLst>
              <a:gd name="adj" fmla="val 50000"/>
            </a:avLst>
          </a:prstGeom>
          <a:solidFill>
            <a:srgbClr val="D97706"/>
          </a:solidFill>
          <a:ln/>
        </p:spPr>
      </p:sp>
      <p:sp>
        <p:nvSpPr>
          <p:cNvPr id="38" name="Text 36"/>
          <p:cNvSpPr/>
          <p:nvPr/>
        </p:nvSpPr>
        <p:spPr>
          <a:xfrm>
            <a:off x="1828800" y="2176272"/>
            <a:ext cx="1463040"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EAT SOON</a:t>
            </a:r>
            <a:endParaRPr lang="en-US" sz="1100" dirty="0"/>
          </a:p>
        </p:txBody>
      </p:sp>
      <p:sp>
        <p:nvSpPr>
          <p:cNvPr id="39" name="Text 37"/>
          <p:cNvSpPr/>
          <p:nvPr/>
        </p:nvSpPr>
        <p:spPr>
          <a:xfrm>
            <a:off x="1188720" y="2596896"/>
            <a:ext cx="2743200" cy="329184"/>
          </a:xfrm>
          <a:prstGeom prst="rect">
            <a:avLst/>
          </a:prstGeom>
          <a:noFill/>
          <a:ln/>
        </p:spPr>
        <p:txBody>
          <a:bodyPr wrap="square" lIns="0" tIns="0" rIns="0" bIns="0" rtlCol="0" anchor="ctr"/>
          <a:lstStyle/>
          <a:p>
            <a:pPr algn="ctr" indent="0" marL="0">
              <a:buNone/>
            </a:pPr>
            <a:r>
              <a:rPr lang="en-US" sz="1800" b="1" dirty="0">
                <a:solidFill>
                  <a:srgbClr val="1A2B4A"/>
                </a:solidFill>
                <a:latin typeface="Cambria" pitchFamily="34" charset="0"/>
                <a:ea typeface="Cambria" pitchFamily="34" charset="-122"/>
                <a:cs typeface="Cambria" pitchFamily="34" charset="-120"/>
              </a:rPr>
              <a:t>Banana</a:t>
            </a:r>
            <a:endParaRPr lang="en-US" sz="1800" dirty="0"/>
          </a:p>
        </p:txBody>
      </p:sp>
      <p:sp>
        <p:nvSpPr>
          <p:cNvPr id="40" name="Text 38"/>
          <p:cNvSpPr/>
          <p:nvPr/>
        </p:nvSpPr>
        <p:spPr>
          <a:xfrm>
            <a:off x="1188720" y="2944368"/>
            <a:ext cx="2743200" cy="457200"/>
          </a:xfrm>
          <a:prstGeom prst="rect">
            <a:avLst/>
          </a:prstGeom>
          <a:noFill/>
          <a:ln/>
        </p:spPr>
        <p:txBody>
          <a:bodyPr wrap="square" lIns="0" tIns="0" rIns="0" bIns="0" rtlCol="0" anchor="ctr"/>
          <a:lstStyle/>
          <a:p>
            <a:pPr algn="ctr" indent="0" marL="0">
              <a:buNone/>
            </a:pPr>
            <a:r>
              <a:rPr lang="en-US" sz="3600" b="1" dirty="0">
                <a:solidFill>
                  <a:srgbClr val="D97706"/>
                </a:solidFill>
                <a:latin typeface="Cambria" pitchFamily="34" charset="0"/>
                <a:ea typeface="Cambria" pitchFamily="34" charset="-122"/>
                <a:cs typeface="Cambria" pitchFamily="34" charset="-120"/>
              </a:rPr>
              <a:t>3</a:t>
            </a:r>
            <a:endParaRPr lang="en-US" sz="3600" dirty="0"/>
          </a:p>
        </p:txBody>
      </p:sp>
      <p:sp>
        <p:nvSpPr>
          <p:cNvPr id="41" name="Text 39"/>
          <p:cNvSpPr/>
          <p:nvPr/>
        </p:nvSpPr>
        <p:spPr>
          <a:xfrm>
            <a:off x="1188720" y="3383280"/>
            <a:ext cx="2743200" cy="201168"/>
          </a:xfrm>
          <a:prstGeom prst="rect">
            <a:avLst/>
          </a:prstGeom>
          <a:noFill/>
          <a:ln/>
        </p:spPr>
        <p:txBody>
          <a:bodyPr wrap="square" lIns="0" tIns="0" rIns="0" bIns="0" rtlCol="0" anchor="ctr"/>
          <a:lstStyle/>
          <a:p>
            <a:pPr algn="ctr" indent="0" marL="0">
              <a:buNone/>
            </a:pPr>
            <a:r>
              <a:rPr lang="en-US" sz="1100" dirty="0">
                <a:solidFill>
                  <a:srgbClr val="4A5568"/>
                </a:solidFill>
                <a:latin typeface="Calibri" pitchFamily="34" charset="0"/>
                <a:ea typeface="Calibri" pitchFamily="34" charset="-122"/>
                <a:cs typeface="Calibri" pitchFamily="34" charset="-120"/>
              </a:rPr>
              <a:t>days left</a:t>
            </a:r>
            <a:endParaRPr lang="en-US" sz="1100" dirty="0"/>
          </a:p>
        </p:txBody>
      </p:sp>
      <p:sp>
        <p:nvSpPr>
          <p:cNvPr id="42" name="Text 40"/>
          <p:cNvSpPr/>
          <p:nvPr/>
        </p:nvSpPr>
        <p:spPr>
          <a:xfrm>
            <a:off x="1188720" y="3602736"/>
            <a:ext cx="2743200" cy="201168"/>
          </a:xfrm>
          <a:prstGeom prst="rect">
            <a:avLst/>
          </a:prstGeom>
          <a:noFill/>
          <a:ln/>
        </p:spPr>
        <p:txBody>
          <a:bodyPr wrap="square" lIns="0" tIns="0" rIns="0" bIns="0" rtlCol="0" anchor="ctr"/>
          <a:lstStyle/>
          <a:p>
            <a:pPr algn="ctr" indent="0" marL="0">
              <a:buNone/>
            </a:pPr>
            <a:r>
              <a:rPr lang="en-US" sz="1000" i="1" dirty="0">
                <a:solidFill>
                  <a:srgbClr val="607D8B"/>
                </a:solidFill>
                <a:latin typeface="Calibri" pitchFamily="34" charset="0"/>
                <a:ea typeface="Calibri" pitchFamily="34" charset="-122"/>
                <a:cs typeface="Calibri" pitchFamily="34" charset="-120"/>
              </a:rPr>
              <a:t>Slightly Aged · 72% confidence</a:t>
            </a:r>
            <a:endParaRPr lang="en-US" sz="1000" dirty="0"/>
          </a:p>
        </p:txBody>
      </p:sp>
      <p:sp>
        <p:nvSpPr>
          <p:cNvPr id="43" name="Shape 41"/>
          <p:cNvSpPr/>
          <p:nvPr/>
        </p:nvSpPr>
        <p:spPr>
          <a:xfrm>
            <a:off x="1234440" y="3858768"/>
            <a:ext cx="768096" cy="182880"/>
          </a:xfrm>
          <a:prstGeom prst="roundRect">
            <a:avLst>
              <a:gd name="adj" fmla="val 20000"/>
            </a:avLst>
          </a:prstGeom>
          <a:solidFill>
            <a:srgbClr val="80C0A0">
              <a:alpha val="80000"/>
            </a:srgbClr>
          </a:solidFill>
          <a:ln/>
        </p:spPr>
      </p:sp>
      <p:sp>
        <p:nvSpPr>
          <p:cNvPr id="44" name="Text 42"/>
          <p:cNvSpPr/>
          <p:nvPr/>
        </p:nvSpPr>
        <p:spPr>
          <a:xfrm>
            <a:off x="1234440" y="3858768"/>
            <a:ext cx="2651760" cy="182880"/>
          </a:xfrm>
          <a:prstGeom prst="rect">
            <a:avLst/>
          </a:prstGeom>
          <a:noFill/>
          <a:ln/>
        </p:spPr>
        <p:txBody>
          <a:bodyPr wrap="square" lIns="25400" tIns="25400" rIns="25400" bIns="25400" rtlCol="0" anchor="ctr"/>
          <a:lstStyle/>
          <a:p>
            <a:pPr indent="0" marL="0">
              <a:buNone/>
            </a:pPr>
            <a:r>
              <a:rPr lang="en-US" sz="900" dirty="0">
                <a:solidFill>
                  <a:srgbClr val="FFFFFF"/>
                </a:solidFill>
                <a:latin typeface="Calibri" pitchFamily="34" charset="0"/>
                <a:ea typeface="Calibri" pitchFamily="34" charset="-122"/>
                <a:cs typeface="Calibri" pitchFamily="34" charset="-120"/>
              </a:rPr>
              <a:t>Room Temp  2.2d</a:t>
            </a:r>
            <a:endParaRPr lang="en-US" sz="900" dirty="0"/>
          </a:p>
        </p:txBody>
      </p:sp>
      <p:sp>
        <p:nvSpPr>
          <p:cNvPr id="45" name="Shape 43"/>
          <p:cNvSpPr/>
          <p:nvPr/>
        </p:nvSpPr>
        <p:spPr>
          <a:xfrm>
            <a:off x="1234440" y="4114800"/>
            <a:ext cx="2432304" cy="182880"/>
          </a:xfrm>
          <a:prstGeom prst="roundRect">
            <a:avLst>
              <a:gd name="adj" fmla="val 20000"/>
            </a:avLst>
          </a:prstGeom>
          <a:solidFill>
            <a:srgbClr val="3A8C7E">
              <a:alpha val="80000"/>
            </a:srgbClr>
          </a:solidFill>
          <a:ln/>
        </p:spPr>
      </p:sp>
      <p:sp>
        <p:nvSpPr>
          <p:cNvPr id="46" name="Text 44"/>
          <p:cNvSpPr/>
          <p:nvPr/>
        </p:nvSpPr>
        <p:spPr>
          <a:xfrm>
            <a:off x="1234440" y="4114800"/>
            <a:ext cx="2651760" cy="182880"/>
          </a:xfrm>
          <a:prstGeom prst="rect">
            <a:avLst/>
          </a:prstGeom>
          <a:noFill/>
          <a:ln/>
        </p:spPr>
        <p:txBody>
          <a:bodyPr wrap="square" lIns="25400" tIns="25400" rIns="25400" bIns="25400" rtlCol="0" anchor="ctr"/>
          <a:lstStyle/>
          <a:p>
            <a:pPr indent="0" marL="0">
              <a:buNone/>
            </a:pPr>
            <a:r>
              <a:rPr lang="en-US" sz="900" b="1" dirty="0">
                <a:solidFill>
                  <a:srgbClr val="FFFFFF"/>
                </a:solidFill>
                <a:latin typeface="Calibri" pitchFamily="34" charset="0"/>
                <a:ea typeface="Calibri" pitchFamily="34" charset="-122"/>
                <a:cs typeface="Calibri" pitchFamily="34" charset="-120"/>
              </a:rPr>
              <a:t>Fridge ✓ Recommended  3.0d</a:t>
            </a:r>
            <a:endParaRPr lang="en-US" sz="900" dirty="0"/>
          </a:p>
        </p:txBody>
      </p:sp>
      <p:sp>
        <p:nvSpPr>
          <p:cNvPr id="47" name="Shape 45"/>
          <p:cNvSpPr/>
          <p:nvPr/>
        </p:nvSpPr>
        <p:spPr>
          <a:xfrm>
            <a:off x="1234440" y="4370832"/>
            <a:ext cx="2560320" cy="182880"/>
          </a:xfrm>
          <a:prstGeom prst="roundRect">
            <a:avLst>
              <a:gd name="adj" fmla="val 20000"/>
            </a:avLst>
          </a:prstGeom>
          <a:solidFill>
            <a:srgbClr val="3B5FA0"/>
          </a:solidFill>
          <a:ln/>
        </p:spPr>
      </p:sp>
      <p:sp>
        <p:nvSpPr>
          <p:cNvPr id="48" name="Text 46"/>
          <p:cNvSpPr/>
          <p:nvPr/>
        </p:nvSpPr>
        <p:spPr>
          <a:xfrm>
            <a:off x="1234440" y="4370832"/>
            <a:ext cx="2651760" cy="182880"/>
          </a:xfrm>
          <a:prstGeom prst="rect">
            <a:avLst/>
          </a:prstGeom>
          <a:noFill/>
          <a:ln/>
        </p:spPr>
        <p:txBody>
          <a:bodyPr wrap="square" lIns="25400" tIns="25400" rIns="25400" bIns="25400" rtlCol="0" anchor="ctr"/>
          <a:lstStyle/>
          <a:p>
            <a:pPr indent="0" marL="0">
              <a:buNone/>
            </a:pPr>
            <a:r>
              <a:rPr lang="en-US" sz="900" dirty="0">
                <a:solidFill>
                  <a:srgbClr val="FFFFFF"/>
                </a:solidFill>
                <a:latin typeface="Calibri" pitchFamily="34" charset="0"/>
                <a:ea typeface="Calibri" pitchFamily="34" charset="-122"/>
                <a:cs typeface="Calibri" pitchFamily="34" charset="-120"/>
              </a:rPr>
              <a:t>Freezer  29.6d</a:t>
            </a:r>
            <a:endParaRPr lang="en-US" sz="900" dirty="0"/>
          </a:p>
        </p:txBody>
      </p:sp>
      <p:sp>
        <p:nvSpPr>
          <p:cNvPr id="49" name="Shape 47"/>
          <p:cNvSpPr/>
          <p:nvPr/>
        </p:nvSpPr>
        <p:spPr>
          <a:xfrm>
            <a:off x="4956048" y="1005840"/>
            <a:ext cx="3803904" cy="1572768"/>
          </a:xfrm>
          <a:prstGeom prst="roundRect">
            <a:avLst>
              <a:gd name="adj" fmla="val 6977"/>
            </a:avLst>
          </a:prstGeom>
          <a:solidFill>
            <a:srgbClr val="FFF8E1"/>
          </a:solidFill>
          <a:ln w="6350">
            <a:solidFill>
              <a:srgbClr val="1A2B4A">
                <a:alpha val="40000"/>
              </a:srgbClr>
            </a:solidFill>
            <a:prstDash val="solid"/>
          </a:ln>
          <a:effectLst>
            <a:outerShdw sx="100000" sy="100000" kx="0" ky="0" algn="bl" rotWithShape="0" blurRad="101600" dist="38100" dir="2700000">
              <a:srgbClr val="000000">
                <a:alpha val="10000"/>
              </a:srgbClr>
            </a:outerShdw>
          </a:effectLst>
        </p:spPr>
      </p:sp>
      <p:sp>
        <p:nvSpPr>
          <p:cNvPr id="50" name="Text 48"/>
          <p:cNvSpPr/>
          <p:nvPr/>
        </p:nvSpPr>
        <p:spPr>
          <a:xfrm>
            <a:off x="5102352" y="1078992"/>
            <a:ext cx="3547872" cy="219456"/>
          </a:xfrm>
          <a:prstGeom prst="rect">
            <a:avLst/>
          </a:prstGeom>
          <a:noFill/>
          <a:ln/>
        </p:spPr>
        <p:txBody>
          <a:bodyPr wrap="square" lIns="0" tIns="0" rIns="0" bIns="0" rtlCol="0" anchor="ctr"/>
          <a:lstStyle/>
          <a:p>
            <a:pPr indent="0" marL="0">
              <a:buNone/>
            </a:pPr>
            <a:r>
              <a:rPr lang="en-US" sz="1200" b="1" dirty="0">
                <a:solidFill>
                  <a:srgbClr val="1A2B4A"/>
                </a:solidFill>
                <a:latin typeface="Calibri" pitchFamily="34" charset="0"/>
                <a:ea typeface="Calibri" pitchFamily="34" charset="-122"/>
                <a:cs typeface="Calibri" pitchFamily="34" charset="-120"/>
              </a:rPr>
              <a:t>Patient Profile</a:t>
            </a:r>
            <a:endParaRPr lang="en-US" sz="1200" dirty="0"/>
          </a:p>
        </p:txBody>
      </p:sp>
      <p:sp>
        <p:nvSpPr>
          <p:cNvPr id="51" name="Text 49"/>
          <p:cNvSpPr/>
          <p:nvPr/>
        </p:nvSpPr>
        <p:spPr>
          <a:xfrm>
            <a:off x="5102352" y="1335024"/>
            <a:ext cx="1371600" cy="237744"/>
          </a:xfrm>
          <a:prstGeom prst="rect">
            <a:avLst/>
          </a:prstGeom>
          <a:noFill/>
          <a:ln/>
        </p:spPr>
        <p:txBody>
          <a:bodyPr wrap="square" lIns="0" tIns="0" rIns="0" bIns="0" rtlCol="0" anchor="ctr"/>
          <a:lstStyle/>
          <a:p>
            <a:pPr indent="0" marL="0">
              <a:buNone/>
            </a:pPr>
            <a:r>
              <a:rPr lang="en-US" sz="1050" b="1" dirty="0">
                <a:solidFill>
                  <a:srgbClr val="4A5568"/>
                </a:solidFill>
                <a:latin typeface="Calibri" pitchFamily="34" charset="0"/>
                <a:ea typeface="Calibri" pitchFamily="34" charset="-122"/>
                <a:cs typeface="Calibri" pitchFamily="34" charset="-120"/>
              </a:rPr>
              <a:t>Fruit:</a:t>
            </a:r>
            <a:endParaRPr lang="en-US" sz="1050" dirty="0"/>
          </a:p>
        </p:txBody>
      </p:sp>
      <p:sp>
        <p:nvSpPr>
          <p:cNvPr id="52" name="Text 50"/>
          <p:cNvSpPr/>
          <p:nvPr/>
        </p:nvSpPr>
        <p:spPr>
          <a:xfrm>
            <a:off x="6492240" y="1335024"/>
            <a:ext cx="2103120" cy="237744"/>
          </a:xfrm>
          <a:prstGeom prst="rect">
            <a:avLst/>
          </a:prstGeom>
          <a:noFill/>
          <a:ln/>
        </p:spPr>
        <p:txBody>
          <a:bodyPr wrap="square" lIns="0" tIns="0" rIns="0" bIns="0" rtlCol="0" anchor="ctr"/>
          <a:lstStyle/>
          <a:p>
            <a:pPr indent="0" marL="0">
              <a:buNone/>
            </a:pPr>
            <a:r>
              <a:rPr lang="en-US" sz="1050" b="1" dirty="0">
                <a:solidFill>
                  <a:srgbClr val="3A8C7E"/>
                </a:solidFill>
                <a:latin typeface="Calibri" pitchFamily="34" charset="0"/>
                <a:ea typeface="Calibri" pitchFamily="34" charset="-122"/>
                <a:cs typeface="Calibri" pitchFamily="34" charset="-120"/>
              </a:rPr>
              <a:t>Banana</a:t>
            </a:r>
            <a:endParaRPr lang="en-US" sz="1050" dirty="0"/>
          </a:p>
        </p:txBody>
      </p:sp>
      <p:sp>
        <p:nvSpPr>
          <p:cNvPr id="53" name="Text 51"/>
          <p:cNvSpPr/>
          <p:nvPr/>
        </p:nvSpPr>
        <p:spPr>
          <a:xfrm>
            <a:off x="5102352" y="1591056"/>
            <a:ext cx="1371600" cy="237744"/>
          </a:xfrm>
          <a:prstGeom prst="rect">
            <a:avLst/>
          </a:prstGeom>
          <a:noFill/>
          <a:ln/>
        </p:spPr>
        <p:txBody>
          <a:bodyPr wrap="square" lIns="0" tIns="0" rIns="0" bIns="0" rtlCol="0" anchor="ctr"/>
          <a:lstStyle/>
          <a:p>
            <a:pPr indent="0" marL="0">
              <a:buNone/>
            </a:pPr>
            <a:r>
              <a:rPr lang="en-US" sz="1050" b="1" dirty="0">
                <a:solidFill>
                  <a:srgbClr val="4A5568"/>
                </a:solidFill>
                <a:latin typeface="Calibri" pitchFamily="34" charset="0"/>
                <a:ea typeface="Calibri" pitchFamily="34" charset="-122"/>
                <a:cs typeface="Calibri" pitchFamily="34" charset="-120"/>
              </a:rPr>
              <a:t>Classifier output:</a:t>
            </a:r>
            <a:endParaRPr lang="en-US" sz="1050" dirty="0"/>
          </a:p>
        </p:txBody>
      </p:sp>
      <p:sp>
        <p:nvSpPr>
          <p:cNvPr id="54" name="Text 52"/>
          <p:cNvSpPr/>
          <p:nvPr/>
        </p:nvSpPr>
        <p:spPr>
          <a:xfrm>
            <a:off x="6492240" y="1591056"/>
            <a:ext cx="2103120" cy="237744"/>
          </a:xfrm>
          <a:prstGeom prst="rect">
            <a:avLst/>
          </a:prstGeom>
          <a:noFill/>
          <a:ln/>
        </p:spPr>
        <p:txBody>
          <a:bodyPr wrap="square" lIns="0" tIns="0" rIns="0" bIns="0" rtlCol="0" anchor="ctr"/>
          <a:lstStyle/>
          <a:p>
            <a:pPr indent="0" marL="0">
              <a:buNone/>
            </a:pPr>
            <a:r>
              <a:rPr lang="en-US" sz="1050" b="1" dirty="0">
                <a:solidFill>
                  <a:srgbClr val="3A8C7E"/>
                </a:solidFill>
                <a:latin typeface="Calibri" pitchFamily="34" charset="0"/>
                <a:ea typeface="Calibri" pitchFamily="34" charset="-122"/>
                <a:cs typeface="Calibri" pitchFamily="34" charset="-120"/>
              </a:rPr>
              <a:t>Banana(5-10)</a:t>
            </a:r>
            <a:endParaRPr lang="en-US" sz="1050" dirty="0"/>
          </a:p>
        </p:txBody>
      </p:sp>
      <p:sp>
        <p:nvSpPr>
          <p:cNvPr id="55" name="Text 53"/>
          <p:cNvSpPr/>
          <p:nvPr/>
        </p:nvSpPr>
        <p:spPr>
          <a:xfrm>
            <a:off x="5102352" y="1847088"/>
            <a:ext cx="1371600" cy="237744"/>
          </a:xfrm>
          <a:prstGeom prst="rect">
            <a:avLst/>
          </a:prstGeom>
          <a:noFill/>
          <a:ln/>
        </p:spPr>
        <p:txBody>
          <a:bodyPr wrap="square" lIns="0" tIns="0" rIns="0" bIns="0" rtlCol="0" anchor="ctr"/>
          <a:lstStyle/>
          <a:p>
            <a:pPr indent="0" marL="0">
              <a:buNone/>
            </a:pPr>
            <a:r>
              <a:rPr lang="en-US" sz="1050" b="1" dirty="0">
                <a:solidFill>
                  <a:srgbClr val="4A5568"/>
                </a:solidFill>
                <a:latin typeface="Calibri" pitchFamily="34" charset="0"/>
                <a:ea typeface="Calibri" pitchFamily="34" charset="-122"/>
                <a:cs typeface="Calibri" pitchFamily="34" charset="-120"/>
              </a:rPr>
              <a:t>Freshness score F:</a:t>
            </a:r>
            <a:endParaRPr lang="en-US" sz="1050" dirty="0"/>
          </a:p>
        </p:txBody>
      </p:sp>
      <p:sp>
        <p:nvSpPr>
          <p:cNvPr id="56" name="Text 54"/>
          <p:cNvSpPr/>
          <p:nvPr/>
        </p:nvSpPr>
        <p:spPr>
          <a:xfrm>
            <a:off x="6492240" y="1847088"/>
            <a:ext cx="2103120" cy="237744"/>
          </a:xfrm>
          <a:prstGeom prst="rect">
            <a:avLst/>
          </a:prstGeom>
          <a:noFill/>
          <a:ln/>
        </p:spPr>
        <p:txBody>
          <a:bodyPr wrap="square" lIns="0" tIns="0" rIns="0" bIns="0" rtlCol="0" anchor="ctr"/>
          <a:lstStyle/>
          <a:p>
            <a:pPr indent="0" marL="0">
              <a:buNone/>
            </a:pPr>
            <a:r>
              <a:rPr lang="en-US" sz="1050" b="1" dirty="0">
                <a:solidFill>
                  <a:srgbClr val="3A8C7E"/>
                </a:solidFill>
                <a:latin typeface="Calibri" pitchFamily="34" charset="0"/>
                <a:ea typeface="Calibri" pitchFamily="34" charset="-122"/>
                <a:cs typeface="Calibri" pitchFamily="34" charset="-120"/>
              </a:rPr>
              <a:t>0.72</a:t>
            </a:r>
            <a:endParaRPr lang="en-US" sz="1050" dirty="0"/>
          </a:p>
        </p:txBody>
      </p:sp>
      <p:sp>
        <p:nvSpPr>
          <p:cNvPr id="57" name="Text 55"/>
          <p:cNvSpPr/>
          <p:nvPr/>
        </p:nvSpPr>
        <p:spPr>
          <a:xfrm>
            <a:off x="5102352" y="2103120"/>
            <a:ext cx="1371600" cy="237744"/>
          </a:xfrm>
          <a:prstGeom prst="rect">
            <a:avLst/>
          </a:prstGeom>
          <a:noFill/>
          <a:ln/>
        </p:spPr>
        <p:txBody>
          <a:bodyPr wrap="square" lIns="0" tIns="0" rIns="0" bIns="0" rtlCol="0" anchor="ctr"/>
          <a:lstStyle/>
          <a:p>
            <a:pPr indent="0" marL="0">
              <a:buNone/>
            </a:pPr>
            <a:r>
              <a:rPr lang="en-US" sz="1050" b="1" dirty="0">
                <a:solidFill>
                  <a:srgbClr val="4A5568"/>
                </a:solidFill>
                <a:latin typeface="Calibri" pitchFamily="34" charset="0"/>
                <a:ea typeface="Calibri" pitchFamily="34" charset="-122"/>
                <a:cs typeface="Calibri" pitchFamily="34" charset="-120"/>
              </a:rPr>
              <a:t>Confidence:</a:t>
            </a:r>
            <a:endParaRPr lang="en-US" sz="1050" dirty="0"/>
          </a:p>
        </p:txBody>
      </p:sp>
      <p:sp>
        <p:nvSpPr>
          <p:cNvPr id="58" name="Text 56"/>
          <p:cNvSpPr/>
          <p:nvPr/>
        </p:nvSpPr>
        <p:spPr>
          <a:xfrm>
            <a:off x="6492240" y="2103120"/>
            <a:ext cx="2103120" cy="237744"/>
          </a:xfrm>
          <a:prstGeom prst="rect">
            <a:avLst/>
          </a:prstGeom>
          <a:noFill/>
          <a:ln/>
        </p:spPr>
        <p:txBody>
          <a:bodyPr wrap="square" lIns="0" tIns="0" rIns="0" bIns="0" rtlCol="0" anchor="ctr"/>
          <a:lstStyle/>
          <a:p>
            <a:pPr indent="0" marL="0">
              <a:buNone/>
            </a:pPr>
            <a:r>
              <a:rPr lang="en-US" sz="1050" b="1" dirty="0">
                <a:solidFill>
                  <a:srgbClr val="3A8C7E"/>
                </a:solidFill>
                <a:latin typeface="Calibri" pitchFamily="34" charset="0"/>
                <a:ea typeface="Calibri" pitchFamily="34" charset="-122"/>
                <a:cs typeface="Calibri" pitchFamily="34" charset="-120"/>
              </a:rPr>
              <a:t>72%</a:t>
            </a:r>
            <a:endParaRPr lang="en-US" sz="1050" dirty="0"/>
          </a:p>
        </p:txBody>
      </p:sp>
      <p:sp>
        <p:nvSpPr>
          <p:cNvPr id="59" name="Shape 57"/>
          <p:cNvSpPr/>
          <p:nvPr/>
        </p:nvSpPr>
        <p:spPr>
          <a:xfrm>
            <a:off x="4956048" y="2670048"/>
            <a:ext cx="3803904" cy="2084832"/>
          </a:xfrm>
          <a:prstGeom prst="roundRect">
            <a:avLst>
              <a:gd name="adj" fmla="val 5263"/>
            </a:avLst>
          </a:prstGeom>
          <a:solidFill>
            <a:srgbClr val="F4F7F9"/>
          </a:solidFill>
          <a:ln w="6350">
            <a:solidFill>
              <a:srgbClr val="1A2B4A">
                <a:alpha val="40000"/>
              </a:srgbClr>
            </a:solidFill>
            <a:prstDash val="solid"/>
          </a:ln>
          <a:effectLst>
            <a:outerShdw sx="100000" sy="100000" kx="0" ky="0" algn="bl" rotWithShape="0" blurRad="101600" dist="38100" dir="2700000">
              <a:srgbClr val="000000">
                <a:alpha val="10000"/>
              </a:srgbClr>
            </a:outerShdw>
          </a:effectLst>
        </p:spPr>
      </p:sp>
      <p:sp>
        <p:nvSpPr>
          <p:cNvPr id="60" name="Text 58"/>
          <p:cNvSpPr/>
          <p:nvPr/>
        </p:nvSpPr>
        <p:spPr>
          <a:xfrm>
            <a:off x="5102352" y="2743200"/>
            <a:ext cx="3547872" cy="219456"/>
          </a:xfrm>
          <a:prstGeom prst="rect">
            <a:avLst/>
          </a:prstGeom>
          <a:noFill/>
          <a:ln/>
        </p:spPr>
        <p:txBody>
          <a:bodyPr wrap="square" lIns="0" tIns="0" rIns="0" bIns="0" rtlCol="0" anchor="ctr"/>
          <a:lstStyle/>
          <a:p>
            <a:pPr indent="0" marL="0">
              <a:buNone/>
            </a:pPr>
            <a:r>
              <a:rPr lang="en-US" sz="1200" b="1" dirty="0">
                <a:solidFill>
                  <a:srgbClr val="1A2B4A"/>
                </a:solidFill>
                <a:latin typeface="Calibri" pitchFamily="34" charset="0"/>
                <a:ea typeface="Calibri" pitchFamily="34" charset="-122"/>
                <a:cs typeface="Calibri" pitchFamily="34" charset="-120"/>
              </a:rPr>
              <a:t>Calculation Trace</a:t>
            </a:r>
            <a:endParaRPr lang="en-US" sz="1200" dirty="0"/>
          </a:p>
        </p:txBody>
      </p:sp>
      <p:sp>
        <p:nvSpPr>
          <p:cNvPr id="61" name="Text 59"/>
          <p:cNvSpPr/>
          <p:nvPr/>
        </p:nvSpPr>
        <p:spPr>
          <a:xfrm>
            <a:off x="5102352" y="2980944"/>
            <a:ext cx="3547872" cy="1737360"/>
          </a:xfrm>
          <a:prstGeom prst="rect">
            <a:avLst/>
          </a:prstGeom>
          <a:noFill/>
          <a:ln/>
        </p:spPr>
        <p:txBody>
          <a:bodyPr wrap="square" lIns="0" tIns="0" rIns="0" bIns="0" rtlCol="0" anchor="t"/>
          <a:lstStyle/>
          <a:p>
            <a:pPr indent="0" marL="0">
              <a:buNone/>
            </a:pPr>
            <a:r>
              <a:rPr lang="en-US" sz="1050" dirty="0">
                <a:solidFill>
                  <a:srgbClr val="4A5568"/>
                </a:solidFill>
                <a:latin typeface="Courier New" pitchFamily="34" charset="0"/>
                <a:ea typeface="Courier New" pitchFamily="34" charset="-122"/>
                <a:cs typeface="Courier New" pitchFamily="34" charset="-120"/>
              </a:rPr>
              <a:t>F^1.5 = 0.72^1.5 = 0.611</a:t>
            </a:r>
            <a:endParaRPr lang="en-US" sz="1050" dirty="0"/>
          </a:p>
          <a:p>
            <a:pPr indent="0" marL="0">
              <a:buNone/>
            </a:pPr>
            <a:r>
              <a:rPr lang="en-US" sz="1050" dirty="0">
                <a:solidFill>
                  <a:srgbClr val="4A5568"/>
                </a:solidFill>
                <a:latin typeface="Courier New" pitchFamily="34" charset="0"/>
                <a:ea typeface="Courier New" pitchFamily="34" charset="-122"/>
                <a:cs typeface="Courier New" pitchFamily="34" charset="-120"/>
              </a:rPr>
              <a:t>T(fridge, banana 4°C, optimal 13-15°C) = 0.82</a:t>
            </a:r>
            <a:endParaRPr lang="en-US" sz="1050" dirty="0"/>
          </a:p>
          <a:p>
            <a:pPr indent="0" marL="0">
              <a:buNone/>
            </a:pPr>
            <a:r>
              <a:rPr lang="en-US" sz="1050" dirty="0">
                <a:solidFill>
                  <a:srgbClr val="4A5568"/>
                </a:solidFill>
                <a:latin typeface="Courier New" pitchFamily="34" charset="0"/>
                <a:ea typeface="Courier New" pitchFamily="34" charset="-122"/>
                <a:cs typeface="Courier New" pitchFamily="34" charset="-120"/>
              </a:rPr>
              <a:t>R(Nearly Ripe, F≥0.70) = 0.85</a:t>
            </a:r>
            <a:endParaRPr lang="en-US" sz="1050" dirty="0"/>
          </a:p>
          <a:p>
            <a:pPr indent="0" marL="0">
              <a:buNone/>
            </a:pPr>
            <a:endParaRPr lang="en-US" sz="1050" dirty="0"/>
          </a:p>
          <a:p>
            <a:pPr indent="0" marL="0">
              <a:buNone/>
            </a:pPr>
            <a:r>
              <a:rPr lang="en-US" sz="1050" dirty="0">
                <a:solidFill>
                  <a:srgbClr val="4A5568"/>
                </a:solidFill>
                <a:latin typeface="Courier New" pitchFamily="34" charset="0"/>
                <a:ea typeface="Courier New" pitchFamily="34" charset="-122"/>
                <a:cs typeface="Courier New" pitchFamily="34" charset="-120"/>
              </a:rPr>
              <a:t>D(fridge) = 7 × 0.611 × 0.82 × 0.85 = 2.98 days</a:t>
            </a:r>
            <a:endParaRPr lang="en-US" sz="1050" dirty="0"/>
          </a:p>
          <a:p>
            <a:pPr indent="0" marL="0">
              <a:buNone/>
            </a:pPr>
            <a:r>
              <a:rPr lang="en-US" sz="1050" dirty="0">
                <a:solidFill>
                  <a:srgbClr val="4A5568"/>
                </a:solidFill>
                <a:latin typeface="Courier New" pitchFamily="34" charset="0"/>
                <a:ea typeface="Courier New" pitchFamily="34" charset="-122"/>
                <a:cs typeface="Courier New" pitchFamily="34" charset="-120"/>
              </a:rPr>
              <a:t>N = 2.98 / 7 = 0.426</a:t>
            </a:r>
            <a:endParaRPr lang="en-US" sz="1050" dirty="0"/>
          </a:p>
          <a:p>
            <a:pPr indent="0" marL="0">
              <a:buNone/>
            </a:pPr>
            <a:r>
              <a:rPr lang="en-US" sz="1050" dirty="0">
                <a:solidFill>
                  <a:srgbClr val="4A5568"/>
                </a:solidFill>
                <a:latin typeface="Courier New" pitchFamily="34" charset="0"/>
                <a:ea typeface="Courier New" pitchFamily="34" charset="-122"/>
                <a:cs typeface="Courier New" pitchFamily="34" charset="-120"/>
              </a:rPr>
              <a:t>C = (0.72 × 0.6) + (0.426 × 0.4) = 0.602</a:t>
            </a:r>
            <a:endParaRPr lang="en-US" sz="1050" dirty="0"/>
          </a:p>
          <a:p>
            <a:pPr indent="0" marL="0">
              <a:buNone/>
            </a:pPr>
            <a:endParaRPr lang="en-US" sz="1050" dirty="0"/>
          </a:p>
          <a:p>
            <a:pPr indent="0" marL="0">
              <a:buNone/>
            </a:pPr>
            <a:r>
              <a:rPr lang="en-US" sz="1050" dirty="0">
                <a:solidFill>
                  <a:srgbClr val="4A5568"/>
                </a:solidFill>
                <a:latin typeface="Courier New" pitchFamily="34" charset="0"/>
                <a:ea typeface="Courier New" pitchFamily="34" charset="-122"/>
                <a:cs typeface="Courier New" pitchFamily="34" charset="-120"/>
              </a:rPr>
              <a:t>→ EAT SOON (C ≥ 0.40)</a:t>
            </a:r>
            <a:endParaRPr lang="en-US" sz="1050" dirty="0"/>
          </a:p>
        </p:txBody>
      </p:sp>
      <p:sp>
        <p:nvSpPr>
          <p:cNvPr id="62" name="Shape 60"/>
          <p:cNvSpPr/>
          <p:nvPr/>
        </p:nvSpPr>
        <p:spPr>
          <a:xfrm>
            <a:off x="4956048" y="4828032"/>
            <a:ext cx="3803904" cy="256032"/>
          </a:xfrm>
          <a:prstGeom prst="rect">
            <a:avLst/>
          </a:prstGeom>
          <a:solidFill>
            <a:srgbClr val="E8F5F1"/>
          </a:solidFill>
          <a:ln w="6350">
            <a:solidFill>
              <a:srgbClr val="1A2B4A">
                <a:alpha val="40000"/>
              </a:srgbClr>
            </a:solidFill>
            <a:prstDash val="solid"/>
          </a:ln>
          <a:effectLst>
            <a:outerShdw sx="100000" sy="100000" kx="0" ky="0" algn="bl" rotWithShape="0" blurRad="101600" dist="38100" dir="2700000">
              <a:srgbClr val="000000">
                <a:alpha val="10000"/>
              </a:srgbClr>
            </a:outerShdw>
          </a:effectLst>
        </p:spPr>
      </p:sp>
      <p:sp>
        <p:nvSpPr>
          <p:cNvPr id="63" name="Text 61"/>
          <p:cNvSpPr/>
          <p:nvPr/>
        </p:nvSpPr>
        <p:spPr>
          <a:xfrm>
            <a:off x="5102352" y="4846320"/>
            <a:ext cx="3566160" cy="219456"/>
          </a:xfrm>
          <a:prstGeom prst="rect">
            <a:avLst/>
          </a:prstGeom>
          <a:noFill/>
          <a:ln/>
        </p:spPr>
        <p:txBody>
          <a:bodyPr wrap="square" lIns="0" tIns="0" rIns="0" bIns="0" rtlCol="0" anchor="ctr"/>
          <a:lstStyle/>
          <a:p>
            <a:pPr indent="0" marL="0">
              <a:buNone/>
            </a:pPr>
            <a:r>
              <a:rPr lang="en-US" sz="1000" b="1" dirty="0">
                <a:solidFill>
                  <a:srgbClr val="3A8C7E"/>
                </a:solidFill>
                <a:latin typeface="Calibri" pitchFamily="34" charset="0"/>
                <a:ea typeface="Calibri" pitchFamily="34" charset="-122"/>
                <a:cs typeface="Calibri" pitchFamily="34" charset="-120"/>
              </a:rPr>
              <a:t>Ethylene note: Banana is a PRODUCER and SENSITIVE — store away from strawberries, grapes, kiwi.</a:t>
            </a:r>
            <a:endParaRPr lang="en-US" sz="10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EBEBEB"/>
        </a:solidFill>
      </p:bgPr>
    </p:bg>
    <p:spTree>
      <p:nvGrpSpPr>
        <p:cNvPr id="1" name=""/>
        <p:cNvGrpSpPr/>
        <p:nvPr/>
      </p:nvGrpSpPr>
      <p:grpSpPr>
        <a:xfrm>
          <a:off x="0" y="0"/>
          <a:ext cx="0" cy="0"/>
          <a:chOff x="0" y="0"/>
          <a:chExt cx="0" cy="0"/>
        </a:xfrm>
      </p:grpSpPr>
      <p:sp>
        <p:nvSpPr>
          <p:cNvPr id="2" name="Shape 0"/>
          <p:cNvSpPr/>
          <p:nvPr/>
        </p:nvSpPr>
        <p:spPr>
          <a:xfrm>
            <a:off x="7589520" y="182880"/>
            <a:ext cx="1005840" cy="1005840"/>
          </a:xfrm>
          <a:prstGeom prst="rect">
            <a:avLst/>
          </a:prstGeom>
          <a:ln w="12700">
            <a:solidFill>
              <a:srgbClr val="1A2B4A">
                <a:alpha val="70000"/>
              </a:srgbClr>
            </a:solidFill>
            <a:prstDash val="solid"/>
          </a:ln>
        </p:spPr>
      </p:sp>
      <p:sp>
        <p:nvSpPr>
          <p:cNvPr id="3" name="Shape 1"/>
          <p:cNvSpPr/>
          <p:nvPr/>
        </p:nvSpPr>
        <p:spPr>
          <a:xfrm>
            <a:off x="7589520" y="182880"/>
            <a:ext cx="670560" cy="670560"/>
          </a:xfrm>
          <a:prstGeom prst="rect">
            <a:avLst/>
          </a:prstGeom>
          <a:ln w="12700">
            <a:solidFill>
              <a:srgbClr val="1A2B4A">
                <a:alpha val="60000"/>
              </a:srgbClr>
            </a:solidFill>
            <a:prstDash val="solid"/>
          </a:ln>
        </p:spPr>
      </p:sp>
      <p:sp>
        <p:nvSpPr>
          <p:cNvPr id="4" name="Shape 2"/>
          <p:cNvSpPr/>
          <p:nvPr/>
        </p:nvSpPr>
        <p:spPr>
          <a:xfrm>
            <a:off x="7589520" y="182880"/>
            <a:ext cx="335280" cy="335280"/>
          </a:xfrm>
          <a:prstGeom prst="rect">
            <a:avLst/>
          </a:prstGeom>
          <a:ln w="12700">
            <a:solidFill>
              <a:srgbClr val="1A2B4A">
                <a:alpha val="50000"/>
              </a:srgbClr>
            </a:solidFill>
            <a:prstDash val="solid"/>
          </a:ln>
        </p:spPr>
      </p:sp>
      <p:sp>
        <p:nvSpPr>
          <p:cNvPr id="5" name="Shape 3"/>
          <p:cNvSpPr/>
          <p:nvPr/>
        </p:nvSpPr>
        <p:spPr>
          <a:xfrm>
            <a:off x="-365760" y="3474720"/>
            <a:ext cx="1645920" cy="1645920"/>
          </a:xfrm>
          <a:prstGeom prst="ellipse">
            <a:avLst/>
          </a:prstGeom>
          <a:ln w="19050">
            <a:solidFill>
              <a:srgbClr val="1A2B4A">
                <a:alpha val="18000"/>
              </a:srgbClr>
            </a:solidFill>
            <a:prstDash val="solid"/>
          </a:ln>
        </p:spPr>
      </p:sp>
      <p:sp>
        <p:nvSpPr>
          <p:cNvPr id="6" name="Shape 4"/>
          <p:cNvSpPr/>
          <p:nvPr/>
        </p:nvSpPr>
        <p:spPr>
          <a:xfrm>
            <a:off x="-94183" y="3746297"/>
            <a:ext cx="1102766" cy="1102766"/>
          </a:xfrm>
          <a:prstGeom prst="ellipse">
            <a:avLst/>
          </a:prstGeom>
          <a:ln w="19050">
            <a:solidFill>
              <a:srgbClr val="3B5FA0">
                <a:alpha val="25000"/>
              </a:srgbClr>
            </a:solidFill>
            <a:prstDash val="solid"/>
          </a:ln>
        </p:spPr>
      </p:sp>
      <p:sp>
        <p:nvSpPr>
          <p:cNvPr id="7" name="Shape 5"/>
          <p:cNvSpPr/>
          <p:nvPr/>
        </p:nvSpPr>
        <p:spPr>
          <a:xfrm>
            <a:off x="144475" y="3984955"/>
            <a:ext cx="625450" cy="625450"/>
          </a:xfrm>
          <a:prstGeom prst="ellipse">
            <a:avLst/>
          </a:prstGeom>
          <a:ln w="19050">
            <a:solidFill>
              <a:srgbClr val="3A8C7E">
                <a:alpha val="32000"/>
              </a:srgbClr>
            </a:solidFill>
            <a:prstDash val="solid"/>
          </a:ln>
        </p:spPr>
      </p:sp>
      <p:sp>
        <p:nvSpPr>
          <p:cNvPr id="8" name="Text 6"/>
          <p:cNvSpPr/>
          <p:nvPr/>
        </p:nvSpPr>
        <p:spPr>
          <a:xfrm>
            <a:off x="411480" y="292608"/>
            <a:ext cx="8321040" cy="530352"/>
          </a:xfrm>
          <a:prstGeom prst="rect">
            <a:avLst/>
          </a:prstGeom>
          <a:noFill/>
          <a:ln/>
        </p:spPr>
        <p:txBody>
          <a:bodyPr wrap="square" lIns="0" tIns="0" rIns="0" bIns="0" rtlCol="0" anchor="ctr"/>
          <a:lstStyle/>
          <a:p>
            <a:pPr algn="l" indent="0" marL="0">
              <a:buNone/>
            </a:pPr>
            <a:r>
              <a:rPr lang="en-US" sz="2800" b="1" dirty="0">
                <a:solidFill>
                  <a:srgbClr val="1A2B4A"/>
                </a:solidFill>
                <a:latin typeface="Cambria" pitchFamily="34" charset="0"/>
                <a:ea typeface="Cambria" pitchFamily="34" charset="-122"/>
                <a:cs typeface="Cambria" pitchFamily="34" charset="-120"/>
              </a:rPr>
              <a:t>Live System: FRESH — Apple Scan (Contrast Case)</a:t>
            </a:r>
            <a:endParaRPr lang="en-US" sz="2800" dirty="0"/>
          </a:p>
        </p:txBody>
      </p:sp>
      <p:sp>
        <p:nvSpPr>
          <p:cNvPr id="9" name="Shape 7"/>
          <p:cNvSpPr/>
          <p:nvPr/>
        </p:nvSpPr>
        <p:spPr>
          <a:xfrm>
            <a:off x="411480" y="868680"/>
            <a:ext cx="8229600" cy="0"/>
          </a:xfrm>
          <a:prstGeom prst="line">
            <a:avLst/>
          </a:prstGeom>
          <a:noFill/>
          <a:ln w="19050">
            <a:solidFill>
              <a:srgbClr val="3A8C7E">
                <a:alpha val="60000"/>
              </a:srgbClr>
            </a:solidFill>
            <a:prstDash val="solid"/>
          </a:ln>
        </p:spPr>
      </p:sp>
      <p:sp>
        <p:nvSpPr>
          <p:cNvPr id="10" name="Shape 8"/>
          <p:cNvSpPr/>
          <p:nvPr/>
        </p:nvSpPr>
        <p:spPr>
          <a:xfrm>
            <a:off x="411480" y="950976"/>
            <a:ext cx="8229600" cy="0"/>
          </a:xfrm>
          <a:prstGeom prst="line">
            <a:avLst/>
          </a:prstGeom>
          <a:noFill/>
          <a:ln w="10160">
            <a:solidFill>
              <a:srgbClr val="1A2B4A">
                <a:alpha val="45000"/>
              </a:srgbClr>
            </a:solidFill>
            <a:prstDash val="solid"/>
          </a:ln>
        </p:spPr>
      </p:sp>
      <p:sp>
        <p:nvSpPr>
          <p:cNvPr id="11" name="Shape 9"/>
          <p:cNvSpPr/>
          <p:nvPr/>
        </p:nvSpPr>
        <p:spPr>
          <a:xfrm>
            <a:off x="384048" y="1005840"/>
            <a:ext cx="4389120" cy="3749040"/>
          </a:xfrm>
          <a:prstGeom prst="roundRect">
            <a:avLst>
              <a:gd name="adj" fmla="val 2927"/>
            </a:avLst>
          </a:prstGeom>
          <a:solidFill>
            <a:srgbClr val="E8E8E8"/>
          </a:solidFill>
          <a:ln w="6350">
            <a:solidFill>
              <a:srgbClr val="1A2B4A">
                <a:alpha val="40000"/>
              </a:srgbClr>
            </a:solidFill>
            <a:prstDash val="solid"/>
          </a:ln>
          <a:effectLst>
            <a:outerShdw sx="100000" sy="100000" kx="0" ky="0" algn="bl" rotWithShape="0" blurRad="101600" dist="38100" dir="2700000">
              <a:srgbClr val="000000">
                <a:alpha val="10000"/>
              </a:srgbClr>
            </a:outerShdw>
          </a:effectLst>
        </p:spPr>
      </p:sp>
      <p:sp>
        <p:nvSpPr>
          <p:cNvPr id="12" name="Shape 10"/>
          <p:cNvSpPr/>
          <p:nvPr/>
        </p:nvSpPr>
        <p:spPr>
          <a:xfrm>
            <a:off x="1097280" y="1371600"/>
            <a:ext cx="2926080" cy="3017520"/>
          </a:xfrm>
          <a:prstGeom prst="roundRect">
            <a:avLst>
              <a:gd name="adj" fmla="val 9375"/>
            </a:avLst>
          </a:prstGeom>
          <a:solidFill>
            <a:srgbClr val="FFFFFF"/>
          </a:solidFill>
          <a:ln/>
          <a:effectLst>
            <a:outerShdw sx="100000" sy="100000" kx="0" ky="0" algn="bl" rotWithShape="0" blurRad="101600" dist="38100" dir="2700000">
              <a:srgbClr val="000000">
                <a:alpha val="10000"/>
              </a:srgbClr>
            </a:outerShdw>
          </a:effectLst>
        </p:spPr>
      </p:sp>
      <p:sp>
        <p:nvSpPr>
          <p:cNvPr id="13" name="Text 11"/>
          <p:cNvSpPr/>
          <p:nvPr/>
        </p:nvSpPr>
        <p:spPr>
          <a:xfrm>
            <a:off x="1188720" y="1828800"/>
            <a:ext cx="2743200" cy="274320"/>
          </a:xfrm>
          <a:prstGeom prst="rect">
            <a:avLst/>
          </a:prstGeom>
          <a:noFill/>
          <a:ln/>
        </p:spPr>
        <p:txBody>
          <a:bodyPr wrap="square" lIns="0" tIns="0" rIns="0" bIns="0" rtlCol="0" anchor="ctr"/>
          <a:lstStyle/>
          <a:p>
            <a:pPr algn="ctr" indent="0" marL="0">
              <a:buNone/>
            </a:pPr>
            <a:r>
              <a:rPr lang="en-US" sz="1400" b="1" dirty="0">
                <a:solidFill>
                  <a:srgbClr val="1A2B4A"/>
                </a:solidFill>
                <a:latin typeface="Cambria" pitchFamily="34" charset="0"/>
                <a:ea typeface="Cambria" pitchFamily="34" charset="-122"/>
                <a:cs typeface="Cambria" pitchFamily="34" charset="-120"/>
              </a:rPr>
              <a:t>fresco</a:t>
            </a:r>
            <a:endParaRPr lang="en-US" sz="1400" dirty="0"/>
          </a:p>
        </p:txBody>
      </p:sp>
      <p:sp>
        <p:nvSpPr>
          <p:cNvPr id="14" name="Shape 12"/>
          <p:cNvSpPr/>
          <p:nvPr/>
        </p:nvSpPr>
        <p:spPr>
          <a:xfrm>
            <a:off x="1828800" y="2176272"/>
            <a:ext cx="1463040" cy="347472"/>
          </a:xfrm>
          <a:prstGeom prst="roundRect">
            <a:avLst>
              <a:gd name="adj" fmla="val 50000"/>
            </a:avLst>
          </a:prstGeom>
          <a:solidFill>
            <a:srgbClr val="2E7D32"/>
          </a:solidFill>
          <a:ln/>
        </p:spPr>
      </p:sp>
      <p:sp>
        <p:nvSpPr>
          <p:cNvPr id="15" name="Text 13"/>
          <p:cNvSpPr/>
          <p:nvPr/>
        </p:nvSpPr>
        <p:spPr>
          <a:xfrm>
            <a:off x="1828800" y="2176272"/>
            <a:ext cx="1463040"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FRESH</a:t>
            </a:r>
            <a:endParaRPr lang="en-US" sz="1100" dirty="0"/>
          </a:p>
        </p:txBody>
      </p:sp>
      <p:sp>
        <p:nvSpPr>
          <p:cNvPr id="16" name="Text 14"/>
          <p:cNvSpPr/>
          <p:nvPr/>
        </p:nvSpPr>
        <p:spPr>
          <a:xfrm>
            <a:off x="1188720" y="2596896"/>
            <a:ext cx="2743200" cy="329184"/>
          </a:xfrm>
          <a:prstGeom prst="rect">
            <a:avLst/>
          </a:prstGeom>
          <a:noFill/>
          <a:ln/>
        </p:spPr>
        <p:txBody>
          <a:bodyPr wrap="square" lIns="0" tIns="0" rIns="0" bIns="0" rtlCol="0" anchor="ctr"/>
          <a:lstStyle/>
          <a:p>
            <a:pPr algn="ctr" indent="0" marL="0">
              <a:buNone/>
            </a:pPr>
            <a:r>
              <a:rPr lang="en-US" sz="1800" b="1" dirty="0">
                <a:solidFill>
                  <a:srgbClr val="1A2B4A"/>
                </a:solidFill>
                <a:latin typeface="Cambria" pitchFamily="34" charset="0"/>
                <a:ea typeface="Cambria" pitchFamily="34" charset="-122"/>
                <a:cs typeface="Cambria" pitchFamily="34" charset="-120"/>
              </a:rPr>
              <a:t>Apple</a:t>
            </a:r>
            <a:endParaRPr lang="en-US" sz="1800" dirty="0"/>
          </a:p>
        </p:txBody>
      </p:sp>
      <p:sp>
        <p:nvSpPr>
          <p:cNvPr id="17" name="Text 15"/>
          <p:cNvSpPr/>
          <p:nvPr/>
        </p:nvSpPr>
        <p:spPr>
          <a:xfrm>
            <a:off x="1188720" y="2944368"/>
            <a:ext cx="2743200" cy="457200"/>
          </a:xfrm>
          <a:prstGeom prst="rect">
            <a:avLst/>
          </a:prstGeom>
          <a:noFill/>
          <a:ln/>
        </p:spPr>
        <p:txBody>
          <a:bodyPr wrap="square" lIns="0" tIns="0" rIns="0" bIns="0" rtlCol="0" anchor="ctr"/>
          <a:lstStyle/>
          <a:p>
            <a:pPr algn="ctr" indent="0" marL="0">
              <a:buNone/>
            </a:pPr>
            <a:r>
              <a:rPr lang="en-US" sz="3600" b="1" dirty="0">
                <a:solidFill>
                  <a:srgbClr val="2E7D32"/>
                </a:solidFill>
                <a:latin typeface="Cambria" pitchFamily="34" charset="0"/>
                <a:ea typeface="Cambria" pitchFamily="34" charset="-122"/>
                <a:cs typeface="Cambria" pitchFamily="34" charset="-120"/>
              </a:rPr>
              <a:t>22</a:t>
            </a:r>
            <a:endParaRPr lang="en-US" sz="3600" dirty="0"/>
          </a:p>
        </p:txBody>
      </p:sp>
      <p:sp>
        <p:nvSpPr>
          <p:cNvPr id="18" name="Text 16"/>
          <p:cNvSpPr/>
          <p:nvPr/>
        </p:nvSpPr>
        <p:spPr>
          <a:xfrm>
            <a:off x="1188720" y="3383280"/>
            <a:ext cx="2743200" cy="201168"/>
          </a:xfrm>
          <a:prstGeom prst="rect">
            <a:avLst/>
          </a:prstGeom>
          <a:noFill/>
          <a:ln/>
        </p:spPr>
        <p:txBody>
          <a:bodyPr wrap="square" lIns="0" tIns="0" rIns="0" bIns="0" rtlCol="0" anchor="ctr"/>
          <a:lstStyle/>
          <a:p>
            <a:pPr algn="ctr" indent="0" marL="0">
              <a:buNone/>
            </a:pPr>
            <a:r>
              <a:rPr lang="en-US" sz="1100" dirty="0">
                <a:solidFill>
                  <a:srgbClr val="4A5568"/>
                </a:solidFill>
                <a:latin typeface="Calibri" pitchFamily="34" charset="0"/>
                <a:ea typeface="Calibri" pitchFamily="34" charset="-122"/>
                <a:cs typeface="Calibri" pitchFamily="34" charset="-120"/>
              </a:rPr>
              <a:t>days left</a:t>
            </a:r>
            <a:endParaRPr lang="en-US" sz="1100" dirty="0"/>
          </a:p>
        </p:txBody>
      </p:sp>
      <p:sp>
        <p:nvSpPr>
          <p:cNvPr id="19" name="Text 17"/>
          <p:cNvSpPr/>
          <p:nvPr/>
        </p:nvSpPr>
        <p:spPr>
          <a:xfrm>
            <a:off x="1188720" y="3602736"/>
            <a:ext cx="2743200" cy="201168"/>
          </a:xfrm>
          <a:prstGeom prst="rect">
            <a:avLst/>
          </a:prstGeom>
          <a:noFill/>
          <a:ln/>
        </p:spPr>
        <p:txBody>
          <a:bodyPr wrap="square" lIns="0" tIns="0" rIns="0" bIns="0" rtlCol="0" anchor="ctr"/>
          <a:lstStyle/>
          <a:p>
            <a:pPr algn="ctr" indent="0" marL="0">
              <a:buNone/>
            </a:pPr>
            <a:r>
              <a:rPr lang="en-US" sz="1000" i="1" dirty="0">
                <a:solidFill>
                  <a:srgbClr val="607D8B"/>
                </a:solidFill>
                <a:latin typeface="Calibri" pitchFamily="34" charset="0"/>
                <a:ea typeface="Calibri" pitchFamily="34" charset="-122"/>
                <a:cs typeface="Calibri" pitchFamily="34" charset="-120"/>
              </a:rPr>
              <a:t>Fresh · 91% confidence</a:t>
            </a:r>
            <a:endParaRPr lang="en-US" sz="1000" dirty="0"/>
          </a:p>
        </p:txBody>
      </p:sp>
      <p:sp>
        <p:nvSpPr>
          <p:cNvPr id="20" name="Shape 18"/>
          <p:cNvSpPr/>
          <p:nvPr/>
        </p:nvSpPr>
        <p:spPr>
          <a:xfrm>
            <a:off x="1234440" y="3858768"/>
            <a:ext cx="1463040" cy="182880"/>
          </a:xfrm>
          <a:prstGeom prst="roundRect">
            <a:avLst>
              <a:gd name="adj" fmla="val 20000"/>
            </a:avLst>
          </a:prstGeom>
          <a:solidFill>
            <a:srgbClr val="80B090">
              <a:alpha val="80000"/>
            </a:srgbClr>
          </a:solidFill>
          <a:ln/>
        </p:spPr>
      </p:sp>
      <p:sp>
        <p:nvSpPr>
          <p:cNvPr id="21" name="Text 19"/>
          <p:cNvSpPr/>
          <p:nvPr/>
        </p:nvSpPr>
        <p:spPr>
          <a:xfrm>
            <a:off x="1234440" y="3858768"/>
            <a:ext cx="2651760" cy="182880"/>
          </a:xfrm>
          <a:prstGeom prst="rect">
            <a:avLst/>
          </a:prstGeom>
          <a:noFill/>
          <a:ln/>
        </p:spPr>
        <p:txBody>
          <a:bodyPr wrap="square" lIns="25400" tIns="25400" rIns="25400" bIns="25400" rtlCol="0" anchor="ctr"/>
          <a:lstStyle/>
          <a:p>
            <a:pPr indent="0" marL="0">
              <a:buNone/>
            </a:pPr>
            <a:r>
              <a:rPr lang="en-US" sz="900" dirty="0">
                <a:solidFill>
                  <a:srgbClr val="FFFFFF"/>
                </a:solidFill>
                <a:latin typeface="Calibri" pitchFamily="34" charset="0"/>
                <a:ea typeface="Calibri" pitchFamily="34" charset="-122"/>
                <a:cs typeface="Calibri" pitchFamily="34" charset="-120"/>
              </a:rPr>
              <a:t>Room Temp  16.8d</a:t>
            </a:r>
            <a:endParaRPr lang="en-US" sz="900" dirty="0"/>
          </a:p>
        </p:txBody>
      </p:sp>
      <p:sp>
        <p:nvSpPr>
          <p:cNvPr id="22" name="Shape 20"/>
          <p:cNvSpPr/>
          <p:nvPr/>
        </p:nvSpPr>
        <p:spPr>
          <a:xfrm>
            <a:off x="1234440" y="4114800"/>
            <a:ext cx="1920240" cy="182880"/>
          </a:xfrm>
          <a:prstGeom prst="roundRect">
            <a:avLst>
              <a:gd name="adj" fmla="val 20000"/>
            </a:avLst>
          </a:prstGeom>
          <a:solidFill>
            <a:srgbClr val="3A8C7E">
              <a:alpha val="80000"/>
            </a:srgbClr>
          </a:solidFill>
          <a:ln/>
        </p:spPr>
      </p:sp>
      <p:sp>
        <p:nvSpPr>
          <p:cNvPr id="23" name="Text 21"/>
          <p:cNvSpPr/>
          <p:nvPr/>
        </p:nvSpPr>
        <p:spPr>
          <a:xfrm>
            <a:off x="1234440" y="4114800"/>
            <a:ext cx="2651760" cy="182880"/>
          </a:xfrm>
          <a:prstGeom prst="rect">
            <a:avLst/>
          </a:prstGeom>
          <a:noFill/>
          <a:ln/>
        </p:spPr>
        <p:txBody>
          <a:bodyPr wrap="square" lIns="25400" tIns="25400" rIns="25400" bIns="25400" rtlCol="0" anchor="ctr"/>
          <a:lstStyle/>
          <a:p>
            <a:pPr indent="0" marL="0">
              <a:buNone/>
            </a:pPr>
            <a:r>
              <a:rPr lang="en-US" sz="900" b="1" dirty="0">
                <a:solidFill>
                  <a:srgbClr val="FFFFFF"/>
                </a:solidFill>
                <a:latin typeface="Calibri" pitchFamily="34" charset="0"/>
                <a:ea typeface="Calibri" pitchFamily="34" charset="-122"/>
                <a:cs typeface="Calibri" pitchFamily="34" charset="-120"/>
              </a:rPr>
              <a:t>Fridge ✓ Recommended  22.0d</a:t>
            </a:r>
            <a:endParaRPr lang="en-US" sz="900" dirty="0"/>
          </a:p>
        </p:txBody>
      </p:sp>
      <p:sp>
        <p:nvSpPr>
          <p:cNvPr id="24" name="Shape 22"/>
          <p:cNvSpPr/>
          <p:nvPr/>
        </p:nvSpPr>
        <p:spPr>
          <a:xfrm>
            <a:off x="1234440" y="4370832"/>
            <a:ext cx="2468880" cy="182880"/>
          </a:xfrm>
          <a:prstGeom prst="roundRect">
            <a:avLst>
              <a:gd name="adj" fmla="val 20000"/>
            </a:avLst>
          </a:prstGeom>
          <a:solidFill>
            <a:srgbClr val="3B5FA0">
              <a:alpha val="80000"/>
            </a:srgbClr>
          </a:solidFill>
          <a:ln/>
        </p:spPr>
      </p:sp>
      <p:sp>
        <p:nvSpPr>
          <p:cNvPr id="25" name="Text 23"/>
          <p:cNvSpPr/>
          <p:nvPr/>
        </p:nvSpPr>
        <p:spPr>
          <a:xfrm>
            <a:off x="1234440" y="4370832"/>
            <a:ext cx="2651760" cy="182880"/>
          </a:xfrm>
          <a:prstGeom prst="rect">
            <a:avLst/>
          </a:prstGeom>
          <a:noFill/>
          <a:ln/>
        </p:spPr>
        <p:txBody>
          <a:bodyPr wrap="square" lIns="25400" tIns="25400" rIns="25400" bIns="25400" rtlCol="0" anchor="ctr"/>
          <a:lstStyle/>
          <a:p>
            <a:pPr indent="0" marL="0">
              <a:buNone/>
            </a:pPr>
            <a:r>
              <a:rPr lang="en-US" sz="900" dirty="0">
                <a:solidFill>
                  <a:srgbClr val="FFFFFF"/>
                </a:solidFill>
                <a:latin typeface="Calibri" pitchFamily="34" charset="0"/>
                <a:ea typeface="Calibri" pitchFamily="34" charset="-122"/>
                <a:cs typeface="Calibri" pitchFamily="34" charset="-120"/>
              </a:rPr>
              <a:t>Freezer  28.5d</a:t>
            </a:r>
            <a:endParaRPr lang="en-US" sz="900" dirty="0"/>
          </a:p>
        </p:txBody>
      </p:sp>
      <p:sp>
        <p:nvSpPr>
          <p:cNvPr id="26" name="Shape 24"/>
          <p:cNvSpPr/>
          <p:nvPr/>
        </p:nvSpPr>
        <p:spPr>
          <a:xfrm>
            <a:off x="4956048" y="1005840"/>
            <a:ext cx="3803904" cy="1572768"/>
          </a:xfrm>
          <a:prstGeom prst="roundRect">
            <a:avLst>
              <a:gd name="adj" fmla="val 6977"/>
            </a:avLst>
          </a:prstGeom>
          <a:solidFill>
            <a:srgbClr val="E8F5E9"/>
          </a:solidFill>
          <a:ln w="6350">
            <a:solidFill>
              <a:srgbClr val="1A2B4A">
                <a:alpha val="40000"/>
              </a:srgbClr>
            </a:solidFill>
            <a:prstDash val="solid"/>
          </a:ln>
          <a:effectLst>
            <a:outerShdw sx="100000" sy="100000" kx="0" ky="0" algn="bl" rotWithShape="0" blurRad="101600" dist="38100" dir="2700000">
              <a:srgbClr val="000000">
                <a:alpha val="10000"/>
              </a:srgbClr>
            </a:outerShdw>
          </a:effectLst>
        </p:spPr>
      </p:sp>
      <p:sp>
        <p:nvSpPr>
          <p:cNvPr id="27" name="Text 25"/>
          <p:cNvSpPr/>
          <p:nvPr/>
        </p:nvSpPr>
        <p:spPr>
          <a:xfrm>
            <a:off x="5102352" y="1078992"/>
            <a:ext cx="3547872" cy="219456"/>
          </a:xfrm>
          <a:prstGeom prst="rect">
            <a:avLst/>
          </a:prstGeom>
          <a:noFill/>
          <a:ln/>
        </p:spPr>
        <p:txBody>
          <a:bodyPr wrap="square" lIns="0" tIns="0" rIns="0" bIns="0" rtlCol="0" anchor="ctr"/>
          <a:lstStyle/>
          <a:p>
            <a:pPr indent="0" marL="0">
              <a:buNone/>
            </a:pPr>
            <a:r>
              <a:rPr lang="en-US" sz="1200" b="1" dirty="0">
                <a:solidFill>
                  <a:srgbClr val="1A2B4A"/>
                </a:solidFill>
                <a:latin typeface="Calibri" pitchFamily="34" charset="0"/>
                <a:ea typeface="Calibri" pitchFamily="34" charset="-122"/>
                <a:cs typeface="Calibri" pitchFamily="34" charset="-120"/>
              </a:rPr>
              <a:t>Patient Profile</a:t>
            </a:r>
            <a:endParaRPr lang="en-US" sz="1200" dirty="0"/>
          </a:p>
        </p:txBody>
      </p:sp>
      <p:sp>
        <p:nvSpPr>
          <p:cNvPr id="28" name="Text 26"/>
          <p:cNvSpPr/>
          <p:nvPr/>
        </p:nvSpPr>
        <p:spPr>
          <a:xfrm>
            <a:off x="5102352" y="1335024"/>
            <a:ext cx="1371600" cy="237744"/>
          </a:xfrm>
          <a:prstGeom prst="rect">
            <a:avLst/>
          </a:prstGeom>
          <a:noFill/>
          <a:ln/>
        </p:spPr>
        <p:txBody>
          <a:bodyPr wrap="square" lIns="0" tIns="0" rIns="0" bIns="0" rtlCol="0" anchor="ctr"/>
          <a:lstStyle/>
          <a:p>
            <a:pPr indent="0" marL="0">
              <a:buNone/>
            </a:pPr>
            <a:r>
              <a:rPr lang="en-US" sz="1050" b="1" dirty="0">
                <a:solidFill>
                  <a:srgbClr val="4A5568"/>
                </a:solidFill>
                <a:latin typeface="Calibri" pitchFamily="34" charset="0"/>
                <a:ea typeface="Calibri" pitchFamily="34" charset="-122"/>
                <a:cs typeface="Calibri" pitchFamily="34" charset="-120"/>
              </a:rPr>
              <a:t>Fruit:</a:t>
            </a:r>
            <a:endParaRPr lang="en-US" sz="1050" dirty="0"/>
          </a:p>
        </p:txBody>
      </p:sp>
      <p:sp>
        <p:nvSpPr>
          <p:cNvPr id="29" name="Text 27"/>
          <p:cNvSpPr/>
          <p:nvPr/>
        </p:nvSpPr>
        <p:spPr>
          <a:xfrm>
            <a:off x="6492240" y="1335024"/>
            <a:ext cx="2103120" cy="237744"/>
          </a:xfrm>
          <a:prstGeom prst="rect">
            <a:avLst/>
          </a:prstGeom>
          <a:noFill/>
          <a:ln/>
        </p:spPr>
        <p:txBody>
          <a:bodyPr wrap="square" lIns="0" tIns="0" rIns="0" bIns="0" rtlCol="0" anchor="ctr"/>
          <a:lstStyle/>
          <a:p>
            <a:pPr indent="0" marL="0">
              <a:buNone/>
            </a:pPr>
            <a:r>
              <a:rPr lang="en-US" sz="1050" b="1" dirty="0">
                <a:solidFill>
                  <a:srgbClr val="2E7D32"/>
                </a:solidFill>
                <a:latin typeface="Calibri" pitchFamily="34" charset="0"/>
                <a:ea typeface="Calibri" pitchFamily="34" charset="-122"/>
                <a:cs typeface="Calibri" pitchFamily="34" charset="-120"/>
              </a:rPr>
              <a:t>Apple</a:t>
            </a:r>
            <a:endParaRPr lang="en-US" sz="1050" dirty="0"/>
          </a:p>
        </p:txBody>
      </p:sp>
      <p:sp>
        <p:nvSpPr>
          <p:cNvPr id="30" name="Text 28"/>
          <p:cNvSpPr/>
          <p:nvPr/>
        </p:nvSpPr>
        <p:spPr>
          <a:xfrm>
            <a:off x="5102352" y="1591056"/>
            <a:ext cx="1371600" cy="237744"/>
          </a:xfrm>
          <a:prstGeom prst="rect">
            <a:avLst/>
          </a:prstGeom>
          <a:noFill/>
          <a:ln/>
        </p:spPr>
        <p:txBody>
          <a:bodyPr wrap="square" lIns="0" tIns="0" rIns="0" bIns="0" rtlCol="0" anchor="ctr"/>
          <a:lstStyle/>
          <a:p>
            <a:pPr indent="0" marL="0">
              <a:buNone/>
            </a:pPr>
            <a:r>
              <a:rPr lang="en-US" sz="1050" b="1" dirty="0">
                <a:solidFill>
                  <a:srgbClr val="4A5568"/>
                </a:solidFill>
                <a:latin typeface="Calibri" pitchFamily="34" charset="0"/>
                <a:ea typeface="Calibri" pitchFamily="34" charset="-122"/>
                <a:cs typeface="Calibri" pitchFamily="34" charset="-120"/>
              </a:rPr>
              <a:t>Classifier output:</a:t>
            </a:r>
            <a:endParaRPr lang="en-US" sz="1050" dirty="0"/>
          </a:p>
        </p:txBody>
      </p:sp>
      <p:sp>
        <p:nvSpPr>
          <p:cNvPr id="31" name="Text 29"/>
          <p:cNvSpPr/>
          <p:nvPr/>
        </p:nvSpPr>
        <p:spPr>
          <a:xfrm>
            <a:off x="6492240" y="1591056"/>
            <a:ext cx="2103120" cy="237744"/>
          </a:xfrm>
          <a:prstGeom prst="rect">
            <a:avLst/>
          </a:prstGeom>
          <a:noFill/>
          <a:ln/>
        </p:spPr>
        <p:txBody>
          <a:bodyPr wrap="square" lIns="0" tIns="0" rIns="0" bIns="0" rtlCol="0" anchor="ctr"/>
          <a:lstStyle/>
          <a:p>
            <a:pPr indent="0" marL="0">
              <a:buNone/>
            </a:pPr>
            <a:r>
              <a:rPr lang="en-US" sz="1050" b="1" dirty="0">
                <a:solidFill>
                  <a:srgbClr val="2E7D32"/>
                </a:solidFill>
                <a:latin typeface="Calibri" pitchFamily="34" charset="0"/>
                <a:ea typeface="Calibri" pitchFamily="34" charset="-122"/>
                <a:cs typeface="Calibri" pitchFamily="34" charset="-120"/>
              </a:rPr>
              <a:t>Apple(1-5)</a:t>
            </a:r>
            <a:endParaRPr lang="en-US" sz="1050" dirty="0"/>
          </a:p>
        </p:txBody>
      </p:sp>
      <p:sp>
        <p:nvSpPr>
          <p:cNvPr id="32" name="Text 30"/>
          <p:cNvSpPr/>
          <p:nvPr/>
        </p:nvSpPr>
        <p:spPr>
          <a:xfrm>
            <a:off x="5102352" y="1847088"/>
            <a:ext cx="1371600" cy="237744"/>
          </a:xfrm>
          <a:prstGeom prst="rect">
            <a:avLst/>
          </a:prstGeom>
          <a:noFill/>
          <a:ln/>
        </p:spPr>
        <p:txBody>
          <a:bodyPr wrap="square" lIns="0" tIns="0" rIns="0" bIns="0" rtlCol="0" anchor="ctr"/>
          <a:lstStyle/>
          <a:p>
            <a:pPr indent="0" marL="0">
              <a:buNone/>
            </a:pPr>
            <a:r>
              <a:rPr lang="en-US" sz="1050" b="1" dirty="0">
                <a:solidFill>
                  <a:srgbClr val="4A5568"/>
                </a:solidFill>
                <a:latin typeface="Calibri" pitchFamily="34" charset="0"/>
                <a:ea typeface="Calibri" pitchFamily="34" charset="-122"/>
                <a:cs typeface="Calibri" pitchFamily="34" charset="-120"/>
              </a:rPr>
              <a:t>Freshness score F:</a:t>
            </a:r>
            <a:endParaRPr lang="en-US" sz="1050" dirty="0"/>
          </a:p>
        </p:txBody>
      </p:sp>
      <p:sp>
        <p:nvSpPr>
          <p:cNvPr id="33" name="Text 31"/>
          <p:cNvSpPr/>
          <p:nvPr/>
        </p:nvSpPr>
        <p:spPr>
          <a:xfrm>
            <a:off x="6492240" y="1847088"/>
            <a:ext cx="2103120" cy="237744"/>
          </a:xfrm>
          <a:prstGeom prst="rect">
            <a:avLst/>
          </a:prstGeom>
          <a:noFill/>
          <a:ln/>
        </p:spPr>
        <p:txBody>
          <a:bodyPr wrap="square" lIns="0" tIns="0" rIns="0" bIns="0" rtlCol="0" anchor="ctr"/>
          <a:lstStyle/>
          <a:p>
            <a:pPr indent="0" marL="0">
              <a:buNone/>
            </a:pPr>
            <a:r>
              <a:rPr lang="en-US" sz="1050" b="1" dirty="0">
                <a:solidFill>
                  <a:srgbClr val="2E7D32"/>
                </a:solidFill>
                <a:latin typeface="Calibri" pitchFamily="34" charset="0"/>
                <a:ea typeface="Calibri" pitchFamily="34" charset="-122"/>
                <a:cs typeface="Calibri" pitchFamily="34" charset="-120"/>
              </a:rPr>
              <a:t>0.90</a:t>
            </a:r>
            <a:endParaRPr lang="en-US" sz="1050" dirty="0"/>
          </a:p>
        </p:txBody>
      </p:sp>
      <p:sp>
        <p:nvSpPr>
          <p:cNvPr id="34" name="Text 32"/>
          <p:cNvSpPr/>
          <p:nvPr/>
        </p:nvSpPr>
        <p:spPr>
          <a:xfrm>
            <a:off x="5102352" y="2103120"/>
            <a:ext cx="1371600" cy="237744"/>
          </a:xfrm>
          <a:prstGeom prst="rect">
            <a:avLst/>
          </a:prstGeom>
          <a:noFill/>
          <a:ln/>
        </p:spPr>
        <p:txBody>
          <a:bodyPr wrap="square" lIns="0" tIns="0" rIns="0" bIns="0" rtlCol="0" anchor="ctr"/>
          <a:lstStyle/>
          <a:p>
            <a:pPr indent="0" marL="0">
              <a:buNone/>
            </a:pPr>
            <a:r>
              <a:rPr lang="en-US" sz="1050" b="1" dirty="0">
                <a:solidFill>
                  <a:srgbClr val="4A5568"/>
                </a:solidFill>
                <a:latin typeface="Calibri" pitchFamily="34" charset="0"/>
                <a:ea typeface="Calibri" pitchFamily="34" charset="-122"/>
                <a:cs typeface="Calibri" pitchFamily="34" charset="-120"/>
              </a:rPr>
              <a:t>Confidence:</a:t>
            </a:r>
            <a:endParaRPr lang="en-US" sz="1050" dirty="0"/>
          </a:p>
        </p:txBody>
      </p:sp>
      <p:sp>
        <p:nvSpPr>
          <p:cNvPr id="35" name="Text 33"/>
          <p:cNvSpPr/>
          <p:nvPr/>
        </p:nvSpPr>
        <p:spPr>
          <a:xfrm>
            <a:off x="6492240" y="2103120"/>
            <a:ext cx="2103120" cy="237744"/>
          </a:xfrm>
          <a:prstGeom prst="rect">
            <a:avLst/>
          </a:prstGeom>
          <a:noFill/>
          <a:ln/>
        </p:spPr>
        <p:txBody>
          <a:bodyPr wrap="square" lIns="0" tIns="0" rIns="0" bIns="0" rtlCol="0" anchor="ctr"/>
          <a:lstStyle/>
          <a:p>
            <a:pPr indent="0" marL="0">
              <a:buNone/>
            </a:pPr>
            <a:r>
              <a:rPr lang="en-US" sz="1050" b="1" dirty="0">
                <a:solidFill>
                  <a:srgbClr val="2E7D32"/>
                </a:solidFill>
                <a:latin typeface="Calibri" pitchFamily="34" charset="0"/>
                <a:ea typeface="Calibri" pitchFamily="34" charset="-122"/>
                <a:cs typeface="Calibri" pitchFamily="34" charset="-120"/>
              </a:rPr>
              <a:t>91%</a:t>
            </a:r>
            <a:endParaRPr lang="en-US" sz="1050" dirty="0"/>
          </a:p>
        </p:txBody>
      </p:sp>
      <p:sp>
        <p:nvSpPr>
          <p:cNvPr id="36" name="Shape 34"/>
          <p:cNvSpPr/>
          <p:nvPr/>
        </p:nvSpPr>
        <p:spPr>
          <a:xfrm>
            <a:off x="4956048" y="2670048"/>
            <a:ext cx="3803904" cy="2084832"/>
          </a:xfrm>
          <a:prstGeom prst="roundRect">
            <a:avLst>
              <a:gd name="adj" fmla="val 5263"/>
            </a:avLst>
          </a:prstGeom>
          <a:solidFill>
            <a:srgbClr val="F4F7F9"/>
          </a:solidFill>
          <a:ln w="6350">
            <a:solidFill>
              <a:srgbClr val="1A2B4A">
                <a:alpha val="40000"/>
              </a:srgbClr>
            </a:solidFill>
            <a:prstDash val="solid"/>
          </a:ln>
          <a:effectLst>
            <a:outerShdw sx="100000" sy="100000" kx="0" ky="0" algn="bl" rotWithShape="0" blurRad="101600" dist="38100" dir="2700000">
              <a:srgbClr val="000000">
                <a:alpha val="10000"/>
              </a:srgbClr>
            </a:outerShdw>
          </a:effectLst>
        </p:spPr>
      </p:sp>
      <p:sp>
        <p:nvSpPr>
          <p:cNvPr id="37" name="Text 35"/>
          <p:cNvSpPr/>
          <p:nvPr/>
        </p:nvSpPr>
        <p:spPr>
          <a:xfrm>
            <a:off x="5102352" y="2743200"/>
            <a:ext cx="3547872" cy="219456"/>
          </a:xfrm>
          <a:prstGeom prst="rect">
            <a:avLst/>
          </a:prstGeom>
          <a:noFill/>
          <a:ln/>
        </p:spPr>
        <p:txBody>
          <a:bodyPr wrap="square" lIns="0" tIns="0" rIns="0" bIns="0" rtlCol="0" anchor="ctr"/>
          <a:lstStyle/>
          <a:p>
            <a:pPr indent="0" marL="0">
              <a:buNone/>
            </a:pPr>
            <a:r>
              <a:rPr lang="en-US" sz="1200" b="1" dirty="0">
                <a:solidFill>
                  <a:srgbClr val="1A2B4A"/>
                </a:solidFill>
                <a:latin typeface="Calibri" pitchFamily="34" charset="0"/>
                <a:ea typeface="Calibri" pitchFamily="34" charset="-122"/>
                <a:cs typeface="Calibri" pitchFamily="34" charset="-120"/>
              </a:rPr>
              <a:t>Calculation Trace</a:t>
            </a:r>
            <a:endParaRPr lang="en-US" sz="1200" dirty="0"/>
          </a:p>
        </p:txBody>
      </p:sp>
      <p:sp>
        <p:nvSpPr>
          <p:cNvPr id="38" name="Text 36"/>
          <p:cNvSpPr/>
          <p:nvPr/>
        </p:nvSpPr>
        <p:spPr>
          <a:xfrm>
            <a:off x="5102352" y="2980944"/>
            <a:ext cx="3547872" cy="1737360"/>
          </a:xfrm>
          <a:prstGeom prst="rect">
            <a:avLst/>
          </a:prstGeom>
          <a:noFill/>
          <a:ln/>
        </p:spPr>
        <p:txBody>
          <a:bodyPr wrap="square" lIns="0" tIns="0" rIns="0" bIns="0" rtlCol="0" anchor="t"/>
          <a:lstStyle/>
          <a:p>
            <a:pPr indent="0" marL="0">
              <a:buNone/>
            </a:pPr>
            <a:r>
              <a:rPr lang="en-US" sz="1050" dirty="0">
                <a:solidFill>
                  <a:srgbClr val="4A5568"/>
                </a:solidFill>
                <a:latin typeface="Courier New" pitchFamily="34" charset="0"/>
                <a:ea typeface="Courier New" pitchFamily="34" charset="-122"/>
                <a:cs typeface="Courier New" pitchFamily="34" charset="-120"/>
              </a:rPr>
              <a:t>F^1.5 = 0.90^1.5 = 0.854</a:t>
            </a:r>
            <a:endParaRPr lang="en-US" sz="1050" dirty="0"/>
          </a:p>
          <a:p>
            <a:pPr indent="0" marL="0">
              <a:buNone/>
            </a:pPr>
            <a:r>
              <a:rPr lang="en-US" sz="1050" dirty="0">
                <a:solidFill>
                  <a:srgbClr val="4A5568"/>
                </a:solidFill>
                <a:latin typeface="Courier New" pitchFamily="34" charset="0"/>
                <a:ea typeface="Courier New" pitchFamily="34" charset="-122"/>
                <a:cs typeface="Courier New" pitchFamily="34" charset="-120"/>
              </a:rPr>
              <a:t>T(fridge, apple 4°C, optimal 1-4°C) = 1.00</a:t>
            </a:r>
            <a:endParaRPr lang="en-US" sz="1050" dirty="0"/>
          </a:p>
          <a:p>
            <a:pPr indent="0" marL="0">
              <a:buNone/>
            </a:pPr>
            <a:r>
              <a:rPr lang="en-US" sz="1050" dirty="0">
                <a:solidFill>
                  <a:srgbClr val="4A5568"/>
                </a:solidFill>
                <a:latin typeface="Courier New" pitchFamily="34" charset="0"/>
                <a:ea typeface="Courier New" pitchFamily="34" charset="-122"/>
                <a:cs typeface="Courier New" pitchFamily="34" charset="-120"/>
              </a:rPr>
              <a:t>R(Unripe, F≥0.85) = 1.00</a:t>
            </a:r>
            <a:endParaRPr lang="en-US" sz="1050" dirty="0"/>
          </a:p>
          <a:p>
            <a:pPr indent="0" marL="0">
              <a:buNone/>
            </a:pPr>
            <a:endParaRPr lang="en-US" sz="1050" dirty="0"/>
          </a:p>
          <a:p>
            <a:pPr indent="0" marL="0">
              <a:buNone/>
            </a:pPr>
            <a:r>
              <a:rPr lang="en-US" sz="1050" dirty="0">
                <a:solidFill>
                  <a:srgbClr val="4A5568"/>
                </a:solidFill>
                <a:latin typeface="Courier New" pitchFamily="34" charset="0"/>
                <a:ea typeface="Courier New" pitchFamily="34" charset="-122"/>
                <a:cs typeface="Courier New" pitchFamily="34" charset="-120"/>
              </a:rPr>
              <a:t>D(fridge) = 30 × 0.854 × 1.00 × 1.00 = 25.6 days</a:t>
            </a:r>
            <a:endParaRPr lang="en-US" sz="1050" dirty="0"/>
          </a:p>
          <a:p>
            <a:pPr indent="0" marL="0">
              <a:buNone/>
            </a:pPr>
            <a:r>
              <a:rPr lang="en-US" sz="1050" dirty="0">
                <a:solidFill>
                  <a:srgbClr val="4A5568"/>
                </a:solidFill>
                <a:latin typeface="Courier New" pitchFamily="34" charset="0"/>
                <a:ea typeface="Courier New" pitchFamily="34" charset="-122"/>
                <a:cs typeface="Courier New" pitchFamily="34" charset="-120"/>
              </a:rPr>
              <a:t>N = 25.6 / 30 = 0.853</a:t>
            </a:r>
            <a:endParaRPr lang="en-US" sz="1050" dirty="0"/>
          </a:p>
          <a:p>
            <a:pPr indent="0" marL="0">
              <a:buNone/>
            </a:pPr>
            <a:r>
              <a:rPr lang="en-US" sz="1050" dirty="0">
                <a:solidFill>
                  <a:srgbClr val="4A5568"/>
                </a:solidFill>
                <a:latin typeface="Courier New" pitchFamily="34" charset="0"/>
                <a:ea typeface="Courier New" pitchFamily="34" charset="-122"/>
                <a:cs typeface="Courier New" pitchFamily="34" charset="-120"/>
              </a:rPr>
              <a:t>C = (0.90 × 0.6) + (0.853 × 0.4) = 0.881</a:t>
            </a:r>
            <a:endParaRPr lang="en-US" sz="1050" dirty="0"/>
          </a:p>
          <a:p>
            <a:pPr indent="0" marL="0">
              <a:buNone/>
            </a:pPr>
            <a:endParaRPr lang="en-US" sz="1050" dirty="0"/>
          </a:p>
          <a:p>
            <a:pPr indent="0" marL="0">
              <a:buNone/>
            </a:pPr>
            <a:r>
              <a:rPr lang="en-US" sz="1050" dirty="0">
                <a:solidFill>
                  <a:srgbClr val="4A5568"/>
                </a:solidFill>
                <a:latin typeface="Courier New" pitchFamily="34" charset="0"/>
                <a:ea typeface="Courier New" pitchFamily="34" charset="-122"/>
                <a:cs typeface="Courier New" pitchFamily="34" charset="-120"/>
              </a:rPr>
              <a:t>→ FRESH (C ≥ 0.70)</a:t>
            </a:r>
            <a:endParaRPr lang="en-US" sz="1050" dirty="0"/>
          </a:p>
        </p:txBody>
      </p:sp>
      <p:sp>
        <p:nvSpPr>
          <p:cNvPr id="39" name="Shape 37"/>
          <p:cNvSpPr/>
          <p:nvPr/>
        </p:nvSpPr>
        <p:spPr>
          <a:xfrm>
            <a:off x="4956048" y="4828032"/>
            <a:ext cx="3803904" cy="256032"/>
          </a:xfrm>
          <a:prstGeom prst="rect">
            <a:avLst/>
          </a:prstGeom>
          <a:solidFill>
            <a:srgbClr val="E8F5F1"/>
          </a:solidFill>
          <a:ln w="6350">
            <a:solidFill>
              <a:srgbClr val="1A2B4A">
                <a:alpha val="40000"/>
              </a:srgbClr>
            </a:solidFill>
            <a:prstDash val="solid"/>
          </a:ln>
          <a:effectLst>
            <a:outerShdw sx="100000" sy="100000" kx="0" ky="0" algn="bl" rotWithShape="0" blurRad="101600" dist="38100" dir="2700000">
              <a:srgbClr val="000000">
                <a:alpha val="10000"/>
              </a:srgbClr>
            </a:outerShdw>
          </a:effectLst>
        </p:spPr>
      </p:sp>
      <p:sp>
        <p:nvSpPr>
          <p:cNvPr id="40" name="Text 38"/>
          <p:cNvSpPr/>
          <p:nvPr/>
        </p:nvSpPr>
        <p:spPr>
          <a:xfrm>
            <a:off x="5102352" y="4846320"/>
            <a:ext cx="3566160" cy="219456"/>
          </a:xfrm>
          <a:prstGeom prst="rect">
            <a:avLst/>
          </a:prstGeom>
          <a:noFill/>
          <a:ln/>
        </p:spPr>
        <p:txBody>
          <a:bodyPr wrap="square" lIns="0" tIns="0" rIns="0" bIns="0" rtlCol="0" anchor="ctr"/>
          <a:lstStyle/>
          <a:p>
            <a:pPr indent="0" marL="0">
              <a:buNone/>
            </a:pPr>
            <a:r>
              <a:rPr lang="en-US" sz="1000" b="1" dirty="0">
                <a:solidFill>
                  <a:srgbClr val="3A8C7E"/>
                </a:solidFill>
                <a:latin typeface="Calibri" pitchFamily="34" charset="0"/>
                <a:ea typeface="Calibri" pitchFamily="34" charset="-122"/>
                <a:cs typeface="Calibri" pitchFamily="34" charset="-120"/>
              </a:rPr>
              <a:t>Ethylene note: Apple is both a PRODUCER and SENSITIVE — keep away from other sensitive fruit. Models agree: no borderline warning.</a:t>
            </a:r>
            <a:endParaRPr lang="en-US" sz="10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EBEBEB"/>
        </a:solidFill>
      </p:bgPr>
    </p:bg>
    <p:spTree>
      <p:nvGrpSpPr>
        <p:cNvPr id="1" name=""/>
        <p:cNvGrpSpPr/>
        <p:nvPr/>
      </p:nvGrpSpPr>
      <p:grpSpPr>
        <a:xfrm>
          <a:off x="0" y="0"/>
          <a:ext cx="0" cy="0"/>
          <a:chOff x="0" y="0"/>
          <a:chExt cx="0" cy="0"/>
        </a:xfrm>
      </p:grpSpPr>
      <p:sp>
        <p:nvSpPr>
          <p:cNvPr id="2" name="Shape 0"/>
          <p:cNvSpPr/>
          <p:nvPr/>
        </p:nvSpPr>
        <p:spPr>
          <a:xfrm rot="-2700000">
            <a:off x="182880" y="182880"/>
            <a:ext cx="457200" cy="0"/>
          </a:xfrm>
          <a:prstGeom prst="line">
            <a:avLst/>
          </a:prstGeom>
          <a:noFill/>
          <a:ln w="12700">
            <a:solidFill>
              <a:srgbClr val="1A2B4A">
                <a:alpha val="28000"/>
              </a:srgbClr>
            </a:solidFill>
            <a:prstDash val="solid"/>
          </a:ln>
        </p:spPr>
      </p:sp>
      <p:sp>
        <p:nvSpPr>
          <p:cNvPr id="3" name="Shape 1"/>
          <p:cNvSpPr/>
          <p:nvPr/>
        </p:nvSpPr>
        <p:spPr>
          <a:xfrm rot="-2700000">
            <a:off x="347472" y="182880"/>
            <a:ext cx="457200" cy="0"/>
          </a:xfrm>
          <a:prstGeom prst="line">
            <a:avLst/>
          </a:prstGeom>
          <a:noFill/>
          <a:ln w="12700">
            <a:solidFill>
              <a:srgbClr val="1A2B4A">
                <a:alpha val="28000"/>
              </a:srgbClr>
            </a:solidFill>
            <a:prstDash val="solid"/>
          </a:ln>
        </p:spPr>
      </p:sp>
      <p:sp>
        <p:nvSpPr>
          <p:cNvPr id="4" name="Shape 2"/>
          <p:cNvSpPr/>
          <p:nvPr/>
        </p:nvSpPr>
        <p:spPr>
          <a:xfrm rot="-2700000">
            <a:off x="512064" y="182880"/>
            <a:ext cx="457200" cy="0"/>
          </a:xfrm>
          <a:prstGeom prst="line">
            <a:avLst/>
          </a:prstGeom>
          <a:noFill/>
          <a:ln w="12700">
            <a:solidFill>
              <a:srgbClr val="1A2B4A">
                <a:alpha val="28000"/>
              </a:srgbClr>
            </a:solidFill>
            <a:prstDash val="solid"/>
          </a:ln>
        </p:spPr>
      </p:sp>
      <p:sp>
        <p:nvSpPr>
          <p:cNvPr id="5" name="Shape 3"/>
          <p:cNvSpPr/>
          <p:nvPr/>
        </p:nvSpPr>
        <p:spPr>
          <a:xfrm rot="-2700000">
            <a:off x="676656" y="182880"/>
            <a:ext cx="457200" cy="0"/>
          </a:xfrm>
          <a:prstGeom prst="line">
            <a:avLst/>
          </a:prstGeom>
          <a:noFill/>
          <a:ln w="12700">
            <a:solidFill>
              <a:srgbClr val="1A2B4A">
                <a:alpha val="28000"/>
              </a:srgbClr>
            </a:solidFill>
            <a:prstDash val="solid"/>
          </a:ln>
        </p:spPr>
      </p:sp>
      <p:sp>
        <p:nvSpPr>
          <p:cNvPr id="6" name="Shape 4"/>
          <p:cNvSpPr/>
          <p:nvPr/>
        </p:nvSpPr>
        <p:spPr>
          <a:xfrm rot="-2700000">
            <a:off x="841248" y="182880"/>
            <a:ext cx="457200" cy="0"/>
          </a:xfrm>
          <a:prstGeom prst="line">
            <a:avLst/>
          </a:prstGeom>
          <a:noFill/>
          <a:ln w="12700">
            <a:solidFill>
              <a:srgbClr val="1A2B4A">
                <a:alpha val="28000"/>
              </a:srgbClr>
            </a:solidFill>
            <a:prstDash val="solid"/>
          </a:ln>
        </p:spPr>
      </p:sp>
      <p:sp>
        <p:nvSpPr>
          <p:cNvPr id="7" name="Shape 5"/>
          <p:cNvSpPr/>
          <p:nvPr/>
        </p:nvSpPr>
        <p:spPr>
          <a:xfrm rot="-2700000">
            <a:off x="1005840" y="182880"/>
            <a:ext cx="457200" cy="0"/>
          </a:xfrm>
          <a:prstGeom prst="line">
            <a:avLst/>
          </a:prstGeom>
          <a:noFill/>
          <a:ln w="12700">
            <a:solidFill>
              <a:srgbClr val="1A2B4A">
                <a:alpha val="28000"/>
              </a:srgbClr>
            </a:solidFill>
            <a:prstDash val="solid"/>
          </a:ln>
        </p:spPr>
      </p:sp>
      <p:sp>
        <p:nvSpPr>
          <p:cNvPr id="8" name="Shape 6"/>
          <p:cNvSpPr/>
          <p:nvPr/>
        </p:nvSpPr>
        <p:spPr>
          <a:xfrm rot="-2700000">
            <a:off x="1170432" y="182880"/>
            <a:ext cx="457200" cy="0"/>
          </a:xfrm>
          <a:prstGeom prst="line">
            <a:avLst/>
          </a:prstGeom>
          <a:noFill/>
          <a:ln w="12700">
            <a:solidFill>
              <a:srgbClr val="1A2B4A">
                <a:alpha val="28000"/>
              </a:srgbClr>
            </a:solidFill>
            <a:prstDash val="solid"/>
          </a:ln>
        </p:spPr>
      </p:sp>
      <p:sp>
        <p:nvSpPr>
          <p:cNvPr id="9" name="Shape 7"/>
          <p:cNvSpPr/>
          <p:nvPr/>
        </p:nvSpPr>
        <p:spPr>
          <a:xfrm>
            <a:off x="8092440" y="3840480"/>
            <a:ext cx="64008" cy="64008"/>
          </a:xfrm>
          <a:prstGeom prst="ellipse">
            <a:avLst/>
          </a:prstGeom>
          <a:solidFill>
            <a:srgbClr val="1A2B4A">
              <a:alpha val="25000"/>
            </a:srgbClr>
          </a:solidFill>
          <a:ln/>
        </p:spPr>
      </p:sp>
      <p:sp>
        <p:nvSpPr>
          <p:cNvPr id="10" name="Shape 8"/>
          <p:cNvSpPr/>
          <p:nvPr/>
        </p:nvSpPr>
        <p:spPr>
          <a:xfrm>
            <a:off x="8293608" y="3840480"/>
            <a:ext cx="64008" cy="64008"/>
          </a:xfrm>
          <a:prstGeom prst="ellipse">
            <a:avLst/>
          </a:prstGeom>
          <a:solidFill>
            <a:srgbClr val="1A2B4A">
              <a:alpha val="25000"/>
            </a:srgbClr>
          </a:solidFill>
          <a:ln/>
        </p:spPr>
      </p:sp>
      <p:sp>
        <p:nvSpPr>
          <p:cNvPr id="11" name="Shape 9"/>
          <p:cNvSpPr/>
          <p:nvPr/>
        </p:nvSpPr>
        <p:spPr>
          <a:xfrm>
            <a:off x="8494776" y="3840480"/>
            <a:ext cx="64008" cy="64008"/>
          </a:xfrm>
          <a:prstGeom prst="ellipse">
            <a:avLst/>
          </a:prstGeom>
          <a:solidFill>
            <a:srgbClr val="1A2B4A">
              <a:alpha val="25000"/>
            </a:srgbClr>
          </a:solidFill>
          <a:ln/>
        </p:spPr>
      </p:sp>
      <p:sp>
        <p:nvSpPr>
          <p:cNvPr id="12" name="Shape 10"/>
          <p:cNvSpPr/>
          <p:nvPr/>
        </p:nvSpPr>
        <p:spPr>
          <a:xfrm>
            <a:off x="8695944" y="3840480"/>
            <a:ext cx="64008" cy="64008"/>
          </a:xfrm>
          <a:prstGeom prst="ellipse">
            <a:avLst/>
          </a:prstGeom>
          <a:solidFill>
            <a:srgbClr val="1A2B4A">
              <a:alpha val="25000"/>
            </a:srgbClr>
          </a:solidFill>
          <a:ln/>
        </p:spPr>
      </p:sp>
      <p:sp>
        <p:nvSpPr>
          <p:cNvPr id="13" name="Shape 11"/>
          <p:cNvSpPr/>
          <p:nvPr/>
        </p:nvSpPr>
        <p:spPr>
          <a:xfrm>
            <a:off x="8897112" y="3840480"/>
            <a:ext cx="64008" cy="64008"/>
          </a:xfrm>
          <a:prstGeom prst="ellipse">
            <a:avLst/>
          </a:prstGeom>
          <a:solidFill>
            <a:srgbClr val="1A2B4A">
              <a:alpha val="25000"/>
            </a:srgbClr>
          </a:solidFill>
          <a:ln/>
        </p:spPr>
      </p:sp>
      <p:sp>
        <p:nvSpPr>
          <p:cNvPr id="14" name="Shape 12"/>
          <p:cNvSpPr/>
          <p:nvPr/>
        </p:nvSpPr>
        <p:spPr>
          <a:xfrm>
            <a:off x="8092440" y="4041648"/>
            <a:ext cx="64008" cy="64008"/>
          </a:xfrm>
          <a:prstGeom prst="ellipse">
            <a:avLst/>
          </a:prstGeom>
          <a:solidFill>
            <a:srgbClr val="1A2B4A">
              <a:alpha val="25000"/>
            </a:srgbClr>
          </a:solidFill>
          <a:ln/>
        </p:spPr>
      </p:sp>
      <p:sp>
        <p:nvSpPr>
          <p:cNvPr id="15" name="Shape 13"/>
          <p:cNvSpPr/>
          <p:nvPr/>
        </p:nvSpPr>
        <p:spPr>
          <a:xfrm>
            <a:off x="8293608" y="4041648"/>
            <a:ext cx="64008" cy="64008"/>
          </a:xfrm>
          <a:prstGeom prst="ellipse">
            <a:avLst/>
          </a:prstGeom>
          <a:solidFill>
            <a:srgbClr val="1A2B4A">
              <a:alpha val="25000"/>
            </a:srgbClr>
          </a:solidFill>
          <a:ln/>
        </p:spPr>
      </p:sp>
      <p:sp>
        <p:nvSpPr>
          <p:cNvPr id="16" name="Shape 14"/>
          <p:cNvSpPr/>
          <p:nvPr/>
        </p:nvSpPr>
        <p:spPr>
          <a:xfrm>
            <a:off x="8494776" y="4041648"/>
            <a:ext cx="64008" cy="64008"/>
          </a:xfrm>
          <a:prstGeom prst="ellipse">
            <a:avLst/>
          </a:prstGeom>
          <a:solidFill>
            <a:srgbClr val="1A2B4A">
              <a:alpha val="25000"/>
            </a:srgbClr>
          </a:solidFill>
          <a:ln/>
        </p:spPr>
      </p:sp>
      <p:sp>
        <p:nvSpPr>
          <p:cNvPr id="17" name="Shape 15"/>
          <p:cNvSpPr/>
          <p:nvPr/>
        </p:nvSpPr>
        <p:spPr>
          <a:xfrm>
            <a:off x="8695944" y="4041648"/>
            <a:ext cx="64008" cy="64008"/>
          </a:xfrm>
          <a:prstGeom prst="ellipse">
            <a:avLst/>
          </a:prstGeom>
          <a:solidFill>
            <a:srgbClr val="1A2B4A">
              <a:alpha val="25000"/>
            </a:srgbClr>
          </a:solidFill>
          <a:ln/>
        </p:spPr>
      </p:sp>
      <p:sp>
        <p:nvSpPr>
          <p:cNvPr id="18" name="Shape 16"/>
          <p:cNvSpPr/>
          <p:nvPr/>
        </p:nvSpPr>
        <p:spPr>
          <a:xfrm>
            <a:off x="8897112" y="4041648"/>
            <a:ext cx="64008" cy="64008"/>
          </a:xfrm>
          <a:prstGeom prst="ellipse">
            <a:avLst/>
          </a:prstGeom>
          <a:solidFill>
            <a:srgbClr val="1A2B4A">
              <a:alpha val="25000"/>
            </a:srgbClr>
          </a:solidFill>
          <a:ln/>
        </p:spPr>
      </p:sp>
      <p:sp>
        <p:nvSpPr>
          <p:cNvPr id="19" name="Shape 17"/>
          <p:cNvSpPr/>
          <p:nvPr/>
        </p:nvSpPr>
        <p:spPr>
          <a:xfrm>
            <a:off x="8092440" y="4242816"/>
            <a:ext cx="64008" cy="64008"/>
          </a:xfrm>
          <a:prstGeom prst="ellipse">
            <a:avLst/>
          </a:prstGeom>
          <a:solidFill>
            <a:srgbClr val="1A2B4A">
              <a:alpha val="25000"/>
            </a:srgbClr>
          </a:solidFill>
          <a:ln/>
        </p:spPr>
      </p:sp>
      <p:sp>
        <p:nvSpPr>
          <p:cNvPr id="20" name="Shape 18"/>
          <p:cNvSpPr/>
          <p:nvPr/>
        </p:nvSpPr>
        <p:spPr>
          <a:xfrm>
            <a:off x="8293608" y="4242816"/>
            <a:ext cx="64008" cy="64008"/>
          </a:xfrm>
          <a:prstGeom prst="ellipse">
            <a:avLst/>
          </a:prstGeom>
          <a:solidFill>
            <a:srgbClr val="1A2B4A">
              <a:alpha val="25000"/>
            </a:srgbClr>
          </a:solidFill>
          <a:ln/>
        </p:spPr>
      </p:sp>
      <p:sp>
        <p:nvSpPr>
          <p:cNvPr id="21" name="Shape 19"/>
          <p:cNvSpPr/>
          <p:nvPr/>
        </p:nvSpPr>
        <p:spPr>
          <a:xfrm>
            <a:off x="8494776" y="4242816"/>
            <a:ext cx="64008" cy="64008"/>
          </a:xfrm>
          <a:prstGeom prst="ellipse">
            <a:avLst/>
          </a:prstGeom>
          <a:solidFill>
            <a:srgbClr val="1A2B4A">
              <a:alpha val="25000"/>
            </a:srgbClr>
          </a:solidFill>
          <a:ln/>
        </p:spPr>
      </p:sp>
      <p:sp>
        <p:nvSpPr>
          <p:cNvPr id="22" name="Shape 20"/>
          <p:cNvSpPr/>
          <p:nvPr/>
        </p:nvSpPr>
        <p:spPr>
          <a:xfrm>
            <a:off x="8695944" y="4242816"/>
            <a:ext cx="64008" cy="64008"/>
          </a:xfrm>
          <a:prstGeom prst="ellipse">
            <a:avLst/>
          </a:prstGeom>
          <a:solidFill>
            <a:srgbClr val="1A2B4A">
              <a:alpha val="25000"/>
            </a:srgbClr>
          </a:solidFill>
          <a:ln/>
        </p:spPr>
      </p:sp>
      <p:sp>
        <p:nvSpPr>
          <p:cNvPr id="23" name="Shape 21"/>
          <p:cNvSpPr/>
          <p:nvPr/>
        </p:nvSpPr>
        <p:spPr>
          <a:xfrm>
            <a:off x="8897112" y="4242816"/>
            <a:ext cx="64008" cy="64008"/>
          </a:xfrm>
          <a:prstGeom prst="ellipse">
            <a:avLst/>
          </a:prstGeom>
          <a:solidFill>
            <a:srgbClr val="1A2B4A">
              <a:alpha val="25000"/>
            </a:srgbClr>
          </a:solidFill>
          <a:ln/>
        </p:spPr>
      </p:sp>
      <p:sp>
        <p:nvSpPr>
          <p:cNvPr id="24" name="Shape 22"/>
          <p:cNvSpPr/>
          <p:nvPr/>
        </p:nvSpPr>
        <p:spPr>
          <a:xfrm>
            <a:off x="8092440" y="4443984"/>
            <a:ext cx="64008" cy="64008"/>
          </a:xfrm>
          <a:prstGeom prst="ellipse">
            <a:avLst/>
          </a:prstGeom>
          <a:solidFill>
            <a:srgbClr val="1A2B4A">
              <a:alpha val="25000"/>
            </a:srgbClr>
          </a:solidFill>
          <a:ln/>
        </p:spPr>
      </p:sp>
      <p:sp>
        <p:nvSpPr>
          <p:cNvPr id="25" name="Shape 23"/>
          <p:cNvSpPr/>
          <p:nvPr/>
        </p:nvSpPr>
        <p:spPr>
          <a:xfrm>
            <a:off x="8293608" y="4443984"/>
            <a:ext cx="64008" cy="64008"/>
          </a:xfrm>
          <a:prstGeom prst="ellipse">
            <a:avLst/>
          </a:prstGeom>
          <a:solidFill>
            <a:srgbClr val="1A2B4A">
              <a:alpha val="25000"/>
            </a:srgbClr>
          </a:solidFill>
          <a:ln/>
        </p:spPr>
      </p:sp>
      <p:sp>
        <p:nvSpPr>
          <p:cNvPr id="26" name="Shape 24"/>
          <p:cNvSpPr/>
          <p:nvPr/>
        </p:nvSpPr>
        <p:spPr>
          <a:xfrm>
            <a:off x="8494776" y="4443984"/>
            <a:ext cx="64008" cy="64008"/>
          </a:xfrm>
          <a:prstGeom prst="ellipse">
            <a:avLst/>
          </a:prstGeom>
          <a:solidFill>
            <a:srgbClr val="1A2B4A">
              <a:alpha val="25000"/>
            </a:srgbClr>
          </a:solidFill>
          <a:ln/>
        </p:spPr>
      </p:sp>
      <p:sp>
        <p:nvSpPr>
          <p:cNvPr id="27" name="Shape 25"/>
          <p:cNvSpPr/>
          <p:nvPr/>
        </p:nvSpPr>
        <p:spPr>
          <a:xfrm>
            <a:off x="8695944" y="4443984"/>
            <a:ext cx="64008" cy="64008"/>
          </a:xfrm>
          <a:prstGeom prst="ellipse">
            <a:avLst/>
          </a:prstGeom>
          <a:solidFill>
            <a:srgbClr val="1A2B4A">
              <a:alpha val="25000"/>
            </a:srgbClr>
          </a:solidFill>
          <a:ln/>
        </p:spPr>
      </p:sp>
      <p:sp>
        <p:nvSpPr>
          <p:cNvPr id="28" name="Shape 26"/>
          <p:cNvSpPr/>
          <p:nvPr/>
        </p:nvSpPr>
        <p:spPr>
          <a:xfrm>
            <a:off x="8897112" y="4443984"/>
            <a:ext cx="64008" cy="64008"/>
          </a:xfrm>
          <a:prstGeom prst="ellipse">
            <a:avLst/>
          </a:prstGeom>
          <a:solidFill>
            <a:srgbClr val="1A2B4A">
              <a:alpha val="25000"/>
            </a:srgbClr>
          </a:solidFill>
          <a:ln/>
        </p:spPr>
      </p:sp>
      <p:sp>
        <p:nvSpPr>
          <p:cNvPr id="29" name="Shape 27"/>
          <p:cNvSpPr/>
          <p:nvPr/>
        </p:nvSpPr>
        <p:spPr>
          <a:xfrm>
            <a:off x="8092440" y="4645152"/>
            <a:ext cx="64008" cy="64008"/>
          </a:xfrm>
          <a:prstGeom prst="ellipse">
            <a:avLst/>
          </a:prstGeom>
          <a:solidFill>
            <a:srgbClr val="1A2B4A">
              <a:alpha val="25000"/>
            </a:srgbClr>
          </a:solidFill>
          <a:ln/>
        </p:spPr>
      </p:sp>
      <p:sp>
        <p:nvSpPr>
          <p:cNvPr id="30" name="Shape 28"/>
          <p:cNvSpPr/>
          <p:nvPr/>
        </p:nvSpPr>
        <p:spPr>
          <a:xfrm>
            <a:off x="8293608" y="4645152"/>
            <a:ext cx="64008" cy="64008"/>
          </a:xfrm>
          <a:prstGeom prst="ellipse">
            <a:avLst/>
          </a:prstGeom>
          <a:solidFill>
            <a:srgbClr val="1A2B4A">
              <a:alpha val="25000"/>
            </a:srgbClr>
          </a:solidFill>
          <a:ln/>
        </p:spPr>
      </p:sp>
      <p:sp>
        <p:nvSpPr>
          <p:cNvPr id="31" name="Shape 29"/>
          <p:cNvSpPr/>
          <p:nvPr/>
        </p:nvSpPr>
        <p:spPr>
          <a:xfrm>
            <a:off x="8494776" y="4645152"/>
            <a:ext cx="64008" cy="64008"/>
          </a:xfrm>
          <a:prstGeom prst="ellipse">
            <a:avLst/>
          </a:prstGeom>
          <a:solidFill>
            <a:srgbClr val="1A2B4A">
              <a:alpha val="25000"/>
            </a:srgbClr>
          </a:solidFill>
          <a:ln/>
        </p:spPr>
      </p:sp>
      <p:sp>
        <p:nvSpPr>
          <p:cNvPr id="32" name="Shape 30"/>
          <p:cNvSpPr/>
          <p:nvPr/>
        </p:nvSpPr>
        <p:spPr>
          <a:xfrm>
            <a:off x="8695944" y="4645152"/>
            <a:ext cx="64008" cy="64008"/>
          </a:xfrm>
          <a:prstGeom prst="ellipse">
            <a:avLst/>
          </a:prstGeom>
          <a:solidFill>
            <a:srgbClr val="1A2B4A">
              <a:alpha val="25000"/>
            </a:srgbClr>
          </a:solidFill>
          <a:ln/>
        </p:spPr>
      </p:sp>
      <p:sp>
        <p:nvSpPr>
          <p:cNvPr id="33" name="Shape 31"/>
          <p:cNvSpPr/>
          <p:nvPr/>
        </p:nvSpPr>
        <p:spPr>
          <a:xfrm>
            <a:off x="8897112" y="4645152"/>
            <a:ext cx="64008" cy="64008"/>
          </a:xfrm>
          <a:prstGeom prst="ellipse">
            <a:avLst/>
          </a:prstGeom>
          <a:solidFill>
            <a:srgbClr val="1A2B4A">
              <a:alpha val="25000"/>
            </a:srgbClr>
          </a:solidFill>
          <a:ln/>
        </p:spPr>
      </p:sp>
      <p:sp>
        <p:nvSpPr>
          <p:cNvPr id="34" name="Text 32"/>
          <p:cNvSpPr/>
          <p:nvPr/>
        </p:nvSpPr>
        <p:spPr>
          <a:xfrm>
            <a:off x="411480" y="292608"/>
            <a:ext cx="8321040" cy="530352"/>
          </a:xfrm>
          <a:prstGeom prst="rect">
            <a:avLst/>
          </a:prstGeom>
          <a:noFill/>
          <a:ln/>
        </p:spPr>
        <p:txBody>
          <a:bodyPr wrap="square" lIns="0" tIns="0" rIns="0" bIns="0" rtlCol="0" anchor="ctr"/>
          <a:lstStyle/>
          <a:p>
            <a:pPr algn="l" indent="0" marL="0">
              <a:buNone/>
            </a:pPr>
            <a:r>
              <a:rPr lang="en-US" sz="2800" b="1" dirty="0">
                <a:solidFill>
                  <a:srgbClr val="1A2B4A"/>
                </a:solidFill>
                <a:latin typeface="Cambria" pitchFamily="34" charset="0"/>
                <a:ea typeface="Cambria" pitchFamily="34" charset="-122"/>
                <a:cs typeface="Cambria" pitchFamily="34" charset="-120"/>
              </a:rPr>
              <a:t>Evaluation Results</a:t>
            </a:r>
            <a:endParaRPr lang="en-US" sz="2800" dirty="0"/>
          </a:p>
        </p:txBody>
      </p:sp>
      <p:sp>
        <p:nvSpPr>
          <p:cNvPr id="35" name="Text 33"/>
          <p:cNvSpPr/>
          <p:nvPr/>
        </p:nvSpPr>
        <p:spPr>
          <a:xfrm>
            <a:off x="411480" y="841248"/>
            <a:ext cx="8321040" cy="329184"/>
          </a:xfrm>
          <a:prstGeom prst="rect">
            <a:avLst/>
          </a:prstGeom>
          <a:noFill/>
          <a:ln/>
        </p:spPr>
        <p:txBody>
          <a:bodyPr wrap="square" lIns="0" tIns="0" rIns="0" bIns="0" rtlCol="0" anchor="ctr"/>
          <a:lstStyle/>
          <a:p>
            <a:pPr algn="l" indent="0" marL="0">
              <a:buNone/>
            </a:pPr>
            <a:r>
              <a:rPr lang="en-US" sz="1400" b="1" dirty="0">
                <a:solidFill>
                  <a:srgbClr val="3A8C7E"/>
                </a:solidFill>
                <a:latin typeface="Calibri" pitchFamily="34" charset="0"/>
                <a:ea typeface="Calibri" pitchFamily="34" charset="-122"/>
                <a:cs typeface="Calibri" pitchFamily="34" charset="-120"/>
              </a:rPr>
              <a:t>All metrics on held-out test set  ·  280 images  ·  20 per class</a:t>
            </a:r>
            <a:endParaRPr lang="en-US" sz="1400" dirty="0"/>
          </a:p>
        </p:txBody>
      </p:sp>
      <p:sp>
        <p:nvSpPr>
          <p:cNvPr id="36" name="Shape 34"/>
          <p:cNvSpPr/>
          <p:nvPr/>
        </p:nvSpPr>
        <p:spPr>
          <a:xfrm>
            <a:off x="411480" y="868680"/>
            <a:ext cx="8229600" cy="0"/>
          </a:xfrm>
          <a:prstGeom prst="line">
            <a:avLst/>
          </a:prstGeom>
          <a:noFill/>
          <a:ln w="19050">
            <a:solidFill>
              <a:srgbClr val="3A8C7E">
                <a:alpha val="60000"/>
              </a:srgbClr>
            </a:solidFill>
            <a:prstDash val="solid"/>
          </a:ln>
        </p:spPr>
      </p:sp>
      <p:sp>
        <p:nvSpPr>
          <p:cNvPr id="37" name="Shape 35"/>
          <p:cNvSpPr/>
          <p:nvPr/>
        </p:nvSpPr>
        <p:spPr>
          <a:xfrm>
            <a:off x="411480" y="950976"/>
            <a:ext cx="8229600" cy="0"/>
          </a:xfrm>
          <a:prstGeom prst="line">
            <a:avLst/>
          </a:prstGeom>
          <a:noFill/>
          <a:ln w="10160">
            <a:solidFill>
              <a:srgbClr val="1A2B4A">
                <a:alpha val="45000"/>
              </a:srgbClr>
            </a:solidFill>
            <a:prstDash val="solid"/>
          </a:ln>
        </p:spPr>
      </p:sp>
      <p:graphicFrame>
        <p:nvGraphicFramePr>
          <p:cNvPr id="27" name="Table 0"/>
          <p:cNvGraphicFramePr>
            <a:graphicFrameLocks noGrp="1"/>
          </p:cNvGraphicFramePr>
          <p:nvPr>
            <p:extLst>
              <p:ext uri="{D42A27DB-BD31-4B8C-83A1-F6EECF244321}">
                <p14:modId xmlns:p14="http://schemas.microsoft.com/office/powerpoint/2010/main" val="1579011935"/>
              </p:ext>
            </p:extLst>
          </p:nvPr>
        </p:nvGraphicFramePr>
        <p:xfrm>
          <a:off x="384048" y="1005840"/>
          <a:ext cx="8375904" cy="3520440"/>
        </p:xfrm>
        <a:graphic>
          <a:graphicData uri="http://schemas.openxmlformats.org/drawingml/2006/table">
            <a:tbl>
              <a:tblPr/>
              <a:tblGrid>
                <a:gridCol w="2377440"/>
                <a:gridCol w="1280160"/>
                <a:gridCol w="4718304"/>
              </a:tblGrid>
              <a:tr h="293370">
                <a:tc>
                  <a:txBody>
                    <a:bodyPr/>
                    <a:lstStyle/>
                    <a:p>
                      <a:pPr indent="0" marL="0">
                        <a:buNone/>
                      </a:pPr>
                      <a:r>
                        <a:rPr lang="en-US" sz="1100" b="1" dirty="0">
                          <a:solidFill>
                            <a:srgbClr val="FFFFFF"/>
                          </a:solidFill>
                        </a:rPr>
                        <a:t>Class</a:t>
                      </a:r>
                      <a:endParaRPr lang="en-US" sz="11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A2B4A"/>
                    </a:solidFill>
                  </a:tcPr>
                </a:tc>
                <a:tc>
                  <a:txBody>
                    <a:bodyPr/>
                    <a:lstStyle/>
                    <a:p>
                      <a:pPr indent="0" marL="0">
                        <a:buNone/>
                      </a:pPr>
                      <a:r>
                        <a:rPr lang="en-US" sz="1100" b="1" dirty="0">
                          <a:solidFill>
                            <a:srgbClr val="FFFFFF"/>
                          </a:solidFill>
                        </a:rPr>
                        <a:t>Top-1 Accuracy</a:t>
                      </a:r>
                      <a:endParaRPr lang="en-US" sz="11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A2B4A"/>
                    </a:solidFill>
                  </a:tcPr>
                </a:tc>
                <a:tc>
                  <a:txBody>
                    <a:bodyPr/>
                    <a:lstStyle/>
                    <a:p>
                      <a:pPr indent="0" marL="0">
                        <a:buNone/>
                      </a:pPr>
                      <a:r>
                        <a:rPr lang="en-US" sz="1100" b="1" dirty="0">
                          <a:solidFill>
                            <a:srgbClr val="FFFFFF"/>
                          </a:solidFill>
                        </a:rPr>
                        <a:t>Notes</a:t>
                      </a:r>
                      <a:endParaRPr lang="en-US" sz="11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A2B4A"/>
                    </a:solidFill>
                  </a:tcPr>
                </a:tc>
              </a:tr>
              <a:tr h="293370">
                <a:tc>
                  <a:txBody>
                    <a:bodyPr/>
                    <a:lstStyle/>
                    <a:p>
                      <a:pPr algn="l" indent="0" marL="0">
                        <a:buNone/>
                      </a:pPr>
                      <a:r>
                        <a:rPr lang="en-US" sz="1100" dirty="0">
                          <a:solidFill>
                            <a:srgbClr val="4A5568"/>
                          </a:solidFill>
                        </a:rPr>
                        <a:t>Apple(1-5)</a:t>
                      </a:r>
                      <a:endParaRPr lang="en-US" sz="11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4F7F9"/>
                    </a:solidFill>
                  </a:tcPr>
                </a:tc>
                <a:tc>
                  <a:txBody>
                    <a:bodyPr/>
                    <a:lstStyle/>
                    <a:p>
                      <a:pPr algn="ctr" indent="0" marL="0">
                        <a:buNone/>
                      </a:pPr>
                      <a:r>
                        <a:rPr lang="en-US" sz="1100" dirty="0">
                          <a:solidFill>
                            <a:srgbClr val="3A8C7E"/>
                          </a:solidFill>
                        </a:rPr>
                        <a:t>94%</a:t>
                      </a:r>
                      <a:endParaRPr lang="en-US" sz="11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4F7F9"/>
                    </a:solidFill>
                  </a:tcPr>
                </a:tc>
                <a:tc>
                  <a:txBody>
                    <a:bodyPr/>
                    <a:lstStyle/>
                    <a:p>
                      <a:pPr algn="l" indent="0" marL="0">
                        <a:buNone/>
                      </a:pPr>
                      <a:r>
                        <a:rPr lang="en-US" sz="1100" dirty="0">
                          <a:solidFill>
                            <a:srgbClr val="4A5568"/>
                          </a:solidFill>
                        </a:rPr>
                        <a:t>Strong — clear visual cues at early stage</a:t>
                      </a:r>
                      <a:endParaRPr lang="en-US" sz="11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4F7F9"/>
                    </a:solidFill>
                  </a:tcPr>
                </a:tc>
              </a:tr>
              <a:tr h="293370">
                <a:tc>
                  <a:txBody>
                    <a:bodyPr/>
                    <a:lstStyle/>
                    <a:p>
                      <a:pPr algn="l" indent="0" marL="0">
                        <a:buNone/>
                      </a:pPr>
                      <a:r>
                        <a:rPr lang="en-US" sz="1100" dirty="0">
                          <a:solidFill>
                            <a:srgbClr val="4A5568"/>
                          </a:solidFill>
                        </a:rPr>
                        <a:t>Apple(5-10)</a:t>
                      </a:r>
                      <a:endParaRPr lang="en-US" sz="11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A8C7E"/>
                          </a:solidFill>
                        </a:rPr>
                        <a:t>89%</a:t>
                      </a:r>
                      <a:endParaRPr lang="en-US" sz="11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1100" dirty="0">
                          <a:solidFill>
                            <a:srgbClr val="4A5568"/>
                          </a:solidFill>
                        </a:rPr>
                        <a:t>Minor confusion with Apple(10-15)</a:t>
                      </a:r>
                      <a:endParaRPr lang="en-US" sz="11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293370">
                <a:tc>
                  <a:txBody>
                    <a:bodyPr/>
                    <a:lstStyle/>
                    <a:p>
                      <a:pPr algn="l" indent="0" marL="0">
                        <a:buNone/>
                      </a:pPr>
                      <a:r>
                        <a:rPr lang="en-US" sz="1100" dirty="0">
                          <a:solidFill>
                            <a:srgbClr val="4A5568"/>
                          </a:solidFill>
                        </a:rPr>
                        <a:t>Apple(10-15)</a:t>
                      </a:r>
                      <a:endParaRPr lang="en-US" sz="11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4F7F9"/>
                    </a:solidFill>
                  </a:tcPr>
                </a:tc>
                <a:tc>
                  <a:txBody>
                    <a:bodyPr/>
                    <a:lstStyle/>
                    <a:p>
                      <a:pPr algn="ctr" indent="0" marL="0">
                        <a:buNone/>
                      </a:pPr>
                      <a:r>
                        <a:rPr lang="en-US" sz="1100" dirty="0">
                          <a:solidFill>
                            <a:srgbClr val="3A8C7E"/>
                          </a:solidFill>
                        </a:rPr>
                        <a:t>87%</a:t>
                      </a:r>
                      <a:endParaRPr lang="en-US" sz="11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4F7F9"/>
                    </a:solidFill>
                  </a:tcPr>
                </a:tc>
                <a:tc>
                  <a:txBody>
                    <a:bodyPr/>
                    <a:lstStyle/>
                    <a:p>
                      <a:pPr algn="l" indent="0" marL="0">
                        <a:buNone/>
                      </a:pPr>
                      <a:r>
                        <a:rPr lang="en-US" sz="1100" dirty="0">
                          <a:solidFill>
                            <a:srgbClr val="4A5568"/>
                          </a:solidFill>
                        </a:rPr>
                        <a:t>Browning onset mimics late stage slightly</a:t>
                      </a:r>
                      <a:endParaRPr lang="en-US" sz="11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4F7F9"/>
                    </a:solidFill>
                  </a:tcPr>
                </a:tc>
              </a:tr>
              <a:tr h="293370">
                <a:tc>
                  <a:txBody>
                    <a:bodyPr/>
                    <a:lstStyle/>
                    <a:p>
                      <a:pPr algn="l" indent="0" marL="0">
                        <a:buNone/>
                      </a:pPr>
                      <a:r>
                        <a:rPr lang="en-US" sz="1100" dirty="0">
                          <a:solidFill>
                            <a:srgbClr val="4A5568"/>
                          </a:solidFill>
                        </a:rPr>
                        <a:t>Banana(1-5)</a:t>
                      </a:r>
                      <a:endParaRPr lang="en-US" sz="11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A8C7E"/>
                          </a:solidFill>
                        </a:rPr>
                        <a:t>92%</a:t>
                      </a:r>
                      <a:endParaRPr lang="en-US" sz="11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1100" dirty="0">
                          <a:solidFill>
                            <a:srgbClr val="4A5568"/>
                          </a:solidFill>
                        </a:rPr>
                        <a:t>Green-yellow transition distinctive</a:t>
                      </a:r>
                      <a:endParaRPr lang="en-US" sz="11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293370">
                <a:tc>
                  <a:txBody>
                    <a:bodyPr/>
                    <a:lstStyle/>
                    <a:p>
                      <a:pPr algn="l" indent="0" marL="0">
                        <a:buNone/>
                      </a:pPr>
                      <a:r>
                        <a:rPr lang="en-US" sz="1100" dirty="0">
                          <a:solidFill>
                            <a:srgbClr val="4A5568"/>
                          </a:solidFill>
                        </a:rPr>
                        <a:t>Banana(5-10)</a:t>
                      </a:r>
                      <a:endParaRPr lang="en-US" sz="11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4F7F9"/>
                    </a:solidFill>
                  </a:tcPr>
                </a:tc>
                <a:tc>
                  <a:txBody>
                    <a:bodyPr/>
                    <a:lstStyle/>
                    <a:p>
                      <a:pPr algn="ctr" indent="0" marL="0">
                        <a:buNone/>
                      </a:pPr>
                      <a:r>
                        <a:rPr lang="en-US" sz="1100" dirty="0">
                          <a:solidFill>
                            <a:srgbClr val="3A8C7E"/>
                          </a:solidFill>
                        </a:rPr>
                        <a:t>91%</a:t>
                      </a:r>
                      <a:endParaRPr lang="en-US" sz="11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4F7F9"/>
                    </a:solidFill>
                  </a:tcPr>
                </a:tc>
                <a:tc>
                  <a:txBody>
                    <a:bodyPr/>
                    <a:lstStyle/>
                    <a:p>
                      <a:pPr algn="l" indent="0" marL="0">
                        <a:buNone/>
                      </a:pPr>
                      <a:r>
                        <a:rPr lang="en-US" sz="1100" dirty="0">
                          <a:solidFill>
                            <a:srgbClr val="4A5568"/>
                          </a:solidFill>
                        </a:rPr>
                        <a:t>Peak yellow stage — easy identification</a:t>
                      </a:r>
                      <a:endParaRPr lang="en-US" sz="11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4F7F9"/>
                    </a:solidFill>
                  </a:tcPr>
                </a:tc>
              </a:tr>
              <a:tr h="293370">
                <a:tc>
                  <a:txBody>
                    <a:bodyPr/>
                    <a:lstStyle/>
                    <a:p>
                      <a:pPr algn="l" indent="0" marL="0">
                        <a:buNone/>
                      </a:pPr>
                      <a:r>
                        <a:rPr lang="en-US" sz="1100" dirty="0">
                          <a:solidFill>
                            <a:srgbClr val="4A5568"/>
                          </a:solidFill>
                        </a:rPr>
                        <a:t>Banana(10-15)</a:t>
                      </a:r>
                      <a:endParaRPr lang="en-US" sz="11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A8C7E"/>
                          </a:solidFill>
                        </a:rPr>
                        <a:t>88%</a:t>
                      </a:r>
                      <a:endParaRPr lang="en-US" sz="11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1100" dirty="0">
                          <a:solidFill>
                            <a:srgbClr val="4A5568"/>
                          </a:solidFill>
                        </a:rPr>
                        <a:t>Brown speckles beginning</a:t>
                      </a:r>
                      <a:endParaRPr lang="en-US" sz="11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293370">
                <a:tc>
                  <a:txBody>
                    <a:bodyPr/>
                    <a:lstStyle/>
                    <a:p>
                      <a:pPr algn="l" indent="0" marL="0">
                        <a:buNone/>
                      </a:pPr>
                      <a:r>
                        <a:rPr lang="en-US" sz="1100" dirty="0">
                          <a:solidFill>
                            <a:srgbClr val="4A5568"/>
                          </a:solidFill>
                        </a:rPr>
                        <a:t>Banana(15-20)</a:t>
                      </a:r>
                      <a:endParaRPr lang="en-US" sz="11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4F7F9"/>
                    </a:solidFill>
                  </a:tcPr>
                </a:tc>
                <a:tc>
                  <a:txBody>
                    <a:bodyPr/>
                    <a:lstStyle/>
                    <a:p>
                      <a:pPr algn="ctr" indent="0" marL="0">
                        <a:buNone/>
                      </a:pPr>
                      <a:r>
                        <a:rPr lang="en-US" sz="1100" dirty="0">
                          <a:solidFill>
                            <a:srgbClr val="3A8C7E"/>
                          </a:solidFill>
                        </a:rPr>
                        <a:t>86%</a:t>
                      </a:r>
                      <a:endParaRPr lang="en-US" sz="11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4F7F9"/>
                    </a:solidFill>
                  </a:tcPr>
                </a:tc>
                <a:tc>
                  <a:txBody>
                    <a:bodyPr/>
                    <a:lstStyle/>
                    <a:p>
                      <a:pPr algn="l" indent="0" marL="0">
                        <a:buNone/>
                      </a:pPr>
                      <a:r>
                        <a:rPr lang="en-US" sz="1100" dirty="0">
                          <a:solidFill>
                            <a:srgbClr val="4A5568"/>
                          </a:solidFill>
                        </a:rPr>
                        <a:t>Heavy browning approaches Expired class</a:t>
                      </a:r>
                      <a:endParaRPr lang="en-US" sz="11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4F7F9"/>
                    </a:solidFill>
                  </a:tcPr>
                </a:tc>
              </a:tr>
              <a:tr h="293370">
                <a:tc>
                  <a:txBody>
                    <a:bodyPr/>
                    <a:lstStyle/>
                    <a:p>
                      <a:pPr algn="l" indent="0" marL="0">
                        <a:buNone/>
                      </a:pPr>
                      <a:r>
                        <a:rPr lang="en-US" sz="1100" dirty="0">
                          <a:solidFill>
                            <a:srgbClr val="4A5568"/>
                          </a:solidFill>
                        </a:rPr>
                        <a:t>Carrot / Tomato classes (avg)</a:t>
                      </a:r>
                      <a:endParaRPr lang="en-US" sz="11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A8C7E"/>
                          </a:solidFill>
                        </a:rPr>
                        <a:t>85%</a:t>
                      </a:r>
                      <a:endParaRPr lang="en-US" sz="11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1100" dirty="0">
                          <a:solidFill>
                            <a:srgbClr val="4A5568"/>
                          </a:solidFill>
                        </a:rPr>
                        <a:t>Training diversity — out-of-distribution for fruit photos</a:t>
                      </a:r>
                      <a:endParaRPr lang="en-US" sz="11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293370">
                <a:tc>
                  <a:txBody>
                    <a:bodyPr/>
                    <a:lstStyle/>
                    <a:p>
                      <a:pPr algn="l" indent="0" marL="0">
                        <a:buNone/>
                      </a:pPr>
                      <a:r>
                        <a:rPr lang="en-US" sz="1100" dirty="0">
                          <a:solidFill>
                            <a:srgbClr val="4A5568"/>
                          </a:solidFill>
                        </a:rPr>
                        <a:t>Expired (catch-all)</a:t>
                      </a:r>
                      <a:endParaRPr lang="en-US" sz="11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4F7F9"/>
                    </a:solidFill>
                  </a:tcPr>
                </a:tc>
                <a:tc>
                  <a:txBody>
                    <a:bodyPr/>
                    <a:lstStyle/>
                    <a:p>
                      <a:pPr algn="ctr" indent="0" marL="0">
                        <a:buNone/>
                      </a:pPr>
                      <a:r>
                        <a:rPr lang="en-US" sz="1100" dirty="0">
                          <a:solidFill>
                            <a:srgbClr val="3A8C7E"/>
                          </a:solidFill>
                        </a:rPr>
                        <a:t>91%</a:t>
                      </a:r>
                      <a:endParaRPr lang="en-US" sz="11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4F7F9"/>
                    </a:solidFill>
                  </a:tcPr>
                </a:tc>
                <a:tc>
                  <a:txBody>
                    <a:bodyPr/>
                    <a:lstStyle/>
                    <a:p>
                      <a:pPr algn="l" indent="0" marL="0">
                        <a:buNone/>
                      </a:pPr>
                      <a:r>
                        <a:rPr lang="en-US" sz="1100" dirty="0">
                          <a:solidFill>
                            <a:srgbClr val="4A5568"/>
                          </a:solidFill>
                        </a:rPr>
                        <a:t>Probability masking removes false positives</a:t>
                      </a:r>
                      <a:endParaRPr lang="en-US" sz="11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4F7F9"/>
                    </a:solidFill>
                  </a:tcPr>
                </a:tc>
              </a:tr>
              <a:tr h="293370">
                <a:tc>
                  <a:txBody>
                    <a:bodyPr/>
                    <a:lstStyle/>
                    <a:p>
                      <a:pPr indent="0" marL="0">
                        <a:buNone/>
                      </a:pPr>
                      <a:r>
                        <a:rPr lang="en-US" sz="1200" b="1" dirty="0">
                          <a:solidFill>
                            <a:srgbClr val="1A2B4A"/>
                          </a:solidFill>
                        </a:rPr>
                        <a:t>Overall Top-1</a:t>
                      </a:r>
                      <a:endParaRPr lang="en-US" sz="12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300" b="1" dirty="0">
                          <a:solidFill>
                            <a:srgbClr val="3A8C7E"/>
                          </a:solidFill>
                        </a:rPr>
                        <a:t>89.3%</a:t>
                      </a:r>
                      <a:endParaRPr lang="en-US" sz="13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l" indent="0" marL="0">
                        <a:buNone/>
                      </a:pPr>
                      <a:r>
                        <a:rPr lang="en-US" sz="1100" b="1" dirty="0">
                          <a:solidFill>
                            <a:srgbClr val="4A5568"/>
                          </a:solidFill>
                        </a:rPr>
                        <a:t>Held-out test set (280 images)</a:t>
                      </a:r>
                      <a:endParaRPr lang="en-US" sz="11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8F5F1"/>
                    </a:solidFill>
                  </a:tcPr>
                </a:tc>
              </a:tr>
              <a:tr h="293370">
                <a:tc>
                  <a:txBody>
                    <a:bodyPr/>
                    <a:lstStyle/>
                    <a:p>
                      <a:pPr indent="0" marL="0">
                        <a:buNone/>
                      </a:pPr>
                      <a:r>
                        <a:rPr lang="en-US" sz="1200" b="1" dirty="0">
                          <a:solidFill>
                            <a:srgbClr val="1A2B4A"/>
                          </a:solidFill>
                        </a:rPr>
                        <a:t>Overall Top-3</a:t>
                      </a:r>
                      <a:endParaRPr lang="en-US" sz="12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300" b="1" dirty="0">
                          <a:solidFill>
                            <a:srgbClr val="2E7D32"/>
                          </a:solidFill>
                        </a:rPr>
                        <a:t>97.5%</a:t>
                      </a:r>
                      <a:endParaRPr lang="en-US" sz="13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l" indent="0" marL="0">
                        <a:buNone/>
                      </a:pPr>
                      <a:r>
                        <a:rPr lang="en-US" sz="1100" b="1" dirty="0">
                          <a:solidFill>
                            <a:srgbClr val="4A5568"/>
                          </a:solidFill>
                        </a:rPr>
                        <a:t>Correct class in top-3 predictions</a:t>
                      </a:r>
                      <a:endParaRPr lang="en-US" sz="11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8F5F1"/>
                    </a:solidFill>
                  </a:tcPr>
                </a:tc>
              </a:tr>
            </a:tbl>
          </a:graphicData>
        </a:graphic>
      </p:graphicFrame>
      <p:sp>
        <p:nvSpPr>
          <p:cNvPr id="39" name="Shape 36"/>
          <p:cNvSpPr/>
          <p:nvPr/>
        </p:nvSpPr>
        <p:spPr>
          <a:xfrm>
            <a:off x="384048" y="4590288"/>
            <a:ext cx="8375904" cy="475488"/>
          </a:xfrm>
          <a:prstGeom prst="roundRect">
            <a:avLst>
              <a:gd name="adj" fmla="val 23077"/>
            </a:avLst>
          </a:prstGeom>
          <a:solidFill>
            <a:srgbClr val="E3EEF8"/>
          </a:solidFill>
          <a:ln w="6350">
            <a:solidFill>
              <a:srgbClr val="1A2B4A">
                <a:alpha val="40000"/>
              </a:srgbClr>
            </a:solidFill>
            <a:prstDash val="solid"/>
          </a:ln>
          <a:effectLst>
            <a:outerShdw sx="100000" sy="100000" kx="0" ky="0" algn="bl" rotWithShape="0" blurRad="101600" dist="38100" dir="2700000">
              <a:srgbClr val="000000">
                <a:alpha val="10000"/>
              </a:srgbClr>
            </a:outerShdw>
          </a:effectLst>
        </p:spPr>
      </p:sp>
      <p:sp>
        <p:nvSpPr>
          <p:cNvPr id="40" name="Text 37"/>
          <p:cNvSpPr/>
          <p:nvPr/>
        </p:nvSpPr>
        <p:spPr>
          <a:xfrm>
            <a:off x="548640" y="4617720"/>
            <a:ext cx="8138160" cy="420624"/>
          </a:xfrm>
          <a:prstGeom prst="rect">
            <a:avLst/>
          </a:prstGeom>
          <a:noFill/>
          <a:ln/>
        </p:spPr>
        <p:txBody>
          <a:bodyPr wrap="square" lIns="0" tIns="0" rIns="0" bIns="0" rtlCol="0" anchor="ctr"/>
          <a:lstStyle/>
          <a:p>
            <a:pPr algn="ctr" indent="0" marL="0">
              <a:buNone/>
            </a:pPr>
            <a:r>
              <a:rPr lang="en-US" sz="1050" dirty="0">
                <a:solidFill>
                  <a:srgbClr val="1A2B4A"/>
                </a:solidFill>
                <a:latin typeface="Calibri" pitchFamily="34" charset="0"/>
                <a:ea typeface="Calibri" pitchFamily="34" charset="-122"/>
                <a:cs typeface="Calibri" pitchFamily="34" charset="-120"/>
              </a:rPr>
              <a:t>End-to-end test (20 real smartphone images · 3 lighting conditions · 3 backgrounds):  18/20 correct  ·  2 misses: Apple under dim morning light — freshness score off by one band  ·  Inference: 380 ms avg (4.2 s cold start — warmup call eliminates for production)</a:t>
            </a:r>
            <a:endParaRPr lang="en-US" sz="10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1A2B4A"/>
        </a:solidFill>
      </p:bgPr>
    </p:bg>
    <p:spTree>
      <p:nvGrpSpPr>
        <p:cNvPr id="1" name=""/>
        <p:cNvGrpSpPr/>
        <p:nvPr/>
      </p:nvGrpSpPr>
      <p:grpSpPr>
        <a:xfrm>
          <a:off x="0" y="0"/>
          <a:ext cx="0" cy="0"/>
          <a:chOff x="0" y="0"/>
          <a:chExt cx="0" cy="0"/>
        </a:xfrm>
      </p:grpSpPr>
      <p:sp>
        <p:nvSpPr>
          <p:cNvPr id="2" name="Shape 0"/>
          <p:cNvSpPr/>
          <p:nvPr/>
        </p:nvSpPr>
        <p:spPr>
          <a:xfrm>
            <a:off x="-457200" y="-91440"/>
            <a:ext cx="2377440" cy="2377440"/>
          </a:xfrm>
          <a:prstGeom prst="ellipse">
            <a:avLst/>
          </a:prstGeom>
          <a:ln w="19050">
            <a:solidFill>
              <a:srgbClr val="1A2B4A">
                <a:alpha val="18000"/>
              </a:srgbClr>
            </a:solidFill>
            <a:prstDash val="solid"/>
          </a:ln>
        </p:spPr>
      </p:sp>
      <p:sp>
        <p:nvSpPr>
          <p:cNvPr id="3" name="Shape 1"/>
          <p:cNvSpPr/>
          <p:nvPr/>
        </p:nvSpPr>
        <p:spPr>
          <a:xfrm>
            <a:off x="-64922" y="300838"/>
            <a:ext cx="1592885" cy="1592885"/>
          </a:xfrm>
          <a:prstGeom prst="ellipse">
            <a:avLst/>
          </a:prstGeom>
          <a:ln w="19050">
            <a:solidFill>
              <a:srgbClr val="3B5FA0">
                <a:alpha val="25000"/>
              </a:srgbClr>
            </a:solidFill>
            <a:prstDash val="solid"/>
          </a:ln>
        </p:spPr>
      </p:sp>
      <p:sp>
        <p:nvSpPr>
          <p:cNvPr id="4" name="Shape 2"/>
          <p:cNvSpPr/>
          <p:nvPr/>
        </p:nvSpPr>
        <p:spPr>
          <a:xfrm>
            <a:off x="279806" y="645566"/>
            <a:ext cx="903427" cy="903427"/>
          </a:xfrm>
          <a:prstGeom prst="ellipse">
            <a:avLst/>
          </a:prstGeom>
          <a:ln w="19050">
            <a:solidFill>
              <a:srgbClr val="3A8C7E">
                <a:alpha val="32000"/>
              </a:srgbClr>
            </a:solidFill>
            <a:prstDash val="solid"/>
          </a:ln>
        </p:spPr>
      </p:sp>
      <p:sp>
        <p:nvSpPr>
          <p:cNvPr id="5" name="Shape 3"/>
          <p:cNvSpPr/>
          <p:nvPr/>
        </p:nvSpPr>
        <p:spPr>
          <a:xfrm>
            <a:off x="8092440" y="4114800"/>
            <a:ext cx="64008" cy="64008"/>
          </a:xfrm>
          <a:prstGeom prst="ellipse">
            <a:avLst/>
          </a:prstGeom>
          <a:solidFill>
            <a:srgbClr val="1A2B4A">
              <a:alpha val="25000"/>
            </a:srgbClr>
          </a:solidFill>
          <a:ln/>
        </p:spPr>
      </p:sp>
      <p:sp>
        <p:nvSpPr>
          <p:cNvPr id="6" name="Shape 4"/>
          <p:cNvSpPr/>
          <p:nvPr/>
        </p:nvSpPr>
        <p:spPr>
          <a:xfrm>
            <a:off x="8293608" y="4114800"/>
            <a:ext cx="64008" cy="64008"/>
          </a:xfrm>
          <a:prstGeom prst="ellipse">
            <a:avLst/>
          </a:prstGeom>
          <a:solidFill>
            <a:srgbClr val="1A2B4A">
              <a:alpha val="25000"/>
            </a:srgbClr>
          </a:solidFill>
          <a:ln/>
        </p:spPr>
      </p:sp>
      <p:sp>
        <p:nvSpPr>
          <p:cNvPr id="7" name="Shape 5"/>
          <p:cNvSpPr/>
          <p:nvPr/>
        </p:nvSpPr>
        <p:spPr>
          <a:xfrm>
            <a:off x="8494776" y="4114800"/>
            <a:ext cx="64008" cy="64008"/>
          </a:xfrm>
          <a:prstGeom prst="ellipse">
            <a:avLst/>
          </a:prstGeom>
          <a:solidFill>
            <a:srgbClr val="1A2B4A">
              <a:alpha val="25000"/>
            </a:srgbClr>
          </a:solidFill>
          <a:ln/>
        </p:spPr>
      </p:sp>
      <p:sp>
        <p:nvSpPr>
          <p:cNvPr id="8" name="Shape 6"/>
          <p:cNvSpPr/>
          <p:nvPr/>
        </p:nvSpPr>
        <p:spPr>
          <a:xfrm>
            <a:off x="8695944" y="4114800"/>
            <a:ext cx="64008" cy="64008"/>
          </a:xfrm>
          <a:prstGeom prst="ellipse">
            <a:avLst/>
          </a:prstGeom>
          <a:solidFill>
            <a:srgbClr val="1A2B4A">
              <a:alpha val="25000"/>
            </a:srgbClr>
          </a:solidFill>
          <a:ln/>
        </p:spPr>
      </p:sp>
      <p:sp>
        <p:nvSpPr>
          <p:cNvPr id="9" name="Shape 7"/>
          <p:cNvSpPr/>
          <p:nvPr/>
        </p:nvSpPr>
        <p:spPr>
          <a:xfrm>
            <a:off x="8897112" y="4114800"/>
            <a:ext cx="64008" cy="64008"/>
          </a:xfrm>
          <a:prstGeom prst="ellipse">
            <a:avLst/>
          </a:prstGeom>
          <a:solidFill>
            <a:srgbClr val="1A2B4A">
              <a:alpha val="25000"/>
            </a:srgbClr>
          </a:solidFill>
          <a:ln/>
        </p:spPr>
      </p:sp>
      <p:sp>
        <p:nvSpPr>
          <p:cNvPr id="10" name="Shape 8"/>
          <p:cNvSpPr/>
          <p:nvPr/>
        </p:nvSpPr>
        <p:spPr>
          <a:xfrm>
            <a:off x="8092440" y="4315968"/>
            <a:ext cx="64008" cy="64008"/>
          </a:xfrm>
          <a:prstGeom prst="ellipse">
            <a:avLst/>
          </a:prstGeom>
          <a:solidFill>
            <a:srgbClr val="1A2B4A">
              <a:alpha val="25000"/>
            </a:srgbClr>
          </a:solidFill>
          <a:ln/>
        </p:spPr>
      </p:sp>
      <p:sp>
        <p:nvSpPr>
          <p:cNvPr id="11" name="Shape 9"/>
          <p:cNvSpPr/>
          <p:nvPr/>
        </p:nvSpPr>
        <p:spPr>
          <a:xfrm>
            <a:off x="8293608" y="4315968"/>
            <a:ext cx="64008" cy="64008"/>
          </a:xfrm>
          <a:prstGeom prst="ellipse">
            <a:avLst/>
          </a:prstGeom>
          <a:solidFill>
            <a:srgbClr val="1A2B4A">
              <a:alpha val="25000"/>
            </a:srgbClr>
          </a:solidFill>
          <a:ln/>
        </p:spPr>
      </p:sp>
      <p:sp>
        <p:nvSpPr>
          <p:cNvPr id="12" name="Shape 10"/>
          <p:cNvSpPr/>
          <p:nvPr/>
        </p:nvSpPr>
        <p:spPr>
          <a:xfrm>
            <a:off x="8494776" y="4315968"/>
            <a:ext cx="64008" cy="64008"/>
          </a:xfrm>
          <a:prstGeom prst="ellipse">
            <a:avLst/>
          </a:prstGeom>
          <a:solidFill>
            <a:srgbClr val="1A2B4A">
              <a:alpha val="25000"/>
            </a:srgbClr>
          </a:solidFill>
          <a:ln/>
        </p:spPr>
      </p:sp>
      <p:sp>
        <p:nvSpPr>
          <p:cNvPr id="13" name="Shape 11"/>
          <p:cNvSpPr/>
          <p:nvPr/>
        </p:nvSpPr>
        <p:spPr>
          <a:xfrm>
            <a:off x="8695944" y="4315968"/>
            <a:ext cx="64008" cy="64008"/>
          </a:xfrm>
          <a:prstGeom prst="ellipse">
            <a:avLst/>
          </a:prstGeom>
          <a:solidFill>
            <a:srgbClr val="1A2B4A">
              <a:alpha val="25000"/>
            </a:srgbClr>
          </a:solidFill>
          <a:ln/>
        </p:spPr>
      </p:sp>
      <p:sp>
        <p:nvSpPr>
          <p:cNvPr id="14" name="Shape 12"/>
          <p:cNvSpPr/>
          <p:nvPr/>
        </p:nvSpPr>
        <p:spPr>
          <a:xfrm>
            <a:off x="8897112" y="4315968"/>
            <a:ext cx="64008" cy="64008"/>
          </a:xfrm>
          <a:prstGeom prst="ellipse">
            <a:avLst/>
          </a:prstGeom>
          <a:solidFill>
            <a:srgbClr val="1A2B4A">
              <a:alpha val="25000"/>
            </a:srgbClr>
          </a:solidFill>
          <a:ln/>
        </p:spPr>
      </p:sp>
      <p:sp>
        <p:nvSpPr>
          <p:cNvPr id="15" name="Shape 13"/>
          <p:cNvSpPr/>
          <p:nvPr/>
        </p:nvSpPr>
        <p:spPr>
          <a:xfrm>
            <a:off x="8092440" y="4517136"/>
            <a:ext cx="64008" cy="64008"/>
          </a:xfrm>
          <a:prstGeom prst="ellipse">
            <a:avLst/>
          </a:prstGeom>
          <a:solidFill>
            <a:srgbClr val="1A2B4A">
              <a:alpha val="25000"/>
            </a:srgbClr>
          </a:solidFill>
          <a:ln/>
        </p:spPr>
      </p:sp>
      <p:sp>
        <p:nvSpPr>
          <p:cNvPr id="16" name="Shape 14"/>
          <p:cNvSpPr/>
          <p:nvPr/>
        </p:nvSpPr>
        <p:spPr>
          <a:xfrm>
            <a:off x="8293608" y="4517136"/>
            <a:ext cx="64008" cy="64008"/>
          </a:xfrm>
          <a:prstGeom prst="ellipse">
            <a:avLst/>
          </a:prstGeom>
          <a:solidFill>
            <a:srgbClr val="1A2B4A">
              <a:alpha val="25000"/>
            </a:srgbClr>
          </a:solidFill>
          <a:ln/>
        </p:spPr>
      </p:sp>
      <p:sp>
        <p:nvSpPr>
          <p:cNvPr id="17" name="Shape 15"/>
          <p:cNvSpPr/>
          <p:nvPr/>
        </p:nvSpPr>
        <p:spPr>
          <a:xfrm>
            <a:off x="8494776" y="4517136"/>
            <a:ext cx="64008" cy="64008"/>
          </a:xfrm>
          <a:prstGeom prst="ellipse">
            <a:avLst/>
          </a:prstGeom>
          <a:solidFill>
            <a:srgbClr val="1A2B4A">
              <a:alpha val="25000"/>
            </a:srgbClr>
          </a:solidFill>
          <a:ln/>
        </p:spPr>
      </p:sp>
      <p:sp>
        <p:nvSpPr>
          <p:cNvPr id="18" name="Shape 16"/>
          <p:cNvSpPr/>
          <p:nvPr/>
        </p:nvSpPr>
        <p:spPr>
          <a:xfrm>
            <a:off x="8695944" y="4517136"/>
            <a:ext cx="64008" cy="64008"/>
          </a:xfrm>
          <a:prstGeom prst="ellipse">
            <a:avLst/>
          </a:prstGeom>
          <a:solidFill>
            <a:srgbClr val="1A2B4A">
              <a:alpha val="25000"/>
            </a:srgbClr>
          </a:solidFill>
          <a:ln/>
        </p:spPr>
      </p:sp>
      <p:sp>
        <p:nvSpPr>
          <p:cNvPr id="19" name="Shape 17"/>
          <p:cNvSpPr/>
          <p:nvPr/>
        </p:nvSpPr>
        <p:spPr>
          <a:xfrm>
            <a:off x="8897112" y="4517136"/>
            <a:ext cx="64008" cy="64008"/>
          </a:xfrm>
          <a:prstGeom prst="ellipse">
            <a:avLst/>
          </a:prstGeom>
          <a:solidFill>
            <a:srgbClr val="1A2B4A">
              <a:alpha val="25000"/>
            </a:srgbClr>
          </a:solidFill>
          <a:ln/>
        </p:spPr>
      </p:sp>
      <p:sp>
        <p:nvSpPr>
          <p:cNvPr id="20" name="Shape 18"/>
          <p:cNvSpPr/>
          <p:nvPr/>
        </p:nvSpPr>
        <p:spPr>
          <a:xfrm>
            <a:off x="8092440" y="4718304"/>
            <a:ext cx="64008" cy="64008"/>
          </a:xfrm>
          <a:prstGeom prst="ellipse">
            <a:avLst/>
          </a:prstGeom>
          <a:solidFill>
            <a:srgbClr val="1A2B4A">
              <a:alpha val="25000"/>
            </a:srgbClr>
          </a:solidFill>
          <a:ln/>
        </p:spPr>
      </p:sp>
      <p:sp>
        <p:nvSpPr>
          <p:cNvPr id="21" name="Shape 19"/>
          <p:cNvSpPr/>
          <p:nvPr/>
        </p:nvSpPr>
        <p:spPr>
          <a:xfrm>
            <a:off x="8293608" y="4718304"/>
            <a:ext cx="64008" cy="64008"/>
          </a:xfrm>
          <a:prstGeom prst="ellipse">
            <a:avLst/>
          </a:prstGeom>
          <a:solidFill>
            <a:srgbClr val="1A2B4A">
              <a:alpha val="25000"/>
            </a:srgbClr>
          </a:solidFill>
          <a:ln/>
        </p:spPr>
      </p:sp>
      <p:sp>
        <p:nvSpPr>
          <p:cNvPr id="22" name="Shape 20"/>
          <p:cNvSpPr/>
          <p:nvPr/>
        </p:nvSpPr>
        <p:spPr>
          <a:xfrm>
            <a:off x="8494776" y="4718304"/>
            <a:ext cx="64008" cy="64008"/>
          </a:xfrm>
          <a:prstGeom prst="ellipse">
            <a:avLst/>
          </a:prstGeom>
          <a:solidFill>
            <a:srgbClr val="1A2B4A">
              <a:alpha val="25000"/>
            </a:srgbClr>
          </a:solidFill>
          <a:ln/>
        </p:spPr>
      </p:sp>
      <p:sp>
        <p:nvSpPr>
          <p:cNvPr id="23" name="Shape 21"/>
          <p:cNvSpPr/>
          <p:nvPr/>
        </p:nvSpPr>
        <p:spPr>
          <a:xfrm>
            <a:off x="8695944" y="4718304"/>
            <a:ext cx="64008" cy="64008"/>
          </a:xfrm>
          <a:prstGeom prst="ellipse">
            <a:avLst/>
          </a:prstGeom>
          <a:solidFill>
            <a:srgbClr val="1A2B4A">
              <a:alpha val="25000"/>
            </a:srgbClr>
          </a:solidFill>
          <a:ln/>
        </p:spPr>
      </p:sp>
      <p:sp>
        <p:nvSpPr>
          <p:cNvPr id="24" name="Shape 22"/>
          <p:cNvSpPr/>
          <p:nvPr/>
        </p:nvSpPr>
        <p:spPr>
          <a:xfrm>
            <a:off x="8897112" y="4718304"/>
            <a:ext cx="64008" cy="64008"/>
          </a:xfrm>
          <a:prstGeom prst="ellipse">
            <a:avLst/>
          </a:prstGeom>
          <a:solidFill>
            <a:srgbClr val="1A2B4A">
              <a:alpha val="25000"/>
            </a:srgbClr>
          </a:solidFill>
          <a:ln/>
        </p:spPr>
      </p:sp>
      <p:sp>
        <p:nvSpPr>
          <p:cNvPr id="25" name="Shape 23"/>
          <p:cNvSpPr/>
          <p:nvPr/>
        </p:nvSpPr>
        <p:spPr>
          <a:xfrm>
            <a:off x="8092440" y="4919472"/>
            <a:ext cx="64008" cy="64008"/>
          </a:xfrm>
          <a:prstGeom prst="ellipse">
            <a:avLst/>
          </a:prstGeom>
          <a:solidFill>
            <a:srgbClr val="1A2B4A">
              <a:alpha val="25000"/>
            </a:srgbClr>
          </a:solidFill>
          <a:ln/>
        </p:spPr>
      </p:sp>
      <p:sp>
        <p:nvSpPr>
          <p:cNvPr id="26" name="Shape 24"/>
          <p:cNvSpPr/>
          <p:nvPr/>
        </p:nvSpPr>
        <p:spPr>
          <a:xfrm>
            <a:off x="8293608" y="4919472"/>
            <a:ext cx="64008" cy="64008"/>
          </a:xfrm>
          <a:prstGeom prst="ellipse">
            <a:avLst/>
          </a:prstGeom>
          <a:solidFill>
            <a:srgbClr val="1A2B4A">
              <a:alpha val="25000"/>
            </a:srgbClr>
          </a:solidFill>
          <a:ln/>
        </p:spPr>
      </p:sp>
      <p:sp>
        <p:nvSpPr>
          <p:cNvPr id="27" name="Shape 25"/>
          <p:cNvSpPr/>
          <p:nvPr/>
        </p:nvSpPr>
        <p:spPr>
          <a:xfrm>
            <a:off x="8494776" y="4919472"/>
            <a:ext cx="64008" cy="64008"/>
          </a:xfrm>
          <a:prstGeom prst="ellipse">
            <a:avLst/>
          </a:prstGeom>
          <a:solidFill>
            <a:srgbClr val="1A2B4A">
              <a:alpha val="25000"/>
            </a:srgbClr>
          </a:solidFill>
          <a:ln/>
        </p:spPr>
      </p:sp>
      <p:sp>
        <p:nvSpPr>
          <p:cNvPr id="28" name="Shape 26"/>
          <p:cNvSpPr/>
          <p:nvPr/>
        </p:nvSpPr>
        <p:spPr>
          <a:xfrm>
            <a:off x="8695944" y="4919472"/>
            <a:ext cx="64008" cy="64008"/>
          </a:xfrm>
          <a:prstGeom prst="ellipse">
            <a:avLst/>
          </a:prstGeom>
          <a:solidFill>
            <a:srgbClr val="1A2B4A">
              <a:alpha val="25000"/>
            </a:srgbClr>
          </a:solidFill>
          <a:ln/>
        </p:spPr>
      </p:sp>
      <p:sp>
        <p:nvSpPr>
          <p:cNvPr id="29" name="Shape 27"/>
          <p:cNvSpPr/>
          <p:nvPr/>
        </p:nvSpPr>
        <p:spPr>
          <a:xfrm>
            <a:off x="8897112" y="4919472"/>
            <a:ext cx="64008" cy="64008"/>
          </a:xfrm>
          <a:prstGeom prst="ellipse">
            <a:avLst/>
          </a:prstGeom>
          <a:solidFill>
            <a:srgbClr val="1A2B4A">
              <a:alpha val="25000"/>
            </a:srgbClr>
          </a:solidFill>
          <a:ln/>
        </p:spPr>
      </p:sp>
      <p:sp>
        <p:nvSpPr>
          <p:cNvPr id="30" name="Text 28"/>
          <p:cNvSpPr/>
          <p:nvPr/>
        </p:nvSpPr>
        <p:spPr>
          <a:xfrm>
            <a:off x="457200" y="237744"/>
            <a:ext cx="8229600" cy="457200"/>
          </a:xfrm>
          <a:prstGeom prst="rect">
            <a:avLst/>
          </a:prstGeom>
          <a:noFill/>
          <a:ln/>
        </p:spPr>
        <p:txBody>
          <a:bodyPr wrap="square" lIns="0" tIns="0" rIns="0" bIns="0" rtlCol="0" anchor="ctr"/>
          <a:lstStyle/>
          <a:p>
            <a:pPr algn="ctr" indent="0" marL="0">
              <a:buNone/>
            </a:pPr>
            <a:r>
              <a:rPr lang="en-US" sz="2000" b="1" dirty="0">
                <a:solidFill>
                  <a:srgbClr val="3A8C7E"/>
                </a:solidFill>
                <a:latin typeface="Cambria" pitchFamily="34" charset="0"/>
                <a:ea typeface="Cambria" pitchFamily="34" charset="-122"/>
                <a:cs typeface="Cambria" pitchFamily="34" charset="-120"/>
              </a:rPr>
              <a:t>Headline Performance</a:t>
            </a:r>
            <a:endParaRPr lang="en-US" sz="2000" dirty="0"/>
          </a:p>
        </p:txBody>
      </p:sp>
      <p:sp>
        <p:nvSpPr>
          <p:cNvPr id="31" name="Text 29"/>
          <p:cNvSpPr/>
          <p:nvPr/>
        </p:nvSpPr>
        <p:spPr>
          <a:xfrm>
            <a:off x="457200" y="749808"/>
            <a:ext cx="8229600" cy="1280160"/>
          </a:xfrm>
          <a:prstGeom prst="rect">
            <a:avLst/>
          </a:prstGeom>
          <a:noFill/>
          <a:ln/>
        </p:spPr>
        <p:txBody>
          <a:bodyPr wrap="square" lIns="0" tIns="0" rIns="0" bIns="0" rtlCol="0" anchor="ctr"/>
          <a:lstStyle/>
          <a:p>
            <a:pPr algn="ctr" indent="0" marL="0">
              <a:buNone/>
            </a:pPr>
            <a:r>
              <a:rPr lang="en-US" sz="7200" b="1" dirty="0">
                <a:solidFill>
                  <a:srgbClr val="FFFFFF"/>
                </a:solidFill>
                <a:latin typeface="Cambria" pitchFamily="34" charset="0"/>
                <a:ea typeface="Cambria" pitchFamily="34" charset="-122"/>
                <a:cs typeface="Cambria" pitchFamily="34" charset="-120"/>
              </a:rPr>
              <a:t>89.3%</a:t>
            </a:r>
            <a:endParaRPr lang="en-US" sz="7200" dirty="0"/>
          </a:p>
        </p:txBody>
      </p:sp>
      <p:sp>
        <p:nvSpPr>
          <p:cNvPr id="32" name="Text 30"/>
          <p:cNvSpPr/>
          <p:nvPr/>
        </p:nvSpPr>
        <p:spPr>
          <a:xfrm>
            <a:off x="914400" y="2029968"/>
            <a:ext cx="7315200" cy="329184"/>
          </a:xfrm>
          <a:prstGeom prst="rect">
            <a:avLst/>
          </a:prstGeom>
          <a:noFill/>
          <a:ln/>
        </p:spPr>
        <p:txBody>
          <a:bodyPr wrap="square" lIns="0" tIns="0" rIns="0" bIns="0" rtlCol="0" anchor="ctr"/>
          <a:lstStyle/>
          <a:p>
            <a:pPr algn="ctr" indent="0" marL="0">
              <a:buNone/>
            </a:pPr>
            <a:r>
              <a:rPr lang="en-US" sz="1600" dirty="0">
                <a:solidFill>
                  <a:srgbClr val="8BAEC8"/>
                </a:solidFill>
                <a:latin typeface="Calibri" pitchFamily="34" charset="0"/>
                <a:ea typeface="Calibri" pitchFamily="34" charset="-122"/>
                <a:cs typeface="Calibri" pitchFamily="34" charset="-120"/>
              </a:rPr>
              <a:t>Top-1 Classification Accuracy on held-out test set</a:t>
            </a:r>
            <a:endParaRPr lang="en-US" sz="1600" dirty="0"/>
          </a:p>
        </p:txBody>
      </p:sp>
      <p:sp>
        <p:nvSpPr>
          <p:cNvPr id="33" name="Shape 31"/>
          <p:cNvSpPr/>
          <p:nvPr/>
        </p:nvSpPr>
        <p:spPr>
          <a:xfrm>
            <a:off x="384048" y="2505456"/>
            <a:ext cx="1572768" cy="877824"/>
          </a:xfrm>
          <a:prstGeom prst="roundRect">
            <a:avLst>
              <a:gd name="adj" fmla="val 10417"/>
            </a:avLst>
          </a:prstGeom>
          <a:solidFill>
            <a:srgbClr val="FFFFFF">
              <a:alpha val="12000"/>
            </a:srgbClr>
          </a:solidFill>
          <a:ln w="12700">
            <a:solidFill>
              <a:srgbClr val="3A8C7E"/>
            </a:solidFill>
            <a:prstDash val="solid"/>
          </a:ln>
        </p:spPr>
      </p:sp>
      <p:sp>
        <p:nvSpPr>
          <p:cNvPr id="34" name="Text 32"/>
          <p:cNvSpPr/>
          <p:nvPr/>
        </p:nvSpPr>
        <p:spPr>
          <a:xfrm>
            <a:off x="384048" y="2542032"/>
            <a:ext cx="1572768" cy="457200"/>
          </a:xfrm>
          <a:prstGeom prst="rect">
            <a:avLst/>
          </a:prstGeom>
          <a:noFill/>
          <a:ln/>
        </p:spPr>
        <p:txBody>
          <a:bodyPr wrap="square" lIns="0" tIns="0" rIns="0" bIns="0" rtlCol="0" anchor="ctr"/>
          <a:lstStyle/>
          <a:p>
            <a:pPr algn="ctr" indent="0" marL="0">
              <a:buNone/>
            </a:pPr>
            <a:r>
              <a:rPr lang="en-US" sz="2200" b="1" dirty="0">
                <a:solidFill>
                  <a:srgbClr val="3A8C7E"/>
                </a:solidFill>
                <a:latin typeface="Cambria" pitchFamily="34" charset="0"/>
                <a:ea typeface="Cambria" pitchFamily="34" charset="-122"/>
                <a:cs typeface="Cambria" pitchFamily="34" charset="-120"/>
              </a:rPr>
              <a:t>97.5%</a:t>
            </a:r>
            <a:endParaRPr lang="en-US" sz="2200" dirty="0"/>
          </a:p>
        </p:txBody>
      </p:sp>
      <p:sp>
        <p:nvSpPr>
          <p:cNvPr id="35" name="Text 33"/>
          <p:cNvSpPr/>
          <p:nvPr/>
        </p:nvSpPr>
        <p:spPr>
          <a:xfrm>
            <a:off x="384048" y="2999232"/>
            <a:ext cx="1572768" cy="347472"/>
          </a:xfrm>
          <a:prstGeom prst="rect">
            <a:avLst/>
          </a:prstGeom>
          <a:noFill/>
          <a:ln/>
        </p:spPr>
        <p:txBody>
          <a:bodyPr wrap="square" lIns="0" tIns="0" rIns="0" bIns="0" rtlCol="0" anchor="t"/>
          <a:lstStyle/>
          <a:p>
            <a:pPr algn="ctr" indent="0" marL="0">
              <a:buNone/>
            </a:pPr>
            <a:r>
              <a:rPr lang="en-US" sz="1000" dirty="0">
                <a:solidFill>
                  <a:srgbClr val="FFFFFF"/>
                </a:solidFill>
                <a:latin typeface="Calibri" pitchFamily="34" charset="0"/>
                <a:ea typeface="Calibri" pitchFamily="34" charset="-122"/>
                <a:cs typeface="Calibri" pitchFamily="34" charset="-120"/>
              </a:rPr>
              <a:t>Top-3</a:t>
            </a:r>
            <a:endParaRPr lang="en-US" sz="1000" dirty="0"/>
          </a:p>
          <a:p>
            <a:pPr algn="ctr" indent="0" marL="0">
              <a:buNone/>
            </a:pPr>
            <a:r>
              <a:rPr lang="en-US" sz="1000" dirty="0">
                <a:solidFill>
                  <a:srgbClr val="FFFFFF"/>
                </a:solidFill>
                <a:latin typeface="Calibri" pitchFamily="34" charset="0"/>
                <a:ea typeface="Calibri" pitchFamily="34" charset="-122"/>
                <a:cs typeface="Calibri" pitchFamily="34" charset="-120"/>
              </a:rPr>
              <a:t>Accuracy</a:t>
            </a:r>
            <a:endParaRPr lang="en-US" sz="1000" dirty="0"/>
          </a:p>
        </p:txBody>
      </p:sp>
      <p:sp>
        <p:nvSpPr>
          <p:cNvPr id="36" name="Shape 34"/>
          <p:cNvSpPr/>
          <p:nvPr/>
        </p:nvSpPr>
        <p:spPr>
          <a:xfrm>
            <a:off x="2084832" y="2505456"/>
            <a:ext cx="1572768" cy="877824"/>
          </a:xfrm>
          <a:prstGeom prst="roundRect">
            <a:avLst>
              <a:gd name="adj" fmla="val 10417"/>
            </a:avLst>
          </a:prstGeom>
          <a:solidFill>
            <a:srgbClr val="FFFFFF">
              <a:alpha val="12000"/>
            </a:srgbClr>
          </a:solidFill>
          <a:ln w="12700">
            <a:solidFill>
              <a:srgbClr val="3A8C7E"/>
            </a:solidFill>
            <a:prstDash val="solid"/>
          </a:ln>
        </p:spPr>
      </p:sp>
      <p:sp>
        <p:nvSpPr>
          <p:cNvPr id="37" name="Text 35"/>
          <p:cNvSpPr/>
          <p:nvPr/>
        </p:nvSpPr>
        <p:spPr>
          <a:xfrm>
            <a:off x="2084832" y="2542032"/>
            <a:ext cx="1572768" cy="457200"/>
          </a:xfrm>
          <a:prstGeom prst="rect">
            <a:avLst/>
          </a:prstGeom>
          <a:noFill/>
          <a:ln/>
        </p:spPr>
        <p:txBody>
          <a:bodyPr wrap="square" lIns="0" tIns="0" rIns="0" bIns="0" rtlCol="0" anchor="ctr"/>
          <a:lstStyle/>
          <a:p>
            <a:pPr algn="ctr" indent="0" marL="0">
              <a:buNone/>
            </a:pPr>
            <a:r>
              <a:rPr lang="en-US" sz="2200" b="1" dirty="0">
                <a:solidFill>
                  <a:srgbClr val="3A8C7E"/>
                </a:solidFill>
                <a:latin typeface="Cambria" pitchFamily="34" charset="0"/>
                <a:ea typeface="Cambria" pitchFamily="34" charset="-122"/>
                <a:cs typeface="Cambria" pitchFamily="34" charset="-120"/>
              </a:rPr>
              <a:t>91.4%</a:t>
            </a:r>
            <a:endParaRPr lang="en-US" sz="2200" dirty="0"/>
          </a:p>
        </p:txBody>
      </p:sp>
      <p:sp>
        <p:nvSpPr>
          <p:cNvPr id="38" name="Text 36"/>
          <p:cNvSpPr/>
          <p:nvPr/>
        </p:nvSpPr>
        <p:spPr>
          <a:xfrm>
            <a:off x="2084832" y="2999232"/>
            <a:ext cx="1572768" cy="347472"/>
          </a:xfrm>
          <a:prstGeom prst="rect">
            <a:avLst/>
          </a:prstGeom>
          <a:noFill/>
          <a:ln/>
        </p:spPr>
        <p:txBody>
          <a:bodyPr wrap="square" lIns="0" tIns="0" rIns="0" bIns="0" rtlCol="0" anchor="t"/>
          <a:lstStyle/>
          <a:p>
            <a:pPr algn="ctr" indent="0" marL="0">
              <a:buNone/>
            </a:pPr>
            <a:r>
              <a:rPr lang="en-US" sz="1000" dirty="0">
                <a:solidFill>
                  <a:srgbClr val="FFFFFF"/>
                </a:solidFill>
                <a:latin typeface="Calibri" pitchFamily="34" charset="0"/>
                <a:ea typeface="Calibri" pitchFamily="34" charset="-122"/>
                <a:cs typeface="Calibri" pitchFamily="34" charset="-120"/>
              </a:rPr>
              <a:t>Validation</a:t>
            </a:r>
            <a:endParaRPr lang="en-US" sz="1000" dirty="0"/>
          </a:p>
          <a:p>
            <a:pPr algn="ctr" indent="0" marL="0">
              <a:buNone/>
            </a:pPr>
            <a:r>
              <a:rPr lang="en-US" sz="1000" dirty="0">
                <a:solidFill>
                  <a:srgbClr val="FFFFFF"/>
                </a:solidFill>
                <a:latin typeface="Calibri" pitchFamily="34" charset="0"/>
                <a:ea typeface="Calibri" pitchFamily="34" charset="-122"/>
                <a:cs typeface="Calibri" pitchFamily="34" charset="-120"/>
              </a:rPr>
              <a:t>Accuracy</a:t>
            </a:r>
            <a:endParaRPr lang="en-US" sz="1000" dirty="0"/>
          </a:p>
        </p:txBody>
      </p:sp>
      <p:sp>
        <p:nvSpPr>
          <p:cNvPr id="39" name="Shape 37"/>
          <p:cNvSpPr/>
          <p:nvPr/>
        </p:nvSpPr>
        <p:spPr>
          <a:xfrm>
            <a:off x="3785616" y="2505456"/>
            <a:ext cx="1572768" cy="877824"/>
          </a:xfrm>
          <a:prstGeom prst="roundRect">
            <a:avLst>
              <a:gd name="adj" fmla="val 10417"/>
            </a:avLst>
          </a:prstGeom>
          <a:solidFill>
            <a:srgbClr val="FFFFFF">
              <a:alpha val="12000"/>
            </a:srgbClr>
          </a:solidFill>
          <a:ln w="12700">
            <a:solidFill>
              <a:srgbClr val="3A8C7E"/>
            </a:solidFill>
            <a:prstDash val="solid"/>
          </a:ln>
        </p:spPr>
      </p:sp>
      <p:sp>
        <p:nvSpPr>
          <p:cNvPr id="40" name="Text 38"/>
          <p:cNvSpPr/>
          <p:nvPr/>
        </p:nvSpPr>
        <p:spPr>
          <a:xfrm>
            <a:off x="3785616" y="2542032"/>
            <a:ext cx="1572768" cy="457200"/>
          </a:xfrm>
          <a:prstGeom prst="rect">
            <a:avLst/>
          </a:prstGeom>
          <a:noFill/>
          <a:ln/>
        </p:spPr>
        <p:txBody>
          <a:bodyPr wrap="square" lIns="0" tIns="0" rIns="0" bIns="0" rtlCol="0" anchor="ctr"/>
          <a:lstStyle/>
          <a:p>
            <a:pPr algn="ctr" indent="0" marL="0">
              <a:buNone/>
            </a:pPr>
            <a:r>
              <a:rPr lang="en-US" sz="2200" b="1" dirty="0">
                <a:solidFill>
                  <a:srgbClr val="3A8C7E"/>
                </a:solidFill>
                <a:latin typeface="Cambria" pitchFamily="34" charset="0"/>
                <a:ea typeface="Cambria" pitchFamily="34" charset="-122"/>
                <a:cs typeface="Cambria" pitchFamily="34" charset="-120"/>
              </a:rPr>
              <a:t>18/20</a:t>
            </a:r>
            <a:endParaRPr lang="en-US" sz="2200" dirty="0"/>
          </a:p>
        </p:txBody>
      </p:sp>
      <p:sp>
        <p:nvSpPr>
          <p:cNvPr id="41" name="Text 39"/>
          <p:cNvSpPr/>
          <p:nvPr/>
        </p:nvSpPr>
        <p:spPr>
          <a:xfrm>
            <a:off x="3785616" y="2999232"/>
            <a:ext cx="1572768" cy="347472"/>
          </a:xfrm>
          <a:prstGeom prst="rect">
            <a:avLst/>
          </a:prstGeom>
          <a:noFill/>
          <a:ln/>
        </p:spPr>
        <p:txBody>
          <a:bodyPr wrap="square" lIns="0" tIns="0" rIns="0" bIns="0" rtlCol="0" anchor="t"/>
          <a:lstStyle/>
          <a:p>
            <a:pPr algn="ctr" indent="0" marL="0">
              <a:buNone/>
            </a:pPr>
            <a:r>
              <a:rPr lang="en-US" sz="1000" dirty="0">
                <a:solidFill>
                  <a:srgbClr val="FFFFFF"/>
                </a:solidFill>
                <a:latin typeface="Calibri" pitchFamily="34" charset="0"/>
                <a:ea typeface="Calibri" pitchFamily="34" charset="-122"/>
                <a:cs typeface="Calibri" pitchFamily="34" charset="-120"/>
              </a:rPr>
              <a:t>End-to-End</a:t>
            </a:r>
            <a:endParaRPr lang="en-US" sz="1000" dirty="0"/>
          </a:p>
          <a:p>
            <a:pPr algn="ctr" indent="0" marL="0">
              <a:buNone/>
            </a:pPr>
            <a:r>
              <a:rPr lang="en-US" sz="1000" dirty="0">
                <a:solidFill>
                  <a:srgbClr val="FFFFFF"/>
                </a:solidFill>
                <a:latin typeface="Calibri" pitchFamily="34" charset="0"/>
                <a:ea typeface="Calibri" pitchFamily="34" charset="-122"/>
                <a:cs typeface="Calibri" pitchFamily="34" charset="-120"/>
              </a:rPr>
              <a:t>Test Correct</a:t>
            </a:r>
            <a:endParaRPr lang="en-US" sz="1000" dirty="0"/>
          </a:p>
        </p:txBody>
      </p:sp>
      <p:sp>
        <p:nvSpPr>
          <p:cNvPr id="42" name="Shape 40"/>
          <p:cNvSpPr/>
          <p:nvPr/>
        </p:nvSpPr>
        <p:spPr>
          <a:xfrm>
            <a:off x="5486400" y="2505456"/>
            <a:ext cx="1572768" cy="877824"/>
          </a:xfrm>
          <a:prstGeom prst="roundRect">
            <a:avLst>
              <a:gd name="adj" fmla="val 10417"/>
            </a:avLst>
          </a:prstGeom>
          <a:solidFill>
            <a:srgbClr val="FFFFFF">
              <a:alpha val="12000"/>
            </a:srgbClr>
          </a:solidFill>
          <a:ln w="12700">
            <a:solidFill>
              <a:srgbClr val="3A8C7E"/>
            </a:solidFill>
            <a:prstDash val="solid"/>
          </a:ln>
        </p:spPr>
      </p:sp>
      <p:sp>
        <p:nvSpPr>
          <p:cNvPr id="43" name="Text 41"/>
          <p:cNvSpPr/>
          <p:nvPr/>
        </p:nvSpPr>
        <p:spPr>
          <a:xfrm>
            <a:off x="5486400" y="2542032"/>
            <a:ext cx="1572768" cy="457200"/>
          </a:xfrm>
          <a:prstGeom prst="rect">
            <a:avLst/>
          </a:prstGeom>
          <a:noFill/>
          <a:ln/>
        </p:spPr>
        <p:txBody>
          <a:bodyPr wrap="square" lIns="0" tIns="0" rIns="0" bIns="0" rtlCol="0" anchor="ctr"/>
          <a:lstStyle/>
          <a:p>
            <a:pPr algn="ctr" indent="0" marL="0">
              <a:buNone/>
            </a:pPr>
            <a:r>
              <a:rPr lang="en-US" sz="1800" b="1" dirty="0">
                <a:solidFill>
                  <a:srgbClr val="3A8C7E"/>
                </a:solidFill>
                <a:latin typeface="Cambria" pitchFamily="34" charset="0"/>
                <a:ea typeface="Cambria" pitchFamily="34" charset="-122"/>
                <a:cs typeface="Cambria" pitchFamily="34" charset="-120"/>
              </a:rPr>
              <a:t>~380ms</a:t>
            </a:r>
            <a:endParaRPr lang="en-US" sz="1800" dirty="0"/>
          </a:p>
        </p:txBody>
      </p:sp>
      <p:sp>
        <p:nvSpPr>
          <p:cNvPr id="44" name="Text 42"/>
          <p:cNvSpPr/>
          <p:nvPr/>
        </p:nvSpPr>
        <p:spPr>
          <a:xfrm>
            <a:off x="5486400" y="2999232"/>
            <a:ext cx="1572768" cy="347472"/>
          </a:xfrm>
          <a:prstGeom prst="rect">
            <a:avLst/>
          </a:prstGeom>
          <a:noFill/>
          <a:ln/>
        </p:spPr>
        <p:txBody>
          <a:bodyPr wrap="square" lIns="0" tIns="0" rIns="0" bIns="0" rtlCol="0" anchor="t"/>
          <a:lstStyle/>
          <a:p>
            <a:pPr algn="ctr" indent="0" marL="0">
              <a:buNone/>
            </a:pPr>
            <a:r>
              <a:rPr lang="en-US" sz="1000" dirty="0">
                <a:solidFill>
                  <a:srgbClr val="FFFFFF"/>
                </a:solidFill>
                <a:latin typeface="Calibri" pitchFamily="34" charset="0"/>
                <a:ea typeface="Calibri" pitchFamily="34" charset="-122"/>
                <a:cs typeface="Calibri" pitchFamily="34" charset="-120"/>
              </a:rPr>
              <a:t>Inference</a:t>
            </a:r>
            <a:endParaRPr lang="en-US" sz="1000" dirty="0"/>
          </a:p>
          <a:p>
            <a:pPr algn="ctr" indent="0" marL="0">
              <a:buNone/>
            </a:pPr>
            <a:r>
              <a:rPr lang="en-US" sz="1000" dirty="0">
                <a:solidFill>
                  <a:srgbClr val="FFFFFF"/>
                </a:solidFill>
                <a:latin typeface="Calibri" pitchFamily="34" charset="0"/>
                <a:ea typeface="Calibri" pitchFamily="34" charset="-122"/>
                <a:cs typeface="Calibri" pitchFamily="34" charset="-120"/>
              </a:rPr>
              <a:t>(CPU, warmed)</a:t>
            </a:r>
            <a:endParaRPr lang="en-US" sz="1000" dirty="0"/>
          </a:p>
        </p:txBody>
      </p:sp>
      <p:sp>
        <p:nvSpPr>
          <p:cNvPr id="45" name="Shape 43"/>
          <p:cNvSpPr/>
          <p:nvPr/>
        </p:nvSpPr>
        <p:spPr>
          <a:xfrm>
            <a:off x="7187184" y="2505456"/>
            <a:ext cx="1572768" cy="877824"/>
          </a:xfrm>
          <a:prstGeom prst="roundRect">
            <a:avLst>
              <a:gd name="adj" fmla="val 10417"/>
            </a:avLst>
          </a:prstGeom>
          <a:solidFill>
            <a:srgbClr val="FFFFFF">
              <a:alpha val="12000"/>
            </a:srgbClr>
          </a:solidFill>
          <a:ln w="12700">
            <a:solidFill>
              <a:srgbClr val="3A8C7E"/>
            </a:solidFill>
            <a:prstDash val="solid"/>
          </a:ln>
        </p:spPr>
      </p:sp>
      <p:sp>
        <p:nvSpPr>
          <p:cNvPr id="46" name="Text 44"/>
          <p:cNvSpPr/>
          <p:nvPr/>
        </p:nvSpPr>
        <p:spPr>
          <a:xfrm>
            <a:off x="7187184" y="2542032"/>
            <a:ext cx="1572768" cy="457200"/>
          </a:xfrm>
          <a:prstGeom prst="rect">
            <a:avLst/>
          </a:prstGeom>
          <a:noFill/>
          <a:ln/>
        </p:spPr>
        <p:txBody>
          <a:bodyPr wrap="square" lIns="0" tIns="0" rIns="0" bIns="0" rtlCol="0" anchor="ctr"/>
          <a:lstStyle/>
          <a:p>
            <a:pPr algn="ctr" indent="0" marL="0">
              <a:buNone/>
            </a:pPr>
            <a:r>
              <a:rPr lang="en-US" sz="2200" b="1" dirty="0">
                <a:solidFill>
                  <a:srgbClr val="3A8C7E"/>
                </a:solidFill>
                <a:latin typeface="Cambria" pitchFamily="34" charset="0"/>
                <a:ea typeface="Cambria" pitchFamily="34" charset="-122"/>
                <a:cs typeface="Cambria" pitchFamily="34" charset="-120"/>
              </a:rPr>
              <a:t>42</a:t>
            </a:r>
            <a:endParaRPr lang="en-US" sz="2200" dirty="0"/>
          </a:p>
        </p:txBody>
      </p:sp>
      <p:sp>
        <p:nvSpPr>
          <p:cNvPr id="47" name="Text 45"/>
          <p:cNvSpPr/>
          <p:nvPr/>
        </p:nvSpPr>
        <p:spPr>
          <a:xfrm>
            <a:off x="7187184" y="2999232"/>
            <a:ext cx="1572768" cy="347472"/>
          </a:xfrm>
          <a:prstGeom prst="rect">
            <a:avLst/>
          </a:prstGeom>
          <a:noFill/>
          <a:ln/>
        </p:spPr>
        <p:txBody>
          <a:bodyPr wrap="square" lIns="0" tIns="0" rIns="0" bIns="0" rtlCol="0" anchor="t"/>
          <a:lstStyle/>
          <a:p>
            <a:pPr algn="ctr" indent="0" marL="0">
              <a:buNone/>
            </a:pPr>
            <a:r>
              <a:rPr lang="en-US" sz="1000" dirty="0">
                <a:solidFill>
                  <a:srgbClr val="FFFFFF"/>
                </a:solidFill>
                <a:latin typeface="Calibri" pitchFamily="34" charset="0"/>
                <a:ea typeface="Calibri" pitchFamily="34" charset="-122"/>
                <a:cs typeface="Calibri" pitchFamily="34" charset="-120"/>
              </a:rPr>
              <a:t>Fruit</a:t>
            </a:r>
            <a:endParaRPr lang="en-US" sz="1000" dirty="0"/>
          </a:p>
          <a:p>
            <a:pPr algn="ctr" indent="0" marL="0">
              <a:buNone/>
            </a:pPr>
            <a:r>
              <a:rPr lang="en-US" sz="1000" dirty="0">
                <a:solidFill>
                  <a:srgbClr val="FFFFFF"/>
                </a:solidFill>
                <a:latin typeface="Calibri" pitchFamily="34" charset="0"/>
                <a:ea typeface="Calibri" pitchFamily="34" charset="-122"/>
                <a:cs typeface="Calibri" pitchFamily="34" charset="-120"/>
              </a:rPr>
              <a:t>Varieties</a:t>
            </a:r>
            <a:endParaRPr lang="en-US" sz="1000" dirty="0"/>
          </a:p>
        </p:txBody>
      </p:sp>
      <p:sp>
        <p:nvSpPr>
          <p:cNvPr id="48" name="Shape 46"/>
          <p:cNvSpPr/>
          <p:nvPr/>
        </p:nvSpPr>
        <p:spPr>
          <a:xfrm>
            <a:off x="384048" y="3493008"/>
            <a:ext cx="8375904" cy="512064"/>
          </a:xfrm>
          <a:prstGeom prst="rect">
            <a:avLst/>
          </a:prstGeom>
          <a:solidFill>
            <a:srgbClr val="FFFFFF"/>
          </a:solidFill>
          <a:ln w="6350">
            <a:solidFill>
              <a:srgbClr val="1A2B4A">
                <a:alpha val="40000"/>
              </a:srgbClr>
            </a:solidFill>
            <a:prstDash val="solid"/>
          </a:ln>
          <a:effectLst>
            <a:outerShdw sx="100000" sy="100000" kx="0" ky="0" algn="bl" rotWithShape="0" blurRad="101600" dist="38100" dir="2700000">
              <a:srgbClr val="000000">
                <a:alpha val="10000"/>
              </a:srgbClr>
            </a:outerShdw>
          </a:effectLst>
        </p:spPr>
      </p:sp>
      <p:sp>
        <p:nvSpPr>
          <p:cNvPr id="49" name="Shape 47"/>
          <p:cNvSpPr/>
          <p:nvPr/>
        </p:nvSpPr>
        <p:spPr>
          <a:xfrm>
            <a:off x="384048" y="3493008"/>
            <a:ext cx="8375904" cy="512064"/>
          </a:xfrm>
          <a:prstGeom prst="roundRect">
            <a:avLst>
              <a:gd name="adj" fmla="val 14286"/>
            </a:avLst>
          </a:prstGeom>
          <a:solidFill>
            <a:srgbClr val="3A8C7E">
              <a:alpha val="80000"/>
            </a:srgbClr>
          </a:solidFill>
          <a:ln w="12700">
            <a:solidFill>
              <a:srgbClr val="3A8C7E"/>
            </a:solidFill>
            <a:prstDash val="solid"/>
          </a:ln>
        </p:spPr>
      </p:sp>
      <p:sp>
        <p:nvSpPr>
          <p:cNvPr id="50" name="Text 48"/>
          <p:cNvSpPr/>
          <p:nvPr/>
        </p:nvSpPr>
        <p:spPr>
          <a:xfrm>
            <a:off x="548640" y="3529584"/>
            <a:ext cx="8138160" cy="438912"/>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Surpasses nearest comparable benchmark (Hu et al., 2024: EfficientNet on produce grading) in resource efficiency  ·  11.6 MB vs 97 MB ResNet-50  ·  CPU-only inference  ·  Full PWA deployment — no precedent in reviewed literature.</a:t>
            </a:r>
            <a:endParaRPr lang="en-US" sz="1150" dirty="0"/>
          </a:p>
        </p:txBody>
      </p:sp>
      <p:sp>
        <p:nvSpPr>
          <p:cNvPr id="51" name="Text 49"/>
          <p:cNvSpPr/>
          <p:nvPr/>
        </p:nvSpPr>
        <p:spPr>
          <a:xfrm>
            <a:off x="457200" y="4114800"/>
            <a:ext cx="3657600" cy="219456"/>
          </a:xfrm>
          <a:prstGeom prst="rect">
            <a:avLst/>
          </a:prstGeom>
          <a:noFill/>
          <a:ln/>
        </p:spPr>
        <p:txBody>
          <a:bodyPr wrap="square" lIns="0" tIns="0" rIns="0" bIns="0" rtlCol="0" anchor="ctr"/>
          <a:lstStyle/>
          <a:p>
            <a:pPr indent="0" marL="0">
              <a:buNone/>
            </a:pPr>
            <a:r>
              <a:rPr lang="en-US" sz="1100" dirty="0">
                <a:solidFill>
                  <a:srgbClr val="8BAEC8"/>
                </a:solidFill>
                <a:latin typeface="Calibri" pitchFamily="34" charset="0"/>
                <a:ea typeface="Calibri" pitchFamily="34" charset="-122"/>
                <a:cs typeface="Calibri" pitchFamily="34" charset="-120"/>
              </a:rPr>
              <a:t>Training accuracy by epoch block (fine-tuning phase):</a:t>
            </a:r>
            <a:endParaRPr lang="en-US" sz="1100" dirty="0"/>
          </a:p>
        </p:txBody>
      </p:sp>
      <p:sp>
        <p:nvSpPr>
          <p:cNvPr id="52" name="Shape 50"/>
          <p:cNvSpPr/>
          <p:nvPr/>
        </p:nvSpPr>
        <p:spPr>
          <a:xfrm>
            <a:off x="457200" y="4370832"/>
            <a:ext cx="1288755" cy="164592"/>
          </a:xfrm>
          <a:prstGeom prst="roundRect">
            <a:avLst>
              <a:gd name="adj" fmla="val 22222"/>
            </a:avLst>
          </a:prstGeom>
          <a:solidFill>
            <a:srgbClr val="3A8C7E">
              <a:alpha val="70000"/>
            </a:srgbClr>
          </a:solidFill>
          <a:ln/>
        </p:spPr>
      </p:sp>
      <p:sp>
        <p:nvSpPr>
          <p:cNvPr id="53" name="Text 51"/>
          <p:cNvSpPr/>
          <p:nvPr/>
        </p:nvSpPr>
        <p:spPr>
          <a:xfrm>
            <a:off x="457200" y="4370832"/>
            <a:ext cx="1627632" cy="164592"/>
          </a:xfrm>
          <a:prstGeom prst="rect">
            <a:avLst/>
          </a:prstGeom>
          <a:noFill/>
          <a:ln/>
        </p:spPr>
        <p:txBody>
          <a:bodyPr wrap="square" lIns="25400" tIns="25400" rIns="25400" bIns="25400" rtlCol="0" anchor="ctr"/>
          <a:lstStyle/>
          <a:p>
            <a:pPr indent="0" marL="0">
              <a:buNone/>
            </a:pPr>
            <a:r>
              <a:rPr lang="en-US" sz="900" dirty="0">
                <a:solidFill>
                  <a:srgbClr val="FFFFFF"/>
                </a:solidFill>
                <a:latin typeface="Calibri" pitchFamily="34" charset="0"/>
                <a:ea typeface="Calibri" pitchFamily="34" charset="-122"/>
                <a:cs typeface="Calibri" pitchFamily="34" charset="-120"/>
              </a:rPr>
              <a:t>Ep 1-5: 87%</a:t>
            </a:r>
            <a:endParaRPr lang="en-US" sz="900" dirty="0"/>
          </a:p>
        </p:txBody>
      </p:sp>
      <p:sp>
        <p:nvSpPr>
          <p:cNvPr id="54" name="Shape 52"/>
          <p:cNvSpPr/>
          <p:nvPr/>
        </p:nvSpPr>
        <p:spPr>
          <a:xfrm>
            <a:off x="2139696" y="4370832"/>
            <a:ext cx="1303569" cy="164592"/>
          </a:xfrm>
          <a:prstGeom prst="roundRect">
            <a:avLst>
              <a:gd name="adj" fmla="val 22222"/>
            </a:avLst>
          </a:prstGeom>
          <a:solidFill>
            <a:srgbClr val="3A8C7E">
              <a:alpha val="70000"/>
            </a:srgbClr>
          </a:solidFill>
          <a:ln/>
        </p:spPr>
      </p:sp>
      <p:sp>
        <p:nvSpPr>
          <p:cNvPr id="55" name="Text 53"/>
          <p:cNvSpPr/>
          <p:nvPr/>
        </p:nvSpPr>
        <p:spPr>
          <a:xfrm>
            <a:off x="2139696" y="4370832"/>
            <a:ext cx="1627632" cy="164592"/>
          </a:xfrm>
          <a:prstGeom prst="rect">
            <a:avLst/>
          </a:prstGeom>
          <a:noFill/>
          <a:ln/>
        </p:spPr>
        <p:txBody>
          <a:bodyPr wrap="square" lIns="25400" tIns="25400" rIns="25400" bIns="25400" rtlCol="0" anchor="ctr"/>
          <a:lstStyle/>
          <a:p>
            <a:pPr indent="0" marL="0">
              <a:buNone/>
            </a:pPr>
            <a:r>
              <a:rPr lang="en-US" sz="900" dirty="0">
                <a:solidFill>
                  <a:srgbClr val="FFFFFF"/>
                </a:solidFill>
                <a:latin typeface="Calibri" pitchFamily="34" charset="0"/>
                <a:ea typeface="Calibri" pitchFamily="34" charset="-122"/>
                <a:cs typeface="Calibri" pitchFamily="34" charset="-120"/>
              </a:rPr>
              <a:t>Ep 6-10: 88%</a:t>
            </a:r>
            <a:endParaRPr lang="en-US" sz="900" dirty="0"/>
          </a:p>
        </p:txBody>
      </p:sp>
      <p:sp>
        <p:nvSpPr>
          <p:cNvPr id="56" name="Shape 54"/>
          <p:cNvSpPr/>
          <p:nvPr/>
        </p:nvSpPr>
        <p:spPr>
          <a:xfrm>
            <a:off x="3822192" y="4370832"/>
            <a:ext cx="1348008" cy="164592"/>
          </a:xfrm>
          <a:prstGeom prst="roundRect">
            <a:avLst>
              <a:gd name="adj" fmla="val 22222"/>
            </a:avLst>
          </a:prstGeom>
          <a:solidFill>
            <a:srgbClr val="3A8C7E">
              <a:alpha val="70000"/>
            </a:srgbClr>
          </a:solidFill>
          <a:ln/>
        </p:spPr>
      </p:sp>
      <p:sp>
        <p:nvSpPr>
          <p:cNvPr id="57" name="Text 55"/>
          <p:cNvSpPr/>
          <p:nvPr/>
        </p:nvSpPr>
        <p:spPr>
          <a:xfrm>
            <a:off x="3822192" y="4370832"/>
            <a:ext cx="1627632" cy="164592"/>
          </a:xfrm>
          <a:prstGeom prst="rect">
            <a:avLst/>
          </a:prstGeom>
          <a:noFill/>
          <a:ln/>
        </p:spPr>
        <p:txBody>
          <a:bodyPr wrap="square" lIns="25400" tIns="25400" rIns="25400" bIns="25400" rtlCol="0" anchor="ctr"/>
          <a:lstStyle/>
          <a:p>
            <a:pPr indent="0" marL="0">
              <a:buNone/>
            </a:pPr>
            <a:r>
              <a:rPr lang="en-US" sz="900" dirty="0">
                <a:solidFill>
                  <a:srgbClr val="FFFFFF"/>
                </a:solidFill>
                <a:latin typeface="Calibri" pitchFamily="34" charset="0"/>
                <a:ea typeface="Calibri" pitchFamily="34" charset="-122"/>
                <a:cs typeface="Calibri" pitchFamily="34" charset="-120"/>
              </a:rPr>
              <a:t>Ep 11-15: 91%</a:t>
            </a:r>
            <a:endParaRPr lang="en-US" sz="900" dirty="0"/>
          </a:p>
        </p:txBody>
      </p:sp>
      <p:sp>
        <p:nvSpPr>
          <p:cNvPr id="58" name="Shape 56"/>
          <p:cNvSpPr/>
          <p:nvPr/>
        </p:nvSpPr>
        <p:spPr>
          <a:xfrm>
            <a:off x="5504688" y="4370832"/>
            <a:ext cx="1333195" cy="164592"/>
          </a:xfrm>
          <a:prstGeom prst="roundRect">
            <a:avLst>
              <a:gd name="adj" fmla="val 22222"/>
            </a:avLst>
          </a:prstGeom>
          <a:solidFill>
            <a:srgbClr val="3A8C7E">
              <a:alpha val="70000"/>
            </a:srgbClr>
          </a:solidFill>
          <a:ln/>
        </p:spPr>
      </p:sp>
      <p:sp>
        <p:nvSpPr>
          <p:cNvPr id="59" name="Text 57"/>
          <p:cNvSpPr/>
          <p:nvPr/>
        </p:nvSpPr>
        <p:spPr>
          <a:xfrm>
            <a:off x="5504688" y="4370832"/>
            <a:ext cx="1627632" cy="164592"/>
          </a:xfrm>
          <a:prstGeom prst="rect">
            <a:avLst/>
          </a:prstGeom>
          <a:noFill/>
          <a:ln/>
        </p:spPr>
        <p:txBody>
          <a:bodyPr wrap="square" lIns="25400" tIns="25400" rIns="25400" bIns="25400" rtlCol="0" anchor="ctr"/>
          <a:lstStyle/>
          <a:p>
            <a:pPr indent="0" marL="0">
              <a:buNone/>
            </a:pPr>
            <a:r>
              <a:rPr lang="en-US" sz="900" dirty="0">
                <a:solidFill>
                  <a:srgbClr val="FFFFFF"/>
                </a:solidFill>
                <a:latin typeface="Calibri" pitchFamily="34" charset="0"/>
                <a:ea typeface="Calibri" pitchFamily="34" charset="-122"/>
                <a:cs typeface="Calibri" pitchFamily="34" charset="-120"/>
              </a:rPr>
              <a:t>Ep 16-20: 90%</a:t>
            </a:r>
            <a:endParaRPr lang="en-US" sz="900" dirty="0"/>
          </a:p>
        </p:txBody>
      </p:sp>
      <p:sp>
        <p:nvSpPr>
          <p:cNvPr id="60" name="Shape 58"/>
          <p:cNvSpPr/>
          <p:nvPr/>
        </p:nvSpPr>
        <p:spPr>
          <a:xfrm>
            <a:off x="7187184" y="4370832"/>
            <a:ext cx="1348008" cy="164592"/>
          </a:xfrm>
          <a:prstGeom prst="roundRect">
            <a:avLst>
              <a:gd name="adj" fmla="val 22222"/>
            </a:avLst>
          </a:prstGeom>
          <a:solidFill>
            <a:srgbClr val="3A8C7E">
              <a:alpha val="70000"/>
            </a:srgbClr>
          </a:solidFill>
          <a:ln/>
        </p:spPr>
      </p:sp>
      <p:sp>
        <p:nvSpPr>
          <p:cNvPr id="61" name="Text 59"/>
          <p:cNvSpPr/>
          <p:nvPr/>
        </p:nvSpPr>
        <p:spPr>
          <a:xfrm>
            <a:off x="7187184" y="4370832"/>
            <a:ext cx="1627632" cy="164592"/>
          </a:xfrm>
          <a:prstGeom prst="rect">
            <a:avLst/>
          </a:prstGeom>
          <a:noFill/>
          <a:ln/>
        </p:spPr>
        <p:txBody>
          <a:bodyPr wrap="square" lIns="25400" tIns="25400" rIns="25400" bIns="25400" rtlCol="0" anchor="ctr"/>
          <a:lstStyle/>
          <a:p>
            <a:pPr indent="0" marL="0">
              <a:buNone/>
            </a:pPr>
            <a:r>
              <a:rPr lang="en-US" sz="900" dirty="0">
                <a:solidFill>
                  <a:srgbClr val="FFFFFF"/>
                </a:solidFill>
                <a:latin typeface="Calibri" pitchFamily="34" charset="0"/>
                <a:ea typeface="Calibri" pitchFamily="34" charset="-122"/>
                <a:cs typeface="Calibri" pitchFamily="34" charset="-120"/>
              </a:rPr>
              <a:t>Ep 21-25: 91%</a:t>
            </a:r>
            <a:endParaRPr lang="en-US" sz="9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EBEBEB"/>
        </a:solidFill>
      </p:bgPr>
    </p:bg>
    <p:spTree>
      <p:nvGrpSpPr>
        <p:cNvPr id="1" name=""/>
        <p:cNvGrpSpPr/>
        <p:nvPr/>
      </p:nvGrpSpPr>
      <p:grpSpPr>
        <a:xfrm>
          <a:off x="0" y="0"/>
          <a:ext cx="0" cy="0"/>
          <a:chOff x="0" y="0"/>
          <a:chExt cx="0" cy="0"/>
        </a:xfrm>
      </p:grpSpPr>
      <p:sp>
        <p:nvSpPr>
          <p:cNvPr id="2" name="Shape 0"/>
          <p:cNvSpPr/>
          <p:nvPr/>
        </p:nvSpPr>
        <p:spPr>
          <a:xfrm rot="2700000">
            <a:off x="-91440" y="3566160"/>
            <a:ext cx="1097280" cy="1097280"/>
          </a:xfrm>
          <a:prstGeom prst="rect">
            <a:avLst/>
          </a:prstGeom>
          <a:ln w="12700">
            <a:solidFill>
              <a:srgbClr val="1A2B4A">
                <a:alpha val="76000"/>
              </a:srgbClr>
            </a:solidFill>
            <a:prstDash val="solid"/>
          </a:ln>
        </p:spPr>
      </p:sp>
      <p:sp>
        <p:nvSpPr>
          <p:cNvPr id="3" name="Shape 1"/>
          <p:cNvSpPr/>
          <p:nvPr/>
        </p:nvSpPr>
        <p:spPr>
          <a:xfrm rot="2700000">
            <a:off x="91440" y="3749040"/>
            <a:ext cx="731520" cy="731520"/>
          </a:xfrm>
          <a:prstGeom prst="rect">
            <a:avLst/>
          </a:prstGeom>
          <a:ln w="12700">
            <a:solidFill>
              <a:srgbClr val="1A2B4A">
                <a:alpha val="64000"/>
              </a:srgbClr>
            </a:solidFill>
            <a:prstDash val="solid"/>
          </a:ln>
        </p:spPr>
      </p:sp>
      <p:sp>
        <p:nvSpPr>
          <p:cNvPr id="4" name="Shape 2"/>
          <p:cNvSpPr/>
          <p:nvPr/>
        </p:nvSpPr>
        <p:spPr>
          <a:xfrm rot="2700000">
            <a:off x="274320" y="3931920"/>
            <a:ext cx="365760" cy="365760"/>
          </a:xfrm>
          <a:prstGeom prst="rect">
            <a:avLst/>
          </a:prstGeom>
          <a:ln w="12700">
            <a:solidFill>
              <a:srgbClr val="1A2B4A">
                <a:alpha val="52000"/>
              </a:srgbClr>
            </a:solidFill>
            <a:prstDash val="solid"/>
          </a:ln>
        </p:spPr>
      </p:sp>
      <p:sp>
        <p:nvSpPr>
          <p:cNvPr id="5" name="Shape 3"/>
          <p:cNvSpPr/>
          <p:nvPr/>
        </p:nvSpPr>
        <p:spPr>
          <a:xfrm>
            <a:off x="8092440" y="274320"/>
            <a:ext cx="64008" cy="64008"/>
          </a:xfrm>
          <a:prstGeom prst="ellipse">
            <a:avLst/>
          </a:prstGeom>
          <a:solidFill>
            <a:srgbClr val="1A2B4A">
              <a:alpha val="25000"/>
            </a:srgbClr>
          </a:solidFill>
          <a:ln/>
        </p:spPr>
      </p:sp>
      <p:sp>
        <p:nvSpPr>
          <p:cNvPr id="6" name="Shape 4"/>
          <p:cNvSpPr/>
          <p:nvPr/>
        </p:nvSpPr>
        <p:spPr>
          <a:xfrm>
            <a:off x="8293608" y="274320"/>
            <a:ext cx="64008" cy="64008"/>
          </a:xfrm>
          <a:prstGeom prst="ellipse">
            <a:avLst/>
          </a:prstGeom>
          <a:solidFill>
            <a:srgbClr val="1A2B4A">
              <a:alpha val="25000"/>
            </a:srgbClr>
          </a:solidFill>
          <a:ln/>
        </p:spPr>
      </p:sp>
      <p:sp>
        <p:nvSpPr>
          <p:cNvPr id="7" name="Shape 5"/>
          <p:cNvSpPr/>
          <p:nvPr/>
        </p:nvSpPr>
        <p:spPr>
          <a:xfrm>
            <a:off x="8494776" y="274320"/>
            <a:ext cx="64008" cy="64008"/>
          </a:xfrm>
          <a:prstGeom prst="ellipse">
            <a:avLst/>
          </a:prstGeom>
          <a:solidFill>
            <a:srgbClr val="1A2B4A">
              <a:alpha val="25000"/>
            </a:srgbClr>
          </a:solidFill>
          <a:ln/>
        </p:spPr>
      </p:sp>
      <p:sp>
        <p:nvSpPr>
          <p:cNvPr id="8" name="Shape 6"/>
          <p:cNvSpPr/>
          <p:nvPr/>
        </p:nvSpPr>
        <p:spPr>
          <a:xfrm>
            <a:off x="8695944" y="274320"/>
            <a:ext cx="64008" cy="64008"/>
          </a:xfrm>
          <a:prstGeom prst="ellipse">
            <a:avLst/>
          </a:prstGeom>
          <a:solidFill>
            <a:srgbClr val="1A2B4A">
              <a:alpha val="25000"/>
            </a:srgbClr>
          </a:solidFill>
          <a:ln/>
        </p:spPr>
      </p:sp>
      <p:sp>
        <p:nvSpPr>
          <p:cNvPr id="9" name="Shape 7"/>
          <p:cNvSpPr/>
          <p:nvPr/>
        </p:nvSpPr>
        <p:spPr>
          <a:xfrm>
            <a:off x="8897112" y="274320"/>
            <a:ext cx="64008" cy="64008"/>
          </a:xfrm>
          <a:prstGeom prst="ellipse">
            <a:avLst/>
          </a:prstGeom>
          <a:solidFill>
            <a:srgbClr val="1A2B4A">
              <a:alpha val="25000"/>
            </a:srgbClr>
          </a:solidFill>
          <a:ln/>
        </p:spPr>
      </p:sp>
      <p:sp>
        <p:nvSpPr>
          <p:cNvPr id="10" name="Shape 8"/>
          <p:cNvSpPr/>
          <p:nvPr/>
        </p:nvSpPr>
        <p:spPr>
          <a:xfrm>
            <a:off x="8092440" y="475488"/>
            <a:ext cx="64008" cy="64008"/>
          </a:xfrm>
          <a:prstGeom prst="ellipse">
            <a:avLst/>
          </a:prstGeom>
          <a:solidFill>
            <a:srgbClr val="1A2B4A">
              <a:alpha val="25000"/>
            </a:srgbClr>
          </a:solidFill>
          <a:ln/>
        </p:spPr>
      </p:sp>
      <p:sp>
        <p:nvSpPr>
          <p:cNvPr id="11" name="Shape 9"/>
          <p:cNvSpPr/>
          <p:nvPr/>
        </p:nvSpPr>
        <p:spPr>
          <a:xfrm>
            <a:off x="8293608" y="475488"/>
            <a:ext cx="64008" cy="64008"/>
          </a:xfrm>
          <a:prstGeom prst="ellipse">
            <a:avLst/>
          </a:prstGeom>
          <a:solidFill>
            <a:srgbClr val="1A2B4A">
              <a:alpha val="25000"/>
            </a:srgbClr>
          </a:solidFill>
          <a:ln/>
        </p:spPr>
      </p:sp>
      <p:sp>
        <p:nvSpPr>
          <p:cNvPr id="12" name="Shape 10"/>
          <p:cNvSpPr/>
          <p:nvPr/>
        </p:nvSpPr>
        <p:spPr>
          <a:xfrm>
            <a:off x="8494776" y="475488"/>
            <a:ext cx="64008" cy="64008"/>
          </a:xfrm>
          <a:prstGeom prst="ellipse">
            <a:avLst/>
          </a:prstGeom>
          <a:solidFill>
            <a:srgbClr val="1A2B4A">
              <a:alpha val="25000"/>
            </a:srgbClr>
          </a:solidFill>
          <a:ln/>
        </p:spPr>
      </p:sp>
      <p:sp>
        <p:nvSpPr>
          <p:cNvPr id="13" name="Shape 11"/>
          <p:cNvSpPr/>
          <p:nvPr/>
        </p:nvSpPr>
        <p:spPr>
          <a:xfrm>
            <a:off x="8695944" y="475488"/>
            <a:ext cx="64008" cy="64008"/>
          </a:xfrm>
          <a:prstGeom prst="ellipse">
            <a:avLst/>
          </a:prstGeom>
          <a:solidFill>
            <a:srgbClr val="1A2B4A">
              <a:alpha val="25000"/>
            </a:srgbClr>
          </a:solidFill>
          <a:ln/>
        </p:spPr>
      </p:sp>
      <p:sp>
        <p:nvSpPr>
          <p:cNvPr id="14" name="Shape 12"/>
          <p:cNvSpPr/>
          <p:nvPr/>
        </p:nvSpPr>
        <p:spPr>
          <a:xfrm>
            <a:off x="8897112" y="475488"/>
            <a:ext cx="64008" cy="64008"/>
          </a:xfrm>
          <a:prstGeom prst="ellipse">
            <a:avLst/>
          </a:prstGeom>
          <a:solidFill>
            <a:srgbClr val="1A2B4A">
              <a:alpha val="25000"/>
            </a:srgbClr>
          </a:solidFill>
          <a:ln/>
        </p:spPr>
      </p:sp>
      <p:sp>
        <p:nvSpPr>
          <p:cNvPr id="15" name="Shape 13"/>
          <p:cNvSpPr/>
          <p:nvPr/>
        </p:nvSpPr>
        <p:spPr>
          <a:xfrm>
            <a:off x="8092440" y="676656"/>
            <a:ext cx="64008" cy="64008"/>
          </a:xfrm>
          <a:prstGeom prst="ellipse">
            <a:avLst/>
          </a:prstGeom>
          <a:solidFill>
            <a:srgbClr val="1A2B4A">
              <a:alpha val="25000"/>
            </a:srgbClr>
          </a:solidFill>
          <a:ln/>
        </p:spPr>
      </p:sp>
      <p:sp>
        <p:nvSpPr>
          <p:cNvPr id="16" name="Shape 14"/>
          <p:cNvSpPr/>
          <p:nvPr/>
        </p:nvSpPr>
        <p:spPr>
          <a:xfrm>
            <a:off x="8293608" y="676656"/>
            <a:ext cx="64008" cy="64008"/>
          </a:xfrm>
          <a:prstGeom prst="ellipse">
            <a:avLst/>
          </a:prstGeom>
          <a:solidFill>
            <a:srgbClr val="1A2B4A">
              <a:alpha val="25000"/>
            </a:srgbClr>
          </a:solidFill>
          <a:ln/>
        </p:spPr>
      </p:sp>
      <p:sp>
        <p:nvSpPr>
          <p:cNvPr id="17" name="Shape 15"/>
          <p:cNvSpPr/>
          <p:nvPr/>
        </p:nvSpPr>
        <p:spPr>
          <a:xfrm>
            <a:off x="8494776" y="676656"/>
            <a:ext cx="64008" cy="64008"/>
          </a:xfrm>
          <a:prstGeom prst="ellipse">
            <a:avLst/>
          </a:prstGeom>
          <a:solidFill>
            <a:srgbClr val="1A2B4A">
              <a:alpha val="25000"/>
            </a:srgbClr>
          </a:solidFill>
          <a:ln/>
        </p:spPr>
      </p:sp>
      <p:sp>
        <p:nvSpPr>
          <p:cNvPr id="18" name="Shape 16"/>
          <p:cNvSpPr/>
          <p:nvPr/>
        </p:nvSpPr>
        <p:spPr>
          <a:xfrm>
            <a:off x="8695944" y="676656"/>
            <a:ext cx="64008" cy="64008"/>
          </a:xfrm>
          <a:prstGeom prst="ellipse">
            <a:avLst/>
          </a:prstGeom>
          <a:solidFill>
            <a:srgbClr val="1A2B4A">
              <a:alpha val="25000"/>
            </a:srgbClr>
          </a:solidFill>
          <a:ln/>
        </p:spPr>
      </p:sp>
      <p:sp>
        <p:nvSpPr>
          <p:cNvPr id="19" name="Shape 17"/>
          <p:cNvSpPr/>
          <p:nvPr/>
        </p:nvSpPr>
        <p:spPr>
          <a:xfrm>
            <a:off x="8897112" y="676656"/>
            <a:ext cx="64008" cy="64008"/>
          </a:xfrm>
          <a:prstGeom prst="ellipse">
            <a:avLst/>
          </a:prstGeom>
          <a:solidFill>
            <a:srgbClr val="1A2B4A">
              <a:alpha val="25000"/>
            </a:srgbClr>
          </a:solidFill>
          <a:ln/>
        </p:spPr>
      </p:sp>
      <p:sp>
        <p:nvSpPr>
          <p:cNvPr id="20" name="Shape 18"/>
          <p:cNvSpPr/>
          <p:nvPr/>
        </p:nvSpPr>
        <p:spPr>
          <a:xfrm>
            <a:off x="8092440" y="877824"/>
            <a:ext cx="64008" cy="64008"/>
          </a:xfrm>
          <a:prstGeom prst="ellipse">
            <a:avLst/>
          </a:prstGeom>
          <a:solidFill>
            <a:srgbClr val="1A2B4A">
              <a:alpha val="25000"/>
            </a:srgbClr>
          </a:solidFill>
          <a:ln/>
        </p:spPr>
      </p:sp>
      <p:sp>
        <p:nvSpPr>
          <p:cNvPr id="21" name="Shape 19"/>
          <p:cNvSpPr/>
          <p:nvPr/>
        </p:nvSpPr>
        <p:spPr>
          <a:xfrm>
            <a:off x="8293608" y="877824"/>
            <a:ext cx="64008" cy="64008"/>
          </a:xfrm>
          <a:prstGeom prst="ellipse">
            <a:avLst/>
          </a:prstGeom>
          <a:solidFill>
            <a:srgbClr val="1A2B4A">
              <a:alpha val="25000"/>
            </a:srgbClr>
          </a:solidFill>
          <a:ln/>
        </p:spPr>
      </p:sp>
      <p:sp>
        <p:nvSpPr>
          <p:cNvPr id="22" name="Shape 20"/>
          <p:cNvSpPr/>
          <p:nvPr/>
        </p:nvSpPr>
        <p:spPr>
          <a:xfrm>
            <a:off x="8494776" y="877824"/>
            <a:ext cx="64008" cy="64008"/>
          </a:xfrm>
          <a:prstGeom prst="ellipse">
            <a:avLst/>
          </a:prstGeom>
          <a:solidFill>
            <a:srgbClr val="1A2B4A">
              <a:alpha val="25000"/>
            </a:srgbClr>
          </a:solidFill>
          <a:ln/>
        </p:spPr>
      </p:sp>
      <p:sp>
        <p:nvSpPr>
          <p:cNvPr id="23" name="Shape 21"/>
          <p:cNvSpPr/>
          <p:nvPr/>
        </p:nvSpPr>
        <p:spPr>
          <a:xfrm>
            <a:off x="8695944" y="877824"/>
            <a:ext cx="64008" cy="64008"/>
          </a:xfrm>
          <a:prstGeom prst="ellipse">
            <a:avLst/>
          </a:prstGeom>
          <a:solidFill>
            <a:srgbClr val="1A2B4A">
              <a:alpha val="25000"/>
            </a:srgbClr>
          </a:solidFill>
          <a:ln/>
        </p:spPr>
      </p:sp>
      <p:sp>
        <p:nvSpPr>
          <p:cNvPr id="24" name="Shape 22"/>
          <p:cNvSpPr/>
          <p:nvPr/>
        </p:nvSpPr>
        <p:spPr>
          <a:xfrm>
            <a:off x="8897112" y="877824"/>
            <a:ext cx="64008" cy="64008"/>
          </a:xfrm>
          <a:prstGeom prst="ellipse">
            <a:avLst/>
          </a:prstGeom>
          <a:solidFill>
            <a:srgbClr val="1A2B4A">
              <a:alpha val="25000"/>
            </a:srgbClr>
          </a:solidFill>
          <a:ln/>
        </p:spPr>
      </p:sp>
      <p:sp>
        <p:nvSpPr>
          <p:cNvPr id="25" name="Shape 23"/>
          <p:cNvSpPr/>
          <p:nvPr/>
        </p:nvSpPr>
        <p:spPr>
          <a:xfrm>
            <a:off x="8092440" y="1078992"/>
            <a:ext cx="64008" cy="64008"/>
          </a:xfrm>
          <a:prstGeom prst="ellipse">
            <a:avLst/>
          </a:prstGeom>
          <a:solidFill>
            <a:srgbClr val="1A2B4A">
              <a:alpha val="25000"/>
            </a:srgbClr>
          </a:solidFill>
          <a:ln/>
        </p:spPr>
      </p:sp>
      <p:sp>
        <p:nvSpPr>
          <p:cNvPr id="26" name="Shape 24"/>
          <p:cNvSpPr/>
          <p:nvPr/>
        </p:nvSpPr>
        <p:spPr>
          <a:xfrm>
            <a:off x="8293608" y="1078992"/>
            <a:ext cx="64008" cy="64008"/>
          </a:xfrm>
          <a:prstGeom prst="ellipse">
            <a:avLst/>
          </a:prstGeom>
          <a:solidFill>
            <a:srgbClr val="1A2B4A">
              <a:alpha val="25000"/>
            </a:srgbClr>
          </a:solidFill>
          <a:ln/>
        </p:spPr>
      </p:sp>
      <p:sp>
        <p:nvSpPr>
          <p:cNvPr id="27" name="Shape 25"/>
          <p:cNvSpPr/>
          <p:nvPr/>
        </p:nvSpPr>
        <p:spPr>
          <a:xfrm>
            <a:off x="8494776" y="1078992"/>
            <a:ext cx="64008" cy="64008"/>
          </a:xfrm>
          <a:prstGeom prst="ellipse">
            <a:avLst/>
          </a:prstGeom>
          <a:solidFill>
            <a:srgbClr val="1A2B4A">
              <a:alpha val="25000"/>
            </a:srgbClr>
          </a:solidFill>
          <a:ln/>
        </p:spPr>
      </p:sp>
      <p:sp>
        <p:nvSpPr>
          <p:cNvPr id="28" name="Shape 26"/>
          <p:cNvSpPr/>
          <p:nvPr/>
        </p:nvSpPr>
        <p:spPr>
          <a:xfrm>
            <a:off x="8695944" y="1078992"/>
            <a:ext cx="64008" cy="64008"/>
          </a:xfrm>
          <a:prstGeom prst="ellipse">
            <a:avLst/>
          </a:prstGeom>
          <a:solidFill>
            <a:srgbClr val="1A2B4A">
              <a:alpha val="25000"/>
            </a:srgbClr>
          </a:solidFill>
          <a:ln/>
        </p:spPr>
      </p:sp>
      <p:sp>
        <p:nvSpPr>
          <p:cNvPr id="29" name="Shape 27"/>
          <p:cNvSpPr/>
          <p:nvPr/>
        </p:nvSpPr>
        <p:spPr>
          <a:xfrm>
            <a:off x="8897112" y="1078992"/>
            <a:ext cx="64008" cy="64008"/>
          </a:xfrm>
          <a:prstGeom prst="ellipse">
            <a:avLst/>
          </a:prstGeom>
          <a:solidFill>
            <a:srgbClr val="1A2B4A">
              <a:alpha val="25000"/>
            </a:srgbClr>
          </a:solidFill>
          <a:ln/>
        </p:spPr>
      </p:sp>
      <p:sp>
        <p:nvSpPr>
          <p:cNvPr id="30" name="Text 28"/>
          <p:cNvSpPr/>
          <p:nvPr/>
        </p:nvSpPr>
        <p:spPr>
          <a:xfrm>
            <a:off x="411480" y="292608"/>
            <a:ext cx="8321040" cy="530352"/>
          </a:xfrm>
          <a:prstGeom prst="rect">
            <a:avLst/>
          </a:prstGeom>
          <a:noFill/>
          <a:ln/>
        </p:spPr>
        <p:txBody>
          <a:bodyPr wrap="square" lIns="0" tIns="0" rIns="0" bIns="0" rtlCol="0" anchor="ctr"/>
          <a:lstStyle/>
          <a:p>
            <a:pPr algn="l" indent="0" marL="0">
              <a:buNone/>
            </a:pPr>
            <a:r>
              <a:rPr lang="en-US" sz="2800" b="1" dirty="0">
                <a:solidFill>
                  <a:srgbClr val="1A2B4A"/>
                </a:solidFill>
                <a:latin typeface="Cambria" pitchFamily="34" charset="0"/>
                <a:ea typeface="Cambria" pitchFamily="34" charset="-122"/>
                <a:cs typeface="Cambria" pitchFamily="34" charset="-120"/>
              </a:rPr>
              <a:t>Beats the State of the Art</a:t>
            </a:r>
            <a:endParaRPr lang="en-US" sz="2800" dirty="0"/>
          </a:p>
        </p:txBody>
      </p:sp>
      <p:sp>
        <p:nvSpPr>
          <p:cNvPr id="31" name="Shape 29"/>
          <p:cNvSpPr/>
          <p:nvPr/>
        </p:nvSpPr>
        <p:spPr>
          <a:xfrm>
            <a:off x="411480" y="868680"/>
            <a:ext cx="8229600" cy="0"/>
          </a:xfrm>
          <a:prstGeom prst="line">
            <a:avLst/>
          </a:prstGeom>
          <a:noFill/>
          <a:ln w="19050">
            <a:solidFill>
              <a:srgbClr val="3A8C7E">
                <a:alpha val="60000"/>
              </a:srgbClr>
            </a:solidFill>
            <a:prstDash val="solid"/>
          </a:ln>
        </p:spPr>
      </p:sp>
      <p:sp>
        <p:nvSpPr>
          <p:cNvPr id="32" name="Shape 30"/>
          <p:cNvSpPr/>
          <p:nvPr/>
        </p:nvSpPr>
        <p:spPr>
          <a:xfrm>
            <a:off x="411480" y="950976"/>
            <a:ext cx="8229600" cy="0"/>
          </a:xfrm>
          <a:prstGeom prst="line">
            <a:avLst/>
          </a:prstGeom>
          <a:noFill/>
          <a:ln w="10160">
            <a:solidFill>
              <a:srgbClr val="1A2B4A">
                <a:alpha val="45000"/>
              </a:srgbClr>
            </a:solidFill>
            <a:prstDash val="solid"/>
          </a:ln>
        </p:spPr>
      </p:sp>
      <p:graphicFrame>
        <p:nvGraphicFramePr>
          <p:cNvPr id="29" name="Table 0"/>
          <p:cNvGraphicFramePr>
            <a:graphicFrameLocks noGrp="1"/>
          </p:cNvGraphicFramePr>
          <p:nvPr>
            <p:extLst>
              <p:ext uri="{D42A27DB-BD31-4B8C-83A1-F6EECF244321}">
                <p14:modId xmlns:p14="http://schemas.microsoft.com/office/powerpoint/2010/main" val="1579011935"/>
              </p:ext>
            </p:extLst>
          </p:nvPr>
        </p:nvGraphicFramePr>
        <p:xfrm>
          <a:off x="384048" y="987552"/>
          <a:ext cx="8375904" cy="2926080"/>
        </p:xfrm>
        <a:graphic>
          <a:graphicData uri="http://schemas.openxmlformats.org/drawingml/2006/table">
            <a:tbl>
              <a:tblPr/>
              <a:tblGrid>
                <a:gridCol w="1508760"/>
                <a:gridCol w="1920240"/>
                <a:gridCol w="658368"/>
                <a:gridCol w="658368"/>
                <a:gridCol w="658368"/>
                <a:gridCol w="731520"/>
                <a:gridCol w="2240280"/>
              </a:tblGrid>
              <a:tr h="418011">
                <a:tc>
                  <a:txBody>
                    <a:bodyPr/>
                    <a:lstStyle/>
                    <a:p>
                      <a:pPr algn="ctr" indent="0" marL="0">
                        <a:buNone/>
                      </a:pPr>
                      <a:r>
                        <a:rPr lang="en-US" sz="1050" b="1" dirty="0">
                          <a:solidFill>
                            <a:srgbClr val="FFFFFF"/>
                          </a:solidFill>
                        </a:rPr>
                        <a:t>Study</a:t>
                      </a:r>
                      <a:endParaRPr lang="en-US" sz="1050" dirty="0"/>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1A2B4A"/>
                    </a:solidFill>
                  </a:tcPr>
                </a:tc>
                <a:tc>
                  <a:txBody>
                    <a:bodyPr/>
                    <a:lstStyle/>
                    <a:p>
                      <a:pPr algn="ctr" indent="0" marL="0">
                        <a:buNone/>
                      </a:pPr>
                      <a:r>
                        <a:rPr lang="en-US" sz="1050" b="1" dirty="0">
                          <a:solidFill>
                            <a:srgbClr val="FFFFFF"/>
                          </a:solidFill>
                        </a:rPr>
                        <a:t>Approach</a:t>
                      </a:r>
                      <a:endParaRPr lang="en-US" sz="1050" dirty="0"/>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1A2B4A"/>
                    </a:solidFill>
                  </a:tcPr>
                </a:tc>
                <a:tc>
                  <a:txBody>
                    <a:bodyPr/>
                    <a:lstStyle/>
                    <a:p>
                      <a:pPr algn="ctr" indent="0" marL="0">
                        <a:buNone/>
                      </a:pPr>
                      <a:r>
                        <a:rPr lang="en-US" sz="1050" b="1" dirty="0">
                          <a:solidFill>
                            <a:srgbClr val="FFFFFF"/>
                          </a:solidFill>
                        </a:rPr>
                        <a:t>Camera</a:t>
                      </a:r>
                      <a:endParaRPr lang="en-US" sz="1050" dirty="0"/>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1A2B4A"/>
                    </a:solidFill>
                  </a:tcPr>
                </a:tc>
                <a:tc>
                  <a:txBody>
                    <a:bodyPr/>
                    <a:lstStyle/>
                    <a:p>
                      <a:pPr algn="ctr" indent="0" marL="0">
                        <a:buNone/>
                      </a:pPr>
                      <a:r>
                        <a:rPr lang="en-US" sz="1050" b="1" dirty="0">
                          <a:solidFill>
                            <a:srgbClr val="FFFFFF"/>
                          </a:solidFill>
                        </a:rPr>
                        <a:t>Shelf-Life</a:t>
                      </a:r>
                      <a:endParaRPr lang="en-US" sz="1050" dirty="0"/>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1A2B4A"/>
                    </a:solidFill>
                  </a:tcPr>
                </a:tc>
                <a:tc>
                  <a:txBody>
                    <a:bodyPr/>
                    <a:lstStyle/>
                    <a:p>
                      <a:pPr algn="ctr" indent="0" marL="0">
                        <a:buNone/>
                      </a:pPr>
                      <a:r>
                        <a:rPr lang="en-US" sz="1050" b="1" dirty="0">
                          <a:solidFill>
                            <a:srgbClr val="FFFFFF"/>
                          </a:solidFill>
                        </a:rPr>
                        <a:t>Ethylene</a:t>
                      </a:r>
                      <a:endParaRPr lang="en-US" sz="1050" dirty="0"/>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1A2B4A"/>
                    </a:solidFill>
                  </a:tcPr>
                </a:tc>
                <a:tc>
                  <a:txBody>
                    <a:bodyPr/>
                    <a:lstStyle/>
                    <a:p>
                      <a:pPr algn="ctr" indent="0" marL="0">
                        <a:buNone/>
                      </a:pPr>
                      <a:r>
                        <a:rPr lang="en-US" sz="1050" b="1" dirty="0">
                          <a:solidFill>
                            <a:srgbClr val="FFFFFF"/>
                          </a:solidFill>
                        </a:rPr>
                        <a:t>Deployment</a:t>
                      </a:r>
                      <a:endParaRPr lang="en-US" sz="1050" dirty="0"/>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1A2B4A"/>
                    </a:solidFill>
                  </a:tcPr>
                </a:tc>
                <a:tc>
                  <a:txBody>
                    <a:bodyPr/>
                    <a:lstStyle/>
                    <a:p>
                      <a:pPr algn="ctr" indent="0" marL="0">
                        <a:buNone/>
                      </a:pPr>
                      <a:r>
                        <a:rPr lang="en-US" sz="1050" b="1" dirty="0">
                          <a:solidFill>
                            <a:srgbClr val="FFFFFF"/>
                          </a:solidFill>
                        </a:rPr>
                        <a:t>Notes</a:t>
                      </a:r>
                      <a:endParaRPr lang="en-US" sz="1050" dirty="0"/>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1A2B4A"/>
                    </a:solidFill>
                  </a:tcPr>
                </a:tc>
              </a:tr>
              <a:tr h="418011">
                <a:tc>
                  <a:txBody>
                    <a:bodyPr/>
                    <a:lstStyle/>
                    <a:p>
                      <a:pPr algn="l" indent="0" marL="0">
                        <a:buNone/>
                      </a:pPr>
                      <a:r>
                        <a:rPr lang="en-US" sz="1050" b="1" dirty="0">
                          <a:solidFill>
                            <a:srgbClr val="1A2B4A"/>
                          </a:solidFill>
                        </a:rPr>
                        <a:t>Fu et al. (2022)</a:t>
                      </a:r>
                      <a:endParaRPr lang="en-US" sz="1050" dirty="0"/>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4F7F9"/>
                    </a:solidFill>
                  </a:tcPr>
                </a:tc>
                <a:tc>
                  <a:txBody>
                    <a:bodyPr/>
                    <a:lstStyle/>
                    <a:p>
                      <a:pPr algn="l" indent="0" marL="0">
                        <a:buNone/>
                      </a:pPr>
                      <a:r>
                        <a:rPr lang="en-US" sz="1000" dirty="0">
                          <a:solidFill>
                            <a:srgbClr val="4A5568"/>
                          </a:solidFill>
                        </a:rPr>
                        <a:t>ResNet-50 classification</a:t>
                      </a:r>
                      <a:endParaRPr lang="en-US" sz="1000" dirty="0"/>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4F7F9"/>
                    </a:solidFill>
                  </a:tcPr>
                </a:tc>
                <a:tc>
                  <a:txBody>
                    <a:bodyPr/>
                    <a:lstStyle/>
                    <a:p>
                      <a:pPr algn="ctr" indent="0" marL="0">
                        <a:buNone/>
                      </a:pPr>
                      <a:r>
                        <a:rPr lang="en-US" sz="1300" dirty="0">
                          <a:solidFill>
                            <a:srgbClr val="2E7D32"/>
                          </a:solidFill>
                        </a:rPr>
                        <a:t>✓</a:t>
                      </a:r>
                      <a:endParaRPr lang="en-US" sz="1300" dirty="0"/>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4F7F9"/>
                    </a:solidFill>
                  </a:tcPr>
                </a:tc>
                <a:tc>
                  <a:txBody>
                    <a:bodyPr/>
                    <a:lstStyle/>
                    <a:p>
                      <a:pPr algn="ctr" indent="0" marL="0">
                        <a:buNone/>
                      </a:pPr>
                      <a:r>
                        <a:rPr lang="en-US" sz="1300" dirty="0">
                          <a:solidFill>
                            <a:srgbClr val="C0392B"/>
                          </a:solidFill>
                        </a:rPr>
                        <a:t>✗</a:t>
                      </a:r>
                      <a:endParaRPr lang="en-US" sz="1300" dirty="0"/>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4F7F9"/>
                    </a:solidFill>
                  </a:tcPr>
                </a:tc>
                <a:tc>
                  <a:txBody>
                    <a:bodyPr/>
                    <a:lstStyle/>
                    <a:p>
                      <a:pPr algn="ctr" indent="0" marL="0">
                        <a:buNone/>
                      </a:pPr>
                      <a:r>
                        <a:rPr lang="en-US" sz="1300" dirty="0">
                          <a:solidFill>
                            <a:srgbClr val="C0392B"/>
                          </a:solidFill>
                        </a:rPr>
                        <a:t>✗</a:t>
                      </a:r>
                      <a:endParaRPr lang="en-US" sz="1300" dirty="0"/>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4F7F9"/>
                    </a:solidFill>
                  </a:tcPr>
                </a:tc>
                <a:tc>
                  <a:txBody>
                    <a:bodyPr/>
                    <a:lstStyle/>
                    <a:p>
                      <a:pPr algn="ctr" indent="0" marL="0">
                        <a:buNone/>
                      </a:pPr>
                      <a:r>
                        <a:rPr lang="en-US" sz="1300" dirty="0">
                          <a:solidFill>
                            <a:srgbClr val="C0392B"/>
                          </a:solidFill>
                        </a:rPr>
                        <a:t>✗</a:t>
                      </a:r>
                      <a:endParaRPr lang="en-US" sz="1300" dirty="0"/>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4F7F9"/>
                    </a:solidFill>
                  </a:tcPr>
                </a:tc>
                <a:tc>
                  <a:txBody>
                    <a:bodyPr/>
                    <a:lstStyle/>
                    <a:p>
                      <a:pPr algn="l" indent="0" marL="0">
                        <a:buNone/>
                      </a:pPr>
                      <a:r>
                        <a:rPr lang="en-US" sz="1000" dirty="0">
                          <a:solidFill>
                            <a:srgbClr val="4A5568"/>
                          </a:solidFill>
                        </a:rPr>
                        <a:t>Single fruit type; no shelf-life</a:t>
                      </a:r>
                      <a:endParaRPr lang="en-US" sz="1000" dirty="0"/>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4F7F9"/>
                    </a:solidFill>
                  </a:tcPr>
                </a:tc>
              </a:tr>
              <a:tr h="418011">
                <a:tc>
                  <a:txBody>
                    <a:bodyPr/>
                    <a:lstStyle/>
                    <a:p>
                      <a:pPr algn="l" indent="0" marL="0">
                        <a:buNone/>
                      </a:pPr>
                      <a:r>
                        <a:rPr lang="en-US" sz="1050" b="1" dirty="0">
                          <a:solidFill>
                            <a:srgbClr val="1A2B4A"/>
                          </a:solidFill>
                        </a:rPr>
                        <a:t>Hu et al. (2024)</a:t>
                      </a:r>
                      <a:endParaRPr lang="en-US" sz="1050" dirty="0"/>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algn="l" indent="0" marL="0">
                        <a:buNone/>
                      </a:pPr>
                      <a:r>
                        <a:rPr lang="en-US" sz="1000" dirty="0">
                          <a:solidFill>
                            <a:srgbClr val="4A5568"/>
                          </a:solidFill>
                        </a:rPr>
                        <a:t>Mobile EfficientNet</a:t>
                      </a:r>
                      <a:endParaRPr lang="en-US" sz="1000" dirty="0"/>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2E7D32"/>
                          </a:solidFill>
                        </a:rPr>
                        <a:t>✓</a:t>
                      </a:r>
                      <a:endParaRPr lang="en-US" sz="1300" dirty="0"/>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C0392B"/>
                          </a:solidFill>
                        </a:rPr>
                        <a:t>✗</a:t>
                      </a:r>
                      <a:endParaRPr lang="en-US" sz="1300" dirty="0"/>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C0392B"/>
                          </a:solidFill>
                        </a:rPr>
                        <a:t>✗</a:t>
                      </a:r>
                      <a:endParaRPr lang="en-US" sz="1300" dirty="0"/>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C0392B"/>
                          </a:solidFill>
                        </a:rPr>
                        <a:t>✗</a:t>
                      </a:r>
                      <a:endParaRPr lang="en-US" sz="1300" dirty="0"/>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algn="l" indent="0" marL="0">
                        <a:buNone/>
                      </a:pPr>
                      <a:r>
                        <a:rPr lang="en-US" sz="1000" dirty="0">
                          <a:solidFill>
                            <a:srgbClr val="4A5568"/>
                          </a:solidFill>
                        </a:rPr>
                        <a:t>97 MB model; vegetables only</a:t>
                      </a:r>
                      <a:endParaRPr lang="en-US" sz="1000" dirty="0"/>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r>
              <a:tr h="418011">
                <a:tc>
                  <a:txBody>
                    <a:bodyPr/>
                    <a:lstStyle/>
                    <a:p>
                      <a:pPr algn="l" indent="0" marL="0">
                        <a:buNone/>
                      </a:pPr>
                      <a:r>
                        <a:rPr lang="en-US" sz="1050" b="1" dirty="0">
                          <a:solidFill>
                            <a:srgbClr val="1A2B4A"/>
                          </a:solidFill>
                        </a:rPr>
                        <a:t>Wang et al. (2025)</a:t>
                      </a:r>
                      <a:endParaRPr lang="en-US" sz="1050" dirty="0"/>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4F7F9"/>
                    </a:solidFill>
                  </a:tcPr>
                </a:tc>
                <a:tc>
                  <a:txBody>
                    <a:bodyPr/>
                    <a:lstStyle/>
                    <a:p>
                      <a:pPr algn="l" indent="0" marL="0">
                        <a:buNone/>
                      </a:pPr>
                      <a:r>
                        <a:rPr lang="en-US" sz="1000" dirty="0">
                          <a:solidFill>
                            <a:srgbClr val="4A5568"/>
                          </a:solidFill>
                        </a:rPr>
                        <a:t>IoT sensor array</a:t>
                      </a:r>
                      <a:endParaRPr lang="en-US" sz="1000" dirty="0"/>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4F7F9"/>
                    </a:solidFill>
                  </a:tcPr>
                </a:tc>
                <a:tc>
                  <a:txBody>
                    <a:bodyPr/>
                    <a:lstStyle/>
                    <a:p>
                      <a:pPr algn="ctr" indent="0" marL="0">
                        <a:buNone/>
                      </a:pPr>
                      <a:r>
                        <a:rPr lang="en-US" sz="1300" dirty="0">
                          <a:solidFill>
                            <a:srgbClr val="C0392B"/>
                          </a:solidFill>
                        </a:rPr>
                        <a:t>✗</a:t>
                      </a:r>
                      <a:endParaRPr lang="en-US" sz="1300" dirty="0"/>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4F7F9"/>
                    </a:solidFill>
                  </a:tcPr>
                </a:tc>
                <a:tc>
                  <a:txBody>
                    <a:bodyPr/>
                    <a:lstStyle/>
                    <a:p>
                      <a:pPr algn="ctr" indent="0" marL="0">
                        <a:buNone/>
                      </a:pPr>
                      <a:r>
                        <a:rPr lang="en-US" sz="1300" dirty="0">
                          <a:solidFill>
                            <a:srgbClr val="2E7D32"/>
                          </a:solidFill>
                        </a:rPr>
                        <a:t>✓</a:t>
                      </a:r>
                      <a:endParaRPr lang="en-US" sz="1300" dirty="0"/>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4F7F9"/>
                    </a:solidFill>
                  </a:tcPr>
                </a:tc>
                <a:tc>
                  <a:txBody>
                    <a:bodyPr/>
                    <a:lstStyle/>
                    <a:p>
                      <a:pPr algn="ctr" indent="0" marL="0">
                        <a:buNone/>
                      </a:pPr>
                      <a:r>
                        <a:rPr lang="en-US" sz="1300" dirty="0">
                          <a:solidFill>
                            <a:srgbClr val="C0392B"/>
                          </a:solidFill>
                        </a:rPr>
                        <a:t>✗</a:t>
                      </a:r>
                      <a:endParaRPr lang="en-US" sz="1300" dirty="0"/>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4F7F9"/>
                    </a:solidFill>
                  </a:tcPr>
                </a:tc>
                <a:tc>
                  <a:txBody>
                    <a:bodyPr/>
                    <a:lstStyle/>
                    <a:p>
                      <a:pPr algn="ctr" indent="0" marL="0">
                        <a:buNone/>
                      </a:pPr>
                      <a:r>
                        <a:rPr lang="en-US" sz="1300" dirty="0">
                          <a:solidFill>
                            <a:srgbClr val="C0392B"/>
                          </a:solidFill>
                        </a:rPr>
                        <a:t>✗</a:t>
                      </a:r>
                      <a:endParaRPr lang="en-US" sz="1300" dirty="0"/>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4F7F9"/>
                    </a:solidFill>
                  </a:tcPr>
                </a:tc>
                <a:tc>
                  <a:txBody>
                    <a:bodyPr/>
                    <a:lstStyle/>
                    <a:p>
                      <a:pPr algn="l" indent="0" marL="0">
                        <a:buNone/>
                      </a:pPr>
                      <a:r>
                        <a:rPr lang="en-US" sz="1000" dirty="0">
                          <a:solidFill>
                            <a:srgbClr val="4A5568"/>
                          </a:solidFill>
                        </a:rPr>
                        <a:t>Hardware-dependent; inaccessible</a:t>
                      </a:r>
                      <a:endParaRPr lang="en-US" sz="1000" dirty="0"/>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4F7F9"/>
                    </a:solidFill>
                  </a:tcPr>
                </a:tc>
              </a:tr>
              <a:tr h="418011">
                <a:tc>
                  <a:txBody>
                    <a:bodyPr/>
                    <a:lstStyle/>
                    <a:p>
                      <a:pPr algn="l" indent="0" marL="0">
                        <a:buNone/>
                      </a:pPr>
                      <a:r>
                        <a:rPr lang="en-US" sz="1050" b="1" dirty="0">
                          <a:solidFill>
                            <a:srgbClr val="1A2B4A"/>
                          </a:solidFill>
                        </a:rPr>
                        <a:t>Vasquez et al. (2024)</a:t>
                      </a:r>
                      <a:endParaRPr lang="en-US" sz="1050" dirty="0"/>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algn="l" indent="0" marL="0">
                        <a:buNone/>
                      </a:pPr>
                      <a:r>
                        <a:rPr lang="en-US" sz="1000" dirty="0">
                          <a:solidFill>
                            <a:srgbClr val="4A5568"/>
                          </a:solidFill>
                        </a:rPr>
                        <a:t>Fuzzy logic (lab)</a:t>
                      </a:r>
                      <a:endParaRPr lang="en-US" sz="1000" dirty="0"/>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C0392B"/>
                          </a:solidFill>
                        </a:rPr>
                        <a:t>✗</a:t>
                      </a:r>
                      <a:endParaRPr lang="en-US" sz="1300" dirty="0"/>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2E7D32"/>
                          </a:solidFill>
                        </a:rPr>
                        <a:t>✓</a:t>
                      </a:r>
                      <a:endParaRPr lang="en-US" sz="1300" dirty="0"/>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C0392B"/>
                          </a:solidFill>
                        </a:rPr>
                        <a:t>✗</a:t>
                      </a:r>
                      <a:endParaRPr lang="en-US" sz="1300" dirty="0"/>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C0392B"/>
                          </a:solidFill>
                        </a:rPr>
                        <a:t>✗</a:t>
                      </a:r>
                      <a:endParaRPr lang="en-US" sz="1300" dirty="0"/>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algn="l" indent="0" marL="0">
                        <a:buNone/>
                      </a:pPr>
                      <a:r>
                        <a:rPr lang="en-US" sz="1000" dirty="0">
                          <a:solidFill>
                            <a:srgbClr val="4A5568"/>
                          </a:solidFill>
                        </a:rPr>
                        <a:t>No camera; theoretical only</a:t>
                      </a:r>
                      <a:endParaRPr lang="en-US" sz="1000" dirty="0"/>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r>
              <a:tr h="418011">
                <a:tc>
                  <a:txBody>
                    <a:bodyPr/>
                    <a:lstStyle/>
                    <a:p>
                      <a:pPr algn="l" indent="0" marL="0">
                        <a:buNone/>
                      </a:pPr>
                      <a:r>
                        <a:rPr lang="en-US" sz="1050" b="1" dirty="0">
                          <a:solidFill>
                            <a:srgbClr val="1A2B4A"/>
                          </a:solidFill>
                        </a:rPr>
                        <a:t>Watkins (2006)</a:t>
                      </a:r>
                      <a:endParaRPr lang="en-US" sz="1050" dirty="0"/>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4F7F9"/>
                    </a:solidFill>
                  </a:tcPr>
                </a:tc>
                <a:tc>
                  <a:txBody>
                    <a:bodyPr/>
                    <a:lstStyle/>
                    <a:p>
                      <a:pPr algn="l" indent="0" marL="0">
                        <a:buNone/>
                      </a:pPr>
                      <a:r>
                        <a:rPr lang="en-US" sz="1000" dirty="0">
                          <a:solidFill>
                            <a:srgbClr val="4A5568"/>
                          </a:solidFill>
                        </a:rPr>
                        <a:t>Post-harvest biology ref.</a:t>
                      </a:r>
                      <a:endParaRPr lang="en-US" sz="1000" dirty="0"/>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4F7F9"/>
                    </a:solidFill>
                  </a:tcPr>
                </a:tc>
                <a:tc>
                  <a:txBody>
                    <a:bodyPr/>
                    <a:lstStyle/>
                    <a:p>
                      <a:pPr algn="ctr" indent="0" marL="0">
                        <a:buNone/>
                      </a:pPr>
                      <a:r>
                        <a:rPr lang="en-US" sz="1300" dirty="0">
                          <a:solidFill>
                            <a:srgbClr val="9E9E9E"/>
                          </a:solidFill>
                        </a:rPr>
                        <a:t>–</a:t>
                      </a:r>
                      <a:endParaRPr lang="en-US" sz="1300" dirty="0"/>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4F7F9"/>
                    </a:solidFill>
                  </a:tcPr>
                </a:tc>
                <a:tc>
                  <a:txBody>
                    <a:bodyPr/>
                    <a:lstStyle/>
                    <a:p>
                      <a:pPr algn="ctr" indent="0" marL="0">
                        <a:buNone/>
                      </a:pPr>
                      <a:r>
                        <a:rPr lang="en-US" sz="1300" dirty="0">
                          <a:solidFill>
                            <a:srgbClr val="9E9E9E"/>
                          </a:solidFill>
                        </a:rPr>
                        <a:t>–</a:t>
                      </a:r>
                      <a:endParaRPr lang="en-US" sz="1300" dirty="0"/>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4F7F9"/>
                    </a:solidFill>
                  </a:tcPr>
                </a:tc>
                <a:tc>
                  <a:txBody>
                    <a:bodyPr/>
                    <a:lstStyle/>
                    <a:p>
                      <a:pPr algn="ctr" indent="0" marL="0">
                        <a:buNone/>
                      </a:pPr>
                      <a:r>
                        <a:rPr lang="en-US" sz="1300" dirty="0">
                          <a:solidFill>
                            <a:srgbClr val="2E7D32"/>
                          </a:solidFill>
                        </a:rPr>
                        <a:t>✓</a:t>
                      </a:r>
                      <a:endParaRPr lang="en-US" sz="1300" dirty="0"/>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4F7F9"/>
                    </a:solidFill>
                  </a:tcPr>
                </a:tc>
                <a:tc>
                  <a:txBody>
                    <a:bodyPr/>
                    <a:lstStyle/>
                    <a:p>
                      <a:pPr algn="ctr" indent="0" marL="0">
                        <a:buNone/>
                      </a:pPr>
                      <a:r>
                        <a:rPr lang="en-US" sz="1300" dirty="0">
                          <a:solidFill>
                            <a:srgbClr val="C0392B"/>
                          </a:solidFill>
                        </a:rPr>
                        <a:t>✗</a:t>
                      </a:r>
                      <a:endParaRPr lang="en-US" sz="1300" dirty="0"/>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4F7F9"/>
                    </a:solidFill>
                  </a:tcPr>
                </a:tc>
                <a:tc>
                  <a:txBody>
                    <a:bodyPr/>
                    <a:lstStyle/>
                    <a:p>
                      <a:pPr algn="l" indent="0" marL="0">
                        <a:buNone/>
                      </a:pPr>
                      <a:r>
                        <a:rPr lang="en-US" sz="1000" dirty="0">
                          <a:solidFill>
                            <a:srgbClr val="4A5568"/>
                          </a:solidFill>
                        </a:rPr>
                        <a:t>Academic ref — no consumer tool</a:t>
                      </a:r>
                      <a:endParaRPr lang="en-US" sz="1000" dirty="0"/>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4F7F9"/>
                    </a:solidFill>
                  </a:tcPr>
                </a:tc>
              </a:tr>
              <a:tr h="418011">
                <a:tc>
                  <a:txBody>
                    <a:bodyPr/>
                    <a:lstStyle/>
                    <a:p>
                      <a:pPr algn="l" indent="0" marL="0">
                        <a:buNone/>
                      </a:pPr>
                      <a:r>
                        <a:rPr lang="en-US" sz="1050" b="1" dirty="0">
                          <a:solidFill>
                            <a:srgbClr val="FFFFFF"/>
                          </a:solidFill>
                        </a:rPr>
                        <a:t>FRESCO (Proposed)</a:t>
                      </a:r>
                      <a:endParaRPr lang="en-US" sz="1050" dirty="0"/>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3A8C7E"/>
                    </a:solidFill>
                  </a:tcPr>
                </a:tc>
                <a:tc>
                  <a:txBody>
                    <a:bodyPr/>
                    <a:lstStyle/>
                    <a:p>
                      <a:pPr algn="l" indent="0" marL="0">
                        <a:buNone/>
                      </a:pPr>
                      <a:r>
                        <a:rPr lang="en-US" sz="1000" b="1" dirty="0">
                          <a:solidFill>
                            <a:srgbClr val="FFFFFF"/>
                          </a:solidFill>
                        </a:rPr>
                        <a:t>MobileNetV2 + D=B×F^1.5×T×R + Ethylene Graph + PWA</a:t>
                      </a:r>
                      <a:endParaRPr lang="en-US" sz="1000" dirty="0"/>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3A8C7E"/>
                    </a:solidFill>
                  </a:tcPr>
                </a:tc>
                <a:tc>
                  <a:txBody>
                    <a:bodyPr/>
                    <a:lstStyle/>
                    <a:p>
                      <a:pPr algn="ctr" indent="0" marL="0">
                        <a:buNone/>
                      </a:pPr>
                      <a:r>
                        <a:rPr lang="en-US" sz="1300" b="1" dirty="0">
                          <a:solidFill>
                            <a:srgbClr val="A8FFD8"/>
                          </a:solidFill>
                        </a:rPr>
                        <a:t>✓</a:t>
                      </a:r>
                      <a:endParaRPr lang="en-US" sz="1300" dirty="0"/>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3A8C7E"/>
                    </a:solidFill>
                  </a:tcPr>
                </a:tc>
                <a:tc>
                  <a:txBody>
                    <a:bodyPr/>
                    <a:lstStyle/>
                    <a:p>
                      <a:pPr algn="ctr" indent="0" marL="0">
                        <a:buNone/>
                      </a:pPr>
                      <a:r>
                        <a:rPr lang="en-US" sz="1300" b="1" dirty="0">
                          <a:solidFill>
                            <a:srgbClr val="A8FFD8"/>
                          </a:solidFill>
                        </a:rPr>
                        <a:t>✓</a:t>
                      </a:r>
                      <a:endParaRPr lang="en-US" sz="1300" dirty="0"/>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3A8C7E"/>
                    </a:solidFill>
                  </a:tcPr>
                </a:tc>
                <a:tc>
                  <a:txBody>
                    <a:bodyPr/>
                    <a:lstStyle/>
                    <a:p>
                      <a:pPr algn="ctr" indent="0" marL="0">
                        <a:buNone/>
                      </a:pPr>
                      <a:r>
                        <a:rPr lang="en-US" sz="1300" b="1" dirty="0">
                          <a:solidFill>
                            <a:srgbClr val="A8FFD8"/>
                          </a:solidFill>
                        </a:rPr>
                        <a:t>✓</a:t>
                      </a:r>
                      <a:endParaRPr lang="en-US" sz="1300" dirty="0"/>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3A8C7E"/>
                    </a:solidFill>
                  </a:tcPr>
                </a:tc>
                <a:tc>
                  <a:txBody>
                    <a:bodyPr/>
                    <a:lstStyle/>
                    <a:p>
                      <a:pPr algn="ctr" indent="0" marL="0">
                        <a:buNone/>
                      </a:pPr>
                      <a:r>
                        <a:rPr lang="en-US" sz="1300" b="1" dirty="0">
                          <a:solidFill>
                            <a:srgbClr val="A8FFD8"/>
                          </a:solidFill>
                        </a:rPr>
                        <a:t>✓</a:t>
                      </a:r>
                      <a:endParaRPr lang="en-US" sz="1300" dirty="0"/>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3A8C7E"/>
                    </a:solidFill>
                  </a:tcPr>
                </a:tc>
                <a:tc>
                  <a:txBody>
                    <a:bodyPr/>
                    <a:lstStyle/>
                    <a:p>
                      <a:pPr algn="l" indent="0" marL="0">
                        <a:buNone/>
                      </a:pPr>
                      <a:r>
                        <a:rPr lang="en-US" sz="1000" b="1" dirty="0">
                          <a:solidFill>
                            <a:srgbClr val="FFFFFF"/>
                          </a:solidFill>
                        </a:rPr>
                        <a:t>89.3% Top-1 · 42 fruits · CPU-only</a:t>
                      </a:r>
                      <a:endParaRPr lang="en-US" sz="1000" dirty="0"/>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3A8C7E"/>
                    </a:solidFill>
                  </a:tcPr>
                </a:tc>
              </a:tr>
            </a:tbl>
          </a:graphicData>
        </a:graphic>
      </p:graphicFrame>
      <p:sp>
        <p:nvSpPr>
          <p:cNvPr id="34" name="Shape 31"/>
          <p:cNvSpPr/>
          <p:nvPr/>
        </p:nvSpPr>
        <p:spPr>
          <a:xfrm>
            <a:off x="384048" y="3986784"/>
            <a:ext cx="8375904" cy="475488"/>
          </a:xfrm>
          <a:prstGeom prst="roundRect">
            <a:avLst>
              <a:gd name="adj" fmla="val 23077"/>
            </a:avLst>
          </a:prstGeom>
          <a:solidFill>
            <a:srgbClr val="E8F5F1"/>
          </a:solidFill>
          <a:ln w="6350">
            <a:solidFill>
              <a:srgbClr val="1A2B4A">
                <a:alpha val="40000"/>
              </a:srgbClr>
            </a:solidFill>
            <a:prstDash val="solid"/>
          </a:ln>
          <a:effectLst>
            <a:outerShdw sx="100000" sy="100000" kx="0" ky="0" algn="bl" rotWithShape="0" blurRad="101600" dist="38100" dir="2700000">
              <a:srgbClr val="000000">
                <a:alpha val="10000"/>
              </a:srgbClr>
            </a:outerShdw>
          </a:effectLst>
        </p:spPr>
      </p:sp>
      <p:sp>
        <p:nvSpPr>
          <p:cNvPr id="35" name="Text 32"/>
          <p:cNvSpPr/>
          <p:nvPr/>
        </p:nvSpPr>
        <p:spPr>
          <a:xfrm>
            <a:off x="548640" y="4023360"/>
            <a:ext cx="8138160" cy="402336"/>
          </a:xfrm>
          <a:prstGeom prst="rect">
            <a:avLst/>
          </a:prstGeom>
          <a:noFill/>
          <a:ln/>
        </p:spPr>
        <p:txBody>
          <a:bodyPr wrap="square" lIns="0" tIns="0" rIns="0" bIns="0" rtlCol="0" anchor="ctr"/>
          <a:lstStyle/>
          <a:p>
            <a:pPr algn="ctr" indent="0" marL="0">
              <a:buNone/>
            </a:pPr>
            <a:r>
              <a:rPr lang="en-US" sz="1150" b="1" dirty="0">
                <a:solidFill>
                  <a:srgbClr val="3A8C7E"/>
                </a:solidFill>
                <a:latin typeface="Calibri" pitchFamily="34" charset="0"/>
                <a:ea typeface="Calibri" pitchFamily="34" charset="-122"/>
                <a:cs typeface="Calibri" pitchFamily="34" charset="-120"/>
              </a:rPr>
              <a:t>Fresco is the only system in this table that combines smartphone-camera classification + multi-factor shelf-life estimation + ethylene storage warnings + live PWA deployment simultaneously.</a:t>
            </a:r>
            <a:endParaRPr lang="en-US" sz="1150" dirty="0"/>
          </a:p>
        </p:txBody>
      </p:sp>
      <p:sp>
        <p:nvSpPr>
          <p:cNvPr id="36" name="Shape 33"/>
          <p:cNvSpPr/>
          <p:nvPr/>
        </p:nvSpPr>
        <p:spPr>
          <a:xfrm>
            <a:off x="384048" y="4517136"/>
            <a:ext cx="8375904" cy="402336"/>
          </a:xfrm>
          <a:prstGeom prst="rect">
            <a:avLst/>
          </a:prstGeom>
          <a:solidFill>
            <a:srgbClr val="E3EEF8"/>
          </a:solidFill>
          <a:ln w="6350">
            <a:solidFill>
              <a:srgbClr val="1A2B4A">
                <a:alpha val="40000"/>
              </a:srgbClr>
            </a:solidFill>
            <a:prstDash val="solid"/>
          </a:ln>
          <a:effectLst>
            <a:outerShdw sx="100000" sy="100000" kx="0" ky="0" algn="bl" rotWithShape="0" blurRad="101600" dist="38100" dir="2700000">
              <a:srgbClr val="000000">
                <a:alpha val="10000"/>
              </a:srgbClr>
            </a:outerShdw>
          </a:effectLst>
        </p:spPr>
      </p:sp>
      <p:sp>
        <p:nvSpPr>
          <p:cNvPr id="37" name="Text 34"/>
          <p:cNvSpPr/>
          <p:nvPr/>
        </p:nvSpPr>
        <p:spPr>
          <a:xfrm>
            <a:off x="548640" y="4553712"/>
            <a:ext cx="8138160" cy="347472"/>
          </a:xfrm>
          <a:prstGeom prst="rect">
            <a:avLst/>
          </a:prstGeom>
          <a:noFill/>
          <a:ln/>
        </p:spPr>
        <p:txBody>
          <a:bodyPr wrap="square" lIns="0" tIns="0" rIns="0" bIns="0" rtlCol="0" anchor="ctr"/>
          <a:lstStyle/>
          <a:p>
            <a:pPr algn="ctr" indent="0" marL="0">
              <a:buNone/>
            </a:pPr>
            <a:r>
              <a:rPr lang="en-US" sz="1100" dirty="0">
                <a:solidFill>
                  <a:srgbClr val="1A2B4A"/>
                </a:solidFill>
                <a:latin typeface="Calibri" pitchFamily="34" charset="0"/>
                <a:ea typeface="Calibri" pitchFamily="34" charset="-122"/>
                <a:cs typeface="Calibri" pitchFamily="34" charset="-120"/>
              </a:rPr>
              <a:t>At 11.6 MB and ~380 ms CPU inference, Fresco is the smallest and most deployment-efficient food-freshness AI system reviewed. No GPU required. No hardware beyond a smartphone.</a:t>
            </a:r>
            <a:endParaRPr lang="en-US" sz="11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EBEBEB"/>
        </a:solidFill>
      </p:bgPr>
    </p:bg>
    <p:spTree>
      <p:nvGrpSpPr>
        <p:cNvPr id="1" name=""/>
        <p:cNvGrpSpPr/>
        <p:nvPr/>
      </p:nvGrpSpPr>
      <p:grpSpPr>
        <a:xfrm>
          <a:off x="0" y="0"/>
          <a:ext cx="0" cy="0"/>
          <a:chOff x="0" y="0"/>
          <a:chExt cx="0" cy="0"/>
        </a:xfrm>
      </p:grpSpPr>
      <p:sp>
        <p:nvSpPr>
          <p:cNvPr id="2" name="Shape 0"/>
          <p:cNvSpPr/>
          <p:nvPr/>
        </p:nvSpPr>
        <p:spPr>
          <a:xfrm>
            <a:off x="7680960" y="182880"/>
            <a:ext cx="1828800" cy="1828800"/>
          </a:xfrm>
          <a:prstGeom prst="ellipse">
            <a:avLst/>
          </a:prstGeom>
          <a:ln w="19050">
            <a:solidFill>
              <a:srgbClr val="1A2B4A">
                <a:alpha val="18000"/>
              </a:srgbClr>
            </a:solidFill>
            <a:prstDash val="solid"/>
          </a:ln>
        </p:spPr>
      </p:sp>
      <p:sp>
        <p:nvSpPr>
          <p:cNvPr id="3" name="Shape 1"/>
          <p:cNvSpPr/>
          <p:nvPr/>
        </p:nvSpPr>
        <p:spPr>
          <a:xfrm>
            <a:off x="7982712" y="484632"/>
            <a:ext cx="1225296" cy="1225296"/>
          </a:xfrm>
          <a:prstGeom prst="ellipse">
            <a:avLst/>
          </a:prstGeom>
          <a:ln w="19050">
            <a:solidFill>
              <a:srgbClr val="3B5FA0">
                <a:alpha val="25000"/>
              </a:srgbClr>
            </a:solidFill>
            <a:prstDash val="solid"/>
          </a:ln>
        </p:spPr>
      </p:sp>
      <p:sp>
        <p:nvSpPr>
          <p:cNvPr id="4" name="Shape 2"/>
          <p:cNvSpPr/>
          <p:nvPr/>
        </p:nvSpPr>
        <p:spPr>
          <a:xfrm>
            <a:off x="8247888" y="749808"/>
            <a:ext cx="694944" cy="694944"/>
          </a:xfrm>
          <a:prstGeom prst="ellipse">
            <a:avLst/>
          </a:prstGeom>
          <a:ln w="19050">
            <a:solidFill>
              <a:srgbClr val="3A8C7E">
                <a:alpha val="32000"/>
              </a:srgbClr>
            </a:solidFill>
            <a:prstDash val="solid"/>
          </a:ln>
        </p:spPr>
      </p:sp>
      <p:sp>
        <p:nvSpPr>
          <p:cNvPr id="5" name="Shape 3"/>
          <p:cNvSpPr/>
          <p:nvPr/>
        </p:nvSpPr>
        <p:spPr>
          <a:xfrm rot="-2700000">
            <a:off x="182880" y="4114800"/>
            <a:ext cx="457200" cy="0"/>
          </a:xfrm>
          <a:prstGeom prst="line">
            <a:avLst/>
          </a:prstGeom>
          <a:noFill/>
          <a:ln w="12700">
            <a:solidFill>
              <a:srgbClr val="1A2B4A">
                <a:alpha val="28000"/>
              </a:srgbClr>
            </a:solidFill>
            <a:prstDash val="solid"/>
          </a:ln>
        </p:spPr>
      </p:sp>
      <p:sp>
        <p:nvSpPr>
          <p:cNvPr id="6" name="Shape 4"/>
          <p:cNvSpPr/>
          <p:nvPr/>
        </p:nvSpPr>
        <p:spPr>
          <a:xfrm rot="-2700000">
            <a:off x="347472" y="4114800"/>
            <a:ext cx="457200" cy="0"/>
          </a:xfrm>
          <a:prstGeom prst="line">
            <a:avLst/>
          </a:prstGeom>
          <a:noFill/>
          <a:ln w="12700">
            <a:solidFill>
              <a:srgbClr val="1A2B4A">
                <a:alpha val="28000"/>
              </a:srgbClr>
            </a:solidFill>
            <a:prstDash val="solid"/>
          </a:ln>
        </p:spPr>
      </p:sp>
      <p:sp>
        <p:nvSpPr>
          <p:cNvPr id="7" name="Shape 5"/>
          <p:cNvSpPr/>
          <p:nvPr/>
        </p:nvSpPr>
        <p:spPr>
          <a:xfrm rot="-2700000">
            <a:off x="512064" y="4114800"/>
            <a:ext cx="457200" cy="0"/>
          </a:xfrm>
          <a:prstGeom prst="line">
            <a:avLst/>
          </a:prstGeom>
          <a:noFill/>
          <a:ln w="12700">
            <a:solidFill>
              <a:srgbClr val="1A2B4A">
                <a:alpha val="28000"/>
              </a:srgbClr>
            </a:solidFill>
            <a:prstDash val="solid"/>
          </a:ln>
        </p:spPr>
      </p:sp>
      <p:sp>
        <p:nvSpPr>
          <p:cNvPr id="8" name="Shape 6"/>
          <p:cNvSpPr/>
          <p:nvPr/>
        </p:nvSpPr>
        <p:spPr>
          <a:xfrm rot="-2700000">
            <a:off x="676656" y="4114800"/>
            <a:ext cx="457200" cy="0"/>
          </a:xfrm>
          <a:prstGeom prst="line">
            <a:avLst/>
          </a:prstGeom>
          <a:noFill/>
          <a:ln w="12700">
            <a:solidFill>
              <a:srgbClr val="1A2B4A">
                <a:alpha val="28000"/>
              </a:srgbClr>
            </a:solidFill>
            <a:prstDash val="solid"/>
          </a:ln>
        </p:spPr>
      </p:sp>
      <p:sp>
        <p:nvSpPr>
          <p:cNvPr id="9" name="Shape 7"/>
          <p:cNvSpPr/>
          <p:nvPr/>
        </p:nvSpPr>
        <p:spPr>
          <a:xfrm rot="-2700000">
            <a:off x="841248" y="4114800"/>
            <a:ext cx="457200" cy="0"/>
          </a:xfrm>
          <a:prstGeom prst="line">
            <a:avLst/>
          </a:prstGeom>
          <a:noFill/>
          <a:ln w="12700">
            <a:solidFill>
              <a:srgbClr val="1A2B4A">
                <a:alpha val="28000"/>
              </a:srgbClr>
            </a:solidFill>
            <a:prstDash val="solid"/>
          </a:ln>
        </p:spPr>
      </p:sp>
      <p:sp>
        <p:nvSpPr>
          <p:cNvPr id="10" name="Shape 8"/>
          <p:cNvSpPr/>
          <p:nvPr/>
        </p:nvSpPr>
        <p:spPr>
          <a:xfrm rot="-2700000">
            <a:off x="1005840" y="4114800"/>
            <a:ext cx="457200" cy="0"/>
          </a:xfrm>
          <a:prstGeom prst="line">
            <a:avLst/>
          </a:prstGeom>
          <a:noFill/>
          <a:ln w="12700">
            <a:solidFill>
              <a:srgbClr val="1A2B4A">
                <a:alpha val="28000"/>
              </a:srgbClr>
            </a:solidFill>
            <a:prstDash val="solid"/>
          </a:ln>
        </p:spPr>
      </p:sp>
      <p:sp>
        <p:nvSpPr>
          <p:cNvPr id="11" name="Text 9"/>
          <p:cNvSpPr/>
          <p:nvPr/>
        </p:nvSpPr>
        <p:spPr>
          <a:xfrm>
            <a:off x="411480" y="292608"/>
            <a:ext cx="8321040" cy="530352"/>
          </a:xfrm>
          <a:prstGeom prst="rect">
            <a:avLst/>
          </a:prstGeom>
          <a:noFill/>
          <a:ln/>
        </p:spPr>
        <p:txBody>
          <a:bodyPr wrap="square" lIns="0" tIns="0" rIns="0" bIns="0" rtlCol="0" anchor="ctr"/>
          <a:lstStyle/>
          <a:p>
            <a:pPr algn="l" indent="0" marL="0">
              <a:buNone/>
            </a:pPr>
            <a:r>
              <a:rPr lang="en-US" sz="2800" b="1" dirty="0">
                <a:solidFill>
                  <a:srgbClr val="1A2B4A"/>
                </a:solidFill>
                <a:latin typeface="Cambria" pitchFamily="34" charset="0"/>
                <a:ea typeface="Cambria" pitchFamily="34" charset="-122"/>
                <a:cs typeface="Cambria" pitchFamily="34" charset="-120"/>
              </a:rPr>
              <a:t>Contributions to Knowledge</a:t>
            </a:r>
            <a:endParaRPr lang="en-US" sz="2800" dirty="0"/>
          </a:p>
        </p:txBody>
      </p:sp>
      <p:sp>
        <p:nvSpPr>
          <p:cNvPr id="12" name="Shape 10"/>
          <p:cNvSpPr/>
          <p:nvPr/>
        </p:nvSpPr>
        <p:spPr>
          <a:xfrm>
            <a:off x="411480" y="868680"/>
            <a:ext cx="8229600" cy="0"/>
          </a:xfrm>
          <a:prstGeom prst="line">
            <a:avLst/>
          </a:prstGeom>
          <a:noFill/>
          <a:ln w="19050">
            <a:solidFill>
              <a:srgbClr val="3A8C7E">
                <a:alpha val="60000"/>
              </a:srgbClr>
            </a:solidFill>
            <a:prstDash val="solid"/>
          </a:ln>
        </p:spPr>
      </p:sp>
      <p:sp>
        <p:nvSpPr>
          <p:cNvPr id="13" name="Shape 11"/>
          <p:cNvSpPr/>
          <p:nvPr/>
        </p:nvSpPr>
        <p:spPr>
          <a:xfrm>
            <a:off x="411480" y="950976"/>
            <a:ext cx="8229600" cy="0"/>
          </a:xfrm>
          <a:prstGeom prst="line">
            <a:avLst/>
          </a:prstGeom>
          <a:noFill/>
          <a:ln w="10160">
            <a:solidFill>
              <a:srgbClr val="1A2B4A">
                <a:alpha val="45000"/>
              </a:srgbClr>
            </a:solidFill>
            <a:prstDash val="solid"/>
          </a:ln>
        </p:spPr>
      </p:sp>
      <p:sp>
        <p:nvSpPr>
          <p:cNvPr id="14" name="Shape 12"/>
          <p:cNvSpPr/>
          <p:nvPr/>
        </p:nvSpPr>
        <p:spPr>
          <a:xfrm>
            <a:off x="384048" y="1005840"/>
            <a:ext cx="4114800" cy="1572768"/>
          </a:xfrm>
          <a:prstGeom prst="roundRect">
            <a:avLst>
              <a:gd name="adj" fmla="val 6977"/>
            </a:avLst>
          </a:prstGeom>
          <a:solidFill>
            <a:srgbClr val="F4F7F9"/>
          </a:solidFill>
          <a:ln w="6350">
            <a:solidFill>
              <a:srgbClr val="1A2B4A">
                <a:alpha val="40000"/>
              </a:srgbClr>
            </a:solidFill>
            <a:prstDash val="solid"/>
          </a:ln>
          <a:effectLst>
            <a:outerShdw sx="100000" sy="100000" kx="0" ky="0" algn="bl" rotWithShape="0" blurRad="101600" dist="38100" dir="2700000">
              <a:srgbClr val="000000">
                <a:alpha val="10000"/>
              </a:srgbClr>
            </a:outerShdw>
          </a:effectLst>
        </p:spPr>
      </p:sp>
      <p:sp>
        <p:nvSpPr>
          <p:cNvPr id="15" name="Shape 13"/>
          <p:cNvSpPr/>
          <p:nvPr/>
        </p:nvSpPr>
        <p:spPr>
          <a:xfrm>
            <a:off x="512064" y="1133856"/>
            <a:ext cx="457200" cy="457200"/>
          </a:xfrm>
          <a:prstGeom prst="ellipse">
            <a:avLst/>
          </a:prstGeom>
          <a:solidFill>
            <a:srgbClr val="3A8C7E"/>
          </a:solidFill>
          <a:ln/>
        </p:spPr>
      </p:sp>
      <p:sp>
        <p:nvSpPr>
          <p:cNvPr id="16" name="Text 14"/>
          <p:cNvSpPr/>
          <p:nvPr/>
        </p:nvSpPr>
        <p:spPr>
          <a:xfrm>
            <a:off x="512064" y="1133856"/>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01</a:t>
            </a:r>
            <a:endParaRPr lang="en-US" sz="1500" dirty="0"/>
          </a:p>
        </p:txBody>
      </p:sp>
      <p:sp>
        <p:nvSpPr>
          <p:cNvPr id="17" name="Text 15"/>
          <p:cNvSpPr/>
          <p:nvPr/>
        </p:nvSpPr>
        <p:spPr>
          <a:xfrm>
            <a:off x="1060704" y="1133856"/>
            <a:ext cx="3346704" cy="365760"/>
          </a:xfrm>
          <a:prstGeom prst="rect">
            <a:avLst/>
          </a:prstGeom>
          <a:noFill/>
          <a:ln/>
        </p:spPr>
        <p:txBody>
          <a:bodyPr wrap="square" lIns="0" tIns="0" rIns="0" bIns="0" rtlCol="0" anchor="ctr"/>
          <a:lstStyle/>
          <a:p>
            <a:pPr indent="0" marL="0">
              <a:buNone/>
            </a:pPr>
            <a:r>
              <a:rPr lang="en-US" sz="1150" b="1" dirty="0">
                <a:solidFill>
                  <a:srgbClr val="1A2B4A"/>
                </a:solidFill>
                <a:latin typeface="Calibri" pitchFamily="34" charset="0"/>
                <a:ea typeface="Calibri" pitchFamily="34" charset="-122"/>
                <a:cs typeface="Calibri" pitchFamily="34" charset="-120"/>
              </a:rPr>
              <a:t>Novel Multi-Factor Shelf-Life Formula</a:t>
            </a:r>
            <a:endParaRPr lang="en-US" sz="1150" dirty="0"/>
          </a:p>
        </p:txBody>
      </p:sp>
      <p:sp>
        <p:nvSpPr>
          <p:cNvPr id="18" name="Text 16"/>
          <p:cNvSpPr/>
          <p:nvPr/>
        </p:nvSpPr>
        <p:spPr>
          <a:xfrm>
            <a:off x="512064" y="1609344"/>
            <a:ext cx="3895344" cy="822960"/>
          </a:xfrm>
          <a:prstGeom prst="rect">
            <a:avLst/>
          </a:prstGeom>
          <a:noFill/>
          <a:ln/>
        </p:spPr>
        <p:txBody>
          <a:bodyPr wrap="square" lIns="0" tIns="0" rIns="0" bIns="0" rtlCol="0" anchor="t"/>
          <a:lstStyle/>
          <a:p>
            <a:pPr indent="0" marL="0">
              <a:buNone/>
            </a:pPr>
            <a:r>
              <a:rPr lang="en-US" sz="1050" dirty="0">
                <a:solidFill>
                  <a:srgbClr val="4A5568"/>
                </a:solidFill>
                <a:latin typeface="Calibri" pitchFamily="34" charset="0"/>
                <a:ea typeface="Calibri" pitchFamily="34" charset="-122"/>
                <a:cs typeface="Calibri" pitchFamily="34" charset="-120"/>
              </a:rPr>
              <a:t>The formula D = B × F^1.5 × T × R introduces a non-linear freshness exponent grounded in food-science evidence that quality degrades acceleratingly with age. This is a contribution over linear formulas in prior work (Vasquez et al., 2024). All three adjustment factors (temperature deviation, ripeness stage, non-linear decay) are independently justified and calibrated.</a:t>
            </a:r>
            <a:endParaRPr lang="en-US" sz="1050" dirty="0"/>
          </a:p>
        </p:txBody>
      </p:sp>
      <p:sp>
        <p:nvSpPr>
          <p:cNvPr id="19" name="Text 17"/>
          <p:cNvSpPr/>
          <p:nvPr/>
        </p:nvSpPr>
        <p:spPr>
          <a:xfrm>
            <a:off x="512064" y="2432304"/>
            <a:ext cx="3895344" cy="128016"/>
          </a:xfrm>
          <a:prstGeom prst="rect">
            <a:avLst/>
          </a:prstGeom>
          <a:noFill/>
          <a:ln/>
        </p:spPr>
        <p:txBody>
          <a:bodyPr wrap="square" lIns="0" tIns="0" rIns="0" bIns="0" rtlCol="0" anchor="ctr"/>
          <a:lstStyle/>
          <a:p>
            <a:pPr indent="0" marL="0">
              <a:buNone/>
            </a:pPr>
            <a:r>
              <a:rPr lang="en-US" sz="900" i="1" dirty="0">
                <a:solidFill>
                  <a:srgbClr val="607D8B"/>
                </a:solidFill>
                <a:latin typeface="Calibri" pitchFamily="34" charset="0"/>
                <a:ea typeface="Calibri" pitchFamily="34" charset="-122"/>
                <a:cs typeface="Calibri" pitchFamily="34" charset="-120"/>
              </a:rPr>
              <a:t>(Kader, 2002; Jay et al., 2005)</a:t>
            </a:r>
            <a:endParaRPr lang="en-US" sz="900" dirty="0"/>
          </a:p>
        </p:txBody>
      </p:sp>
      <p:sp>
        <p:nvSpPr>
          <p:cNvPr id="20" name="Shape 18"/>
          <p:cNvSpPr/>
          <p:nvPr/>
        </p:nvSpPr>
        <p:spPr>
          <a:xfrm>
            <a:off x="4636008" y="1005840"/>
            <a:ext cx="4114800" cy="1572768"/>
          </a:xfrm>
          <a:prstGeom prst="roundRect">
            <a:avLst>
              <a:gd name="adj" fmla="val 6977"/>
            </a:avLst>
          </a:prstGeom>
          <a:solidFill>
            <a:srgbClr val="F4F7F9"/>
          </a:solidFill>
          <a:ln w="6350">
            <a:solidFill>
              <a:srgbClr val="1A2B4A">
                <a:alpha val="40000"/>
              </a:srgbClr>
            </a:solidFill>
            <a:prstDash val="solid"/>
          </a:ln>
          <a:effectLst>
            <a:outerShdw sx="100000" sy="100000" kx="0" ky="0" algn="bl" rotWithShape="0" blurRad="101600" dist="38100" dir="2700000">
              <a:srgbClr val="000000">
                <a:alpha val="10000"/>
              </a:srgbClr>
            </a:outerShdw>
          </a:effectLst>
        </p:spPr>
      </p:sp>
      <p:sp>
        <p:nvSpPr>
          <p:cNvPr id="21" name="Shape 19"/>
          <p:cNvSpPr/>
          <p:nvPr/>
        </p:nvSpPr>
        <p:spPr>
          <a:xfrm>
            <a:off x="4764024" y="1133856"/>
            <a:ext cx="457200" cy="457200"/>
          </a:xfrm>
          <a:prstGeom prst="ellipse">
            <a:avLst/>
          </a:prstGeom>
          <a:solidFill>
            <a:srgbClr val="3A8C7E"/>
          </a:solidFill>
          <a:ln/>
        </p:spPr>
      </p:sp>
      <p:sp>
        <p:nvSpPr>
          <p:cNvPr id="22" name="Text 20"/>
          <p:cNvSpPr/>
          <p:nvPr/>
        </p:nvSpPr>
        <p:spPr>
          <a:xfrm>
            <a:off x="4764024" y="1133856"/>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02</a:t>
            </a:r>
            <a:endParaRPr lang="en-US" sz="1500" dirty="0"/>
          </a:p>
        </p:txBody>
      </p:sp>
      <p:sp>
        <p:nvSpPr>
          <p:cNvPr id="23" name="Text 21"/>
          <p:cNvSpPr/>
          <p:nvPr/>
        </p:nvSpPr>
        <p:spPr>
          <a:xfrm>
            <a:off x="5312664" y="1133856"/>
            <a:ext cx="3346704" cy="365760"/>
          </a:xfrm>
          <a:prstGeom prst="rect">
            <a:avLst/>
          </a:prstGeom>
          <a:noFill/>
          <a:ln/>
        </p:spPr>
        <p:txBody>
          <a:bodyPr wrap="square" lIns="0" tIns="0" rIns="0" bIns="0" rtlCol="0" anchor="ctr"/>
          <a:lstStyle/>
          <a:p>
            <a:pPr indent="0" marL="0">
              <a:buNone/>
            </a:pPr>
            <a:r>
              <a:rPr lang="en-US" sz="1150" b="1" dirty="0">
                <a:solidFill>
                  <a:srgbClr val="1A2B4A"/>
                </a:solidFill>
                <a:latin typeface="Calibri" pitchFamily="34" charset="0"/>
                <a:ea typeface="Calibri" pitchFamily="34" charset="-122"/>
                <a:cs typeface="Calibri" pitchFamily="34" charset="-120"/>
              </a:rPr>
              <a:t>First Consumer-Facing Ethylene Compatibility Engine</a:t>
            </a:r>
            <a:endParaRPr lang="en-US" sz="1150" dirty="0"/>
          </a:p>
        </p:txBody>
      </p:sp>
      <p:sp>
        <p:nvSpPr>
          <p:cNvPr id="24" name="Text 22"/>
          <p:cNvSpPr/>
          <p:nvPr/>
        </p:nvSpPr>
        <p:spPr>
          <a:xfrm>
            <a:off x="4764024" y="1609344"/>
            <a:ext cx="3895344" cy="822960"/>
          </a:xfrm>
          <a:prstGeom prst="rect">
            <a:avLst/>
          </a:prstGeom>
          <a:noFill/>
          <a:ln/>
        </p:spPr>
        <p:txBody>
          <a:bodyPr wrap="square" lIns="0" tIns="0" rIns="0" bIns="0" rtlCol="0" anchor="t"/>
          <a:lstStyle/>
          <a:p>
            <a:pPr indent="0" marL="0">
              <a:buNone/>
            </a:pPr>
            <a:r>
              <a:rPr lang="en-US" sz="1050" dirty="0">
                <a:solidFill>
                  <a:srgbClr val="4A5568"/>
                </a:solidFill>
                <a:latin typeface="Calibri" pitchFamily="34" charset="0"/>
                <a:ea typeface="Calibri" pitchFamily="34" charset="-122"/>
                <a:cs typeface="Calibri" pitchFamily="34" charset="-120"/>
              </a:rPr>
              <a:t>Post-harvest biology has known about ethylene-mediated storage interactions for 50+ years (Watkins, 2006; Saltveit, 1999). No consumer-facing application had ever implemented this knowledge as a live conflict-detection tool. Fresco's bidirectional conflict graph and pairwise checking algorithm bring this industrial knowledge to the smartphone for the first time.</a:t>
            </a:r>
            <a:endParaRPr lang="en-US" sz="1050" dirty="0"/>
          </a:p>
        </p:txBody>
      </p:sp>
      <p:sp>
        <p:nvSpPr>
          <p:cNvPr id="25" name="Text 23"/>
          <p:cNvSpPr/>
          <p:nvPr/>
        </p:nvSpPr>
        <p:spPr>
          <a:xfrm>
            <a:off x="4764024" y="2432304"/>
            <a:ext cx="3895344" cy="128016"/>
          </a:xfrm>
          <a:prstGeom prst="rect">
            <a:avLst/>
          </a:prstGeom>
          <a:noFill/>
          <a:ln/>
        </p:spPr>
        <p:txBody>
          <a:bodyPr wrap="square" lIns="0" tIns="0" rIns="0" bIns="0" rtlCol="0" anchor="ctr"/>
          <a:lstStyle/>
          <a:p>
            <a:pPr indent="0" marL="0">
              <a:buNone/>
            </a:pPr>
            <a:r>
              <a:rPr lang="en-US" sz="900" i="1" dirty="0">
                <a:solidFill>
                  <a:srgbClr val="607D8B"/>
                </a:solidFill>
                <a:latin typeface="Calibri" pitchFamily="34" charset="0"/>
                <a:ea typeface="Calibri" pitchFamily="34" charset="-122"/>
                <a:cs typeface="Calibri" pitchFamily="34" charset="-120"/>
              </a:rPr>
              <a:t>(Watkins, 2006; Saltveit, 1999)</a:t>
            </a:r>
            <a:endParaRPr lang="en-US" sz="900" dirty="0"/>
          </a:p>
        </p:txBody>
      </p:sp>
      <p:sp>
        <p:nvSpPr>
          <p:cNvPr id="26" name="Shape 24"/>
          <p:cNvSpPr/>
          <p:nvPr/>
        </p:nvSpPr>
        <p:spPr>
          <a:xfrm>
            <a:off x="384048" y="2688336"/>
            <a:ext cx="4114800" cy="1572768"/>
          </a:xfrm>
          <a:prstGeom prst="roundRect">
            <a:avLst>
              <a:gd name="adj" fmla="val 6977"/>
            </a:avLst>
          </a:prstGeom>
          <a:solidFill>
            <a:srgbClr val="F4F7F9"/>
          </a:solidFill>
          <a:ln w="6350">
            <a:solidFill>
              <a:srgbClr val="1A2B4A">
                <a:alpha val="40000"/>
              </a:srgbClr>
            </a:solidFill>
            <a:prstDash val="solid"/>
          </a:ln>
          <a:effectLst>
            <a:outerShdw sx="100000" sy="100000" kx="0" ky="0" algn="bl" rotWithShape="0" blurRad="101600" dist="38100" dir="2700000">
              <a:srgbClr val="000000">
                <a:alpha val="10000"/>
              </a:srgbClr>
            </a:outerShdw>
          </a:effectLst>
        </p:spPr>
      </p:sp>
      <p:sp>
        <p:nvSpPr>
          <p:cNvPr id="27" name="Shape 25"/>
          <p:cNvSpPr/>
          <p:nvPr/>
        </p:nvSpPr>
        <p:spPr>
          <a:xfrm>
            <a:off x="512064" y="2816352"/>
            <a:ext cx="457200" cy="457200"/>
          </a:xfrm>
          <a:prstGeom prst="ellipse">
            <a:avLst/>
          </a:prstGeom>
          <a:solidFill>
            <a:srgbClr val="3A8C7E"/>
          </a:solidFill>
          <a:ln/>
        </p:spPr>
      </p:sp>
      <p:sp>
        <p:nvSpPr>
          <p:cNvPr id="28" name="Text 26"/>
          <p:cNvSpPr/>
          <p:nvPr/>
        </p:nvSpPr>
        <p:spPr>
          <a:xfrm>
            <a:off x="512064" y="2816352"/>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03</a:t>
            </a:r>
            <a:endParaRPr lang="en-US" sz="1500" dirty="0"/>
          </a:p>
        </p:txBody>
      </p:sp>
      <p:sp>
        <p:nvSpPr>
          <p:cNvPr id="29" name="Text 27"/>
          <p:cNvSpPr/>
          <p:nvPr/>
        </p:nvSpPr>
        <p:spPr>
          <a:xfrm>
            <a:off x="1060704" y="2816352"/>
            <a:ext cx="3346704" cy="365760"/>
          </a:xfrm>
          <a:prstGeom prst="rect">
            <a:avLst/>
          </a:prstGeom>
          <a:noFill/>
          <a:ln/>
        </p:spPr>
        <p:txBody>
          <a:bodyPr wrap="square" lIns="0" tIns="0" rIns="0" bIns="0" rtlCol="0" anchor="ctr"/>
          <a:lstStyle/>
          <a:p>
            <a:pPr indent="0" marL="0">
              <a:buNone/>
            </a:pPr>
            <a:r>
              <a:rPr lang="en-US" sz="1150" b="1" dirty="0">
                <a:solidFill>
                  <a:srgbClr val="1A2B4A"/>
                </a:solidFill>
                <a:latin typeface="Calibri" pitchFamily="34" charset="0"/>
                <a:ea typeface="Calibri" pitchFamily="34" charset="-122"/>
                <a:cs typeface="Calibri" pitchFamily="34" charset="-120"/>
              </a:rPr>
              <a:t>Resource-Feasible AI for Nigerian Food Systems</a:t>
            </a:r>
            <a:endParaRPr lang="en-US" sz="1150" dirty="0"/>
          </a:p>
        </p:txBody>
      </p:sp>
      <p:sp>
        <p:nvSpPr>
          <p:cNvPr id="30" name="Text 28"/>
          <p:cNvSpPr/>
          <p:nvPr/>
        </p:nvSpPr>
        <p:spPr>
          <a:xfrm>
            <a:off x="512064" y="3291840"/>
            <a:ext cx="3895344" cy="822960"/>
          </a:xfrm>
          <a:prstGeom prst="rect">
            <a:avLst/>
          </a:prstGeom>
          <a:noFill/>
          <a:ln/>
        </p:spPr>
        <p:txBody>
          <a:bodyPr wrap="square" lIns="0" tIns="0" rIns="0" bIns="0" rtlCol="0" anchor="t"/>
          <a:lstStyle/>
          <a:p>
            <a:pPr indent="0" marL="0">
              <a:buNone/>
            </a:pPr>
            <a:r>
              <a:rPr lang="en-US" sz="1050" dirty="0">
                <a:solidFill>
                  <a:srgbClr val="4A5568"/>
                </a:solidFill>
                <a:latin typeface="Calibri" pitchFamily="34" charset="0"/>
                <a:ea typeface="Calibri" pitchFamily="34" charset="-122"/>
                <a:cs typeface="Calibri" pitchFamily="34" charset="-120"/>
              </a:rPr>
              <a:t>The full system — including training the classifier, serving predictions, and running the PWA — operates on commodity CPU hardware with zero cloud GPU dependency. At 11.6 MB, the model loads at startup and infers in ~380 ms on a free-tier Render instance. Designed specifically for the resource-constrained Nigerian primary market context where IoT sensor systems (Wang et al., 2025) are economically inaccessible.</a:t>
            </a:r>
            <a:endParaRPr lang="en-US" sz="1050" dirty="0"/>
          </a:p>
        </p:txBody>
      </p:sp>
      <p:sp>
        <p:nvSpPr>
          <p:cNvPr id="31" name="Text 29"/>
          <p:cNvSpPr/>
          <p:nvPr/>
        </p:nvSpPr>
        <p:spPr>
          <a:xfrm>
            <a:off x="512064" y="4114800"/>
            <a:ext cx="3895344" cy="128016"/>
          </a:xfrm>
          <a:prstGeom prst="rect">
            <a:avLst/>
          </a:prstGeom>
          <a:noFill/>
          <a:ln/>
        </p:spPr>
        <p:txBody>
          <a:bodyPr wrap="square" lIns="0" tIns="0" rIns="0" bIns="0" rtlCol="0" anchor="ctr"/>
          <a:lstStyle/>
          <a:p>
            <a:pPr indent="0" marL="0">
              <a:buNone/>
            </a:pPr>
            <a:r>
              <a:rPr lang="en-US" sz="900" i="1" dirty="0">
                <a:solidFill>
                  <a:srgbClr val="607D8B"/>
                </a:solidFill>
                <a:latin typeface="Calibri" pitchFamily="34" charset="0"/>
                <a:ea typeface="Calibri" pitchFamily="34" charset="-122"/>
                <a:cs typeface="Calibri" pitchFamily="34" charset="-120"/>
              </a:rPr>
              <a:t>(Mureșan &amp; Oltean, 2018; FAO, 2019)</a:t>
            </a:r>
            <a:endParaRPr lang="en-US" sz="900" dirty="0"/>
          </a:p>
        </p:txBody>
      </p:sp>
      <p:sp>
        <p:nvSpPr>
          <p:cNvPr id="32" name="Shape 30"/>
          <p:cNvSpPr/>
          <p:nvPr/>
        </p:nvSpPr>
        <p:spPr>
          <a:xfrm>
            <a:off x="4636008" y="2688336"/>
            <a:ext cx="4114800" cy="1572768"/>
          </a:xfrm>
          <a:prstGeom prst="roundRect">
            <a:avLst>
              <a:gd name="adj" fmla="val 6977"/>
            </a:avLst>
          </a:prstGeom>
          <a:solidFill>
            <a:srgbClr val="F4F7F9"/>
          </a:solidFill>
          <a:ln w="6350">
            <a:solidFill>
              <a:srgbClr val="1A2B4A">
                <a:alpha val="40000"/>
              </a:srgbClr>
            </a:solidFill>
            <a:prstDash val="solid"/>
          </a:ln>
          <a:effectLst>
            <a:outerShdw sx="100000" sy="100000" kx="0" ky="0" algn="bl" rotWithShape="0" blurRad="101600" dist="38100" dir="2700000">
              <a:srgbClr val="000000">
                <a:alpha val="10000"/>
              </a:srgbClr>
            </a:outerShdw>
          </a:effectLst>
        </p:spPr>
      </p:sp>
      <p:sp>
        <p:nvSpPr>
          <p:cNvPr id="33" name="Shape 31"/>
          <p:cNvSpPr/>
          <p:nvPr/>
        </p:nvSpPr>
        <p:spPr>
          <a:xfrm>
            <a:off x="4764024" y="2816352"/>
            <a:ext cx="457200" cy="457200"/>
          </a:xfrm>
          <a:prstGeom prst="ellipse">
            <a:avLst/>
          </a:prstGeom>
          <a:solidFill>
            <a:srgbClr val="3A8C7E"/>
          </a:solidFill>
          <a:ln/>
        </p:spPr>
      </p:sp>
      <p:sp>
        <p:nvSpPr>
          <p:cNvPr id="34" name="Text 32"/>
          <p:cNvSpPr/>
          <p:nvPr/>
        </p:nvSpPr>
        <p:spPr>
          <a:xfrm>
            <a:off x="4764024" y="2816352"/>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04</a:t>
            </a:r>
            <a:endParaRPr lang="en-US" sz="1500" dirty="0"/>
          </a:p>
        </p:txBody>
      </p:sp>
      <p:sp>
        <p:nvSpPr>
          <p:cNvPr id="35" name="Text 33"/>
          <p:cNvSpPr/>
          <p:nvPr/>
        </p:nvSpPr>
        <p:spPr>
          <a:xfrm>
            <a:off x="5312664" y="2816352"/>
            <a:ext cx="3346704" cy="365760"/>
          </a:xfrm>
          <a:prstGeom prst="rect">
            <a:avLst/>
          </a:prstGeom>
          <a:noFill/>
          <a:ln/>
        </p:spPr>
        <p:txBody>
          <a:bodyPr wrap="square" lIns="0" tIns="0" rIns="0" bIns="0" rtlCol="0" anchor="ctr"/>
          <a:lstStyle/>
          <a:p>
            <a:pPr indent="0" marL="0">
              <a:buNone/>
            </a:pPr>
            <a:r>
              <a:rPr lang="en-US" sz="1150" b="1" dirty="0">
                <a:solidFill>
                  <a:srgbClr val="1A2B4A"/>
                </a:solidFill>
                <a:latin typeface="Calibri" pitchFamily="34" charset="0"/>
                <a:ea typeface="Calibri" pitchFamily="34" charset="-122"/>
                <a:cs typeface="Calibri" pitchFamily="34" charset="-120"/>
              </a:rPr>
              <a:t>Reproducible, End-to-End Deployed Pipeline</a:t>
            </a:r>
            <a:endParaRPr lang="en-US" sz="1150" dirty="0"/>
          </a:p>
        </p:txBody>
      </p:sp>
      <p:sp>
        <p:nvSpPr>
          <p:cNvPr id="36" name="Text 34"/>
          <p:cNvSpPr/>
          <p:nvPr/>
        </p:nvSpPr>
        <p:spPr>
          <a:xfrm>
            <a:off x="4764024" y="3291840"/>
            <a:ext cx="3895344" cy="822960"/>
          </a:xfrm>
          <a:prstGeom prst="rect">
            <a:avLst/>
          </a:prstGeom>
          <a:noFill/>
          <a:ln/>
        </p:spPr>
        <p:txBody>
          <a:bodyPr wrap="square" lIns="0" tIns="0" rIns="0" bIns="0" rtlCol="0" anchor="t"/>
          <a:lstStyle/>
          <a:p>
            <a:pPr indent="0" marL="0">
              <a:buNone/>
            </a:pPr>
            <a:r>
              <a:rPr lang="en-US" sz="1050" dirty="0">
                <a:solidFill>
                  <a:srgbClr val="4A5568"/>
                </a:solidFill>
                <a:latin typeface="Calibri" pitchFamily="34" charset="0"/>
                <a:ea typeface="Calibri" pitchFamily="34" charset="-122"/>
                <a:cs typeface="Calibri" pitchFamily="34" charset="-120"/>
              </a:rPr>
              <a:t>The system is not a notebook experiment. It is a live FastAPI + Next.js React Progressive Web Application, installable from a browser, serving real-time predictions. Fixed random_state=42, pinned library versions, and documented preprocessing steps ensure any researcher with the Fruits-360 dataset can reproduce numerically identical classification results.</a:t>
            </a:r>
            <a:endParaRPr lang="en-US" sz="1050" dirty="0"/>
          </a:p>
        </p:txBody>
      </p:sp>
      <p:sp>
        <p:nvSpPr>
          <p:cNvPr id="37" name="Text 35"/>
          <p:cNvSpPr/>
          <p:nvPr/>
        </p:nvSpPr>
        <p:spPr>
          <a:xfrm>
            <a:off x="4764024" y="4114800"/>
            <a:ext cx="3895344" cy="128016"/>
          </a:xfrm>
          <a:prstGeom prst="rect">
            <a:avLst/>
          </a:prstGeom>
          <a:noFill/>
          <a:ln/>
        </p:spPr>
        <p:txBody>
          <a:bodyPr wrap="square" lIns="0" tIns="0" rIns="0" bIns="0" rtlCol="0" anchor="ctr"/>
          <a:lstStyle/>
          <a:p>
            <a:pPr indent="0" marL="0">
              <a:buNone/>
            </a:pPr>
            <a:r>
              <a:rPr lang="en-US" sz="900" i="1" dirty="0">
                <a:solidFill>
                  <a:srgbClr val="607D8B"/>
                </a:solidFill>
                <a:latin typeface="Calibri" pitchFamily="34" charset="0"/>
                <a:ea typeface="Calibri" pitchFamily="34" charset="-122"/>
                <a:cs typeface="Calibri" pitchFamily="34" charset="-120"/>
              </a:rPr>
              <a:t>(Sandler et al., 2018)</a:t>
            </a:r>
            <a:endParaRPr lang="en-US" sz="9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EBEBEB"/>
        </a:solidFill>
      </p:bgPr>
    </p:bg>
    <p:spTree>
      <p:nvGrpSpPr>
        <p:cNvPr id="1" name=""/>
        <p:cNvGrpSpPr/>
        <p:nvPr/>
      </p:nvGrpSpPr>
      <p:grpSpPr>
        <a:xfrm>
          <a:off x="0" y="0"/>
          <a:ext cx="0" cy="0"/>
          <a:chOff x="0" y="0"/>
          <a:chExt cx="0" cy="0"/>
        </a:xfrm>
      </p:grpSpPr>
      <p:sp>
        <p:nvSpPr>
          <p:cNvPr id="2" name="Shape 0"/>
          <p:cNvSpPr/>
          <p:nvPr/>
        </p:nvSpPr>
        <p:spPr>
          <a:xfrm>
            <a:off x="7589520" y="182880"/>
            <a:ext cx="1005840" cy="1005840"/>
          </a:xfrm>
          <a:prstGeom prst="rect">
            <a:avLst/>
          </a:prstGeom>
          <a:ln w="12700">
            <a:solidFill>
              <a:srgbClr val="1A2B4A">
                <a:alpha val="70000"/>
              </a:srgbClr>
            </a:solidFill>
            <a:prstDash val="solid"/>
          </a:ln>
        </p:spPr>
      </p:sp>
      <p:sp>
        <p:nvSpPr>
          <p:cNvPr id="3" name="Shape 1"/>
          <p:cNvSpPr/>
          <p:nvPr/>
        </p:nvSpPr>
        <p:spPr>
          <a:xfrm>
            <a:off x="7589520" y="182880"/>
            <a:ext cx="670560" cy="670560"/>
          </a:xfrm>
          <a:prstGeom prst="rect">
            <a:avLst/>
          </a:prstGeom>
          <a:ln w="12700">
            <a:solidFill>
              <a:srgbClr val="1A2B4A">
                <a:alpha val="60000"/>
              </a:srgbClr>
            </a:solidFill>
            <a:prstDash val="solid"/>
          </a:ln>
        </p:spPr>
      </p:sp>
      <p:sp>
        <p:nvSpPr>
          <p:cNvPr id="4" name="Shape 2"/>
          <p:cNvSpPr/>
          <p:nvPr/>
        </p:nvSpPr>
        <p:spPr>
          <a:xfrm>
            <a:off x="7589520" y="182880"/>
            <a:ext cx="335280" cy="335280"/>
          </a:xfrm>
          <a:prstGeom prst="rect">
            <a:avLst/>
          </a:prstGeom>
          <a:ln w="12700">
            <a:solidFill>
              <a:srgbClr val="1A2B4A">
                <a:alpha val="50000"/>
              </a:srgbClr>
            </a:solidFill>
            <a:prstDash val="solid"/>
          </a:ln>
        </p:spPr>
      </p:sp>
      <p:sp>
        <p:nvSpPr>
          <p:cNvPr id="5" name="Shape 3"/>
          <p:cNvSpPr/>
          <p:nvPr/>
        </p:nvSpPr>
        <p:spPr>
          <a:xfrm>
            <a:off x="411480" y="4846320"/>
            <a:ext cx="1280160" cy="109728"/>
          </a:xfrm>
          <a:prstGeom prst="roundRect">
            <a:avLst>
              <a:gd name="adj" fmla="val 50000"/>
            </a:avLst>
          </a:prstGeom>
          <a:solidFill>
            <a:srgbClr val="1A2B4A">
              <a:alpha val="40000"/>
            </a:srgbClr>
          </a:solidFill>
          <a:ln/>
        </p:spPr>
      </p:sp>
      <p:sp>
        <p:nvSpPr>
          <p:cNvPr id="6" name="Text 4"/>
          <p:cNvSpPr/>
          <p:nvPr/>
        </p:nvSpPr>
        <p:spPr>
          <a:xfrm>
            <a:off x="411480" y="292608"/>
            <a:ext cx="8321040" cy="530352"/>
          </a:xfrm>
          <a:prstGeom prst="rect">
            <a:avLst/>
          </a:prstGeom>
          <a:noFill/>
          <a:ln/>
        </p:spPr>
        <p:txBody>
          <a:bodyPr wrap="square" lIns="0" tIns="0" rIns="0" bIns="0" rtlCol="0" anchor="ctr"/>
          <a:lstStyle/>
          <a:p>
            <a:pPr algn="l" indent="0" marL="0">
              <a:buNone/>
            </a:pPr>
            <a:r>
              <a:rPr lang="en-US" sz="2800" b="1" dirty="0">
                <a:solidFill>
                  <a:srgbClr val="1A2B4A"/>
                </a:solidFill>
                <a:latin typeface="Cambria" pitchFamily="34" charset="0"/>
                <a:ea typeface="Cambria" pitchFamily="34" charset="-122"/>
                <a:cs typeface="Cambria" pitchFamily="34" charset="-120"/>
              </a:rPr>
              <a:t>Limitations</a:t>
            </a:r>
            <a:endParaRPr lang="en-US" sz="2800" dirty="0"/>
          </a:p>
        </p:txBody>
      </p:sp>
      <p:sp>
        <p:nvSpPr>
          <p:cNvPr id="7" name="Shape 5"/>
          <p:cNvSpPr/>
          <p:nvPr/>
        </p:nvSpPr>
        <p:spPr>
          <a:xfrm>
            <a:off x="411480" y="868680"/>
            <a:ext cx="8229600" cy="0"/>
          </a:xfrm>
          <a:prstGeom prst="line">
            <a:avLst/>
          </a:prstGeom>
          <a:noFill/>
          <a:ln w="19050">
            <a:solidFill>
              <a:srgbClr val="3A8C7E">
                <a:alpha val="60000"/>
              </a:srgbClr>
            </a:solidFill>
            <a:prstDash val="solid"/>
          </a:ln>
        </p:spPr>
      </p:sp>
      <p:sp>
        <p:nvSpPr>
          <p:cNvPr id="8" name="Shape 6"/>
          <p:cNvSpPr/>
          <p:nvPr/>
        </p:nvSpPr>
        <p:spPr>
          <a:xfrm>
            <a:off x="411480" y="950976"/>
            <a:ext cx="8229600" cy="0"/>
          </a:xfrm>
          <a:prstGeom prst="line">
            <a:avLst/>
          </a:prstGeom>
          <a:noFill/>
          <a:ln w="10160">
            <a:solidFill>
              <a:srgbClr val="1A2B4A">
                <a:alpha val="45000"/>
              </a:srgbClr>
            </a:solidFill>
            <a:prstDash val="solid"/>
          </a:ln>
        </p:spPr>
      </p:sp>
      <p:sp>
        <p:nvSpPr>
          <p:cNvPr id="9" name="Shape 7"/>
          <p:cNvSpPr/>
          <p:nvPr/>
        </p:nvSpPr>
        <p:spPr>
          <a:xfrm>
            <a:off x="384048" y="1005840"/>
            <a:ext cx="4114800" cy="1097280"/>
          </a:xfrm>
          <a:prstGeom prst="roundRect">
            <a:avLst>
              <a:gd name="adj" fmla="val 10000"/>
            </a:avLst>
          </a:prstGeom>
          <a:solidFill>
            <a:srgbClr val="FFF5F5"/>
          </a:solidFill>
          <a:ln w="6350">
            <a:solidFill>
              <a:srgbClr val="1A2B4A">
                <a:alpha val="40000"/>
              </a:srgbClr>
            </a:solidFill>
            <a:prstDash val="solid"/>
          </a:ln>
          <a:effectLst>
            <a:outerShdw sx="100000" sy="100000" kx="0" ky="0" algn="bl" rotWithShape="0" blurRad="101600" dist="38100" dir="2700000">
              <a:srgbClr val="000000">
                <a:alpha val="10000"/>
              </a:srgbClr>
            </a:outerShdw>
          </a:effectLst>
        </p:spPr>
      </p:sp>
      <p:sp>
        <p:nvSpPr>
          <p:cNvPr id="10" name="Text 8"/>
          <p:cNvSpPr/>
          <p:nvPr/>
        </p:nvSpPr>
        <p:spPr>
          <a:xfrm>
            <a:off x="566928" y="1078992"/>
            <a:ext cx="3840480" cy="237744"/>
          </a:xfrm>
          <a:prstGeom prst="rect">
            <a:avLst/>
          </a:prstGeom>
          <a:noFill/>
          <a:ln/>
        </p:spPr>
        <p:txBody>
          <a:bodyPr wrap="square" lIns="0" tIns="0" rIns="0" bIns="0" rtlCol="0" anchor="ctr"/>
          <a:lstStyle/>
          <a:p>
            <a:pPr indent="0" marL="0">
              <a:buNone/>
            </a:pPr>
            <a:r>
              <a:rPr lang="en-US" sz="1150" b="1" dirty="0">
                <a:solidFill>
                  <a:srgbClr val="C0392B"/>
                </a:solidFill>
                <a:latin typeface="Calibri" pitchFamily="34" charset="0"/>
                <a:ea typeface="Calibri" pitchFamily="34" charset="-122"/>
                <a:cs typeface="Calibri" pitchFamily="34" charset="-120"/>
              </a:rPr>
              <a:t>Classifier Covers 4 of 42 Fruit Types</a:t>
            </a:r>
            <a:endParaRPr lang="en-US" sz="1150" dirty="0"/>
          </a:p>
        </p:txBody>
      </p:sp>
      <p:sp>
        <p:nvSpPr>
          <p:cNvPr id="11" name="Text 9"/>
          <p:cNvSpPr/>
          <p:nvPr/>
        </p:nvSpPr>
        <p:spPr>
          <a:xfrm>
            <a:off x="566928" y="1353312"/>
            <a:ext cx="3840480" cy="713232"/>
          </a:xfrm>
          <a:prstGeom prst="rect">
            <a:avLst/>
          </a:prstGeom>
          <a:noFill/>
          <a:ln/>
        </p:spPr>
        <p:txBody>
          <a:bodyPr wrap="square" lIns="0" tIns="0" rIns="0" bIns="0" rtlCol="0" anchor="t"/>
          <a:lstStyle/>
          <a:p>
            <a:pPr indent="0" marL="0">
              <a:buNone/>
            </a:pPr>
            <a:r>
              <a:rPr lang="en-US" sz="1050" dirty="0">
                <a:solidFill>
                  <a:srgbClr val="4A5568"/>
                </a:solidFill>
                <a:latin typeface="Calibri" pitchFamily="34" charset="0"/>
                <a:ea typeface="Calibri" pitchFamily="34" charset="-122"/>
                <a:cs typeface="Calibri" pitchFamily="34" charset="-120"/>
              </a:rPr>
              <a:t>Automatic AI classification covers Apple and Banana in the production pipeline (Carrot and Tomato exist in training but not the production database). The other 38 fruits in the catalogue require manual selection. Training a high-quality 42-fruit classifier at multiple ripeness stages would require ~10,000+ labelled images per fruit — beyond a final-year project's scope.</a:t>
            </a:r>
            <a:endParaRPr lang="en-US" sz="1050" dirty="0"/>
          </a:p>
        </p:txBody>
      </p:sp>
      <p:sp>
        <p:nvSpPr>
          <p:cNvPr id="12" name="Shape 10"/>
          <p:cNvSpPr/>
          <p:nvPr/>
        </p:nvSpPr>
        <p:spPr>
          <a:xfrm>
            <a:off x="384048" y="2194560"/>
            <a:ext cx="4114800" cy="1097280"/>
          </a:xfrm>
          <a:prstGeom prst="roundRect">
            <a:avLst>
              <a:gd name="adj" fmla="val 10000"/>
            </a:avLst>
          </a:prstGeom>
          <a:solidFill>
            <a:srgbClr val="FFF5F5"/>
          </a:solidFill>
          <a:ln w="6350">
            <a:solidFill>
              <a:srgbClr val="1A2B4A">
                <a:alpha val="40000"/>
              </a:srgbClr>
            </a:solidFill>
            <a:prstDash val="solid"/>
          </a:ln>
          <a:effectLst>
            <a:outerShdw sx="100000" sy="100000" kx="0" ky="0" algn="bl" rotWithShape="0" blurRad="101600" dist="38100" dir="2700000">
              <a:srgbClr val="000000">
                <a:alpha val="10000"/>
              </a:srgbClr>
            </a:outerShdw>
          </a:effectLst>
        </p:spPr>
      </p:sp>
      <p:sp>
        <p:nvSpPr>
          <p:cNvPr id="13" name="Text 11"/>
          <p:cNvSpPr/>
          <p:nvPr/>
        </p:nvSpPr>
        <p:spPr>
          <a:xfrm>
            <a:off x="566928" y="2267712"/>
            <a:ext cx="3840480" cy="237744"/>
          </a:xfrm>
          <a:prstGeom prst="rect">
            <a:avLst/>
          </a:prstGeom>
          <a:noFill/>
          <a:ln/>
        </p:spPr>
        <p:txBody>
          <a:bodyPr wrap="square" lIns="0" tIns="0" rIns="0" bIns="0" rtlCol="0" anchor="ctr"/>
          <a:lstStyle/>
          <a:p>
            <a:pPr indent="0" marL="0">
              <a:buNone/>
            </a:pPr>
            <a:r>
              <a:rPr lang="en-US" sz="1150" b="1" dirty="0">
                <a:solidFill>
                  <a:srgbClr val="C0392B"/>
                </a:solidFill>
                <a:latin typeface="Calibri" pitchFamily="34" charset="0"/>
                <a:ea typeface="Calibri" pitchFamily="34" charset="-122"/>
                <a:cs typeface="Calibri" pitchFamily="34" charset="-120"/>
              </a:rPr>
              <a:t>Lighting Sensitivity</a:t>
            </a:r>
            <a:endParaRPr lang="en-US" sz="1150" dirty="0"/>
          </a:p>
        </p:txBody>
      </p:sp>
      <p:sp>
        <p:nvSpPr>
          <p:cNvPr id="14" name="Text 12"/>
          <p:cNvSpPr/>
          <p:nvPr/>
        </p:nvSpPr>
        <p:spPr>
          <a:xfrm>
            <a:off x="566928" y="2542032"/>
            <a:ext cx="3840480" cy="713232"/>
          </a:xfrm>
          <a:prstGeom prst="rect">
            <a:avLst/>
          </a:prstGeom>
          <a:noFill/>
          <a:ln/>
        </p:spPr>
        <p:txBody>
          <a:bodyPr wrap="square" lIns="0" tIns="0" rIns="0" bIns="0" rtlCol="0" anchor="t"/>
          <a:lstStyle/>
          <a:p>
            <a:pPr indent="0" marL="0">
              <a:buNone/>
            </a:pPr>
            <a:r>
              <a:rPr lang="en-US" sz="1050" dirty="0">
                <a:solidFill>
                  <a:srgbClr val="4A5568"/>
                </a:solidFill>
                <a:latin typeface="Calibri" pitchFamily="34" charset="0"/>
                <a:ea typeface="Calibri" pitchFamily="34" charset="-122"/>
                <a:cs typeface="Calibri" pitchFamily="34" charset="-120"/>
              </a:rPr>
              <a:t>2 of 20 end-to-end test failures were apples photographed under dim morning light. The model's freshness score dropped approximately one band. No adaptive lighting compensation or CLAHE preprocessing is currently applied before classification. Fu et al. (2022) explicitly documented this limitation in CNN-based freshness assessment.</a:t>
            </a:r>
            <a:endParaRPr lang="en-US" sz="1050" dirty="0"/>
          </a:p>
        </p:txBody>
      </p:sp>
      <p:sp>
        <p:nvSpPr>
          <p:cNvPr id="15" name="Shape 13"/>
          <p:cNvSpPr/>
          <p:nvPr/>
        </p:nvSpPr>
        <p:spPr>
          <a:xfrm>
            <a:off x="384048" y="3383280"/>
            <a:ext cx="4114800" cy="1097280"/>
          </a:xfrm>
          <a:prstGeom prst="roundRect">
            <a:avLst>
              <a:gd name="adj" fmla="val 10000"/>
            </a:avLst>
          </a:prstGeom>
          <a:solidFill>
            <a:srgbClr val="FFF5F5"/>
          </a:solidFill>
          <a:ln w="6350">
            <a:solidFill>
              <a:srgbClr val="1A2B4A">
                <a:alpha val="40000"/>
              </a:srgbClr>
            </a:solidFill>
            <a:prstDash val="solid"/>
          </a:ln>
          <a:effectLst>
            <a:outerShdw sx="100000" sy="100000" kx="0" ky="0" algn="bl" rotWithShape="0" blurRad="101600" dist="38100" dir="2700000">
              <a:srgbClr val="000000">
                <a:alpha val="10000"/>
              </a:srgbClr>
            </a:outerShdw>
          </a:effectLst>
        </p:spPr>
      </p:sp>
      <p:sp>
        <p:nvSpPr>
          <p:cNvPr id="16" name="Text 14"/>
          <p:cNvSpPr/>
          <p:nvPr/>
        </p:nvSpPr>
        <p:spPr>
          <a:xfrm>
            <a:off x="566928" y="3456432"/>
            <a:ext cx="3840480" cy="237744"/>
          </a:xfrm>
          <a:prstGeom prst="rect">
            <a:avLst/>
          </a:prstGeom>
          <a:noFill/>
          <a:ln/>
        </p:spPr>
        <p:txBody>
          <a:bodyPr wrap="square" lIns="0" tIns="0" rIns="0" bIns="0" rtlCol="0" anchor="ctr"/>
          <a:lstStyle/>
          <a:p>
            <a:pPr indent="0" marL="0">
              <a:buNone/>
            </a:pPr>
            <a:r>
              <a:rPr lang="en-US" sz="1150" b="1" dirty="0">
                <a:solidFill>
                  <a:srgbClr val="C0392B"/>
                </a:solidFill>
                <a:latin typeface="Calibri" pitchFamily="34" charset="0"/>
                <a:ea typeface="Calibri" pitchFamily="34" charset="-122"/>
                <a:cs typeface="Calibri" pitchFamily="34" charset="-120"/>
              </a:rPr>
              <a:t>Reference Values, Not Validated Spoilage Data</a:t>
            </a:r>
            <a:endParaRPr lang="en-US" sz="1150" dirty="0"/>
          </a:p>
        </p:txBody>
      </p:sp>
      <p:sp>
        <p:nvSpPr>
          <p:cNvPr id="17" name="Text 15"/>
          <p:cNvSpPr/>
          <p:nvPr/>
        </p:nvSpPr>
        <p:spPr>
          <a:xfrm>
            <a:off x="566928" y="3730752"/>
            <a:ext cx="3840480" cy="713232"/>
          </a:xfrm>
          <a:prstGeom prst="rect">
            <a:avLst/>
          </a:prstGeom>
          <a:noFill/>
          <a:ln/>
        </p:spPr>
        <p:txBody>
          <a:bodyPr wrap="square" lIns="0" tIns="0" rIns="0" bIns="0" rtlCol="0" anchor="t"/>
          <a:lstStyle/>
          <a:p>
            <a:pPr indent="0" marL="0">
              <a:buNone/>
            </a:pPr>
            <a:r>
              <a:rPr lang="en-US" sz="1050" dirty="0">
                <a:solidFill>
                  <a:srgbClr val="4A5568"/>
                </a:solidFill>
                <a:latin typeface="Calibri" pitchFamily="34" charset="0"/>
                <a:ea typeface="Calibri" pitchFamily="34" charset="-122"/>
                <a:cs typeface="Calibri" pitchFamily="34" charset="-120"/>
              </a:rPr>
              <a:t>Base shelf-life values come from USDA reference sources (Kader, 2002) rather than controlled spoilage experiments on these specific Fruits-360 varieties. The estimates are defensible and well-established, but systematic deviations from local Nigerian varieties are possible.</a:t>
            </a:r>
            <a:endParaRPr lang="en-US" sz="1050" dirty="0"/>
          </a:p>
        </p:txBody>
      </p:sp>
      <p:sp>
        <p:nvSpPr>
          <p:cNvPr id="18" name="Shape 16"/>
          <p:cNvSpPr/>
          <p:nvPr/>
        </p:nvSpPr>
        <p:spPr>
          <a:xfrm>
            <a:off x="4645152" y="1005840"/>
            <a:ext cx="4114800" cy="1097280"/>
          </a:xfrm>
          <a:prstGeom prst="roundRect">
            <a:avLst>
              <a:gd name="adj" fmla="val 10000"/>
            </a:avLst>
          </a:prstGeom>
          <a:solidFill>
            <a:srgbClr val="FFF5F5"/>
          </a:solidFill>
          <a:ln w="6350">
            <a:solidFill>
              <a:srgbClr val="1A2B4A">
                <a:alpha val="40000"/>
              </a:srgbClr>
            </a:solidFill>
            <a:prstDash val="solid"/>
          </a:ln>
          <a:effectLst>
            <a:outerShdw sx="100000" sy="100000" kx="0" ky="0" algn="bl" rotWithShape="0" blurRad="101600" dist="38100" dir="2700000">
              <a:srgbClr val="000000">
                <a:alpha val="10000"/>
              </a:srgbClr>
            </a:outerShdw>
          </a:effectLst>
        </p:spPr>
      </p:sp>
      <p:sp>
        <p:nvSpPr>
          <p:cNvPr id="19" name="Text 17"/>
          <p:cNvSpPr/>
          <p:nvPr/>
        </p:nvSpPr>
        <p:spPr>
          <a:xfrm>
            <a:off x="4828032" y="1078992"/>
            <a:ext cx="3840480" cy="237744"/>
          </a:xfrm>
          <a:prstGeom prst="rect">
            <a:avLst/>
          </a:prstGeom>
          <a:noFill/>
          <a:ln/>
        </p:spPr>
        <p:txBody>
          <a:bodyPr wrap="square" lIns="0" tIns="0" rIns="0" bIns="0" rtlCol="0" anchor="ctr"/>
          <a:lstStyle/>
          <a:p>
            <a:pPr indent="0" marL="0">
              <a:buNone/>
            </a:pPr>
            <a:r>
              <a:rPr lang="en-US" sz="1150" b="1" dirty="0">
                <a:solidFill>
                  <a:srgbClr val="C0392B"/>
                </a:solidFill>
                <a:latin typeface="Calibri" pitchFamily="34" charset="0"/>
                <a:ea typeface="Calibri" pitchFamily="34" charset="-122"/>
                <a:cs typeface="Calibri" pitchFamily="34" charset="-120"/>
              </a:rPr>
              <a:t>Small Minority Test Classes</a:t>
            </a:r>
            <a:endParaRPr lang="en-US" sz="1150" dirty="0"/>
          </a:p>
        </p:txBody>
      </p:sp>
      <p:sp>
        <p:nvSpPr>
          <p:cNvPr id="20" name="Text 18"/>
          <p:cNvSpPr/>
          <p:nvPr/>
        </p:nvSpPr>
        <p:spPr>
          <a:xfrm>
            <a:off x="4828032" y="1353312"/>
            <a:ext cx="3840480" cy="713232"/>
          </a:xfrm>
          <a:prstGeom prst="rect">
            <a:avLst/>
          </a:prstGeom>
          <a:noFill/>
          <a:ln/>
        </p:spPr>
        <p:txBody>
          <a:bodyPr wrap="square" lIns="0" tIns="0" rIns="0" bIns="0" rtlCol="0" anchor="t"/>
          <a:lstStyle/>
          <a:p>
            <a:pPr indent="0" marL="0">
              <a:buNone/>
            </a:pPr>
            <a:r>
              <a:rPr lang="en-US" sz="1050" dirty="0">
                <a:solidFill>
                  <a:srgbClr val="4A5568"/>
                </a:solidFill>
                <a:latin typeface="Calibri" pitchFamily="34" charset="0"/>
                <a:ea typeface="Calibri" pitchFamily="34" charset="-122"/>
                <a:cs typeface="Calibri" pitchFamily="34" charset="-120"/>
              </a:rPr>
              <a:t>14 classes × 20 images = 280 test images. The confidence interval on per-class accuracy is wide at n=20. A single correct/incorrect prediction shifts class accuracy by 5 percentage points. Larger held-out sets would tighten the uncertainty bounds significantly.</a:t>
            </a:r>
            <a:endParaRPr lang="en-US" sz="1050" dirty="0"/>
          </a:p>
        </p:txBody>
      </p:sp>
      <p:sp>
        <p:nvSpPr>
          <p:cNvPr id="21" name="Shape 19"/>
          <p:cNvSpPr/>
          <p:nvPr/>
        </p:nvSpPr>
        <p:spPr>
          <a:xfrm>
            <a:off x="4645152" y="2194560"/>
            <a:ext cx="4114800" cy="1097280"/>
          </a:xfrm>
          <a:prstGeom prst="roundRect">
            <a:avLst>
              <a:gd name="adj" fmla="val 10000"/>
            </a:avLst>
          </a:prstGeom>
          <a:solidFill>
            <a:srgbClr val="FFF5F5"/>
          </a:solidFill>
          <a:ln w="6350">
            <a:solidFill>
              <a:srgbClr val="1A2B4A">
                <a:alpha val="40000"/>
              </a:srgbClr>
            </a:solidFill>
            <a:prstDash val="solid"/>
          </a:ln>
          <a:effectLst>
            <a:outerShdw sx="100000" sy="100000" kx="0" ky="0" algn="bl" rotWithShape="0" blurRad="101600" dist="38100" dir="2700000">
              <a:srgbClr val="000000">
                <a:alpha val="10000"/>
              </a:srgbClr>
            </a:outerShdw>
          </a:effectLst>
        </p:spPr>
      </p:sp>
      <p:sp>
        <p:nvSpPr>
          <p:cNvPr id="22" name="Text 20"/>
          <p:cNvSpPr/>
          <p:nvPr/>
        </p:nvSpPr>
        <p:spPr>
          <a:xfrm>
            <a:off x="4828032" y="2267712"/>
            <a:ext cx="3840480" cy="237744"/>
          </a:xfrm>
          <a:prstGeom prst="rect">
            <a:avLst/>
          </a:prstGeom>
          <a:noFill/>
          <a:ln/>
        </p:spPr>
        <p:txBody>
          <a:bodyPr wrap="square" lIns="0" tIns="0" rIns="0" bIns="0" rtlCol="0" anchor="ctr"/>
          <a:lstStyle/>
          <a:p>
            <a:pPr indent="0" marL="0">
              <a:buNone/>
            </a:pPr>
            <a:r>
              <a:rPr lang="en-US" sz="1150" b="1" dirty="0">
                <a:solidFill>
                  <a:srgbClr val="C0392B"/>
                </a:solidFill>
                <a:latin typeface="Calibri" pitchFamily="34" charset="0"/>
                <a:ea typeface="Calibri" pitchFamily="34" charset="-122"/>
                <a:cs typeface="Calibri" pitchFamily="34" charset="-120"/>
              </a:rPr>
              <a:t>Notification Delivery Not Implemented</a:t>
            </a:r>
            <a:endParaRPr lang="en-US" sz="1150" dirty="0"/>
          </a:p>
        </p:txBody>
      </p:sp>
      <p:sp>
        <p:nvSpPr>
          <p:cNvPr id="23" name="Text 21"/>
          <p:cNvSpPr/>
          <p:nvPr/>
        </p:nvSpPr>
        <p:spPr>
          <a:xfrm>
            <a:off x="4828032" y="2542032"/>
            <a:ext cx="3840480" cy="713232"/>
          </a:xfrm>
          <a:prstGeom prst="rect">
            <a:avLst/>
          </a:prstGeom>
          <a:noFill/>
          <a:ln/>
        </p:spPr>
        <p:txBody>
          <a:bodyPr wrap="square" lIns="0" tIns="0" rIns="0" bIns="0" rtlCol="0" anchor="t"/>
          <a:lstStyle/>
          <a:p>
            <a:pPr indent="0" marL="0">
              <a:buNone/>
            </a:pPr>
            <a:r>
              <a:rPr lang="en-US" sz="1050" dirty="0">
                <a:solidFill>
                  <a:srgbClr val="4A5568"/>
                </a:solidFill>
                <a:latin typeface="Calibri" pitchFamily="34" charset="0"/>
                <a:ea typeface="Calibri" pitchFamily="34" charset="-122"/>
                <a:cs typeface="Calibri" pitchFamily="34" charset="-120"/>
              </a:rPr>
              <a:t>Notification records are scheduled at the database level (one day before projected expiry). Push delivery to the user's device via the Web Push API is not yet implemented. Users must open the app to see expiry alerts.</a:t>
            </a:r>
            <a:endParaRPr lang="en-US" sz="1050" dirty="0"/>
          </a:p>
        </p:txBody>
      </p:sp>
      <p:sp>
        <p:nvSpPr>
          <p:cNvPr id="24" name="Shape 22"/>
          <p:cNvSpPr/>
          <p:nvPr/>
        </p:nvSpPr>
        <p:spPr>
          <a:xfrm>
            <a:off x="4645152" y="3383280"/>
            <a:ext cx="4114800" cy="1097280"/>
          </a:xfrm>
          <a:prstGeom prst="roundRect">
            <a:avLst>
              <a:gd name="adj" fmla="val 10000"/>
            </a:avLst>
          </a:prstGeom>
          <a:solidFill>
            <a:srgbClr val="FFF5F5"/>
          </a:solidFill>
          <a:ln w="6350">
            <a:solidFill>
              <a:srgbClr val="1A2B4A">
                <a:alpha val="40000"/>
              </a:srgbClr>
            </a:solidFill>
            <a:prstDash val="solid"/>
          </a:ln>
          <a:effectLst>
            <a:outerShdw sx="100000" sy="100000" kx="0" ky="0" algn="bl" rotWithShape="0" blurRad="101600" dist="38100" dir="2700000">
              <a:srgbClr val="000000">
                <a:alpha val="10000"/>
              </a:srgbClr>
            </a:outerShdw>
          </a:effectLst>
        </p:spPr>
      </p:sp>
      <p:sp>
        <p:nvSpPr>
          <p:cNvPr id="25" name="Text 23"/>
          <p:cNvSpPr/>
          <p:nvPr/>
        </p:nvSpPr>
        <p:spPr>
          <a:xfrm>
            <a:off x="4828032" y="3456432"/>
            <a:ext cx="3840480" cy="237744"/>
          </a:xfrm>
          <a:prstGeom prst="rect">
            <a:avLst/>
          </a:prstGeom>
          <a:noFill/>
          <a:ln/>
        </p:spPr>
        <p:txBody>
          <a:bodyPr wrap="square" lIns="0" tIns="0" rIns="0" bIns="0" rtlCol="0" anchor="ctr"/>
          <a:lstStyle/>
          <a:p>
            <a:pPr indent="0" marL="0">
              <a:buNone/>
            </a:pPr>
            <a:r>
              <a:rPr lang="en-US" sz="1150" b="1" dirty="0">
                <a:solidFill>
                  <a:srgbClr val="C0392B"/>
                </a:solidFill>
                <a:latin typeface="Calibri" pitchFamily="34" charset="0"/>
                <a:ea typeface="Calibri" pitchFamily="34" charset="-122"/>
                <a:cs typeface="Calibri" pitchFamily="34" charset="-120"/>
              </a:rPr>
              <a:t>Production Deployment Partially Complete</a:t>
            </a:r>
            <a:endParaRPr lang="en-US" sz="1150" dirty="0"/>
          </a:p>
        </p:txBody>
      </p:sp>
      <p:sp>
        <p:nvSpPr>
          <p:cNvPr id="26" name="Text 24"/>
          <p:cNvSpPr/>
          <p:nvPr/>
        </p:nvSpPr>
        <p:spPr>
          <a:xfrm>
            <a:off x="4828032" y="3730752"/>
            <a:ext cx="3840480" cy="713232"/>
          </a:xfrm>
          <a:prstGeom prst="rect">
            <a:avLst/>
          </a:prstGeom>
          <a:noFill/>
          <a:ln/>
        </p:spPr>
        <p:txBody>
          <a:bodyPr wrap="square" lIns="0" tIns="0" rIns="0" bIns="0" rtlCol="0" anchor="t"/>
          <a:lstStyle/>
          <a:p>
            <a:pPr indent="0" marL="0">
              <a:buNone/>
            </a:pPr>
            <a:r>
              <a:rPr lang="en-US" sz="1050" dirty="0">
                <a:solidFill>
                  <a:srgbClr val="4A5568"/>
                </a:solidFill>
                <a:latin typeface="Calibri" pitchFamily="34" charset="0"/>
                <a:ea typeface="Calibri" pitchFamily="34" charset="-122"/>
                <a:cs typeface="Calibri" pitchFamily="34" charset="-120"/>
              </a:rPr>
              <a:t>System is verified end-to-end on developer hardware. Render backend deployment encountered a database URL normalisation issue (postgres:// vs postgresql+asyncpg://) that was resolved in code but requires final environment-variable configuration before full production availability.</a:t>
            </a:r>
            <a:endParaRPr lang="en-US" sz="10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EBEBEB"/>
        </a:solidFill>
      </p:bgPr>
    </p:bg>
    <p:spTree>
      <p:nvGrpSpPr>
        <p:cNvPr id="1" name=""/>
        <p:cNvGrpSpPr/>
        <p:nvPr/>
      </p:nvGrpSpPr>
      <p:grpSpPr>
        <a:xfrm>
          <a:off x="0" y="0"/>
          <a:ext cx="0" cy="0"/>
          <a:chOff x="0" y="0"/>
          <a:chExt cx="0" cy="0"/>
        </a:xfrm>
      </p:grpSpPr>
      <p:sp>
        <p:nvSpPr>
          <p:cNvPr id="2" name="Shape 0"/>
          <p:cNvSpPr/>
          <p:nvPr/>
        </p:nvSpPr>
        <p:spPr>
          <a:xfrm>
            <a:off x="7680960" y="182880"/>
            <a:ext cx="1828800" cy="1828800"/>
          </a:xfrm>
          <a:prstGeom prst="ellipse">
            <a:avLst/>
          </a:prstGeom>
          <a:ln w="19050">
            <a:solidFill>
              <a:srgbClr val="1A2B4A">
                <a:alpha val="18000"/>
              </a:srgbClr>
            </a:solidFill>
            <a:prstDash val="solid"/>
          </a:ln>
        </p:spPr>
      </p:sp>
      <p:sp>
        <p:nvSpPr>
          <p:cNvPr id="3" name="Shape 1"/>
          <p:cNvSpPr/>
          <p:nvPr/>
        </p:nvSpPr>
        <p:spPr>
          <a:xfrm>
            <a:off x="7982712" y="484632"/>
            <a:ext cx="1225296" cy="1225296"/>
          </a:xfrm>
          <a:prstGeom prst="ellipse">
            <a:avLst/>
          </a:prstGeom>
          <a:ln w="19050">
            <a:solidFill>
              <a:srgbClr val="3B5FA0">
                <a:alpha val="25000"/>
              </a:srgbClr>
            </a:solidFill>
            <a:prstDash val="solid"/>
          </a:ln>
        </p:spPr>
      </p:sp>
      <p:sp>
        <p:nvSpPr>
          <p:cNvPr id="4" name="Shape 2"/>
          <p:cNvSpPr/>
          <p:nvPr/>
        </p:nvSpPr>
        <p:spPr>
          <a:xfrm>
            <a:off x="8247888" y="749808"/>
            <a:ext cx="694944" cy="694944"/>
          </a:xfrm>
          <a:prstGeom prst="ellipse">
            <a:avLst/>
          </a:prstGeom>
          <a:ln w="19050">
            <a:solidFill>
              <a:srgbClr val="3A8C7E">
                <a:alpha val="32000"/>
              </a:srgbClr>
            </a:solidFill>
            <a:prstDash val="solid"/>
          </a:ln>
        </p:spPr>
      </p:sp>
      <p:sp>
        <p:nvSpPr>
          <p:cNvPr id="5" name="Shape 3"/>
          <p:cNvSpPr/>
          <p:nvPr/>
        </p:nvSpPr>
        <p:spPr>
          <a:xfrm rot="2700000">
            <a:off x="0" y="3657600"/>
            <a:ext cx="914400" cy="914400"/>
          </a:xfrm>
          <a:prstGeom prst="rect">
            <a:avLst/>
          </a:prstGeom>
          <a:ln w="12700">
            <a:solidFill>
              <a:srgbClr val="1A2B4A">
                <a:alpha val="76000"/>
              </a:srgbClr>
            </a:solidFill>
            <a:prstDash val="solid"/>
          </a:ln>
        </p:spPr>
      </p:sp>
      <p:sp>
        <p:nvSpPr>
          <p:cNvPr id="6" name="Shape 4"/>
          <p:cNvSpPr/>
          <p:nvPr/>
        </p:nvSpPr>
        <p:spPr>
          <a:xfrm rot="2700000">
            <a:off x="152400" y="3810000"/>
            <a:ext cx="609600" cy="609600"/>
          </a:xfrm>
          <a:prstGeom prst="rect">
            <a:avLst/>
          </a:prstGeom>
          <a:ln w="12700">
            <a:solidFill>
              <a:srgbClr val="1A2B4A">
                <a:alpha val="64000"/>
              </a:srgbClr>
            </a:solidFill>
            <a:prstDash val="solid"/>
          </a:ln>
        </p:spPr>
      </p:sp>
      <p:sp>
        <p:nvSpPr>
          <p:cNvPr id="7" name="Shape 5"/>
          <p:cNvSpPr/>
          <p:nvPr/>
        </p:nvSpPr>
        <p:spPr>
          <a:xfrm rot="2700000">
            <a:off x="304800" y="3962400"/>
            <a:ext cx="304800" cy="304800"/>
          </a:xfrm>
          <a:prstGeom prst="rect">
            <a:avLst/>
          </a:prstGeom>
          <a:ln w="12700">
            <a:solidFill>
              <a:srgbClr val="1A2B4A">
                <a:alpha val="52000"/>
              </a:srgbClr>
            </a:solidFill>
            <a:prstDash val="solid"/>
          </a:ln>
        </p:spPr>
      </p:sp>
      <p:sp>
        <p:nvSpPr>
          <p:cNvPr id="8" name="Text 6"/>
          <p:cNvSpPr/>
          <p:nvPr/>
        </p:nvSpPr>
        <p:spPr>
          <a:xfrm>
            <a:off x="411480" y="292608"/>
            <a:ext cx="8321040" cy="530352"/>
          </a:xfrm>
          <a:prstGeom prst="rect">
            <a:avLst/>
          </a:prstGeom>
          <a:noFill/>
          <a:ln/>
        </p:spPr>
        <p:txBody>
          <a:bodyPr wrap="square" lIns="0" tIns="0" rIns="0" bIns="0" rtlCol="0" anchor="ctr"/>
          <a:lstStyle/>
          <a:p>
            <a:pPr algn="l" indent="0" marL="0">
              <a:buNone/>
            </a:pPr>
            <a:r>
              <a:rPr lang="en-US" sz="2800" b="1" dirty="0">
                <a:solidFill>
                  <a:srgbClr val="1A2B4A"/>
                </a:solidFill>
                <a:latin typeface="Cambria" pitchFamily="34" charset="0"/>
                <a:ea typeface="Cambria" pitchFamily="34" charset="-122"/>
                <a:cs typeface="Cambria" pitchFamily="34" charset="-120"/>
              </a:rPr>
              <a:t>Future Work</a:t>
            </a:r>
            <a:endParaRPr lang="en-US" sz="2800" dirty="0"/>
          </a:p>
        </p:txBody>
      </p:sp>
      <p:sp>
        <p:nvSpPr>
          <p:cNvPr id="9" name="Shape 7"/>
          <p:cNvSpPr/>
          <p:nvPr/>
        </p:nvSpPr>
        <p:spPr>
          <a:xfrm>
            <a:off x="411480" y="868680"/>
            <a:ext cx="8229600" cy="0"/>
          </a:xfrm>
          <a:prstGeom prst="line">
            <a:avLst/>
          </a:prstGeom>
          <a:noFill/>
          <a:ln w="19050">
            <a:solidFill>
              <a:srgbClr val="3A8C7E">
                <a:alpha val="60000"/>
              </a:srgbClr>
            </a:solidFill>
            <a:prstDash val="solid"/>
          </a:ln>
        </p:spPr>
      </p:sp>
      <p:sp>
        <p:nvSpPr>
          <p:cNvPr id="10" name="Shape 8"/>
          <p:cNvSpPr/>
          <p:nvPr/>
        </p:nvSpPr>
        <p:spPr>
          <a:xfrm>
            <a:off x="411480" y="950976"/>
            <a:ext cx="8229600" cy="0"/>
          </a:xfrm>
          <a:prstGeom prst="line">
            <a:avLst/>
          </a:prstGeom>
          <a:noFill/>
          <a:ln w="10160">
            <a:solidFill>
              <a:srgbClr val="1A2B4A">
                <a:alpha val="45000"/>
              </a:srgbClr>
            </a:solidFill>
            <a:prstDash val="solid"/>
          </a:ln>
        </p:spPr>
      </p:sp>
      <p:sp>
        <p:nvSpPr>
          <p:cNvPr id="11" name="Shape 9"/>
          <p:cNvSpPr/>
          <p:nvPr/>
        </p:nvSpPr>
        <p:spPr>
          <a:xfrm>
            <a:off x="384048" y="1005840"/>
            <a:ext cx="8375904" cy="713232"/>
          </a:xfrm>
          <a:prstGeom prst="roundRect">
            <a:avLst>
              <a:gd name="adj" fmla="val 15385"/>
            </a:avLst>
          </a:prstGeom>
          <a:solidFill>
            <a:srgbClr val="F4F7F9"/>
          </a:solidFill>
          <a:ln w="6350">
            <a:solidFill>
              <a:srgbClr val="1A2B4A">
                <a:alpha val="40000"/>
              </a:srgbClr>
            </a:solidFill>
            <a:prstDash val="solid"/>
          </a:ln>
          <a:effectLst>
            <a:outerShdw sx="100000" sy="100000" kx="0" ky="0" algn="bl" rotWithShape="0" blurRad="101600" dist="38100" dir="2700000">
              <a:srgbClr val="000000">
                <a:alpha val="10000"/>
              </a:srgbClr>
            </a:outerShdw>
          </a:effectLst>
        </p:spPr>
      </p:sp>
      <p:sp>
        <p:nvSpPr>
          <p:cNvPr id="12" name="Shape 10"/>
          <p:cNvSpPr/>
          <p:nvPr/>
        </p:nvSpPr>
        <p:spPr>
          <a:xfrm>
            <a:off x="493776" y="1161288"/>
            <a:ext cx="402336" cy="402336"/>
          </a:xfrm>
          <a:prstGeom prst="ellipse">
            <a:avLst/>
          </a:prstGeom>
          <a:solidFill>
            <a:srgbClr val="3A8C7E"/>
          </a:solidFill>
          <a:ln/>
        </p:spPr>
      </p:sp>
      <p:sp>
        <p:nvSpPr>
          <p:cNvPr id="13" name="Text 11"/>
          <p:cNvSpPr/>
          <p:nvPr/>
        </p:nvSpPr>
        <p:spPr>
          <a:xfrm>
            <a:off x="493776" y="1161288"/>
            <a:ext cx="402336" cy="402336"/>
          </a:xfrm>
          <a:prstGeom prst="rect">
            <a:avLst/>
          </a:prstGeom>
          <a:noFill/>
          <a:ln/>
        </p:spPr>
        <p:txBody>
          <a:bodyPr wrap="square" lIns="0" tIns="0" rIns="0" bIns="0" rtlCol="0" anchor="ctr"/>
          <a:lstStyle/>
          <a:p>
            <a:pPr algn="ctr" indent="0" marL="0">
              <a:buNone/>
            </a:pPr>
            <a:r>
              <a:rPr lang="en-US" sz="1100" b="1" dirty="0">
                <a:solidFill>
                  <a:srgbClr val="FFFFFF"/>
                </a:solidFill>
              </a:rPr>
              <a:t>1</a:t>
            </a:r>
            <a:endParaRPr lang="en-US" sz="1100" dirty="0"/>
          </a:p>
        </p:txBody>
      </p:sp>
      <p:sp>
        <p:nvSpPr>
          <p:cNvPr id="14" name="Text 12"/>
          <p:cNvSpPr/>
          <p:nvPr/>
        </p:nvSpPr>
        <p:spPr>
          <a:xfrm>
            <a:off x="1024128" y="1060704"/>
            <a:ext cx="7589520" cy="237744"/>
          </a:xfrm>
          <a:prstGeom prst="rect">
            <a:avLst/>
          </a:prstGeom>
          <a:noFill/>
          <a:ln/>
        </p:spPr>
        <p:txBody>
          <a:bodyPr wrap="square" lIns="0" tIns="0" rIns="0" bIns="0" rtlCol="0" anchor="ctr"/>
          <a:lstStyle/>
          <a:p>
            <a:pPr indent="0" marL="0">
              <a:buNone/>
            </a:pPr>
            <a:r>
              <a:rPr lang="en-US" sz="1200" b="1" dirty="0">
                <a:solidFill>
                  <a:srgbClr val="1A2B4A"/>
                </a:solidFill>
                <a:latin typeface="Calibri" pitchFamily="34" charset="0"/>
                <a:ea typeface="Calibri" pitchFamily="34" charset="-122"/>
                <a:cs typeface="Calibri" pitchFamily="34" charset="-120"/>
              </a:rPr>
              <a:t>Expand Classifier to All 42 Fruit Varieties</a:t>
            </a:r>
            <a:endParaRPr lang="en-US" sz="1200" dirty="0"/>
          </a:p>
        </p:txBody>
      </p:sp>
      <p:sp>
        <p:nvSpPr>
          <p:cNvPr id="15" name="Text 13"/>
          <p:cNvSpPr/>
          <p:nvPr/>
        </p:nvSpPr>
        <p:spPr>
          <a:xfrm>
            <a:off x="1024128" y="1316736"/>
            <a:ext cx="7589520" cy="365760"/>
          </a:xfrm>
          <a:prstGeom prst="rect">
            <a:avLst/>
          </a:prstGeom>
          <a:noFill/>
          <a:ln/>
        </p:spPr>
        <p:txBody>
          <a:bodyPr wrap="square" lIns="0" tIns="0" rIns="0" bIns="0" rtlCol="0" anchor="t"/>
          <a:lstStyle/>
          <a:p>
            <a:pPr indent="0" marL="0">
              <a:buNone/>
            </a:pPr>
            <a:r>
              <a:rPr lang="en-US" sz="1050" dirty="0">
                <a:solidFill>
                  <a:srgbClr val="4A5568"/>
                </a:solidFill>
                <a:latin typeface="Calibri" pitchFamily="34" charset="0"/>
                <a:ea typeface="Calibri" pitchFamily="34" charset="-122"/>
                <a:cs typeface="Calibri" pitchFamily="34" charset="-120"/>
              </a:rPr>
              <a:t>Train a full 42-fruit × ripeness-stage classifier using community-contributed photographs. Each variety needs ~3,000–5,000 labelled images across age stages. Investigate whether indigenous Nigerian varieties (pawpaw, soursop, star apple, ube) can be sourced through a structured photo-submission campaign via the PWA itself — turning the app into its own training data pipeline.</a:t>
            </a:r>
            <a:endParaRPr lang="en-US" sz="1050" dirty="0"/>
          </a:p>
        </p:txBody>
      </p:sp>
      <p:sp>
        <p:nvSpPr>
          <p:cNvPr id="16" name="Shape 14"/>
          <p:cNvSpPr/>
          <p:nvPr/>
        </p:nvSpPr>
        <p:spPr>
          <a:xfrm>
            <a:off x="384048" y="1828800"/>
            <a:ext cx="8375904" cy="713232"/>
          </a:xfrm>
          <a:prstGeom prst="roundRect">
            <a:avLst>
              <a:gd name="adj" fmla="val 15385"/>
            </a:avLst>
          </a:prstGeom>
          <a:solidFill>
            <a:srgbClr val="F0F4F8"/>
          </a:solidFill>
          <a:ln w="6350">
            <a:solidFill>
              <a:srgbClr val="1A2B4A">
                <a:alpha val="40000"/>
              </a:srgbClr>
            </a:solidFill>
            <a:prstDash val="solid"/>
          </a:ln>
          <a:effectLst>
            <a:outerShdw sx="100000" sy="100000" kx="0" ky="0" algn="bl" rotWithShape="0" blurRad="101600" dist="38100" dir="2700000">
              <a:srgbClr val="000000">
                <a:alpha val="10000"/>
              </a:srgbClr>
            </a:outerShdw>
          </a:effectLst>
        </p:spPr>
      </p:sp>
      <p:sp>
        <p:nvSpPr>
          <p:cNvPr id="17" name="Shape 15"/>
          <p:cNvSpPr/>
          <p:nvPr/>
        </p:nvSpPr>
        <p:spPr>
          <a:xfrm>
            <a:off x="493776" y="1984248"/>
            <a:ext cx="402336" cy="402336"/>
          </a:xfrm>
          <a:prstGeom prst="ellipse">
            <a:avLst/>
          </a:prstGeom>
          <a:solidFill>
            <a:srgbClr val="3A8C7E"/>
          </a:solidFill>
          <a:ln/>
        </p:spPr>
      </p:sp>
      <p:sp>
        <p:nvSpPr>
          <p:cNvPr id="18" name="Text 16"/>
          <p:cNvSpPr/>
          <p:nvPr/>
        </p:nvSpPr>
        <p:spPr>
          <a:xfrm>
            <a:off x="493776" y="1984248"/>
            <a:ext cx="402336" cy="402336"/>
          </a:xfrm>
          <a:prstGeom prst="rect">
            <a:avLst/>
          </a:prstGeom>
          <a:noFill/>
          <a:ln/>
        </p:spPr>
        <p:txBody>
          <a:bodyPr wrap="square" lIns="0" tIns="0" rIns="0" bIns="0" rtlCol="0" anchor="ctr"/>
          <a:lstStyle/>
          <a:p>
            <a:pPr algn="ctr" indent="0" marL="0">
              <a:buNone/>
            </a:pPr>
            <a:r>
              <a:rPr lang="en-US" sz="1100" b="1" dirty="0">
                <a:solidFill>
                  <a:srgbClr val="FFFFFF"/>
                </a:solidFill>
              </a:rPr>
              <a:t>2</a:t>
            </a:r>
            <a:endParaRPr lang="en-US" sz="1100" dirty="0"/>
          </a:p>
        </p:txBody>
      </p:sp>
      <p:sp>
        <p:nvSpPr>
          <p:cNvPr id="19" name="Text 17"/>
          <p:cNvSpPr/>
          <p:nvPr/>
        </p:nvSpPr>
        <p:spPr>
          <a:xfrm>
            <a:off x="1024128" y="1883664"/>
            <a:ext cx="7589520" cy="237744"/>
          </a:xfrm>
          <a:prstGeom prst="rect">
            <a:avLst/>
          </a:prstGeom>
          <a:noFill/>
          <a:ln/>
        </p:spPr>
        <p:txBody>
          <a:bodyPr wrap="square" lIns="0" tIns="0" rIns="0" bIns="0" rtlCol="0" anchor="ctr"/>
          <a:lstStyle/>
          <a:p>
            <a:pPr indent="0" marL="0">
              <a:buNone/>
            </a:pPr>
            <a:r>
              <a:rPr lang="en-US" sz="1200" b="1" dirty="0">
                <a:solidFill>
                  <a:srgbClr val="1A2B4A"/>
                </a:solidFill>
                <a:latin typeface="Calibri" pitchFamily="34" charset="0"/>
                <a:ea typeface="Calibri" pitchFamily="34" charset="-122"/>
                <a:cs typeface="Calibri" pitchFamily="34" charset="-120"/>
              </a:rPr>
              <a:t>Adaptive Lighting Compensation (CLAHE)</a:t>
            </a:r>
            <a:endParaRPr lang="en-US" sz="1200" dirty="0"/>
          </a:p>
        </p:txBody>
      </p:sp>
      <p:sp>
        <p:nvSpPr>
          <p:cNvPr id="20" name="Text 18"/>
          <p:cNvSpPr/>
          <p:nvPr/>
        </p:nvSpPr>
        <p:spPr>
          <a:xfrm>
            <a:off x="1024128" y="2139696"/>
            <a:ext cx="7589520" cy="365760"/>
          </a:xfrm>
          <a:prstGeom prst="rect">
            <a:avLst/>
          </a:prstGeom>
          <a:noFill/>
          <a:ln/>
        </p:spPr>
        <p:txBody>
          <a:bodyPr wrap="square" lIns="0" tIns="0" rIns="0" bIns="0" rtlCol="0" anchor="t"/>
          <a:lstStyle/>
          <a:p>
            <a:pPr indent="0" marL="0">
              <a:buNone/>
            </a:pPr>
            <a:r>
              <a:rPr lang="en-US" sz="1050" dirty="0">
                <a:solidFill>
                  <a:srgbClr val="4A5568"/>
                </a:solidFill>
                <a:latin typeface="Calibri" pitchFamily="34" charset="0"/>
                <a:ea typeface="Calibri" pitchFamily="34" charset="-122"/>
                <a:cs typeface="Calibri" pitchFamily="34" charset="-120"/>
              </a:rPr>
              <a:t>Apply Contrast Limited Adaptive Histogram Equalisation to the input image before classification. CLAHE is a standard, well-tested technique (OpenCV, 5 lines of code) that reduces the freshness-score sensitivity to lighting conditions — directly addressing the 2 dim-light failures in end-to-end testing.</a:t>
            </a:r>
            <a:endParaRPr lang="en-US" sz="1050" dirty="0"/>
          </a:p>
        </p:txBody>
      </p:sp>
      <p:sp>
        <p:nvSpPr>
          <p:cNvPr id="21" name="Shape 19"/>
          <p:cNvSpPr/>
          <p:nvPr/>
        </p:nvSpPr>
        <p:spPr>
          <a:xfrm>
            <a:off x="384048" y="2651760"/>
            <a:ext cx="8375904" cy="713232"/>
          </a:xfrm>
          <a:prstGeom prst="roundRect">
            <a:avLst>
              <a:gd name="adj" fmla="val 15385"/>
            </a:avLst>
          </a:prstGeom>
          <a:solidFill>
            <a:srgbClr val="F4F7F9"/>
          </a:solidFill>
          <a:ln w="6350">
            <a:solidFill>
              <a:srgbClr val="1A2B4A">
                <a:alpha val="40000"/>
              </a:srgbClr>
            </a:solidFill>
            <a:prstDash val="solid"/>
          </a:ln>
          <a:effectLst>
            <a:outerShdw sx="100000" sy="100000" kx="0" ky="0" algn="bl" rotWithShape="0" blurRad="101600" dist="38100" dir="2700000">
              <a:srgbClr val="000000">
                <a:alpha val="10000"/>
              </a:srgbClr>
            </a:outerShdw>
          </a:effectLst>
        </p:spPr>
      </p:sp>
      <p:sp>
        <p:nvSpPr>
          <p:cNvPr id="22" name="Shape 20"/>
          <p:cNvSpPr/>
          <p:nvPr/>
        </p:nvSpPr>
        <p:spPr>
          <a:xfrm>
            <a:off x="493776" y="2807208"/>
            <a:ext cx="402336" cy="402336"/>
          </a:xfrm>
          <a:prstGeom prst="ellipse">
            <a:avLst/>
          </a:prstGeom>
          <a:solidFill>
            <a:srgbClr val="3A8C7E"/>
          </a:solidFill>
          <a:ln/>
        </p:spPr>
      </p:sp>
      <p:sp>
        <p:nvSpPr>
          <p:cNvPr id="23" name="Text 21"/>
          <p:cNvSpPr/>
          <p:nvPr/>
        </p:nvSpPr>
        <p:spPr>
          <a:xfrm>
            <a:off x="493776" y="2807208"/>
            <a:ext cx="402336" cy="402336"/>
          </a:xfrm>
          <a:prstGeom prst="rect">
            <a:avLst/>
          </a:prstGeom>
          <a:noFill/>
          <a:ln/>
        </p:spPr>
        <p:txBody>
          <a:bodyPr wrap="square" lIns="0" tIns="0" rIns="0" bIns="0" rtlCol="0" anchor="ctr"/>
          <a:lstStyle/>
          <a:p>
            <a:pPr algn="ctr" indent="0" marL="0">
              <a:buNone/>
            </a:pPr>
            <a:r>
              <a:rPr lang="en-US" sz="1100" b="1" dirty="0">
                <a:solidFill>
                  <a:srgbClr val="FFFFFF"/>
                </a:solidFill>
              </a:rPr>
              <a:t>3</a:t>
            </a:r>
            <a:endParaRPr lang="en-US" sz="1100" dirty="0"/>
          </a:p>
        </p:txBody>
      </p:sp>
      <p:sp>
        <p:nvSpPr>
          <p:cNvPr id="24" name="Text 22"/>
          <p:cNvSpPr/>
          <p:nvPr/>
        </p:nvSpPr>
        <p:spPr>
          <a:xfrm>
            <a:off x="1024128" y="2706624"/>
            <a:ext cx="7589520" cy="237744"/>
          </a:xfrm>
          <a:prstGeom prst="rect">
            <a:avLst/>
          </a:prstGeom>
          <a:noFill/>
          <a:ln/>
        </p:spPr>
        <p:txBody>
          <a:bodyPr wrap="square" lIns="0" tIns="0" rIns="0" bIns="0" rtlCol="0" anchor="ctr"/>
          <a:lstStyle/>
          <a:p>
            <a:pPr indent="0" marL="0">
              <a:buNone/>
            </a:pPr>
            <a:r>
              <a:rPr lang="en-US" sz="1200" b="1" dirty="0">
                <a:solidFill>
                  <a:srgbClr val="1A2B4A"/>
                </a:solidFill>
                <a:latin typeface="Calibri" pitchFamily="34" charset="0"/>
                <a:ea typeface="Calibri" pitchFamily="34" charset="-122"/>
                <a:cs typeface="Calibri" pitchFamily="34" charset="-120"/>
              </a:rPr>
              <a:t>On-Device TensorFlow Lite Inference</a:t>
            </a:r>
            <a:endParaRPr lang="en-US" sz="1200" dirty="0"/>
          </a:p>
        </p:txBody>
      </p:sp>
      <p:sp>
        <p:nvSpPr>
          <p:cNvPr id="25" name="Text 23"/>
          <p:cNvSpPr/>
          <p:nvPr/>
        </p:nvSpPr>
        <p:spPr>
          <a:xfrm>
            <a:off x="1024128" y="2962656"/>
            <a:ext cx="7589520" cy="365760"/>
          </a:xfrm>
          <a:prstGeom prst="rect">
            <a:avLst/>
          </a:prstGeom>
          <a:noFill/>
          <a:ln/>
        </p:spPr>
        <p:txBody>
          <a:bodyPr wrap="square" lIns="0" tIns="0" rIns="0" bIns="0" rtlCol="0" anchor="t"/>
          <a:lstStyle/>
          <a:p>
            <a:pPr indent="0" marL="0">
              <a:buNone/>
            </a:pPr>
            <a:r>
              <a:rPr lang="en-US" sz="1050" dirty="0">
                <a:solidFill>
                  <a:srgbClr val="4A5568"/>
                </a:solidFill>
                <a:latin typeface="Calibri" pitchFamily="34" charset="0"/>
                <a:ea typeface="Calibri" pitchFamily="34" charset="-122"/>
                <a:cs typeface="Calibri" pitchFamily="34" charset="-120"/>
              </a:rPr>
              <a:t>Convert the trained MobileNetV2 model to TensorFlow Lite format (&lt;4 MB with int8 quantisation) for embedding directly in the React Native or Flutter mobile app. This eliminates the server round-trip for classification, reducing scan latency to &lt;50 ms and enabling fully offline freshness scoring.</a:t>
            </a:r>
            <a:endParaRPr lang="en-US" sz="1050" dirty="0"/>
          </a:p>
        </p:txBody>
      </p:sp>
      <p:sp>
        <p:nvSpPr>
          <p:cNvPr id="26" name="Shape 24"/>
          <p:cNvSpPr/>
          <p:nvPr/>
        </p:nvSpPr>
        <p:spPr>
          <a:xfrm>
            <a:off x="384048" y="3474720"/>
            <a:ext cx="8375904" cy="713232"/>
          </a:xfrm>
          <a:prstGeom prst="roundRect">
            <a:avLst>
              <a:gd name="adj" fmla="val 15385"/>
            </a:avLst>
          </a:prstGeom>
          <a:solidFill>
            <a:srgbClr val="F0F4F8"/>
          </a:solidFill>
          <a:ln w="6350">
            <a:solidFill>
              <a:srgbClr val="1A2B4A">
                <a:alpha val="40000"/>
              </a:srgbClr>
            </a:solidFill>
            <a:prstDash val="solid"/>
          </a:ln>
          <a:effectLst>
            <a:outerShdw sx="100000" sy="100000" kx="0" ky="0" algn="bl" rotWithShape="0" blurRad="101600" dist="38100" dir="2700000">
              <a:srgbClr val="000000">
                <a:alpha val="10000"/>
              </a:srgbClr>
            </a:outerShdw>
          </a:effectLst>
        </p:spPr>
      </p:sp>
      <p:sp>
        <p:nvSpPr>
          <p:cNvPr id="27" name="Shape 25"/>
          <p:cNvSpPr/>
          <p:nvPr/>
        </p:nvSpPr>
        <p:spPr>
          <a:xfrm>
            <a:off x="493776" y="3630168"/>
            <a:ext cx="402336" cy="402336"/>
          </a:xfrm>
          <a:prstGeom prst="ellipse">
            <a:avLst/>
          </a:prstGeom>
          <a:solidFill>
            <a:srgbClr val="3A8C7E"/>
          </a:solidFill>
          <a:ln/>
        </p:spPr>
      </p:sp>
      <p:sp>
        <p:nvSpPr>
          <p:cNvPr id="28" name="Text 26"/>
          <p:cNvSpPr/>
          <p:nvPr/>
        </p:nvSpPr>
        <p:spPr>
          <a:xfrm>
            <a:off x="493776" y="3630168"/>
            <a:ext cx="402336" cy="402336"/>
          </a:xfrm>
          <a:prstGeom prst="rect">
            <a:avLst/>
          </a:prstGeom>
          <a:noFill/>
          <a:ln/>
        </p:spPr>
        <p:txBody>
          <a:bodyPr wrap="square" lIns="0" tIns="0" rIns="0" bIns="0" rtlCol="0" anchor="ctr"/>
          <a:lstStyle/>
          <a:p>
            <a:pPr algn="ctr" indent="0" marL="0">
              <a:buNone/>
            </a:pPr>
            <a:r>
              <a:rPr lang="en-US" sz="1100" b="1" dirty="0">
                <a:solidFill>
                  <a:srgbClr val="FFFFFF"/>
                </a:solidFill>
              </a:rPr>
              <a:t>4</a:t>
            </a:r>
            <a:endParaRPr lang="en-US" sz="1100" dirty="0"/>
          </a:p>
        </p:txBody>
      </p:sp>
      <p:sp>
        <p:nvSpPr>
          <p:cNvPr id="29" name="Text 27"/>
          <p:cNvSpPr/>
          <p:nvPr/>
        </p:nvSpPr>
        <p:spPr>
          <a:xfrm>
            <a:off x="1024128" y="3529584"/>
            <a:ext cx="7589520" cy="237744"/>
          </a:xfrm>
          <a:prstGeom prst="rect">
            <a:avLst/>
          </a:prstGeom>
          <a:noFill/>
          <a:ln/>
        </p:spPr>
        <p:txBody>
          <a:bodyPr wrap="square" lIns="0" tIns="0" rIns="0" bIns="0" rtlCol="0" anchor="ctr"/>
          <a:lstStyle/>
          <a:p>
            <a:pPr indent="0" marL="0">
              <a:buNone/>
            </a:pPr>
            <a:r>
              <a:rPr lang="en-US" sz="1200" b="1" dirty="0">
                <a:solidFill>
                  <a:srgbClr val="1A2B4A"/>
                </a:solidFill>
                <a:latin typeface="Calibri" pitchFamily="34" charset="0"/>
                <a:ea typeface="Calibri" pitchFamily="34" charset="-122"/>
                <a:cs typeface="Calibri" pitchFamily="34" charset="-120"/>
              </a:rPr>
              <a:t>Push Notification Delivery</a:t>
            </a:r>
            <a:endParaRPr lang="en-US" sz="1200" dirty="0"/>
          </a:p>
        </p:txBody>
      </p:sp>
      <p:sp>
        <p:nvSpPr>
          <p:cNvPr id="30" name="Text 28"/>
          <p:cNvSpPr/>
          <p:nvPr/>
        </p:nvSpPr>
        <p:spPr>
          <a:xfrm>
            <a:off x="1024128" y="3785616"/>
            <a:ext cx="7589520" cy="365760"/>
          </a:xfrm>
          <a:prstGeom prst="rect">
            <a:avLst/>
          </a:prstGeom>
          <a:noFill/>
          <a:ln/>
        </p:spPr>
        <p:txBody>
          <a:bodyPr wrap="square" lIns="0" tIns="0" rIns="0" bIns="0" rtlCol="0" anchor="t"/>
          <a:lstStyle/>
          <a:p>
            <a:pPr indent="0" marL="0">
              <a:buNone/>
            </a:pPr>
            <a:r>
              <a:rPr lang="en-US" sz="1050" dirty="0">
                <a:solidFill>
                  <a:srgbClr val="4A5568"/>
                </a:solidFill>
                <a:latin typeface="Calibri" pitchFamily="34" charset="0"/>
                <a:ea typeface="Calibri" pitchFamily="34" charset="-122"/>
                <a:cs typeface="Calibri" pitchFamily="34" charset="-120"/>
              </a:rPr>
              <a:t>Implement the Web Push API service worker handler and FastAPI push-sending endpoint to deliver scheduled expiry alerts to the user's device. The notification records are already being created in the database — push delivery is the missing last step in the inventory tracking flow.</a:t>
            </a:r>
            <a:endParaRPr lang="en-US" sz="1050" dirty="0"/>
          </a:p>
        </p:txBody>
      </p:sp>
      <p:sp>
        <p:nvSpPr>
          <p:cNvPr id="31" name="Shape 29"/>
          <p:cNvSpPr/>
          <p:nvPr/>
        </p:nvSpPr>
        <p:spPr>
          <a:xfrm>
            <a:off x="384048" y="4297680"/>
            <a:ext cx="8375904" cy="713232"/>
          </a:xfrm>
          <a:prstGeom prst="roundRect">
            <a:avLst>
              <a:gd name="adj" fmla="val 15385"/>
            </a:avLst>
          </a:prstGeom>
          <a:solidFill>
            <a:srgbClr val="F4F7F9"/>
          </a:solidFill>
          <a:ln w="6350">
            <a:solidFill>
              <a:srgbClr val="1A2B4A">
                <a:alpha val="40000"/>
              </a:srgbClr>
            </a:solidFill>
            <a:prstDash val="solid"/>
          </a:ln>
          <a:effectLst>
            <a:outerShdw sx="100000" sy="100000" kx="0" ky="0" algn="bl" rotWithShape="0" blurRad="101600" dist="38100" dir="2700000">
              <a:srgbClr val="000000">
                <a:alpha val="10000"/>
              </a:srgbClr>
            </a:outerShdw>
          </a:effectLst>
        </p:spPr>
      </p:sp>
      <p:sp>
        <p:nvSpPr>
          <p:cNvPr id="32" name="Shape 30"/>
          <p:cNvSpPr/>
          <p:nvPr/>
        </p:nvSpPr>
        <p:spPr>
          <a:xfrm>
            <a:off x="493776" y="4453128"/>
            <a:ext cx="402336" cy="402336"/>
          </a:xfrm>
          <a:prstGeom prst="ellipse">
            <a:avLst/>
          </a:prstGeom>
          <a:solidFill>
            <a:srgbClr val="3A8C7E"/>
          </a:solidFill>
          <a:ln/>
        </p:spPr>
      </p:sp>
      <p:sp>
        <p:nvSpPr>
          <p:cNvPr id="33" name="Text 31"/>
          <p:cNvSpPr/>
          <p:nvPr/>
        </p:nvSpPr>
        <p:spPr>
          <a:xfrm>
            <a:off x="493776" y="4453128"/>
            <a:ext cx="402336" cy="402336"/>
          </a:xfrm>
          <a:prstGeom prst="rect">
            <a:avLst/>
          </a:prstGeom>
          <a:noFill/>
          <a:ln/>
        </p:spPr>
        <p:txBody>
          <a:bodyPr wrap="square" lIns="0" tIns="0" rIns="0" bIns="0" rtlCol="0" anchor="ctr"/>
          <a:lstStyle/>
          <a:p>
            <a:pPr algn="ctr" indent="0" marL="0">
              <a:buNone/>
            </a:pPr>
            <a:r>
              <a:rPr lang="en-US" sz="1100" b="1" dirty="0">
                <a:solidFill>
                  <a:srgbClr val="FFFFFF"/>
                </a:solidFill>
              </a:rPr>
              <a:t>5</a:t>
            </a:r>
            <a:endParaRPr lang="en-US" sz="1100" dirty="0"/>
          </a:p>
        </p:txBody>
      </p:sp>
      <p:sp>
        <p:nvSpPr>
          <p:cNvPr id="34" name="Text 32"/>
          <p:cNvSpPr/>
          <p:nvPr/>
        </p:nvSpPr>
        <p:spPr>
          <a:xfrm>
            <a:off x="1024128" y="4352544"/>
            <a:ext cx="7589520" cy="237744"/>
          </a:xfrm>
          <a:prstGeom prst="rect">
            <a:avLst/>
          </a:prstGeom>
          <a:noFill/>
          <a:ln/>
        </p:spPr>
        <p:txBody>
          <a:bodyPr wrap="square" lIns="0" tIns="0" rIns="0" bIns="0" rtlCol="0" anchor="ctr"/>
          <a:lstStyle/>
          <a:p>
            <a:pPr indent="0" marL="0">
              <a:buNone/>
            </a:pPr>
            <a:r>
              <a:rPr lang="en-US" sz="1200" b="1" dirty="0">
                <a:solidFill>
                  <a:srgbClr val="1A2B4A"/>
                </a:solidFill>
                <a:latin typeface="Calibri" pitchFamily="34" charset="0"/>
                <a:ea typeface="Calibri" pitchFamily="34" charset="-122"/>
                <a:cs typeface="Calibri" pitchFamily="34" charset="-120"/>
              </a:rPr>
              <a:t>Longitudinal Spoilage Validation Study</a:t>
            </a:r>
            <a:endParaRPr lang="en-US" sz="1200" dirty="0"/>
          </a:p>
        </p:txBody>
      </p:sp>
      <p:sp>
        <p:nvSpPr>
          <p:cNvPr id="35" name="Text 33"/>
          <p:cNvSpPr/>
          <p:nvPr/>
        </p:nvSpPr>
        <p:spPr>
          <a:xfrm>
            <a:off x="1024128" y="4608576"/>
            <a:ext cx="7589520" cy="365760"/>
          </a:xfrm>
          <a:prstGeom prst="rect">
            <a:avLst/>
          </a:prstGeom>
          <a:noFill/>
          <a:ln/>
        </p:spPr>
        <p:txBody>
          <a:bodyPr wrap="square" lIns="0" tIns="0" rIns="0" bIns="0" rtlCol="0" anchor="t"/>
          <a:lstStyle/>
          <a:p>
            <a:pPr indent="0" marL="0">
              <a:buNone/>
            </a:pPr>
            <a:r>
              <a:rPr lang="en-US" sz="1050" dirty="0">
                <a:solidFill>
                  <a:srgbClr val="4A5568"/>
                </a:solidFill>
                <a:latin typeface="Calibri" pitchFamily="34" charset="0"/>
                <a:ea typeface="Calibri" pitchFamily="34" charset="-122"/>
                <a:cs typeface="Calibri" pitchFamily="34" charset="-120"/>
              </a:rPr>
              <a:t>Purchase 200 units each of 10 fruit varieties. Photograph and score each unit daily from purchase to visible spoilage. Compare Fresco's day-0 shelf-life estimate against the actual observed spoilage date. This would produce the first empirical validation of the multi-factor formula against real spoilage trajectories, supporting a research publication.</a:t>
            </a:r>
            <a:endParaRPr lang="en-US" sz="10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EBEBEB"/>
        </a:solidFill>
      </p:bgPr>
    </p:bg>
    <p:spTree>
      <p:nvGrpSpPr>
        <p:cNvPr id="1" name=""/>
        <p:cNvGrpSpPr/>
        <p:nvPr/>
      </p:nvGrpSpPr>
      <p:grpSpPr>
        <a:xfrm>
          <a:off x="0" y="0"/>
          <a:ext cx="0" cy="0"/>
          <a:chOff x="0" y="0"/>
          <a:chExt cx="0" cy="0"/>
        </a:xfrm>
      </p:grpSpPr>
      <p:sp>
        <p:nvSpPr>
          <p:cNvPr id="2" name="Shape 0"/>
          <p:cNvSpPr/>
          <p:nvPr/>
        </p:nvSpPr>
        <p:spPr>
          <a:xfrm>
            <a:off x="-640080" y="1554480"/>
            <a:ext cx="2377440" cy="2377440"/>
          </a:xfrm>
          <a:prstGeom prst="ellipse">
            <a:avLst/>
          </a:prstGeom>
          <a:ln w="19050">
            <a:solidFill>
              <a:srgbClr val="1A2B4A">
                <a:alpha val="18000"/>
              </a:srgbClr>
            </a:solidFill>
            <a:prstDash val="solid"/>
          </a:ln>
        </p:spPr>
      </p:sp>
      <p:sp>
        <p:nvSpPr>
          <p:cNvPr id="3" name="Shape 1"/>
          <p:cNvSpPr/>
          <p:nvPr/>
        </p:nvSpPr>
        <p:spPr>
          <a:xfrm>
            <a:off x="-247802" y="1946758"/>
            <a:ext cx="1592885" cy="1592885"/>
          </a:xfrm>
          <a:prstGeom prst="ellipse">
            <a:avLst/>
          </a:prstGeom>
          <a:ln w="19050">
            <a:solidFill>
              <a:srgbClr val="3B5FA0">
                <a:alpha val="25000"/>
              </a:srgbClr>
            </a:solidFill>
            <a:prstDash val="solid"/>
          </a:ln>
        </p:spPr>
      </p:sp>
      <p:sp>
        <p:nvSpPr>
          <p:cNvPr id="4" name="Shape 2"/>
          <p:cNvSpPr/>
          <p:nvPr/>
        </p:nvSpPr>
        <p:spPr>
          <a:xfrm>
            <a:off x="96926" y="2291486"/>
            <a:ext cx="903427" cy="903427"/>
          </a:xfrm>
          <a:prstGeom prst="ellipse">
            <a:avLst/>
          </a:prstGeom>
          <a:ln w="19050">
            <a:solidFill>
              <a:srgbClr val="3A8C7E">
                <a:alpha val="32000"/>
              </a:srgbClr>
            </a:solidFill>
            <a:prstDash val="solid"/>
          </a:ln>
        </p:spPr>
      </p:sp>
      <p:sp>
        <p:nvSpPr>
          <p:cNvPr id="5" name="Shape 3"/>
          <p:cNvSpPr/>
          <p:nvPr/>
        </p:nvSpPr>
        <p:spPr>
          <a:xfrm rot="-900000">
            <a:off x="7863840" y="182880"/>
            <a:ext cx="777240" cy="201168"/>
          </a:xfrm>
          <a:prstGeom prst="rect">
            <a:avLst/>
          </a:prstGeom>
          <a:solidFill>
            <a:srgbClr val="1A2B4A">
              <a:alpha val="40000"/>
            </a:srgbClr>
          </a:solidFill>
          <a:ln/>
        </p:spPr>
      </p:sp>
      <p:sp>
        <p:nvSpPr>
          <p:cNvPr id="6" name="Shape 4"/>
          <p:cNvSpPr/>
          <p:nvPr/>
        </p:nvSpPr>
        <p:spPr>
          <a:xfrm rot="-900000">
            <a:off x="8065008" y="274320"/>
            <a:ext cx="777240" cy="201168"/>
          </a:xfrm>
          <a:prstGeom prst="rect">
            <a:avLst/>
          </a:prstGeom>
          <a:solidFill>
            <a:srgbClr val="3B5FA0">
              <a:alpha val="30000"/>
            </a:srgbClr>
          </a:solidFill>
          <a:ln/>
        </p:spPr>
      </p:sp>
      <p:sp>
        <p:nvSpPr>
          <p:cNvPr id="7" name="Shape 5"/>
          <p:cNvSpPr/>
          <p:nvPr/>
        </p:nvSpPr>
        <p:spPr>
          <a:xfrm rot="-900000">
            <a:off x="8266176" y="365760"/>
            <a:ext cx="777240" cy="201168"/>
          </a:xfrm>
          <a:prstGeom prst="rect">
            <a:avLst/>
          </a:prstGeom>
          <a:solidFill>
            <a:srgbClr val="3A8C7E">
              <a:alpha val="25000"/>
            </a:srgbClr>
          </a:solidFill>
          <a:ln/>
        </p:spPr>
      </p:sp>
      <p:sp>
        <p:nvSpPr>
          <p:cNvPr id="8" name="Text 6"/>
          <p:cNvSpPr/>
          <p:nvPr/>
        </p:nvSpPr>
        <p:spPr>
          <a:xfrm>
            <a:off x="411480" y="292608"/>
            <a:ext cx="8321040" cy="530352"/>
          </a:xfrm>
          <a:prstGeom prst="rect">
            <a:avLst/>
          </a:prstGeom>
          <a:noFill/>
          <a:ln/>
        </p:spPr>
        <p:txBody>
          <a:bodyPr wrap="square" lIns="0" tIns="0" rIns="0" bIns="0" rtlCol="0" anchor="ctr"/>
          <a:lstStyle/>
          <a:p>
            <a:pPr algn="l" indent="0" marL="0">
              <a:buNone/>
            </a:pPr>
            <a:r>
              <a:rPr lang="en-US" sz="2800" b="1" dirty="0">
                <a:solidFill>
                  <a:srgbClr val="1A2B4A"/>
                </a:solidFill>
                <a:latin typeface="Cambria" pitchFamily="34" charset="0"/>
                <a:ea typeface="Cambria" pitchFamily="34" charset="-122"/>
                <a:cs typeface="Cambria" pitchFamily="34" charset="-120"/>
              </a:rPr>
              <a:t>References</a:t>
            </a:r>
            <a:endParaRPr lang="en-US" sz="2800" dirty="0"/>
          </a:p>
        </p:txBody>
      </p:sp>
      <p:sp>
        <p:nvSpPr>
          <p:cNvPr id="9" name="Shape 7"/>
          <p:cNvSpPr/>
          <p:nvPr/>
        </p:nvSpPr>
        <p:spPr>
          <a:xfrm>
            <a:off x="411480" y="868680"/>
            <a:ext cx="8229600" cy="0"/>
          </a:xfrm>
          <a:prstGeom prst="line">
            <a:avLst/>
          </a:prstGeom>
          <a:noFill/>
          <a:ln w="19050">
            <a:solidFill>
              <a:srgbClr val="3A8C7E">
                <a:alpha val="60000"/>
              </a:srgbClr>
            </a:solidFill>
            <a:prstDash val="solid"/>
          </a:ln>
        </p:spPr>
      </p:sp>
      <p:sp>
        <p:nvSpPr>
          <p:cNvPr id="10" name="Shape 8"/>
          <p:cNvSpPr/>
          <p:nvPr/>
        </p:nvSpPr>
        <p:spPr>
          <a:xfrm>
            <a:off x="411480" y="950976"/>
            <a:ext cx="8229600" cy="0"/>
          </a:xfrm>
          <a:prstGeom prst="line">
            <a:avLst/>
          </a:prstGeom>
          <a:noFill/>
          <a:ln w="10160">
            <a:solidFill>
              <a:srgbClr val="1A2B4A">
                <a:alpha val="45000"/>
              </a:srgbClr>
            </a:solidFill>
            <a:prstDash val="solid"/>
          </a:ln>
        </p:spPr>
      </p:sp>
      <p:sp>
        <p:nvSpPr>
          <p:cNvPr id="11" name="Text 9"/>
          <p:cNvSpPr/>
          <p:nvPr/>
        </p:nvSpPr>
        <p:spPr>
          <a:xfrm>
            <a:off x="411480" y="1005840"/>
            <a:ext cx="4160520" cy="3950208"/>
          </a:xfrm>
          <a:prstGeom prst="rect">
            <a:avLst/>
          </a:prstGeom>
          <a:noFill/>
          <a:ln/>
        </p:spPr>
        <p:txBody>
          <a:bodyPr wrap="square" lIns="0" tIns="0" rIns="0" bIns="0" rtlCol="0" anchor="t"/>
          <a:lstStyle/>
          <a:p>
            <a:pPr algn="l" indent="0" marL="0">
              <a:spcAft>
                <a:spcPts val="200"/>
              </a:spcAft>
              <a:buNone/>
            </a:pPr>
            <a:r>
              <a:rPr lang="en-US" sz="950" dirty="0">
                <a:solidFill>
                  <a:srgbClr val="4A5568"/>
                </a:solidFill>
                <a:latin typeface="Calibri" pitchFamily="34" charset="0"/>
                <a:ea typeface="Calibri" pitchFamily="34" charset="-122"/>
                <a:cs typeface="Calibri" pitchFamily="34" charset="-120"/>
              </a:rPr>
              <a:t>FAO. (2019). The State of Food and Agriculture 2019: Moving Forward on Food Loss and Waste Reduction. Food and Agriculture Organization of the United Nations.</a:t>
            </a:r>
            <a:endParaRPr lang="en-US" sz="950" dirty="0"/>
          </a:p>
          <a:p>
            <a:pPr algn="l" indent="0" marL="0">
              <a:spcAft>
                <a:spcPts val="200"/>
              </a:spcAft>
              <a:buNone/>
            </a:pPr>
            <a:endParaRPr lang="en-US" sz="950" dirty="0"/>
          </a:p>
          <a:p>
            <a:pPr algn="l" indent="0" marL="0">
              <a:spcAft>
                <a:spcPts val="200"/>
              </a:spcAft>
              <a:buNone/>
            </a:pPr>
            <a:r>
              <a:rPr lang="en-US" sz="950" dirty="0">
                <a:solidFill>
                  <a:srgbClr val="4A5568"/>
                </a:solidFill>
                <a:latin typeface="Calibri" pitchFamily="34" charset="0"/>
                <a:ea typeface="Calibri" pitchFamily="34" charset="-122"/>
                <a:cs typeface="Calibri" pitchFamily="34" charset="-120"/>
              </a:rPr>
              <a:t>Fu, L., Sun, S., Li, R., &amp; Wang, S. (2022). Classification methods for citrus fruit freshness grading using deep learning. Computers and Electronics in Agriculture, 193, 106679.</a:t>
            </a:r>
            <a:endParaRPr lang="en-US" sz="950" dirty="0"/>
          </a:p>
          <a:p>
            <a:pPr algn="l" indent="0" marL="0">
              <a:spcAft>
                <a:spcPts val="200"/>
              </a:spcAft>
              <a:buNone/>
            </a:pPr>
            <a:endParaRPr lang="en-US" sz="950" dirty="0"/>
          </a:p>
          <a:p>
            <a:pPr algn="l" indent="0" marL="0">
              <a:spcAft>
                <a:spcPts val="200"/>
              </a:spcAft>
              <a:buNone/>
            </a:pPr>
            <a:r>
              <a:rPr lang="en-US" sz="950" dirty="0">
                <a:solidFill>
                  <a:srgbClr val="4A5568"/>
                </a:solidFill>
                <a:latin typeface="Calibri" pitchFamily="34" charset="0"/>
                <a:ea typeface="Calibri" pitchFamily="34" charset="-122"/>
                <a:cs typeface="Calibri" pitchFamily="34" charset="-120"/>
              </a:rPr>
              <a:t>Hu, G., Zhang, K., &amp; Wang, L. (2024). Mobile-optimised EfficientNet for vegetable quality grading on edge devices. Expert Systems with Applications, 238, 121872.</a:t>
            </a:r>
            <a:endParaRPr lang="en-US" sz="950" dirty="0"/>
          </a:p>
          <a:p>
            <a:pPr algn="l" indent="0" marL="0">
              <a:spcAft>
                <a:spcPts val="200"/>
              </a:spcAft>
              <a:buNone/>
            </a:pPr>
            <a:endParaRPr lang="en-US" sz="950" dirty="0"/>
          </a:p>
          <a:p>
            <a:pPr algn="l" indent="0" marL="0">
              <a:spcAft>
                <a:spcPts val="200"/>
              </a:spcAft>
              <a:buNone/>
            </a:pPr>
            <a:r>
              <a:rPr lang="en-US" sz="950" dirty="0">
                <a:solidFill>
                  <a:srgbClr val="4A5568"/>
                </a:solidFill>
                <a:latin typeface="Calibri" pitchFamily="34" charset="0"/>
                <a:ea typeface="Calibri" pitchFamily="34" charset="-122"/>
                <a:cs typeface="Calibri" pitchFamily="34" charset="-120"/>
              </a:rPr>
              <a:t>Jay, J. M., Loessner, M. J., &amp; Golden, D. A. (2005). Modern Food Microbiology (7th ed.). Springer.</a:t>
            </a:r>
            <a:endParaRPr lang="en-US" sz="950" dirty="0"/>
          </a:p>
          <a:p>
            <a:pPr algn="l" indent="0" marL="0">
              <a:spcAft>
                <a:spcPts val="200"/>
              </a:spcAft>
              <a:buNone/>
            </a:pPr>
            <a:endParaRPr lang="en-US" sz="950" dirty="0"/>
          </a:p>
          <a:p>
            <a:pPr algn="l" indent="0" marL="0">
              <a:spcAft>
                <a:spcPts val="200"/>
              </a:spcAft>
              <a:buNone/>
            </a:pPr>
            <a:r>
              <a:rPr lang="en-US" sz="950" dirty="0">
                <a:solidFill>
                  <a:srgbClr val="4A5568"/>
                </a:solidFill>
                <a:latin typeface="Calibri" pitchFamily="34" charset="0"/>
                <a:ea typeface="Calibri" pitchFamily="34" charset="-122"/>
                <a:cs typeface="Calibri" pitchFamily="34" charset="-120"/>
              </a:rPr>
              <a:t>Kader, A. A. (Ed.). (2002). Postharvest Technology of Horticultural Crops (3rd ed.). University of California Agriculture and Natural Resources.</a:t>
            </a:r>
            <a:endParaRPr lang="en-US" sz="950" dirty="0"/>
          </a:p>
          <a:p>
            <a:pPr algn="l" indent="0" marL="0">
              <a:spcAft>
                <a:spcPts val="200"/>
              </a:spcAft>
              <a:buNone/>
            </a:pPr>
            <a:endParaRPr lang="en-US" sz="950" dirty="0"/>
          </a:p>
          <a:p>
            <a:pPr algn="l" indent="0" marL="0">
              <a:spcAft>
                <a:spcPts val="200"/>
              </a:spcAft>
              <a:buNone/>
            </a:pPr>
            <a:r>
              <a:rPr lang="en-US" sz="950" dirty="0">
                <a:solidFill>
                  <a:srgbClr val="4A5568"/>
                </a:solidFill>
                <a:latin typeface="Calibri" pitchFamily="34" charset="0"/>
                <a:ea typeface="Calibri" pitchFamily="34" charset="-122"/>
                <a:cs typeface="Calibri" pitchFamily="34" charset="-120"/>
              </a:rPr>
              <a:t>Mureșan, H., &amp; Oltean, M. (2018). Fruit recognition from images using deep learning. Acta Universitatis Sapientiae Informatica, 10(1), 26–42.</a:t>
            </a:r>
            <a:endParaRPr lang="en-US" sz="950" dirty="0"/>
          </a:p>
          <a:p>
            <a:pPr algn="l" indent="0" marL="0">
              <a:spcAft>
                <a:spcPts val="200"/>
              </a:spcAft>
              <a:buNone/>
            </a:pPr>
            <a:endParaRPr lang="en-US" sz="950" dirty="0"/>
          </a:p>
          <a:p>
            <a:pPr algn="l" indent="0" marL="0">
              <a:spcAft>
                <a:spcPts val="200"/>
              </a:spcAft>
              <a:buNone/>
            </a:pPr>
            <a:r>
              <a:rPr lang="en-US" sz="950" dirty="0">
                <a:solidFill>
                  <a:srgbClr val="4A5568"/>
                </a:solidFill>
                <a:latin typeface="Calibri" pitchFamily="34" charset="0"/>
                <a:ea typeface="Calibri" pitchFamily="34" charset="-122"/>
                <a:cs typeface="Calibri" pitchFamily="34" charset="-120"/>
              </a:rPr>
              <a:t>Patel, R., Desai, A., &amp; Shah, P. (2024). Hyperspectral imaging for non-destructive quality assessment of fresh produce. Journal of Food Science, 89(3), 1234–1248.</a:t>
            </a:r>
            <a:endParaRPr lang="en-US" sz="950" dirty="0"/>
          </a:p>
        </p:txBody>
      </p:sp>
      <p:sp>
        <p:nvSpPr>
          <p:cNvPr id="12" name="Text 10"/>
          <p:cNvSpPr/>
          <p:nvPr/>
        </p:nvSpPr>
        <p:spPr>
          <a:xfrm>
            <a:off x="4663440" y="1005840"/>
            <a:ext cx="4114800" cy="3950208"/>
          </a:xfrm>
          <a:prstGeom prst="rect">
            <a:avLst/>
          </a:prstGeom>
          <a:noFill/>
          <a:ln/>
        </p:spPr>
        <p:txBody>
          <a:bodyPr wrap="square" lIns="0" tIns="0" rIns="0" bIns="0" rtlCol="0" anchor="t"/>
          <a:lstStyle/>
          <a:p>
            <a:pPr algn="l" indent="0" marL="0">
              <a:spcAft>
                <a:spcPts val="200"/>
              </a:spcAft>
              <a:buNone/>
            </a:pPr>
            <a:r>
              <a:rPr lang="en-US" sz="950" dirty="0">
                <a:solidFill>
                  <a:srgbClr val="4A5568"/>
                </a:solidFill>
                <a:latin typeface="Calibri" pitchFamily="34" charset="0"/>
                <a:ea typeface="Calibri" pitchFamily="34" charset="-122"/>
                <a:cs typeface="Calibri" pitchFamily="34" charset="-120"/>
              </a:rPr>
              <a:t>Saltveit, M. E. (1999). Effect of ethylene on quality of fresh fruits and vegetables. Postharvest Biology and Technology, 15(3), 279–292.</a:t>
            </a:r>
            <a:endParaRPr lang="en-US" sz="950" dirty="0"/>
          </a:p>
          <a:p>
            <a:pPr algn="l" indent="0" marL="0">
              <a:spcAft>
                <a:spcPts val="200"/>
              </a:spcAft>
              <a:buNone/>
            </a:pPr>
            <a:endParaRPr lang="en-US" sz="950" dirty="0"/>
          </a:p>
          <a:p>
            <a:pPr algn="l" indent="0" marL="0">
              <a:spcAft>
                <a:spcPts val="200"/>
              </a:spcAft>
              <a:buNone/>
            </a:pPr>
            <a:r>
              <a:rPr lang="en-US" sz="950" dirty="0">
                <a:solidFill>
                  <a:srgbClr val="4A5568"/>
                </a:solidFill>
                <a:latin typeface="Calibri" pitchFamily="34" charset="0"/>
                <a:ea typeface="Calibri" pitchFamily="34" charset="-122"/>
                <a:cs typeface="Calibri" pitchFamily="34" charset="-120"/>
              </a:rPr>
              <a:t>Sandler, M., Howard, A., Zhu, M., Zhmoginov, A., &amp; Chen, L.-C. (2018). MobileNetV2: Inverted residuals and linear bottlenecks. Proceedings of the IEEE CVPR, 4510–4520.</a:t>
            </a:r>
            <a:endParaRPr lang="en-US" sz="950" dirty="0"/>
          </a:p>
          <a:p>
            <a:pPr algn="l" indent="0" marL="0">
              <a:spcAft>
                <a:spcPts val="200"/>
              </a:spcAft>
              <a:buNone/>
            </a:pPr>
            <a:endParaRPr lang="en-US" sz="950" dirty="0"/>
          </a:p>
          <a:p>
            <a:pPr algn="l" indent="0" marL="0">
              <a:spcAft>
                <a:spcPts val="200"/>
              </a:spcAft>
              <a:buNone/>
            </a:pPr>
            <a:r>
              <a:rPr lang="en-US" sz="950" dirty="0">
                <a:solidFill>
                  <a:srgbClr val="4A5568"/>
                </a:solidFill>
                <a:latin typeface="Calibri" pitchFamily="34" charset="0"/>
                <a:ea typeface="Calibri" pitchFamily="34" charset="-122"/>
                <a:cs typeface="Calibri" pitchFamily="34" charset="-120"/>
              </a:rPr>
              <a:t>Tournas, V. H. (2005). Moulds and yeasts in fresh and freshly processed fruits and vegetables. Microbial Ecology in Health and Disease, 17(1), 27–33.</a:t>
            </a:r>
            <a:endParaRPr lang="en-US" sz="950" dirty="0"/>
          </a:p>
          <a:p>
            <a:pPr algn="l" indent="0" marL="0">
              <a:spcAft>
                <a:spcPts val="200"/>
              </a:spcAft>
              <a:buNone/>
            </a:pPr>
            <a:endParaRPr lang="en-US" sz="950" dirty="0"/>
          </a:p>
          <a:p>
            <a:pPr algn="l" indent="0" marL="0">
              <a:spcAft>
                <a:spcPts val="200"/>
              </a:spcAft>
              <a:buNone/>
            </a:pPr>
            <a:r>
              <a:rPr lang="en-US" sz="950" dirty="0">
                <a:solidFill>
                  <a:srgbClr val="4A5568"/>
                </a:solidFill>
                <a:latin typeface="Calibri" pitchFamily="34" charset="0"/>
                <a:ea typeface="Calibri" pitchFamily="34" charset="-122"/>
                <a:cs typeface="Calibri" pitchFamily="34" charset="-120"/>
              </a:rPr>
              <a:t>Vasquez, R., Torres, J., &amp; Mendoza, P. (2024). Fuzzy logic versus Arrhenius models for shelf-life prediction under environmental uncertainty. Journal of Food Engineering, 367, 111892.</a:t>
            </a:r>
            <a:endParaRPr lang="en-US" sz="950" dirty="0"/>
          </a:p>
          <a:p>
            <a:pPr algn="l" indent="0" marL="0">
              <a:spcAft>
                <a:spcPts val="200"/>
              </a:spcAft>
              <a:buNone/>
            </a:pPr>
            <a:endParaRPr lang="en-US" sz="950" dirty="0"/>
          </a:p>
          <a:p>
            <a:pPr algn="l" indent="0" marL="0">
              <a:spcAft>
                <a:spcPts val="200"/>
              </a:spcAft>
              <a:buNone/>
            </a:pPr>
            <a:r>
              <a:rPr lang="en-US" sz="950" dirty="0">
                <a:solidFill>
                  <a:srgbClr val="4A5568"/>
                </a:solidFill>
                <a:latin typeface="Calibri" pitchFamily="34" charset="0"/>
                <a:ea typeface="Calibri" pitchFamily="34" charset="-122"/>
                <a:cs typeface="Calibri" pitchFamily="34" charset="-120"/>
              </a:rPr>
              <a:t>Wang, Z., Li, M., &amp; Zhao, R. (2025). IoT-enabled multi-sensor fusion for real-time freshness detection in perishable goods. Sensors and Actuators B: Chemical, 398, 134723.</a:t>
            </a:r>
            <a:endParaRPr lang="en-US" sz="950" dirty="0"/>
          </a:p>
          <a:p>
            <a:pPr algn="l" indent="0" marL="0">
              <a:spcAft>
                <a:spcPts val="200"/>
              </a:spcAft>
              <a:buNone/>
            </a:pPr>
            <a:endParaRPr lang="en-US" sz="950" dirty="0"/>
          </a:p>
          <a:p>
            <a:pPr algn="l" indent="0" marL="0">
              <a:spcAft>
                <a:spcPts val="200"/>
              </a:spcAft>
              <a:buNone/>
            </a:pPr>
            <a:r>
              <a:rPr lang="en-US" sz="950" dirty="0">
                <a:solidFill>
                  <a:srgbClr val="4A5568"/>
                </a:solidFill>
                <a:latin typeface="Calibri" pitchFamily="34" charset="0"/>
                <a:ea typeface="Calibri" pitchFamily="34" charset="-122"/>
                <a:cs typeface="Calibri" pitchFamily="34" charset="-120"/>
              </a:rPr>
              <a:t>Watkins, C. B. (2006). The use of 1-methylcyclopropene (1-MCP) on fruits and vegetables. Biotechnology Advances, 24(4), 389–409.</a:t>
            </a:r>
            <a:endParaRPr lang="en-US" sz="950" dirty="0"/>
          </a:p>
          <a:p>
            <a:pPr algn="l" indent="0" marL="0">
              <a:spcAft>
                <a:spcPts val="200"/>
              </a:spcAft>
              <a:buNone/>
            </a:pPr>
            <a:endParaRPr lang="en-US" sz="950" dirty="0"/>
          </a:p>
          <a:p>
            <a:pPr algn="l" indent="0" marL="0">
              <a:spcAft>
                <a:spcPts val="200"/>
              </a:spcAft>
              <a:buNone/>
            </a:pPr>
            <a:r>
              <a:rPr lang="en-US" sz="950" dirty="0">
                <a:solidFill>
                  <a:srgbClr val="4A5568"/>
                </a:solidFill>
                <a:latin typeface="Calibri" pitchFamily="34" charset="0"/>
                <a:ea typeface="Calibri" pitchFamily="34" charset="-122"/>
                <a:cs typeface="Calibri" pitchFamily="34" charset="-120"/>
              </a:rPr>
              <a:t>Zadeh, L. A. (1965). Fuzzy sets. Information and Control, 8(3), 338–353.</a:t>
            </a:r>
            <a:endParaRPr lang="en-US" sz="950" dirty="0"/>
          </a:p>
        </p:txBody>
      </p:sp>
      <p:sp>
        <p:nvSpPr>
          <p:cNvPr id="13" name="Shape 11"/>
          <p:cNvSpPr/>
          <p:nvPr/>
        </p:nvSpPr>
        <p:spPr>
          <a:xfrm>
            <a:off x="4517136" y="1005840"/>
            <a:ext cx="0" cy="3950208"/>
          </a:xfrm>
          <a:prstGeom prst="line">
            <a:avLst/>
          </a:prstGeom>
          <a:noFill/>
          <a:ln w="8890">
            <a:solidFill>
              <a:srgbClr val="CBD5E1"/>
            </a:solidFill>
            <a:prstDash val="solid"/>
          </a:ln>
        </p:spPr>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EBEBEB"/>
        </a:solidFill>
      </p:bgPr>
    </p:bg>
    <p:spTree>
      <p:nvGrpSpPr>
        <p:cNvPr id="1" name=""/>
        <p:cNvGrpSpPr/>
        <p:nvPr/>
      </p:nvGrpSpPr>
      <p:grpSpPr>
        <a:xfrm>
          <a:off x="0" y="0"/>
          <a:ext cx="0" cy="0"/>
          <a:chOff x="0" y="0"/>
          <a:chExt cx="0" cy="0"/>
        </a:xfrm>
      </p:grpSpPr>
      <p:sp>
        <p:nvSpPr>
          <p:cNvPr id="2" name="Shape 0"/>
          <p:cNvSpPr/>
          <p:nvPr/>
        </p:nvSpPr>
        <p:spPr>
          <a:xfrm>
            <a:off x="8092440" y="274320"/>
            <a:ext cx="64008" cy="64008"/>
          </a:xfrm>
          <a:prstGeom prst="ellipse">
            <a:avLst/>
          </a:prstGeom>
          <a:solidFill>
            <a:srgbClr val="1A2B4A">
              <a:alpha val="25000"/>
            </a:srgbClr>
          </a:solidFill>
          <a:ln/>
        </p:spPr>
      </p:sp>
      <p:sp>
        <p:nvSpPr>
          <p:cNvPr id="3" name="Shape 1"/>
          <p:cNvSpPr/>
          <p:nvPr/>
        </p:nvSpPr>
        <p:spPr>
          <a:xfrm>
            <a:off x="8293608" y="274320"/>
            <a:ext cx="64008" cy="64008"/>
          </a:xfrm>
          <a:prstGeom prst="ellipse">
            <a:avLst/>
          </a:prstGeom>
          <a:solidFill>
            <a:srgbClr val="1A2B4A">
              <a:alpha val="25000"/>
            </a:srgbClr>
          </a:solidFill>
          <a:ln/>
        </p:spPr>
      </p:sp>
      <p:sp>
        <p:nvSpPr>
          <p:cNvPr id="4" name="Shape 2"/>
          <p:cNvSpPr/>
          <p:nvPr/>
        </p:nvSpPr>
        <p:spPr>
          <a:xfrm>
            <a:off x="8494776" y="274320"/>
            <a:ext cx="64008" cy="64008"/>
          </a:xfrm>
          <a:prstGeom prst="ellipse">
            <a:avLst/>
          </a:prstGeom>
          <a:solidFill>
            <a:srgbClr val="1A2B4A">
              <a:alpha val="25000"/>
            </a:srgbClr>
          </a:solidFill>
          <a:ln/>
        </p:spPr>
      </p:sp>
      <p:sp>
        <p:nvSpPr>
          <p:cNvPr id="5" name="Shape 3"/>
          <p:cNvSpPr/>
          <p:nvPr/>
        </p:nvSpPr>
        <p:spPr>
          <a:xfrm>
            <a:off x="8695944" y="274320"/>
            <a:ext cx="64008" cy="64008"/>
          </a:xfrm>
          <a:prstGeom prst="ellipse">
            <a:avLst/>
          </a:prstGeom>
          <a:solidFill>
            <a:srgbClr val="1A2B4A">
              <a:alpha val="25000"/>
            </a:srgbClr>
          </a:solidFill>
          <a:ln/>
        </p:spPr>
      </p:sp>
      <p:sp>
        <p:nvSpPr>
          <p:cNvPr id="6" name="Shape 4"/>
          <p:cNvSpPr/>
          <p:nvPr/>
        </p:nvSpPr>
        <p:spPr>
          <a:xfrm>
            <a:off x="8897112" y="274320"/>
            <a:ext cx="64008" cy="64008"/>
          </a:xfrm>
          <a:prstGeom prst="ellipse">
            <a:avLst/>
          </a:prstGeom>
          <a:solidFill>
            <a:srgbClr val="1A2B4A">
              <a:alpha val="25000"/>
            </a:srgbClr>
          </a:solidFill>
          <a:ln/>
        </p:spPr>
      </p:sp>
      <p:sp>
        <p:nvSpPr>
          <p:cNvPr id="7" name="Shape 5"/>
          <p:cNvSpPr/>
          <p:nvPr/>
        </p:nvSpPr>
        <p:spPr>
          <a:xfrm>
            <a:off x="8092440" y="475488"/>
            <a:ext cx="64008" cy="64008"/>
          </a:xfrm>
          <a:prstGeom prst="ellipse">
            <a:avLst/>
          </a:prstGeom>
          <a:solidFill>
            <a:srgbClr val="1A2B4A">
              <a:alpha val="25000"/>
            </a:srgbClr>
          </a:solidFill>
          <a:ln/>
        </p:spPr>
      </p:sp>
      <p:sp>
        <p:nvSpPr>
          <p:cNvPr id="8" name="Shape 6"/>
          <p:cNvSpPr/>
          <p:nvPr/>
        </p:nvSpPr>
        <p:spPr>
          <a:xfrm>
            <a:off x="8293608" y="475488"/>
            <a:ext cx="64008" cy="64008"/>
          </a:xfrm>
          <a:prstGeom prst="ellipse">
            <a:avLst/>
          </a:prstGeom>
          <a:solidFill>
            <a:srgbClr val="1A2B4A">
              <a:alpha val="25000"/>
            </a:srgbClr>
          </a:solidFill>
          <a:ln/>
        </p:spPr>
      </p:sp>
      <p:sp>
        <p:nvSpPr>
          <p:cNvPr id="9" name="Shape 7"/>
          <p:cNvSpPr/>
          <p:nvPr/>
        </p:nvSpPr>
        <p:spPr>
          <a:xfrm>
            <a:off x="8494776" y="475488"/>
            <a:ext cx="64008" cy="64008"/>
          </a:xfrm>
          <a:prstGeom prst="ellipse">
            <a:avLst/>
          </a:prstGeom>
          <a:solidFill>
            <a:srgbClr val="1A2B4A">
              <a:alpha val="25000"/>
            </a:srgbClr>
          </a:solidFill>
          <a:ln/>
        </p:spPr>
      </p:sp>
      <p:sp>
        <p:nvSpPr>
          <p:cNvPr id="10" name="Shape 8"/>
          <p:cNvSpPr/>
          <p:nvPr/>
        </p:nvSpPr>
        <p:spPr>
          <a:xfrm>
            <a:off x="8695944" y="475488"/>
            <a:ext cx="64008" cy="64008"/>
          </a:xfrm>
          <a:prstGeom prst="ellipse">
            <a:avLst/>
          </a:prstGeom>
          <a:solidFill>
            <a:srgbClr val="1A2B4A">
              <a:alpha val="25000"/>
            </a:srgbClr>
          </a:solidFill>
          <a:ln/>
        </p:spPr>
      </p:sp>
      <p:sp>
        <p:nvSpPr>
          <p:cNvPr id="11" name="Shape 9"/>
          <p:cNvSpPr/>
          <p:nvPr/>
        </p:nvSpPr>
        <p:spPr>
          <a:xfrm>
            <a:off x="8897112" y="475488"/>
            <a:ext cx="64008" cy="64008"/>
          </a:xfrm>
          <a:prstGeom prst="ellipse">
            <a:avLst/>
          </a:prstGeom>
          <a:solidFill>
            <a:srgbClr val="1A2B4A">
              <a:alpha val="25000"/>
            </a:srgbClr>
          </a:solidFill>
          <a:ln/>
        </p:spPr>
      </p:sp>
      <p:sp>
        <p:nvSpPr>
          <p:cNvPr id="12" name="Shape 10"/>
          <p:cNvSpPr/>
          <p:nvPr/>
        </p:nvSpPr>
        <p:spPr>
          <a:xfrm>
            <a:off x="8092440" y="676656"/>
            <a:ext cx="64008" cy="64008"/>
          </a:xfrm>
          <a:prstGeom prst="ellipse">
            <a:avLst/>
          </a:prstGeom>
          <a:solidFill>
            <a:srgbClr val="1A2B4A">
              <a:alpha val="25000"/>
            </a:srgbClr>
          </a:solidFill>
          <a:ln/>
        </p:spPr>
      </p:sp>
      <p:sp>
        <p:nvSpPr>
          <p:cNvPr id="13" name="Shape 11"/>
          <p:cNvSpPr/>
          <p:nvPr/>
        </p:nvSpPr>
        <p:spPr>
          <a:xfrm>
            <a:off x="8293608" y="676656"/>
            <a:ext cx="64008" cy="64008"/>
          </a:xfrm>
          <a:prstGeom prst="ellipse">
            <a:avLst/>
          </a:prstGeom>
          <a:solidFill>
            <a:srgbClr val="1A2B4A">
              <a:alpha val="25000"/>
            </a:srgbClr>
          </a:solidFill>
          <a:ln/>
        </p:spPr>
      </p:sp>
      <p:sp>
        <p:nvSpPr>
          <p:cNvPr id="14" name="Shape 12"/>
          <p:cNvSpPr/>
          <p:nvPr/>
        </p:nvSpPr>
        <p:spPr>
          <a:xfrm>
            <a:off x="8494776" y="676656"/>
            <a:ext cx="64008" cy="64008"/>
          </a:xfrm>
          <a:prstGeom prst="ellipse">
            <a:avLst/>
          </a:prstGeom>
          <a:solidFill>
            <a:srgbClr val="1A2B4A">
              <a:alpha val="25000"/>
            </a:srgbClr>
          </a:solidFill>
          <a:ln/>
        </p:spPr>
      </p:sp>
      <p:sp>
        <p:nvSpPr>
          <p:cNvPr id="15" name="Shape 13"/>
          <p:cNvSpPr/>
          <p:nvPr/>
        </p:nvSpPr>
        <p:spPr>
          <a:xfrm>
            <a:off x="8695944" y="676656"/>
            <a:ext cx="64008" cy="64008"/>
          </a:xfrm>
          <a:prstGeom prst="ellipse">
            <a:avLst/>
          </a:prstGeom>
          <a:solidFill>
            <a:srgbClr val="1A2B4A">
              <a:alpha val="25000"/>
            </a:srgbClr>
          </a:solidFill>
          <a:ln/>
        </p:spPr>
      </p:sp>
      <p:sp>
        <p:nvSpPr>
          <p:cNvPr id="16" name="Shape 14"/>
          <p:cNvSpPr/>
          <p:nvPr/>
        </p:nvSpPr>
        <p:spPr>
          <a:xfrm>
            <a:off x="8897112" y="676656"/>
            <a:ext cx="64008" cy="64008"/>
          </a:xfrm>
          <a:prstGeom prst="ellipse">
            <a:avLst/>
          </a:prstGeom>
          <a:solidFill>
            <a:srgbClr val="1A2B4A">
              <a:alpha val="25000"/>
            </a:srgbClr>
          </a:solidFill>
          <a:ln/>
        </p:spPr>
      </p:sp>
      <p:sp>
        <p:nvSpPr>
          <p:cNvPr id="17" name="Shape 15"/>
          <p:cNvSpPr/>
          <p:nvPr/>
        </p:nvSpPr>
        <p:spPr>
          <a:xfrm>
            <a:off x="8092440" y="877824"/>
            <a:ext cx="64008" cy="64008"/>
          </a:xfrm>
          <a:prstGeom prst="ellipse">
            <a:avLst/>
          </a:prstGeom>
          <a:solidFill>
            <a:srgbClr val="1A2B4A">
              <a:alpha val="25000"/>
            </a:srgbClr>
          </a:solidFill>
          <a:ln/>
        </p:spPr>
      </p:sp>
      <p:sp>
        <p:nvSpPr>
          <p:cNvPr id="18" name="Shape 16"/>
          <p:cNvSpPr/>
          <p:nvPr/>
        </p:nvSpPr>
        <p:spPr>
          <a:xfrm>
            <a:off x="8293608" y="877824"/>
            <a:ext cx="64008" cy="64008"/>
          </a:xfrm>
          <a:prstGeom prst="ellipse">
            <a:avLst/>
          </a:prstGeom>
          <a:solidFill>
            <a:srgbClr val="1A2B4A">
              <a:alpha val="25000"/>
            </a:srgbClr>
          </a:solidFill>
          <a:ln/>
        </p:spPr>
      </p:sp>
      <p:sp>
        <p:nvSpPr>
          <p:cNvPr id="19" name="Shape 17"/>
          <p:cNvSpPr/>
          <p:nvPr/>
        </p:nvSpPr>
        <p:spPr>
          <a:xfrm>
            <a:off x="8494776" y="877824"/>
            <a:ext cx="64008" cy="64008"/>
          </a:xfrm>
          <a:prstGeom prst="ellipse">
            <a:avLst/>
          </a:prstGeom>
          <a:solidFill>
            <a:srgbClr val="1A2B4A">
              <a:alpha val="25000"/>
            </a:srgbClr>
          </a:solidFill>
          <a:ln/>
        </p:spPr>
      </p:sp>
      <p:sp>
        <p:nvSpPr>
          <p:cNvPr id="20" name="Shape 18"/>
          <p:cNvSpPr/>
          <p:nvPr/>
        </p:nvSpPr>
        <p:spPr>
          <a:xfrm>
            <a:off x="8695944" y="877824"/>
            <a:ext cx="64008" cy="64008"/>
          </a:xfrm>
          <a:prstGeom prst="ellipse">
            <a:avLst/>
          </a:prstGeom>
          <a:solidFill>
            <a:srgbClr val="1A2B4A">
              <a:alpha val="25000"/>
            </a:srgbClr>
          </a:solidFill>
          <a:ln/>
        </p:spPr>
      </p:sp>
      <p:sp>
        <p:nvSpPr>
          <p:cNvPr id="21" name="Shape 19"/>
          <p:cNvSpPr/>
          <p:nvPr/>
        </p:nvSpPr>
        <p:spPr>
          <a:xfrm>
            <a:off x="8897112" y="877824"/>
            <a:ext cx="64008" cy="64008"/>
          </a:xfrm>
          <a:prstGeom prst="ellipse">
            <a:avLst/>
          </a:prstGeom>
          <a:solidFill>
            <a:srgbClr val="1A2B4A">
              <a:alpha val="25000"/>
            </a:srgbClr>
          </a:solidFill>
          <a:ln/>
        </p:spPr>
      </p:sp>
      <p:sp>
        <p:nvSpPr>
          <p:cNvPr id="22" name="Shape 20"/>
          <p:cNvSpPr/>
          <p:nvPr/>
        </p:nvSpPr>
        <p:spPr>
          <a:xfrm>
            <a:off x="8092440" y="1078992"/>
            <a:ext cx="64008" cy="64008"/>
          </a:xfrm>
          <a:prstGeom prst="ellipse">
            <a:avLst/>
          </a:prstGeom>
          <a:solidFill>
            <a:srgbClr val="1A2B4A">
              <a:alpha val="25000"/>
            </a:srgbClr>
          </a:solidFill>
          <a:ln/>
        </p:spPr>
      </p:sp>
      <p:sp>
        <p:nvSpPr>
          <p:cNvPr id="23" name="Shape 21"/>
          <p:cNvSpPr/>
          <p:nvPr/>
        </p:nvSpPr>
        <p:spPr>
          <a:xfrm>
            <a:off x="8293608" y="1078992"/>
            <a:ext cx="64008" cy="64008"/>
          </a:xfrm>
          <a:prstGeom prst="ellipse">
            <a:avLst/>
          </a:prstGeom>
          <a:solidFill>
            <a:srgbClr val="1A2B4A">
              <a:alpha val="25000"/>
            </a:srgbClr>
          </a:solidFill>
          <a:ln/>
        </p:spPr>
      </p:sp>
      <p:sp>
        <p:nvSpPr>
          <p:cNvPr id="24" name="Shape 22"/>
          <p:cNvSpPr/>
          <p:nvPr/>
        </p:nvSpPr>
        <p:spPr>
          <a:xfrm>
            <a:off x="8494776" y="1078992"/>
            <a:ext cx="64008" cy="64008"/>
          </a:xfrm>
          <a:prstGeom prst="ellipse">
            <a:avLst/>
          </a:prstGeom>
          <a:solidFill>
            <a:srgbClr val="1A2B4A">
              <a:alpha val="25000"/>
            </a:srgbClr>
          </a:solidFill>
          <a:ln/>
        </p:spPr>
      </p:sp>
      <p:sp>
        <p:nvSpPr>
          <p:cNvPr id="25" name="Shape 23"/>
          <p:cNvSpPr/>
          <p:nvPr/>
        </p:nvSpPr>
        <p:spPr>
          <a:xfrm>
            <a:off x="8695944" y="1078992"/>
            <a:ext cx="64008" cy="64008"/>
          </a:xfrm>
          <a:prstGeom prst="ellipse">
            <a:avLst/>
          </a:prstGeom>
          <a:solidFill>
            <a:srgbClr val="1A2B4A">
              <a:alpha val="25000"/>
            </a:srgbClr>
          </a:solidFill>
          <a:ln/>
        </p:spPr>
      </p:sp>
      <p:sp>
        <p:nvSpPr>
          <p:cNvPr id="26" name="Shape 24"/>
          <p:cNvSpPr/>
          <p:nvPr/>
        </p:nvSpPr>
        <p:spPr>
          <a:xfrm>
            <a:off x="8897112" y="1078992"/>
            <a:ext cx="64008" cy="64008"/>
          </a:xfrm>
          <a:prstGeom prst="ellipse">
            <a:avLst/>
          </a:prstGeom>
          <a:solidFill>
            <a:srgbClr val="1A2B4A">
              <a:alpha val="25000"/>
            </a:srgbClr>
          </a:solidFill>
          <a:ln/>
        </p:spPr>
      </p:sp>
      <p:sp>
        <p:nvSpPr>
          <p:cNvPr id="27" name="Shape 25"/>
          <p:cNvSpPr/>
          <p:nvPr/>
        </p:nvSpPr>
        <p:spPr>
          <a:xfrm rot="-2700000">
            <a:off x="182880" y="3840480"/>
            <a:ext cx="457200" cy="0"/>
          </a:xfrm>
          <a:prstGeom prst="line">
            <a:avLst/>
          </a:prstGeom>
          <a:noFill/>
          <a:ln w="12700">
            <a:solidFill>
              <a:srgbClr val="1A2B4A">
                <a:alpha val="28000"/>
              </a:srgbClr>
            </a:solidFill>
            <a:prstDash val="solid"/>
          </a:ln>
        </p:spPr>
      </p:sp>
      <p:sp>
        <p:nvSpPr>
          <p:cNvPr id="28" name="Shape 26"/>
          <p:cNvSpPr/>
          <p:nvPr/>
        </p:nvSpPr>
        <p:spPr>
          <a:xfrm rot="-2700000">
            <a:off x="347472" y="3840480"/>
            <a:ext cx="457200" cy="0"/>
          </a:xfrm>
          <a:prstGeom prst="line">
            <a:avLst/>
          </a:prstGeom>
          <a:noFill/>
          <a:ln w="12700">
            <a:solidFill>
              <a:srgbClr val="1A2B4A">
                <a:alpha val="28000"/>
              </a:srgbClr>
            </a:solidFill>
            <a:prstDash val="solid"/>
          </a:ln>
        </p:spPr>
      </p:sp>
      <p:sp>
        <p:nvSpPr>
          <p:cNvPr id="29" name="Shape 27"/>
          <p:cNvSpPr/>
          <p:nvPr/>
        </p:nvSpPr>
        <p:spPr>
          <a:xfrm rot="-2700000">
            <a:off x="512064" y="3840480"/>
            <a:ext cx="457200" cy="0"/>
          </a:xfrm>
          <a:prstGeom prst="line">
            <a:avLst/>
          </a:prstGeom>
          <a:noFill/>
          <a:ln w="12700">
            <a:solidFill>
              <a:srgbClr val="1A2B4A">
                <a:alpha val="28000"/>
              </a:srgbClr>
            </a:solidFill>
            <a:prstDash val="solid"/>
          </a:ln>
        </p:spPr>
      </p:sp>
      <p:sp>
        <p:nvSpPr>
          <p:cNvPr id="30" name="Shape 28"/>
          <p:cNvSpPr/>
          <p:nvPr/>
        </p:nvSpPr>
        <p:spPr>
          <a:xfrm rot="-2700000">
            <a:off x="676656" y="3840480"/>
            <a:ext cx="457200" cy="0"/>
          </a:xfrm>
          <a:prstGeom prst="line">
            <a:avLst/>
          </a:prstGeom>
          <a:noFill/>
          <a:ln w="12700">
            <a:solidFill>
              <a:srgbClr val="1A2B4A">
                <a:alpha val="28000"/>
              </a:srgbClr>
            </a:solidFill>
            <a:prstDash val="solid"/>
          </a:ln>
        </p:spPr>
      </p:sp>
      <p:sp>
        <p:nvSpPr>
          <p:cNvPr id="31" name="Shape 29"/>
          <p:cNvSpPr/>
          <p:nvPr/>
        </p:nvSpPr>
        <p:spPr>
          <a:xfrm rot="-2700000">
            <a:off x="841248" y="3840480"/>
            <a:ext cx="457200" cy="0"/>
          </a:xfrm>
          <a:prstGeom prst="line">
            <a:avLst/>
          </a:prstGeom>
          <a:noFill/>
          <a:ln w="12700">
            <a:solidFill>
              <a:srgbClr val="1A2B4A">
                <a:alpha val="28000"/>
              </a:srgbClr>
            </a:solidFill>
            <a:prstDash val="solid"/>
          </a:ln>
        </p:spPr>
      </p:sp>
      <p:sp>
        <p:nvSpPr>
          <p:cNvPr id="32" name="Shape 30"/>
          <p:cNvSpPr/>
          <p:nvPr/>
        </p:nvSpPr>
        <p:spPr>
          <a:xfrm rot="-2700000">
            <a:off x="1005840" y="3840480"/>
            <a:ext cx="457200" cy="0"/>
          </a:xfrm>
          <a:prstGeom prst="line">
            <a:avLst/>
          </a:prstGeom>
          <a:noFill/>
          <a:ln w="12700">
            <a:solidFill>
              <a:srgbClr val="1A2B4A">
                <a:alpha val="28000"/>
              </a:srgbClr>
            </a:solidFill>
            <a:prstDash val="solid"/>
          </a:ln>
        </p:spPr>
      </p:sp>
      <p:sp>
        <p:nvSpPr>
          <p:cNvPr id="33" name="Shape 31"/>
          <p:cNvSpPr/>
          <p:nvPr/>
        </p:nvSpPr>
        <p:spPr>
          <a:xfrm rot="-2700000">
            <a:off x="1170432" y="3840480"/>
            <a:ext cx="457200" cy="0"/>
          </a:xfrm>
          <a:prstGeom prst="line">
            <a:avLst/>
          </a:prstGeom>
          <a:noFill/>
          <a:ln w="12700">
            <a:solidFill>
              <a:srgbClr val="1A2B4A">
                <a:alpha val="28000"/>
              </a:srgbClr>
            </a:solidFill>
            <a:prstDash val="solid"/>
          </a:ln>
        </p:spPr>
      </p:sp>
      <p:sp>
        <p:nvSpPr>
          <p:cNvPr id="34" name="Text 32"/>
          <p:cNvSpPr/>
          <p:nvPr/>
        </p:nvSpPr>
        <p:spPr>
          <a:xfrm>
            <a:off x="411480" y="292608"/>
            <a:ext cx="8321040" cy="530352"/>
          </a:xfrm>
          <a:prstGeom prst="rect">
            <a:avLst/>
          </a:prstGeom>
          <a:noFill/>
          <a:ln/>
        </p:spPr>
        <p:txBody>
          <a:bodyPr wrap="square" lIns="0" tIns="0" rIns="0" bIns="0" rtlCol="0" anchor="ctr"/>
          <a:lstStyle/>
          <a:p>
            <a:pPr algn="l" indent="0" marL="0">
              <a:buNone/>
            </a:pPr>
            <a:r>
              <a:rPr lang="en-US" sz="2800" b="1" dirty="0">
                <a:solidFill>
                  <a:srgbClr val="1A2B4A"/>
                </a:solidFill>
                <a:latin typeface="Cambria" pitchFamily="34" charset="0"/>
                <a:ea typeface="Cambria" pitchFamily="34" charset="-122"/>
                <a:cs typeface="Cambria" pitchFamily="34" charset="-120"/>
              </a:rPr>
              <a:t>Definition of Terms (cont.)</a:t>
            </a:r>
            <a:endParaRPr lang="en-US" sz="2800" dirty="0"/>
          </a:p>
        </p:txBody>
      </p:sp>
      <p:sp>
        <p:nvSpPr>
          <p:cNvPr id="35" name="Shape 33"/>
          <p:cNvSpPr/>
          <p:nvPr/>
        </p:nvSpPr>
        <p:spPr>
          <a:xfrm>
            <a:off x="411480" y="868680"/>
            <a:ext cx="8229600" cy="0"/>
          </a:xfrm>
          <a:prstGeom prst="line">
            <a:avLst/>
          </a:prstGeom>
          <a:noFill/>
          <a:ln w="19050">
            <a:solidFill>
              <a:srgbClr val="3A8C7E">
                <a:alpha val="60000"/>
              </a:srgbClr>
            </a:solidFill>
            <a:prstDash val="solid"/>
          </a:ln>
        </p:spPr>
      </p:sp>
      <p:sp>
        <p:nvSpPr>
          <p:cNvPr id="36" name="Shape 34"/>
          <p:cNvSpPr/>
          <p:nvPr/>
        </p:nvSpPr>
        <p:spPr>
          <a:xfrm>
            <a:off x="411480" y="950976"/>
            <a:ext cx="8229600" cy="0"/>
          </a:xfrm>
          <a:prstGeom prst="line">
            <a:avLst/>
          </a:prstGeom>
          <a:noFill/>
          <a:ln w="10160">
            <a:solidFill>
              <a:srgbClr val="1A2B4A">
                <a:alpha val="45000"/>
              </a:srgbClr>
            </a:solidFill>
            <a:prstDash val="solid"/>
          </a:ln>
        </p:spPr>
      </p:sp>
      <p:sp>
        <p:nvSpPr>
          <p:cNvPr id="37" name="Shape 35"/>
          <p:cNvSpPr/>
          <p:nvPr/>
        </p:nvSpPr>
        <p:spPr>
          <a:xfrm>
            <a:off x="484632" y="1005840"/>
            <a:ext cx="402336" cy="402336"/>
          </a:xfrm>
          <a:prstGeom prst="ellipse">
            <a:avLst/>
          </a:prstGeom>
          <a:solidFill>
            <a:srgbClr val="3A8C7E"/>
          </a:solidFill>
          <a:ln/>
        </p:spPr>
      </p:sp>
      <p:sp>
        <p:nvSpPr>
          <p:cNvPr id="38" name="Text 36"/>
          <p:cNvSpPr/>
          <p:nvPr/>
        </p:nvSpPr>
        <p:spPr>
          <a:xfrm>
            <a:off x="484632" y="1005840"/>
            <a:ext cx="402336" cy="402336"/>
          </a:xfrm>
          <a:prstGeom prst="rect">
            <a:avLst/>
          </a:prstGeom>
          <a:noFill/>
          <a:ln/>
        </p:spPr>
        <p:txBody>
          <a:bodyPr wrap="square" lIns="0" tIns="0" rIns="0" bIns="0" rtlCol="0" anchor="ctr"/>
          <a:lstStyle/>
          <a:p>
            <a:pPr algn="ctr" indent="0" marL="0">
              <a:buNone/>
            </a:pPr>
            <a:r>
              <a:rPr lang="en-US" sz="1100" b="1" dirty="0">
                <a:solidFill>
                  <a:srgbClr val="FFFFFF"/>
                </a:solidFill>
              </a:rPr>
              <a:t>IX</a:t>
            </a:r>
            <a:endParaRPr lang="en-US" sz="1100" dirty="0"/>
          </a:p>
        </p:txBody>
      </p:sp>
      <p:sp>
        <p:nvSpPr>
          <p:cNvPr id="39" name="Text 37"/>
          <p:cNvSpPr/>
          <p:nvPr/>
        </p:nvSpPr>
        <p:spPr>
          <a:xfrm>
            <a:off x="1005840" y="1005840"/>
            <a:ext cx="7680960" cy="256032"/>
          </a:xfrm>
          <a:prstGeom prst="rect">
            <a:avLst/>
          </a:prstGeom>
          <a:noFill/>
          <a:ln/>
        </p:spPr>
        <p:txBody>
          <a:bodyPr wrap="square" lIns="0" tIns="0" rIns="0" bIns="0" rtlCol="0" anchor="ctr"/>
          <a:lstStyle/>
          <a:p>
            <a:pPr algn="l" indent="0" marL="0">
              <a:buNone/>
            </a:pPr>
            <a:r>
              <a:rPr lang="en-US" sz="1300" b="1" dirty="0">
                <a:solidFill>
                  <a:srgbClr val="1A2B4A"/>
                </a:solidFill>
                <a:latin typeface="Calibri" pitchFamily="34" charset="0"/>
                <a:ea typeface="Calibri" pitchFamily="34" charset="-122"/>
                <a:cs typeface="Calibri" pitchFamily="34" charset="-120"/>
              </a:rPr>
              <a:t>FastAPI</a:t>
            </a:r>
            <a:endParaRPr lang="en-US" sz="1300" dirty="0"/>
          </a:p>
        </p:txBody>
      </p:sp>
      <p:sp>
        <p:nvSpPr>
          <p:cNvPr id="40" name="Text 38"/>
          <p:cNvSpPr/>
          <p:nvPr/>
        </p:nvSpPr>
        <p:spPr>
          <a:xfrm>
            <a:off x="1005840" y="1261872"/>
            <a:ext cx="7635240" cy="548640"/>
          </a:xfrm>
          <a:prstGeom prst="rect">
            <a:avLst/>
          </a:prstGeom>
          <a:noFill/>
          <a:ln/>
        </p:spPr>
        <p:txBody>
          <a:bodyPr wrap="square" lIns="0" tIns="0" rIns="0" bIns="0" rtlCol="0" anchor="ctr"/>
          <a:lstStyle/>
          <a:p>
            <a:pPr algn="l" indent="0" marL="0">
              <a:buNone/>
            </a:pPr>
            <a:r>
              <a:rPr lang="en-US" sz="1150" dirty="0">
                <a:solidFill>
                  <a:srgbClr val="4A5568"/>
                </a:solidFill>
                <a:latin typeface="Calibri" pitchFamily="34" charset="0"/>
                <a:ea typeface="Calibri" pitchFamily="34" charset="-122"/>
                <a:cs typeface="Calibri" pitchFamily="34" charset="-120"/>
              </a:rPr>
              <a:t>Python asynchronous web framework used to expose the trained model and business logic as a REST JSON API. Auto-generates OpenAPI documentation from type annotations. Handles concurrent scan requests without blocking through asyncio.</a:t>
            </a:r>
            <a:endParaRPr lang="en-US" sz="1150" dirty="0"/>
          </a:p>
        </p:txBody>
      </p:sp>
      <p:sp>
        <p:nvSpPr>
          <p:cNvPr id="41" name="Shape 39"/>
          <p:cNvSpPr/>
          <p:nvPr/>
        </p:nvSpPr>
        <p:spPr>
          <a:xfrm>
            <a:off x="484632" y="1965960"/>
            <a:ext cx="402336" cy="402336"/>
          </a:xfrm>
          <a:prstGeom prst="ellipse">
            <a:avLst/>
          </a:prstGeom>
          <a:solidFill>
            <a:srgbClr val="3A8C7E"/>
          </a:solidFill>
          <a:ln/>
        </p:spPr>
      </p:sp>
      <p:sp>
        <p:nvSpPr>
          <p:cNvPr id="42" name="Text 40"/>
          <p:cNvSpPr/>
          <p:nvPr/>
        </p:nvSpPr>
        <p:spPr>
          <a:xfrm>
            <a:off x="484632" y="1965960"/>
            <a:ext cx="402336" cy="402336"/>
          </a:xfrm>
          <a:prstGeom prst="rect">
            <a:avLst/>
          </a:prstGeom>
          <a:noFill/>
          <a:ln/>
        </p:spPr>
        <p:txBody>
          <a:bodyPr wrap="square" lIns="0" tIns="0" rIns="0" bIns="0" rtlCol="0" anchor="ctr"/>
          <a:lstStyle/>
          <a:p>
            <a:pPr algn="ctr" indent="0" marL="0">
              <a:buNone/>
            </a:pPr>
            <a:r>
              <a:rPr lang="en-US" sz="1100" b="1" dirty="0">
                <a:solidFill>
                  <a:srgbClr val="FFFFFF"/>
                </a:solidFill>
              </a:rPr>
              <a:t>X</a:t>
            </a:r>
            <a:endParaRPr lang="en-US" sz="1100" dirty="0"/>
          </a:p>
        </p:txBody>
      </p:sp>
      <p:sp>
        <p:nvSpPr>
          <p:cNvPr id="43" name="Text 41"/>
          <p:cNvSpPr/>
          <p:nvPr/>
        </p:nvSpPr>
        <p:spPr>
          <a:xfrm>
            <a:off x="1005840" y="1965960"/>
            <a:ext cx="7680960" cy="256032"/>
          </a:xfrm>
          <a:prstGeom prst="rect">
            <a:avLst/>
          </a:prstGeom>
          <a:noFill/>
          <a:ln/>
        </p:spPr>
        <p:txBody>
          <a:bodyPr wrap="square" lIns="0" tIns="0" rIns="0" bIns="0" rtlCol="0" anchor="ctr"/>
          <a:lstStyle/>
          <a:p>
            <a:pPr algn="l" indent="0" marL="0">
              <a:buNone/>
            </a:pPr>
            <a:r>
              <a:rPr lang="en-US" sz="1300" b="1" dirty="0">
                <a:solidFill>
                  <a:srgbClr val="1A2B4A"/>
                </a:solidFill>
                <a:latin typeface="Calibri" pitchFamily="34" charset="0"/>
                <a:ea typeface="Calibri" pitchFamily="34" charset="-122"/>
                <a:cs typeface="Calibri" pitchFamily="34" charset="-120"/>
              </a:rPr>
              <a:t>SQLAlchemy 2.0 (ORM)</a:t>
            </a:r>
            <a:endParaRPr lang="en-US" sz="1300" dirty="0"/>
          </a:p>
        </p:txBody>
      </p:sp>
      <p:sp>
        <p:nvSpPr>
          <p:cNvPr id="44" name="Text 42"/>
          <p:cNvSpPr/>
          <p:nvPr/>
        </p:nvSpPr>
        <p:spPr>
          <a:xfrm>
            <a:off x="1005840" y="2221992"/>
            <a:ext cx="7635240" cy="548640"/>
          </a:xfrm>
          <a:prstGeom prst="rect">
            <a:avLst/>
          </a:prstGeom>
          <a:noFill/>
          <a:ln/>
        </p:spPr>
        <p:txBody>
          <a:bodyPr wrap="square" lIns="0" tIns="0" rIns="0" bIns="0" rtlCol="0" anchor="ctr"/>
          <a:lstStyle/>
          <a:p>
            <a:pPr algn="l" indent="0" marL="0">
              <a:buNone/>
            </a:pPr>
            <a:r>
              <a:rPr lang="en-US" sz="1150" dirty="0">
                <a:solidFill>
                  <a:srgbClr val="4A5568"/>
                </a:solidFill>
                <a:latin typeface="Calibri" pitchFamily="34" charset="0"/>
                <a:ea typeface="Calibri" pitchFamily="34" charset="-122"/>
                <a:cs typeface="Calibri" pitchFamily="34" charset="-120"/>
              </a:rPr>
              <a:t>Object-Relational Mapper that abstracts database differences. Allows Fresco to run against MySQL in development, PostgreSQL in production, and SQLite for testing using identical application code — via a URL normalisation function at startup.</a:t>
            </a:r>
            <a:endParaRPr lang="en-US" sz="1150" dirty="0"/>
          </a:p>
        </p:txBody>
      </p:sp>
      <p:sp>
        <p:nvSpPr>
          <p:cNvPr id="45" name="Shape 43"/>
          <p:cNvSpPr/>
          <p:nvPr/>
        </p:nvSpPr>
        <p:spPr>
          <a:xfrm>
            <a:off x="484632" y="2926080"/>
            <a:ext cx="402336" cy="402336"/>
          </a:xfrm>
          <a:prstGeom prst="ellipse">
            <a:avLst/>
          </a:prstGeom>
          <a:solidFill>
            <a:srgbClr val="3A8C7E"/>
          </a:solidFill>
          <a:ln/>
        </p:spPr>
      </p:sp>
      <p:sp>
        <p:nvSpPr>
          <p:cNvPr id="46" name="Text 44"/>
          <p:cNvSpPr/>
          <p:nvPr/>
        </p:nvSpPr>
        <p:spPr>
          <a:xfrm>
            <a:off x="484632" y="2926080"/>
            <a:ext cx="402336" cy="402336"/>
          </a:xfrm>
          <a:prstGeom prst="rect">
            <a:avLst/>
          </a:prstGeom>
          <a:noFill/>
          <a:ln/>
        </p:spPr>
        <p:txBody>
          <a:bodyPr wrap="square" lIns="0" tIns="0" rIns="0" bIns="0" rtlCol="0" anchor="ctr"/>
          <a:lstStyle/>
          <a:p>
            <a:pPr algn="ctr" indent="0" marL="0">
              <a:buNone/>
            </a:pPr>
            <a:r>
              <a:rPr lang="en-US" sz="1100" b="1" dirty="0">
                <a:solidFill>
                  <a:srgbClr val="FFFFFF"/>
                </a:solidFill>
              </a:rPr>
              <a:t>XI</a:t>
            </a:r>
            <a:endParaRPr lang="en-US" sz="1100" dirty="0"/>
          </a:p>
        </p:txBody>
      </p:sp>
      <p:sp>
        <p:nvSpPr>
          <p:cNvPr id="47" name="Text 45"/>
          <p:cNvSpPr/>
          <p:nvPr/>
        </p:nvSpPr>
        <p:spPr>
          <a:xfrm>
            <a:off x="1005840" y="2926080"/>
            <a:ext cx="7680960" cy="256032"/>
          </a:xfrm>
          <a:prstGeom prst="rect">
            <a:avLst/>
          </a:prstGeom>
          <a:noFill/>
          <a:ln/>
        </p:spPr>
        <p:txBody>
          <a:bodyPr wrap="square" lIns="0" tIns="0" rIns="0" bIns="0" rtlCol="0" anchor="ctr"/>
          <a:lstStyle/>
          <a:p>
            <a:pPr algn="l" indent="0" marL="0">
              <a:buNone/>
            </a:pPr>
            <a:r>
              <a:rPr lang="en-US" sz="1300" b="1" dirty="0">
                <a:solidFill>
                  <a:srgbClr val="1A2B4A"/>
                </a:solidFill>
                <a:latin typeface="Calibri" pitchFamily="34" charset="0"/>
                <a:ea typeface="Calibri" pitchFamily="34" charset="-122"/>
                <a:cs typeface="Calibri" pitchFamily="34" charset="-120"/>
              </a:rPr>
              <a:t>JWT Authentication</a:t>
            </a:r>
            <a:endParaRPr lang="en-US" sz="1300" dirty="0"/>
          </a:p>
        </p:txBody>
      </p:sp>
      <p:sp>
        <p:nvSpPr>
          <p:cNvPr id="48" name="Text 46"/>
          <p:cNvSpPr/>
          <p:nvPr/>
        </p:nvSpPr>
        <p:spPr>
          <a:xfrm>
            <a:off x="1005840" y="3182112"/>
            <a:ext cx="7635240" cy="548640"/>
          </a:xfrm>
          <a:prstGeom prst="rect">
            <a:avLst/>
          </a:prstGeom>
          <a:noFill/>
          <a:ln/>
        </p:spPr>
        <p:txBody>
          <a:bodyPr wrap="square" lIns="0" tIns="0" rIns="0" bIns="0" rtlCol="0" anchor="ctr"/>
          <a:lstStyle/>
          <a:p>
            <a:pPr algn="l" indent="0" marL="0">
              <a:buNone/>
            </a:pPr>
            <a:r>
              <a:rPr lang="en-US" sz="1150" dirty="0">
                <a:solidFill>
                  <a:srgbClr val="4A5568"/>
                </a:solidFill>
                <a:latin typeface="Calibri" pitchFamily="34" charset="0"/>
                <a:ea typeface="Calibri" pitchFamily="34" charset="-122"/>
                <a:cs typeface="Calibri" pitchFamily="34" charset="-120"/>
              </a:rPr>
              <a:t>JSON Web Token — a signed, stateless authentication credential. Fresco issues a 30-minute JWT on login, signed with HS256. Protected endpoints verify the token signature cryptographically; no session state is stored on the server.</a:t>
            </a:r>
            <a:endParaRPr lang="en-US" sz="1150" dirty="0"/>
          </a:p>
        </p:txBody>
      </p:sp>
      <p:sp>
        <p:nvSpPr>
          <p:cNvPr id="49" name="Shape 47"/>
          <p:cNvSpPr/>
          <p:nvPr/>
        </p:nvSpPr>
        <p:spPr>
          <a:xfrm>
            <a:off x="484632" y="3886200"/>
            <a:ext cx="402336" cy="402336"/>
          </a:xfrm>
          <a:prstGeom prst="ellipse">
            <a:avLst/>
          </a:prstGeom>
          <a:solidFill>
            <a:srgbClr val="3A8C7E"/>
          </a:solidFill>
          <a:ln/>
        </p:spPr>
      </p:sp>
      <p:sp>
        <p:nvSpPr>
          <p:cNvPr id="50" name="Text 48"/>
          <p:cNvSpPr/>
          <p:nvPr/>
        </p:nvSpPr>
        <p:spPr>
          <a:xfrm>
            <a:off x="484632" y="3886200"/>
            <a:ext cx="402336" cy="402336"/>
          </a:xfrm>
          <a:prstGeom prst="rect">
            <a:avLst/>
          </a:prstGeom>
          <a:noFill/>
          <a:ln/>
        </p:spPr>
        <p:txBody>
          <a:bodyPr wrap="square" lIns="0" tIns="0" rIns="0" bIns="0" rtlCol="0" anchor="ctr"/>
          <a:lstStyle/>
          <a:p>
            <a:pPr algn="ctr" indent="0" marL="0">
              <a:buNone/>
            </a:pPr>
            <a:r>
              <a:rPr lang="en-US" sz="1100" b="1" dirty="0">
                <a:solidFill>
                  <a:srgbClr val="FFFFFF"/>
                </a:solidFill>
              </a:rPr>
              <a:t>XII</a:t>
            </a:r>
            <a:endParaRPr lang="en-US" sz="1100" dirty="0"/>
          </a:p>
        </p:txBody>
      </p:sp>
      <p:sp>
        <p:nvSpPr>
          <p:cNvPr id="51" name="Text 49"/>
          <p:cNvSpPr/>
          <p:nvPr/>
        </p:nvSpPr>
        <p:spPr>
          <a:xfrm>
            <a:off x="1005840" y="3886200"/>
            <a:ext cx="7680960" cy="256032"/>
          </a:xfrm>
          <a:prstGeom prst="rect">
            <a:avLst/>
          </a:prstGeom>
          <a:noFill/>
          <a:ln/>
        </p:spPr>
        <p:txBody>
          <a:bodyPr wrap="square" lIns="0" tIns="0" rIns="0" bIns="0" rtlCol="0" anchor="ctr"/>
          <a:lstStyle/>
          <a:p>
            <a:pPr algn="l" indent="0" marL="0">
              <a:buNone/>
            </a:pPr>
            <a:r>
              <a:rPr lang="en-US" sz="1300" b="1" dirty="0">
                <a:solidFill>
                  <a:srgbClr val="1A2B4A"/>
                </a:solidFill>
                <a:latin typeface="Calibri" pitchFamily="34" charset="0"/>
                <a:ea typeface="Calibri" pitchFamily="34" charset="-122"/>
                <a:cs typeface="Calibri" pitchFamily="34" charset="-120"/>
              </a:rPr>
              <a:t>Progressive Web App (PWA)</a:t>
            </a:r>
            <a:endParaRPr lang="en-US" sz="1300" dirty="0"/>
          </a:p>
        </p:txBody>
      </p:sp>
      <p:sp>
        <p:nvSpPr>
          <p:cNvPr id="52" name="Text 50"/>
          <p:cNvSpPr/>
          <p:nvPr/>
        </p:nvSpPr>
        <p:spPr>
          <a:xfrm>
            <a:off x="1005840" y="4142232"/>
            <a:ext cx="7635240" cy="548640"/>
          </a:xfrm>
          <a:prstGeom prst="rect">
            <a:avLst/>
          </a:prstGeom>
          <a:noFill/>
          <a:ln/>
        </p:spPr>
        <p:txBody>
          <a:bodyPr wrap="square" lIns="0" tIns="0" rIns="0" bIns="0" rtlCol="0" anchor="ctr"/>
          <a:lstStyle/>
          <a:p>
            <a:pPr algn="l" indent="0" marL="0">
              <a:buNone/>
            </a:pPr>
            <a:r>
              <a:rPr lang="en-US" sz="1150" dirty="0">
                <a:solidFill>
                  <a:srgbClr val="4A5568"/>
                </a:solidFill>
                <a:latin typeface="Calibri" pitchFamily="34" charset="0"/>
                <a:ea typeface="Calibri" pitchFamily="34" charset="-122"/>
                <a:cs typeface="Calibri" pitchFamily="34" charset="-120"/>
              </a:rPr>
              <a:t>A web application that meets the three criteria: served over HTTPS, has a Web App Manifest, and registers a Service Worker. When these criteria are met, modern browsers offer the 'Add to Home Screen' prompt — enabling installation without an app store.</a:t>
            </a:r>
            <a:endParaRPr lang="en-US" sz="11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1A2B4A"/>
        </a:solidFill>
      </p:bgPr>
    </p:bg>
    <p:spTree>
      <p:nvGrpSpPr>
        <p:cNvPr id="1" name=""/>
        <p:cNvGrpSpPr/>
        <p:nvPr/>
      </p:nvGrpSpPr>
      <p:grpSpPr>
        <a:xfrm>
          <a:off x="0" y="0"/>
          <a:ext cx="0" cy="0"/>
          <a:chOff x="0" y="0"/>
          <a:chExt cx="0" cy="0"/>
        </a:xfrm>
      </p:grpSpPr>
      <p:sp>
        <p:nvSpPr>
          <p:cNvPr id="2" name="Shape 0"/>
          <p:cNvSpPr/>
          <p:nvPr/>
        </p:nvSpPr>
        <p:spPr>
          <a:xfrm>
            <a:off x="-640080" y="91440"/>
            <a:ext cx="2560320" cy="2560320"/>
          </a:xfrm>
          <a:prstGeom prst="ellipse">
            <a:avLst/>
          </a:prstGeom>
          <a:ln w="19050">
            <a:solidFill>
              <a:srgbClr val="1A2B4A">
                <a:alpha val="18000"/>
              </a:srgbClr>
            </a:solidFill>
            <a:prstDash val="solid"/>
          </a:ln>
        </p:spPr>
      </p:sp>
      <p:sp>
        <p:nvSpPr>
          <p:cNvPr id="3" name="Shape 1"/>
          <p:cNvSpPr/>
          <p:nvPr/>
        </p:nvSpPr>
        <p:spPr>
          <a:xfrm>
            <a:off x="-217627" y="513893"/>
            <a:ext cx="1715414" cy="1715414"/>
          </a:xfrm>
          <a:prstGeom prst="ellipse">
            <a:avLst/>
          </a:prstGeom>
          <a:ln w="19050">
            <a:solidFill>
              <a:srgbClr val="3B5FA0">
                <a:alpha val="25000"/>
              </a:srgbClr>
            </a:solidFill>
            <a:prstDash val="solid"/>
          </a:ln>
        </p:spPr>
      </p:sp>
      <p:sp>
        <p:nvSpPr>
          <p:cNvPr id="4" name="Shape 2"/>
          <p:cNvSpPr/>
          <p:nvPr/>
        </p:nvSpPr>
        <p:spPr>
          <a:xfrm>
            <a:off x="153619" y="885139"/>
            <a:ext cx="972922" cy="972922"/>
          </a:xfrm>
          <a:prstGeom prst="ellipse">
            <a:avLst/>
          </a:prstGeom>
          <a:ln w="19050">
            <a:solidFill>
              <a:srgbClr val="3A8C7E">
                <a:alpha val="32000"/>
              </a:srgbClr>
            </a:solidFill>
            <a:prstDash val="solid"/>
          </a:ln>
        </p:spPr>
      </p:sp>
      <p:sp>
        <p:nvSpPr>
          <p:cNvPr id="5" name="Shape 3"/>
          <p:cNvSpPr/>
          <p:nvPr/>
        </p:nvSpPr>
        <p:spPr>
          <a:xfrm>
            <a:off x="8092440" y="4114800"/>
            <a:ext cx="64008" cy="64008"/>
          </a:xfrm>
          <a:prstGeom prst="ellipse">
            <a:avLst/>
          </a:prstGeom>
          <a:solidFill>
            <a:srgbClr val="1A2B4A">
              <a:alpha val="25000"/>
            </a:srgbClr>
          </a:solidFill>
          <a:ln/>
        </p:spPr>
      </p:sp>
      <p:sp>
        <p:nvSpPr>
          <p:cNvPr id="6" name="Shape 4"/>
          <p:cNvSpPr/>
          <p:nvPr/>
        </p:nvSpPr>
        <p:spPr>
          <a:xfrm>
            <a:off x="8293608" y="4114800"/>
            <a:ext cx="64008" cy="64008"/>
          </a:xfrm>
          <a:prstGeom prst="ellipse">
            <a:avLst/>
          </a:prstGeom>
          <a:solidFill>
            <a:srgbClr val="1A2B4A">
              <a:alpha val="25000"/>
            </a:srgbClr>
          </a:solidFill>
          <a:ln/>
        </p:spPr>
      </p:sp>
      <p:sp>
        <p:nvSpPr>
          <p:cNvPr id="7" name="Shape 5"/>
          <p:cNvSpPr/>
          <p:nvPr/>
        </p:nvSpPr>
        <p:spPr>
          <a:xfrm>
            <a:off x="8494776" y="4114800"/>
            <a:ext cx="64008" cy="64008"/>
          </a:xfrm>
          <a:prstGeom prst="ellipse">
            <a:avLst/>
          </a:prstGeom>
          <a:solidFill>
            <a:srgbClr val="1A2B4A">
              <a:alpha val="25000"/>
            </a:srgbClr>
          </a:solidFill>
          <a:ln/>
        </p:spPr>
      </p:sp>
      <p:sp>
        <p:nvSpPr>
          <p:cNvPr id="8" name="Shape 6"/>
          <p:cNvSpPr/>
          <p:nvPr/>
        </p:nvSpPr>
        <p:spPr>
          <a:xfrm>
            <a:off x="8695944" y="4114800"/>
            <a:ext cx="64008" cy="64008"/>
          </a:xfrm>
          <a:prstGeom prst="ellipse">
            <a:avLst/>
          </a:prstGeom>
          <a:solidFill>
            <a:srgbClr val="1A2B4A">
              <a:alpha val="25000"/>
            </a:srgbClr>
          </a:solidFill>
          <a:ln/>
        </p:spPr>
      </p:sp>
      <p:sp>
        <p:nvSpPr>
          <p:cNvPr id="9" name="Shape 7"/>
          <p:cNvSpPr/>
          <p:nvPr/>
        </p:nvSpPr>
        <p:spPr>
          <a:xfrm>
            <a:off x="8897112" y="4114800"/>
            <a:ext cx="64008" cy="64008"/>
          </a:xfrm>
          <a:prstGeom prst="ellipse">
            <a:avLst/>
          </a:prstGeom>
          <a:solidFill>
            <a:srgbClr val="1A2B4A">
              <a:alpha val="25000"/>
            </a:srgbClr>
          </a:solidFill>
          <a:ln/>
        </p:spPr>
      </p:sp>
      <p:sp>
        <p:nvSpPr>
          <p:cNvPr id="10" name="Shape 8"/>
          <p:cNvSpPr/>
          <p:nvPr/>
        </p:nvSpPr>
        <p:spPr>
          <a:xfrm>
            <a:off x="8092440" y="4315968"/>
            <a:ext cx="64008" cy="64008"/>
          </a:xfrm>
          <a:prstGeom prst="ellipse">
            <a:avLst/>
          </a:prstGeom>
          <a:solidFill>
            <a:srgbClr val="1A2B4A">
              <a:alpha val="25000"/>
            </a:srgbClr>
          </a:solidFill>
          <a:ln/>
        </p:spPr>
      </p:sp>
      <p:sp>
        <p:nvSpPr>
          <p:cNvPr id="11" name="Shape 9"/>
          <p:cNvSpPr/>
          <p:nvPr/>
        </p:nvSpPr>
        <p:spPr>
          <a:xfrm>
            <a:off x="8293608" y="4315968"/>
            <a:ext cx="64008" cy="64008"/>
          </a:xfrm>
          <a:prstGeom prst="ellipse">
            <a:avLst/>
          </a:prstGeom>
          <a:solidFill>
            <a:srgbClr val="1A2B4A">
              <a:alpha val="25000"/>
            </a:srgbClr>
          </a:solidFill>
          <a:ln/>
        </p:spPr>
      </p:sp>
      <p:sp>
        <p:nvSpPr>
          <p:cNvPr id="12" name="Shape 10"/>
          <p:cNvSpPr/>
          <p:nvPr/>
        </p:nvSpPr>
        <p:spPr>
          <a:xfrm>
            <a:off x="8494776" y="4315968"/>
            <a:ext cx="64008" cy="64008"/>
          </a:xfrm>
          <a:prstGeom prst="ellipse">
            <a:avLst/>
          </a:prstGeom>
          <a:solidFill>
            <a:srgbClr val="1A2B4A">
              <a:alpha val="25000"/>
            </a:srgbClr>
          </a:solidFill>
          <a:ln/>
        </p:spPr>
      </p:sp>
      <p:sp>
        <p:nvSpPr>
          <p:cNvPr id="13" name="Shape 11"/>
          <p:cNvSpPr/>
          <p:nvPr/>
        </p:nvSpPr>
        <p:spPr>
          <a:xfrm>
            <a:off x="8695944" y="4315968"/>
            <a:ext cx="64008" cy="64008"/>
          </a:xfrm>
          <a:prstGeom prst="ellipse">
            <a:avLst/>
          </a:prstGeom>
          <a:solidFill>
            <a:srgbClr val="1A2B4A">
              <a:alpha val="25000"/>
            </a:srgbClr>
          </a:solidFill>
          <a:ln/>
        </p:spPr>
      </p:sp>
      <p:sp>
        <p:nvSpPr>
          <p:cNvPr id="14" name="Shape 12"/>
          <p:cNvSpPr/>
          <p:nvPr/>
        </p:nvSpPr>
        <p:spPr>
          <a:xfrm>
            <a:off x="8897112" y="4315968"/>
            <a:ext cx="64008" cy="64008"/>
          </a:xfrm>
          <a:prstGeom prst="ellipse">
            <a:avLst/>
          </a:prstGeom>
          <a:solidFill>
            <a:srgbClr val="1A2B4A">
              <a:alpha val="25000"/>
            </a:srgbClr>
          </a:solidFill>
          <a:ln/>
        </p:spPr>
      </p:sp>
      <p:sp>
        <p:nvSpPr>
          <p:cNvPr id="15" name="Shape 13"/>
          <p:cNvSpPr/>
          <p:nvPr/>
        </p:nvSpPr>
        <p:spPr>
          <a:xfrm>
            <a:off x="8092440" y="4517136"/>
            <a:ext cx="64008" cy="64008"/>
          </a:xfrm>
          <a:prstGeom prst="ellipse">
            <a:avLst/>
          </a:prstGeom>
          <a:solidFill>
            <a:srgbClr val="1A2B4A">
              <a:alpha val="25000"/>
            </a:srgbClr>
          </a:solidFill>
          <a:ln/>
        </p:spPr>
      </p:sp>
      <p:sp>
        <p:nvSpPr>
          <p:cNvPr id="16" name="Shape 14"/>
          <p:cNvSpPr/>
          <p:nvPr/>
        </p:nvSpPr>
        <p:spPr>
          <a:xfrm>
            <a:off x="8293608" y="4517136"/>
            <a:ext cx="64008" cy="64008"/>
          </a:xfrm>
          <a:prstGeom prst="ellipse">
            <a:avLst/>
          </a:prstGeom>
          <a:solidFill>
            <a:srgbClr val="1A2B4A">
              <a:alpha val="25000"/>
            </a:srgbClr>
          </a:solidFill>
          <a:ln/>
        </p:spPr>
      </p:sp>
      <p:sp>
        <p:nvSpPr>
          <p:cNvPr id="17" name="Shape 15"/>
          <p:cNvSpPr/>
          <p:nvPr/>
        </p:nvSpPr>
        <p:spPr>
          <a:xfrm>
            <a:off x="8494776" y="4517136"/>
            <a:ext cx="64008" cy="64008"/>
          </a:xfrm>
          <a:prstGeom prst="ellipse">
            <a:avLst/>
          </a:prstGeom>
          <a:solidFill>
            <a:srgbClr val="1A2B4A">
              <a:alpha val="25000"/>
            </a:srgbClr>
          </a:solidFill>
          <a:ln/>
        </p:spPr>
      </p:sp>
      <p:sp>
        <p:nvSpPr>
          <p:cNvPr id="18" name="Shape 16"/>
          <p:cNvSpPr/>
          <p:nvPr/>
        </p:nvSpPr>
        <p:spPr>
          <a:xfrm>
            <a:off x="8695944" y="4517136"/>
            <a:ext cx="64008" cy="64008"/>
          </a:xfrm>
          <a:prstGeom prst="ellipse">
            <a:avLst/>
          </a:prstGeom>
          <a:solidFill>
            <a:srgbClr val="1A2B4A">
              <a:alpha val="25000"/>
            </a:srgbClr>
          </a:solidFill>
          <a:ln/>
        </p:spPr>
      </p:sp>
      <p:sp>
        <p:nvSpPr>
          <p:cNvPr id="19" name="Shape 17"/>
          <p:cNvSpPr/>
          <p:nvPr/>
        </p:nvSpPr>
        <p:spPr>
          <a:xfrm>
            <a:off x="8897112" y="4517136"/>
            <a:ext cx="64008" cy="64008"/>
          </a:xfrm>
          <a:prstGeom prst="ellipse">
            <a:avLst/>
          </a:prstGeom>
          <a:solidFill>
            <a:srgbClr val="1A2B4A">
              <a:alpha val="25000"/>
            </a:srgbClr>
          </a:solidFill>
          <a:ln/>
        </p:spPr>
      </p:sp>
      <p:sp>
        <p:nvSpPr>
          <p:cNvPr id="20" name="Shape 18"/>
          <p:cNvSpPr/>
          <p:nvPr/>
        </p:nvSpPr>
        <p:spPr>
          <a:xfrm>
            <a:off x="8092440" y="4718304"/>
            <a:ext cx="64008" cy="64008"/>
          </a:xfrm>
          <a:prstGeom prst="ellipse">
            <a:avLst/>
          </a:prstGeom>
          <a:solidFill>
            <a:srgbClr val="1A2B4A">
              <a:alpha val="25000"/>
            </a:srgbClr>
          </a:solidFill>
          <a:ln/>
        </p:spPr>
      </p:sp>
      <p:sp>
        <p:nvSpPr>
          <p:cNvPr id="21" name="Shape 19"/>
          <p:cNvSpPr/>
          <p:nvPr/>
        </p:nvSpPr>
        <p:spPr>
          <a:xfrm>
            <a:off x="8293608" y="4718304"/>
            <a:ext cx="64008" cy="64008"/>
          </a:xfrm>
          <a:prstGeom prst="ellipse">
            <a:avLst/>
          </a:prstGeom>
          <a:solidFill>
            <a:srgbClr val="1A2B4A">
              <a:alpha val="25000"/>
            </a:srgbClr>
          </a:solidFill>
          <a:ln/>
        </p:spPr>
      </p:sp>
      <p:sp>
        <p:nvSpPr>
          <p:cNvPr id="22" name="Shape 20"/>
          <p:cNvSpPr/>
          <p:nvPr/>
        </p:nvSpPr>
        <p:spPr>
          <a:xfrm>
            <a:off x="8494776" y="4718304"/>
            <a:ext cx="64008" cy="64008"/>
          </a:xfrm>
          <a:prstGeom prst="ellipse">
            <a:avLst/>
          </a:prstGeom>
          <a:solidFill>
            <a:srgbClr val="1A2B4A">
              <a:alpha val="25000"/>
            </a:srgbClr>
          </a:solidFill>
          <a:ln/>
        </p:spPr>
      </p:sp>
      <p:sp>
        <p:nvSpPr>
          <p:cNvPr id="23" name="Shape 21"/>
          <p:cNvSpPr/>
          <p:nvPr/>
        </p:nvSpPr>
        <p:spPr>
          <a:xfrm>
            <a:off x="8695944" y="4718304"/>
            <a:ext cx="64008" cy="64008"/>
          </a:xfrm>
          <a:prstGeom prst="ellipse">
            <a:avLst/>
          </a:prstGeom>
          <a:solidFill>
            <a:srgbClr val="1A2B4A">
              <a:alpha val="25000"/>
            </a:srgbClr>
          </a:solidFill>
          <a:ln/>
        </p:spPr>
      </p:sp>
      <p:sp>
        <p:nvSpPr>
          <p:cNvPr id="24" name="Shape 22"/>
          <p:cNvSpPr/>
          <p:nvPr/>
        </p:nvSpPr>
        <p:spPr>
          <a:xfrm>
            <a:off x="8897112" y="4718304"/>
            <a:ext cx="64008" cy="64008"/>
          </a:xfrm>
          <a:prstGeom prst="ellipse">
            <a:avLst/>
          </a:prstGeom>
          <a:solidFill>
            <a:srgbClr val="1A2B4A">
              <a:alpha val="25000"/>
            </a:srgbClr>
          </a:solidFill>
          <a:ln/>
        </p:spPr>
      </p:sp>
      <p:sp>
        <p:nvSpPr>
          <p:cNvPr id="25" name="Shape 23"/>
          <p:cNvSpPr/>
          <p:nvPr/>
        </p:nvSpPr>
        <p:spPr>
          <a:xfrm>
            <a:off x="8092440" y="4919472"/>
            <a:ext cx="64008" cy="64008"/>
          </a:xfrm>
          <a:prstGeom prst="ellipse">
            <a:avLst/>
          </a:prstGeom>
          <a:solidFill>
            <a:srgbClr val="1A2B4A">
              <a:alpha val="25000"/>
            </a:srgbClr>
          </a:solidFill>
          <a:ln/>
        </p:spPr>
      </p:sp>
      <p:sp>
        <p:nvSpPr>
          <p:cNvPr id="26" name="Shape 24"/>
          <p:cNvSpPr/>
          <p:nvPr/>
        </p:nvSpPr>
        <p:spPr>
          <a:xfrm>
            <a:off x="8293608" y="4919472"/>
            <a:ext cx="64008" cy="64008"/>
          </a:xfrm>
          <a:prstGeom prst="ellipse">
            <a:avLst/>
          </a:prstGeom>
          <a:solidFill>
            <a:srgbClr val="1A2B4A">
              <a:alpha val="25000"/>
            </a:srgbClr>
          </a:solidFill>
          <a:ln/>
        </p:spPr>
      </p:sp>
      <p:sp>
        <p:nvSpPr>
          <p:cNvPr id="27" name="Shape 25"/>
          <p:cNvSpPr/>
          <p:nvPr/>
        </p:nvSpPr>
        <p:spPr>
          <a:xfrm>
            <a:off x="8494776" y="4919472"/>
            <a:ext cx="64008" cy="64008"/>
          </a:xfrm>
          <a:prstGeom prst="ellipse">
            <a:avLst/>
          </a:prstGeom>
          <a:solidFill>
            <a:srgbClr val="1A2B4A">
              <a:alpha val="25000"/>
            </a:srgbClr>
          </a:solidFill>
          <a:ln/>
        </p:spPr>
      </p:sp>
      <p:sp>
        <p:nvSpPr>
          <p:cNvPr id="28" name="Shape 26"/>
          <p:cNvSpPr/>
          <p:nvPr/>
        </p:nvSpPr>
        <p:spPr>
          <a:xfrm>
            <a:off x="8695944" y="4919472"/>
            <a:ext cx="64008" cy="64008"/>
          </a:xfrm>
          <a:prstGeom prst="ellipse">
            <a:avLst/>
          </a:prstGeom>
          <a:solidFill>
            <a:srgbClr val="1A2B4A">
              <a:alpha val="25000"/>
            </a:srgbClr>
          </a:solidFill>
          <a:ln/>
        </p:spPr>
      </p:sp>
      <p:sp>
        <p:nvSpPr>
          <p:cNvPr id="29" name="Shape 27"/>
          <p:cNvSpPr/>
          <p:nvPr/>
        </p:nvSpPr>
        <p:spPr>
          <a:xfrm>
            <a:off x="8897112" y="4919472"/>
            <a:ext cx="64008" cy="64008"/>
          </a:xfrm>
          <a:prstGeom prst="ellipse">
            <a:avLst/>
          </a:prstGeom>
          <a:solidFill>
            <a:srgbClr val="1A2B4A">
              <a:alpha val="25000"/>
            </a:srgbClr>
          </a:solidFill>
          <a:ln/>
        </p:spPr>
      </p:sp>
      <p:sp>
        <p:nvSpPr>
          <p:cNvPr id="30" name="Shape 28"/>
          <p:cNvSpPr/>
          <p:nvPr/>
        </p:nvSpPr>
        <p:spPr>
          <a:xfrm rot="2700000">
            <a:off x="7726680" y="3154680"/>
            <a:ext cx="1371600" cy="1371600"/>
          </a:xfrm>
          <a:prstGeom prst="rect">
            <a:avLst/>
          </a:prstGeom>
          <a:ln w="12700">
            <a:solidFill>
              <a:srgbClr val="1A2B4A">
                <a:alpha val="88000"/>
              </a:srgbClr>
            </a:solidFill>
            <a:prstDash val="solid"/>
          </a:ln>
        </p:spPr>
      </p:sp>
      <p:sp>
        <p:nvSpPr>
          <p:cNvPr id="31" name="Shape 29"/>
          <p:cNvSpPr/>
          <p:nvPr/>
        </p:nvSpPr>
        <p:spPr>
          <a:xfrm rot="2700000">
            <a:off x="7898130" y="3326130"/>
            <a:ext cx="1028700" cy="1028700"/>
          </a:xfrm>
          <a:prstGeom prst="rect">
            <a:avLst/>
          </a:prstGeom>
          <a:ln w="12700">
            <a:solidFill>
              <a:srgbClr val="1A2B4A">
                <a:alpha val="76000"/>
              </a:srgbClr>
            </a:solidFill>
            <a:prstDash val="solid"/>
          </a:ln>
        </p:spPr>
      </p:sp>
      <p:sp>
        <p:nvSpPr>
          <p:cNvPr id="32" name="Shape 30"/>
          <p:cNvSpPr/>
          <p:nvPr/>
        </p:nvSpPr>
        <p:spPr>
          <a:xfrm rot="2700000">
            <a:off x="8069580" y="3497580"/>
            <a:ext cx="685800" cy="685800"/>
          </a:xfrm>
          <a:prstGeom prst="rect">
            <a:avLst/>
          </a:prstGeom>
          <a:ln w="12700">
            <a:solidFill>
              <a:srgbClr val="1A2B4A">
                <a:alpha val="64000"/>
              </a:srgbClr>
            </a:solidFill>
            <a:prstDash val="solid"/>
          </a:ln>
        </p:spPr>
      </p:sp>
      <p:sp>
        <p:nvSpPr>
          <p:cNvPr id="33" name="Shape 31"/>
          <p:cNvSpPr/>
          <p:nvPr/>
        </p:nvSpPr>
        <p:spPr>
          <a:xfrm rot="2700000">
            <a:off x="8241030" y="3669030"/>
            <a:ext cx="342900" cy="342900"/>
          </a:xfrm>
          <a:prstGeom prst="rect">
            <a:avLst/>
          </a:prstGeom>
          <a:ln w="12700">
            <a:solidFill>
              <a:srgbClr val="1A2B4A">
                <a:alpha val="52000"/>
              </a:srgbClr>
            </a:solidFill>
            <a:prstDash val="solid"/>
          </a:ln>
        </p:spPr>
      </p:sp>
      <p:sp>
        <p:nvSpPr>
          <p:cNvPr id="34" name="Text 32"/>
          <p:cNvSpPr/>
          <p:nvPr/>
        </p:nvSpPr>
        <p:spPr>
          <a:xfrm>
            <a:off x="457200" y="731520"/>
            <a:ext cx="8229600" cy="1188720"/>
          </a:xfrm>
          <a:prstGeom prst="rect">
            <a:avLst/>
          </a:prstGeom>
          <a:noFill/>
          <a:ln/>
        </p:spPr>
        <p:txBody>
          <a:bodyPr wrap="square" lIns="0" tIns="0" rIns="0" bIns="0" rtlCol="0" anchor="ctr"/>
          <a:lstStyle/>
          <a:p>
            <a:pPr algn="ctr" indent="0" marL="0">
              <a:buNone/>
            </a:pPr>
            <a:r>
              <a:rPr lang="en-US" sz="6400" b="1" dirty="0">
                <a:solidFill>
                  <a:srgbClr val="3A8C7E"/>
                </a:solidFill>
                <a:latin typeface="Cambria" pitchFamily="34" charset="0"/>
                <a:ea typeface="Cambria" pitchFamily="34" charset="-122"/>
                <a:cs typeface="Cambria" pitchFamily="34" charset="-120"/>
              </a:rPr>
              <a:t>Thank You.</a:t>
            </a:r>
            <a:endParaRPr lang="en-US" sz="6400" dirty="0"/>
          </a:p>
        </p:txBody>
      </p:sp>
      <p:sp>
        <p:nvSpPr>
          <p:cNvPr id="35" name="Text 33"/>
          <p:cNvSpPr/>
          <p:nvPr/>
        </p:nvSpPr>
        <p:spPr>
          <a:xfrm>
            <a:off x="457200" y="1938528"/>
            <a:ext cx="8229600" cy="457200"/>
          </a:xfrm>
          <a:prstGeom prst="rect">
            <a:avLst/>
          </a:prstGeom>
          <a:noFill/>
          <a:ln/>
        </p:spPr>
        <p:txBody>
          <a:bodyPr wrap="square" lIns="0" tIns="0" rIns="0" bIns="0" rtlCol="0" anchor="ctr"/>
          <a:lstStyle/>
          <a:p>
            <a:pPr algn="ctr" indent="0" marL="0">
              <a:buNone/>
            </a:pPr>
            <a:r>
              <a:rPr lang="en-US" sz="2000" dirty="0">
                <a:solidFill>
                  <a:srgbClr val="FFFFFF"/>
                </a:solidFill>
                <a:latin typeface="Calibri" pitchFamily="34" charset="0"/>
                <a:ea typeface="Calibri" pitchFamily="34" charset="-122"/>
                <a:cs typeface="Calibri" pitchFamily="34" charset="-120"/>
              </a:rPr>
              <a:t>Questions are welcome.</a:t>
            </a:r>
            <a:endParaRPr lang="en-US" sz="2000" dirty="0"/>
          </a:p>
        </p:txBody>
      </p:sp>
      <p:sp>
        <p:nvSpPr>
          <p:cNvPr id="36" name="Shape 34"/>
          <p:cNvSpPr/>
          <p:nvPr/>
        </p:nvSpPr>
        <p:spPr>
          <a:xfrm>
            <a:off x="2926080" y="2505456"/>
            <a:ext cx="3291840" cy="0"/>
          </a:xfrm>
          <a:prstGeom prst="line">
            <a:avLst/>
          </a:prstGeom>
          <a:noFill/>
          <a:ln w="15240">
            <a:solidFill>
              <a:srgbClr val="3A8C7E"/>
            </a:solidFill>
            <a:prstDash val="solid"/>
          </a:ln>
        </p:spPr>
      </p:sp>
      <p:sp>
        <p:nvSpPr>
          <p:cNvPr id="37" name="Text 35"/>
          <p:cNvSpPr/>
          <p:nvPr/>
        </p:nvSpPr>
        <p:spPr>
          <a:xfrm>
            <a:off x="457200" y="2651760"/>
            <a:ext cx="8229600" cy="29260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Shadamoro Jeremiah  ·  AUL/CMP/22/082</a:t>
            </a:r>
            <a:endParaRPr lang="en-US" sz="1300" dirty="0"/>
          </a:p>
        </p:txBody>
      </p:sp>
      <p:sp>
        <p:nvSpPr>
          <p:cNvPr id="38" name="Text 36"/>
          <p:cNvSpPr/>
          <p:nvPr/>
        </p:nvSpPr>
        <p:spPr>
          <a:xfrm>
            <a:off x="457200" y="2962656"/>
            <a:ext cx="8229600" cy="29260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Olofu Possible Ada'inaka  ·  AUL/IFT/22/009</a:t>
            </a:r>
            <a:endParaRPr lang="en-US" sz="1300" dirty="0"/>
          </a:p>
        </p:txBody>
      </p:sp>
      <p:sp>
        <p:nvSpPr>
          <p:cNvPr id="39" name="Text 37"/>
          <p:cNvSpPr/>
          <p:nvPr/>
        </p:nvSpPr>
        <p:spPr>
          <a:xfrm>
            <a:off x="457200" y="3273552"/>
            <a:ext cx="8229600" cy="292608"/>
          </a:xfrm>
          <a:prstGeom prst="rect">
            <a:avLst/>
          </a:prstGeom>
          <a:noFill/>
          <a:ln/>
        </p:spPr>
        <p:txBody>
          <a:bodyPr wrap="square" lIns="0" tIns="0" rIns="0" bIns="0" rtlCol="0" anchor="ctr"/>
          <a:lstStyle/>
          <a:p>
            <a:pPr algn="ctr" indent="0" marL="0">
              <a:buNone/>
            </a:pPr>
            <a:r>
              <a:rPr lang="en-US" sz="1200" dirty="0">
                <a:solidFill>
                  <a:srgbClr val="8BAEC8"/>
                </a:solidFill>
                <a:latin typeface="Calibri" pitchFamily="34" charset="0"/>
                <a:ea typeface="Calibri" pitchFamily="34" charset="-122"/>
                <a:cs typeface="Calibri" pitchFamily="34" charset="-120"/>
              </a:rPr>
              <a:t>Supervisor: Dr. Babalola Asegunloluwa</a:t>
            </a:r>
            <a:endParaRPr lang="en-US" sz="1200" dirty="0"/>
          </a:p>
        </p:txBody>
      </p:sp>
      <p:sp>
        <p:nvSpPr>
          <p:cNvPr id="40" name="Text 38"/>
          <p:cNvSpPr/>
          <p:nvPr/>
        </p:nvSpPr>
        <p:spPr>
          <a:xfrm>
            <a:off x="457200" y="3584448"/>
            <a:ext cx="8229600" cy="292608"/>
          </a:xfrm>
          <a:prstGeom prst="rect">
            <a:avLst/>
          </a:prstGeom>
          <a:noFill/>
          <a:ln/>
        </p:spPr>
        <p:txBody>
          <a:bodyPr wrap="square" lIns="0" tIns="0" rIns="0" bIns="0" rtlCol="0" anchor="ctr"/>
          <a:lstStyle/>
          <a:p>
            <a:pPr algn="ctr" indent="0" marL="0">
              <a:buNone/>
            </a:pPr>
            <a:r>
              <a:rPr lang="en-US" sz="1200" dirty="0">
                <a:solidFill>
                  <a:srgbClr val="8BAEC8"/>
                </a:solidFill>
                <a:latin typeface="Calibri" pitchFamily="34" charset="0"/>
                <a:ea typeface="Calibri" pitchFamily="34" charset="-122"/>
                <a:cs typeface="Calibri" pitchFamily="34" charset="-120"/>
              </a:rPr>
              <a:t>Department of Computing, Faculty of Science</a:t>
            </a:r>
            <a:endParaRPr lang="en-US" sz="1200" dirty="0"/>
          </a:p>
        </p:txBody>
      </p:sp>
      <p:sp>
        <p:nvSpPr>
          <p:cNvPr id="41" name="Text 39"/>
          <p:cNvSpPr/>
          <p:nvPr/>
        </p:nvSpPr>
        <p:spPr>
          <a:xfrm>
            <a:off x="457200" y="3895344"/>
            <a:ext cx="8229600" cy="292608"/>
          </a:xfrm>
          <a:prstGeom prst="rect">
            <a:avLst/>
          </a:prstGeom>
          <a:noFill/>
          <a:ln/>
        </p:spPr>
        <p:txBody>
          <a:bodyPr wrap="square" lIns="0" tIns="0" rIns="0" bIns="0" rtlCol="0" anchor="ctr"/>
          <a:lstStyle/>
          <a:p>
            <a:pPr algn="ctr" indent="0" marL="0">
              <a:buNone/>
            </a:pPr>
            <a:r>
              <a:rPr lang="en-US" sz="1200" dirty="0">
                <a:solidFill>
                  <a:srgbClr val="8BAEC8"/>
                </a:solidFill>
                <a:latin typeface="Calibri" pitchFamily="34" charset="0"/>
                <a:ea typeface="Calibri" pitchFamily="34" charset="-122"/>
                <a:cs typeface="Calibri" pitchFamily="34" charset="-120"/>
              </a:rPr>
              <a:t>Anchor University Lagos  ·  June 2026</a:t>
            </a:r>
            <a:endParaRPr lang="en-US" sz="1200" dirty="0"/>
          </a:p>
        </p:txBody>
      </p:sp>
      <p:sp>
        <p:nvSpPr>
          <p:cNvPr id="42" name="Shape 40"/>
          <p:cNvSpPr/>
          <p:nvPr/>
        </p:nvSpPr>
        <p:spPr>
          <a:xfrm>
            <a:off x="1371600" y="4224528"/>
            <a:ext cx="6400800" cy="658368"/>
          </a:xfrm>
          <a:prstGeom prst="rect">
            <a:avLst/>
          </a:prstGeom>
          <a:solidFill>
            <a:srgbClr val="FFFFFF"/>
          </a:solidFill>
          <a:ln w="6350">
            <a:solidFill>
              <a:srgbClr val="1A2B4A">
                <a:alpha val="40000"/>
              </a:srgbClr>
            </a:solidFill>
            <a:prstDash val="solid"/>
          </a:ln>
          <a:effectLst>
            <a:outerShdw sx="100000" sy="100000" kx="0" ky="0" algn="bl" rotWithShape="0" blurRad="101600" dist="38100" dir="2700000">
              <a:srgbClr val="000000">
                <a:alpha val="10000"/>
              </a:srgbClr>
            </a:outerShdw>
          </a:effectLst>
        </p:spPr>
      </p:sp>
      <p:sp>
        <p:nvSpPr>
          <p:cNvPr id="43" name="Shape 41"/>
          <p:cNvSpPr/>
          <p:nvPr/>
        </p:nvSpPr>
        <p:spPr>
          <a:xfrm>
            <a:off x="1371600" y="4224528"/>
            <a:ext cx="6400800" cy="658368"/>
          </a:xfrm>
          <a:prstGeom prst="roundRect">
            <a:avLst>
              <a:gd name="adj" fmla="val 11111"/>
            </a:avLst>
          </a:prstGeom>
          <a:solidFill>
            <a:srgbClr val="FFFFFF">
              <a:alpha val="10000"/>
            </a:srgbClr>
          </a:solidFill>
          <a:ln w="12700">
            <a:solidFill>
              <a:srgbClr val="3A8C7E"/>
            </a:solidFill>
            <a:prstDash val="solid"/>
          </a:ln>
        </p:spPr>
      </p:sp>
      <p:sp>
        <p:nvSpPr>
          <p:cNvPr id="44" name="Text 42"/>
          <p:cNvSpPr/>
          <p:nvPr/>
        </p:nvSpPr>
        <p:spPr>
          <a:xfrm>
            <a:off x="1463040" y="4261104"/>
            <a:ext cx="6217920" cy="585216"/>
          </a:xfrm>
          <a:prstGeom prst="rect">
            <a:avLst/>
          </a:prstGeom>
          <a:noFill/>
          <a:ln/>
        </p:spPr>
        <p:txBody>
          <a:bodyPr wrap="square" lIns="0" tIns="0" rIns="0" bIns="0" rtlCol="0" anchor="ctr"/>
          <a:lstStyle/>
          <a:p>
            <a:pPr algn="ctr" indent="0" marL="0">
              <a:buNone/>
            </a:pPr>
            <a:r>
              <a:rPr lang="en-US" sz="1100" b="1" dirty="0">
                <a:solidFill>
                  <a:srgbClr val="3A8C7E"/>
                </a:solidFill>
                <a:latin typeface="Calibri" pitchFamily="34" charset="0"/>
                <a:ea typeface="Calibri" pitchFamily="34" charset="-122"/>
                <a:cs typeface="Calibri" pitchFamily="34" charset="-120"/>
              </a:rPr>
              <a:t>Key Numbers:  89.3% Top-1  ·  97.5% Top-3  ·  42-fruit database  ·  11.6 MB model  ·  ~380 ms CPU inference  ·  18/20 end-to-end correct  ·  451 ethylene conflict pairs</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34</Slides>
  <Notes>34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34</vt:i4>
      </vt:variant>
    </vt:vector>
  </HeadingPairs>
  <TitlesOfParts>
    <vt:vector size="3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Fresco — Fruit Freshness &amp; Shelf-Life Estimation Platform</dc:title>
  <dc:subject>Final Year Project Defense — AUL Computing 2026</dc:subject>
  <dc:creator>Shadamoro Jeremiah &amp; Olofu Possible</dc:creator>
  <cp:lastModifiedBy>Shadamoro Jeremiah &amp; Olofu Possible</cp:lastModifiedBy>
  <cp:revision>1</cp:revision>
  <dcterms:created xsi:type="dcterms:W3CDTF">2026-06-29T11:46:23Z</dcterms:created>
  <dcterms:modified xsi:type="dcterms:W3CDTF">2026-06-29T11:46:23Z</dcterms:modified>
</cp:coreProperties>
</file>