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406C37-5A5E-4BF0-9AAD-7423E5C8C803}">
  <a:tblStyle styleId="{7A406C37-5A5E-4BF0-9AAD-7423E5C8C80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everyone. This is the defense for Fresco — an intelligent shelf-life estimation system we developed as our final-year project. We'll walk through the problem, methodology, technical design, results, and live system demonstration.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Emphasise the Lagos/Nigerian angle: most fresh fruit here is sold in open markets with zero labelling. This is not a first-world convenience app — it addresses a genuine information gap with real economic consequences.</a:t>
            </a:r>
            <a:endParaRPr/>
          </a:p>
        </p:txBody>
      </p:sp>
      <p:sp>
        <p:nvSpPr>
          <p:cNvPr id="190" name="Google Shape;1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worked example traces through a real banana scan from beginning to end. Every examiner should be able to follow this calculation.</a:t>
            </a:r>
            <a:endParaRPr/>
          </a:p>
        </p:txBody>
      </p:sp>
      <p:sp>
        <p:nvSpPr>
          <p:cNvPr id="569" name="Google Shape;5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3" name="Google Shape;63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5" name="Google Shape;80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3" name="Google Shape;87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1" name="Google Shape;92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2" name="Google Shape;92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2" name="Google Shape;94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 name="Google Shape;94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7" name="Google Shape;100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8" name="Google Shape;100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9" name="Google Shape;103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0" name="Google Shape;104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3" name="Google Shape;110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4" name="Google Shape;110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8" name="Google Shape;114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1" name="Google Shape;119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2" name="Google Shape;119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6" name="Google Shape;125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7" name="Google Shape;125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8" name="Google Shape;129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8" name="Google Shape;133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9" name="Google Shape;133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8" name="Google Shape;136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9" name="Google Shape;136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7" name="Google Shape;140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8" name="Google Shape;140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1" name="Google Shape;142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2" name="Google Shape;142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7" name="Google Shape;147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8" name="Google Shape;1478;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4A"/>
        </a:solidFill>
      </p:bgPr>
    </p:bg>
    <p:spTree>
      <p:nvGrpSpPr>
        <p:cNvPr id="15" name="Shape 15"/>
        <p:cNvGrpSpPr/>
        <p:nvPr/>
      </p:nvGrpSpPr>
      <p:grpSpPr>
        <a:xfrm>
          <a:off x="0" y="0"/>
          <a:ext cx="0" cy="0"/>
          <a:chOff x="0" y="0"/>
          <a:chExt cx="0" cy="0"/>
        </a:xfrm>
      </p:grpSpPr>
      <p:sp>
        <p:nvSpPr>
          <p:cNvPr id="16" name="Google Shape;16;p3"/>
          <p:cNvSpPr/>
          <p:nvPr/>
        </p:nvSpPr>
        <p:spPr>
          <a:xfrm rot="2700000">
            <a:off x="-137160" y="0"/>
            <a:ext cx="1828800" cy="1828800"/>
          </a:xfrm>
          <a:prstGeom prst="rect">
            <a:avLst/>
          </a:prstGeom>
          <a:noFill/>
          <a:ln cap="flat" cmpd="sng" w="12700">
            <a:solidFill>
              <a:srgbClr val="1A2B4A">
                <a:alpha val="8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rot="2700000">
            <a:off x="91440" y="228600"/>
            <a:ext cx="1371600" cy="137160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rot="2700000">
            <a:off x="320040" y="457200"/>
            <a:ext cx="914400" cy="91440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rot="2700000">
            <a:off x="548640" y="685800"/>
            <a:ext cx="457200" cy="45720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900000">
            <a:off x="7498080" y="18288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900000">
            <a:off x="7699248" y="27432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900000">
            <a:off x="7900416" y="36576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640080" y="3566160"/>
            <a:ext cx="2194560" cy="219456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277978" y="3928262"/>
            <a:ext cx="1470355" cy="147035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40234" y="4246474"/>
            <a:ext cx="833933" cy="833933"/>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8092440"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8293608"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8494776"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8695944"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8897112"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8092440"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8293608"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8494776"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8695944"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8897112"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8092440"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8293608"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8494776"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8695944"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8897112"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8092440"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8293608"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8494776"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8695944"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8897112"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8092440"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8293608"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8494776"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8695944"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8897112"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 name="Google Shape;51;p3"/>
          <p:cNvCxnSpPr/>
          <p:nvPr/>
        </p:nvCxnSpPr>
        <p:spPr>
          <a:xfrm>
            <a:off x="1645920" y="2697480"/>
            <a:ext cx="5852160" cy="0"/>
          </a:xfrm>
          <a:prstGeom prst="straightConnector1">
            <a:avLst/>
          </a:prstGeom>
          <a:noFill/>
          <a:ln cap="flat" cmpd="sng" w="19050">
            <a:solidFill>
              <a:srgbClr val="3A8C7E"/>
            </a:solidFill>
            <a:prstDash val="solid"/>
            <a:round/>
            <a:headEnd len="sm" w="sm" type="none"/>
            <a:tailEnd len="sm" w="sm" type="none"/>
          </a:ln>
        </p:spPr>
      </p:cxnSp>
      <p:sp>
        <p:nvSpPr>
          <p:cNvPr id="52" name="Google Shape;52;p3"/>
          <p:cNvSpPr/>
          <p:nvPr/>
        </p:nvSpPr>
        <p:spPr>
          <a:xfrm>
            <a:off x="457200" y="45720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4200"/>
              <a:buFont typeface="Cambria"/>
              <a:buNone/>
            </a:pPr>
            <a:r>
              <a:rPr b="1" i="0" lang="en-US" sz="4200" u="none" cap="none" strike="noStrike">
                <a:solidFill>
                  <a:srgbClr val="3A8C7E"/>
                </a:solidFill>
                <a:latin typeface="Cambria"/>
                <a:ea typeface="Cambria"/>
                <a:cs typeface="Cambria"/>
                <a:sym typeface="Cambria"/>
              </a:rPr>
              <a:t>Fresco</a:t>
            </a:r>
            <a:endParaRPr b="0" i="0" sz="4200" u="none" cap="none" strike="noStrike">
              <a:solidFill>
                <a:schemeClr val="dk1"/>
              </a:solidFill>
              <a:latin typeface="Calibri"/>
              <a:ea typeface="Calibri"/>
              <a:cs typeface="Calibri"/>
              <a:sym typeface="Calibri"/>
            </a:endParaRPr>
          </a:p>
        </p:txBody>
      </p:sp>
      <p:sp>
        <p:nvSpPr>
          <p:cNvPr id="53" name="Google Shape;53;p3"/>
          <p:cNvSpPr/>
          <p:nvPr/>
        </p:nvSpPr>
        <p:spPr>
          <a:xfrm>
            <a:off x="457200" y="1097280"/>
            <a:ext cx="8229600" cy="1417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An Intelligent Fruit Freshness &amp;</a:t>
            </a:r>
            <a:endParaRPr b="0" i="0" sz="2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Shelf-Life Estimation Platform</a:t>
            </a:r>
            <a:endParaRPr b="0" i="0" sz="2600" u="none" cap="none" strike="noStrike">
              <a:solidFill>
                <a:schemeClr val="dk1"/>
              </a:solidFill>
              <a:latin typeface="Calibri"/>
              <a:ea typeface="Calibri"/>
              <a:cs typeface="Calibri"/>
              <a:sym typeface="Calibri"/>
            </a:endParaRPr>
          </a:p>
        </p:txBody>
      </p:sp>
      <p:sp>
        <p:nvSpPr>
          <p:cNvPr id="54" name="Google Shape;54;p3"/>
          <p:cNvSpPr/>
          <p:nvPr/>
        </p:nvSpPr>
        <p:spPr>
          <a:xfrm>
            <a:off x="457200" y="2816352"/>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200"/>
              <a:buFont typeface="Calibri"/>
              <a:buNone/>
            </a:pPr>
            <a:r>
              <a:rPr b="1" i="0" lang="en-US" sz="1200" u="none" cap="none" strike="noStrike">
                <a:solidFill>
                  <a:srgbClr val="3A8C7E"/>
                </a:solidFill>
                <a:latin typeface="Calibri"/>
                <a:ea typeface="Calibri"/>
                <a:cs typeface="Calibri"/>
                <a:sym typeface="Calibri"/>
              </a:rPr>
              <a:t>BY:</a:t>
            </a:r>
            <a:r>
              <a:rPr b="0" i="0" lang="en-US" sz="1200" u="none" cap="none" strike="noStrike">
                <a:solidFill>
                  <a:srgbClr val="FFFFFF"/>
                </a:solidFill>
                <a:latin typeface="Calibri"/>
                <a:ea typeface="Calibri"/>
                <a:cs typeface="Calibri"/>
                <a:sym typeface="Calibri"/>
              </a:rPr>
              <a:t>  Shadamoro Jeremiah  ·  AUL/CMP/22/082</a:t>
            </a:r>
            <a:endParaRPr b="0" i="0" sz="1200" u="none" cap="none" strike="noStrike">
              <a:solidFill>
                <a:schemeClr val="dk1"/>
              </a:solidFill>
              <a:latin typeface="Calibri"/>
              <a:ea typeface="Calibri"/>
              <a:cs typeface="Calibri"/>
              <a:sym typeface="Calibri"/>
            </a:endParaRPr>
          </a:p>
        </p:txBody>
      </p:sp>
      <p:sp>
        <p:nvSpPr>
          <p:cNvPr id="55" name="Google Shape;55;p3"/>
          <p:cNvSpPr/>
          <p:nvPr/>
        </p:nvSpPr>
        <p:spPr>
          <a:xfrm>
            <a:off x="457200" y="3090672"/>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Olofu Possible Ada'inaka  ·  AUL/IFT/22/009</a:t>
            </a:r>
            <a:endParaRPr b="0" i="0" sz="1200" u="none" cap="none" strike="noStrike">
              <a:solidFill>
                <a:schemeClr val="dk1"/>
              </a:solidFill>
              <a:latin typeface="Calibri"/>
              <a:ea typeface="Calibri"/>
              <a:cs typeface="Calibri"/>
              <a:sym typeface="Calibri"/>
            </a:endParaRPr>
          </a:p>
        </p:txBody>
      </p:sp>
      <p:cxnSp>
        <p:nvCxnSpPr>
          <p:cNvPr id="56" name="Google Shape;56;p3"/>
          <p:cNvCxnSpPr/>
          <p:nvPr/>
        </p:nvCxnSpPr>
        <p:spPr>
          <a:xfrm>
            <a:off x="3200400" y="3401568"/>
            <a:ext cx="2743200" cy="0"/>
          </a:xfrm>
          <a:prstGeom prst="straightConnector1">
            <a:avLst/>
          </a:prstGeom>
          <a:noFill/>
          <a:ln cap="flat" cmpd="sng" w="9525">
            <a:solidFill>
              <a:srgbClr val="3A8C7E">
                <a:alpha val="60000"/>
              </a:srgbClr>
            </a:solidFill>
            <a:prstDash val="solid"/>
            <a:round/>
            <a:headEnd len="sm" w="sm" type="none"/>
            <a:tailEnd len="sm" w="sm" type="none"/>
          </a:ln>
        </p:spPr>
      </p:cxnSp>
      <p:sp>
        <p:nvSpPr>
          <p:cNvPr id="57" name="Google Shape;57;p3"/>
          <p:cNvSpPr/>
          <p:nvPr/>
        </p:nvSpPr>
        <p:spPr>
          <a:xfrm>
            <a:off x="457200" y="3493008"/>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Supervisor: Dr. Babalola Asegunloluwa</a:t>
            </a:r>
            <a:endParaRPr b="0" i="0" sz="1200" u="none" cap="none" strike="noStrike">
              <a:solidFill>
                <a:schemeClr val="dk1"/>
              </a:solidFill>
              <a:latin typeface="Calibri"/>
              <a:ea typeface="Calibri"/>
              <a:cs typeface="Calibri"/>
              <a:sym typeface="Calibri"/>
            </a:endParaRPr>
          </a:p>
        </p:txBody>
      </p:sp>
      <p:sp>
        <p:nvSpPr>
          <p:cNvPr id="58" name="Google Shape;58;p3"/>
          <p:cNvSpPr/>
          <p:nvPr/>
        </p:nvSpPr>
        <p:spPr>
          <a:xfrm>
            <a:off x="457200" y="3767328"/>
            <a:ext cx="8229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8C5"/>
              </a:buClr>
              <a:buSzPts val="1100"/>
              <a:buFont typeface="Calibri"/>
              <a:buNone/>
            </a:pPr>
            <a:r>
              <a:rPr b="0" i="0" lang="en-US" sz="1100" u="none" cap="none" strike="noStrike">
                <a:solidFill>
                  <a:srgbClr val="8BA8C5"/>
                </a:solidFill>
                <a:latin typeface="Calibri"/>
                <a:ea typeface="Calibri"/>
                <a:cs typeface="Calibri"/>
                <a:sym typeface="Calibri"/>
              </a:rPr>
              <a:t>Department of Computing, Faculty of Science · Anchor University Lagos · June 2026</a:t>
            </a:r>
            <a:endParaRPr b="0" i="0" sz="1100" u="none" cap="none" strike="noStrike">
              <a:solidFill>
                <a:schemeClr val="dk1"/>
              </a:solidFill>
              <a:latin typeface="Calibri"/>
              <a:ea typeface="Calibri"/>
              <a:cs typeface="Calibri"/>
              <a:sym typeface="Calibri"/>
            </a:endParaRPr>
          </a:p>
        </p:txBody>
      </p:sp>
      <p:sp>
        <p:nvSpPr>
          <p:cNvPr id="59" name="Google Shape;59;p3"/>
          <p:cNvSpPr/>
          <p:nvPr/>
        </p:nvSpPr>
        <p:spPr>
          <a:xfrm>
            <a:off x="3474720" y="4206240"/>
            <a:ext cx="2194560" cy="347472"/>
          </a:xfrm>
          <a:prstGeom prst="roundRect">
            <a:avLst>
              <a:gd fmla="val 50000"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3474720" y="4206240"/>
            <a:ext cx="21945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Final Year Project Defense  June·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65" name="Shape 65"/>
        <p:cNvGrpSpPr/>
        <p:nvPr/>
      </p:nvGrpSpPr>
      <p:grpSpPr>
        <a:xfrm>
          <a:off x="0" y="0"/>
          <a:ext cx="0" cy="0"/>
          <a:chOff x="0" y="0"/>
          <a:chExt cx="0" cy="0"/>
        </a:xfrm>
      </p:grpSpPr>
      <p:sp>
        <p:nvSpPr>
          <p:cNvPr id="66" name="Google Shape;66;p4"/>
          <p:cNvSpPr/>
          <p:nvPr/>
        </p:nvSpPr>
        <p:spPr>
          <a:xfrm>
            <a:off x="-731520" y="1280160"/>
            <a:ext cx="2560320" cy="25603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309067" y="1702613"/>
            <a:ext cx="1715414" cy="1715414"/>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62179" y="2073859"/>
            <a:ext cx="972922" cy="972922"/>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Table of Contents</a:t>
            </a:r>
            <a:endParaRPr b="0" i="0" sz="2800" u="none" cap="none" strike="noStrike">
              <a:solidFill>
                <a:schemeClr val="dk1"/>
              </a:solidFill>
              <a:latin typeface="Calibri"/>
              <a:ea typeface="Calibri"/>
              <a:cs typeface="Calibri"/>
              <a:sym typeface="Calibri"/>
            </a:endParaRPr>
          </a:p>
        </p:txBody>
      </p:sp>
      <p:cxnSp>
        <p:nvCxnSpPr>
          <p:cNvPr id="95" name="Google Shape;95;p4"/>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96" name="Google Shape;96;p4"/>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97" name="Google Shape;97;p4"/>
          <p:cNvSpPr/>
          <p:nvPr/>
        </p:nvSpPr>
        <p:spPr>
          <a:xfrm>
            <a:off x="384048" y="969264"/>
            <a:ext cx="4114800" cy="3886200"/>
          </a:xfrm>
          <a:prstGeom prst="roundRect">
            <a:avLst>
              <a:gd fmla="val 282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4645152" y="969264"/>
            <a:ext cx="4114800" cy="3886200"/>
          </a:xfrm>
          <a:prstGeom prst="roundRect">
            <a:avLst>
              <a:gd fmla="val 282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548640" y="1051560"/>
            <a:ext cx="3840480" cy="3749040"/>
          </a:xfrm>
          <a:prstGeom prst="rect">
            <a:avLst/>
          </a:prstGeom>
          <a:noFill/>
          <a:ln>
            <a:noFill/>
          </a:ln>
        </p:spPr>
        <p:txBody>
          <a:bodyPr anchorCtr="0" anchor="t" bIns="76200" lIns="76200" spcFirstLastPara="1" rIns="76200" wrap="square" tIns="7620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01  Cover &amp; Introduction</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02  Table of Contents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03  Definition of Terms (I–VIII)</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04  Definition of Terms (IX–XVI)</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05  Problem Statement</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06  Aims &amp; Objectives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07  Related Works — Part 1</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08  Related Works — Part 2</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09  Gap in Literature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10  Research Methodology</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11  Why This Methodology</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12  Mathematical Model: MobileNetV2</a:t>
            </a:r>
            <a:endParaRPr b="0" i="0" sz="1150" u="none" cap="none" strike="noStrike">
              <a:solidFill>
                <a:srgbClr val="4A5568"/>
              </a:solidFill>
              <a:latin typeface="Calibri"/>
              <a:ea typeface="Calibri"/>
              <a:cs typeface="Calibri"/>
              <a:sym typeface="Calibri"/>
            </a:endParaRPr>
          </a:p>
          <a:p>
            <a:pPr indent="0" lvl="0" marL="0" rtl="0" algn="l">
              <a:spcBef>
                <a:spcPts val="0"/>
              </a:spcBef>
              <a:spcAft>
                <a:spcPts val="0"/>
              </a:spcAft>
              <a:buClr>
                <a:srgbClr val="4A5568"/>
              </a:buClr>
              <a:buSzPts val="1150"/>
              <a:buFont typeface="Calibri"/>
              <a:buNone/>
            </a:pPr>
            <a:r>
              <a:rPr lang="en-US" sz="1150">
                <a:solidFill>
                  <a:srgbClr val="4A5568"/>
                </a:solidFill>
                <a:latin typeface="Calibri"/>
                <a:ea typeface="Calibri"/>
                <a:cs typeface="Calibri"/>
                <a:sym typeface="Calibri"/>
              </a:rPr>
              <a:t>13  Mathematical Model: Shelf-Life Formula</a:t>
            </a:r>
            <a:endParaRPr sz="1150">
              <a:solidFill>
                <a:schemeClr val="dk1"/>
              </a:solidFill>
              <a:latin typeface="Calibri"/>
              <a:ea typeface="Calibri"/>
              <a:cs typeface="Calibri"/>
              <a:sym typeface="Calibri"/>
            </a:endParaRPr>
          </a:p>
          <a:p>
            <a:pPr indent="0" lvl="0" marL="0" rtl="0" algn="l">
              <a:spcBef>
                <a:spcPts val="400"/>
              </a:spcBef>
              <a:spcAft>
                <a:spcPts val="0"/>
              </a:spcAft>
              <a:buClr>
                <a:srgbClr val="4A5568"/>
              </a:buClr>
              <a:buSzPts val="1150"/>
              <a:buFont typeface="Calibri"/>
              <a:buNone/>
            </a:pPr>
            <a:r>
              <a:rPr lang="en-US" sz="1150">
                <a:solidFill>
                  <a:srgbClr val="4A5568"/>
                </a:solidFill>
                <a:latin typeface="Calibri"/>
                <a:ea typeface="Calibri"/>
                <a:cs typeface="Calibri"/>
                <a:sym typeface="Calibri"/>
              </a:rPr>
              <a:t>14  Mathematical Model: Decision Engine</a:t>
            </a:r>
            <a:endParaRPr sz="1150">
              <a:solidFill>
                <a:schemeClr val="dk1"/>
              </a:solidFill>
              <a:latin typeface="Calibri"/>
              <a:ea typeface="Calibri"/>
              <a:cs typeface="Calibri"/>
              <a:sym typeface="Calibri"/>
            </a:endParaRPr>
          </a:p>
          <a:p>
            <a:pPr indent="0" lvl="0" marL="0" rtl="0" algn="l">
              <a:spcBef>
                <a:spcPts val="400"/>
              </a:spcBef>
              <a:spcAft>
                <a:spcPts val="0"/>
              </a:spcAft>
              <a:buClr>
                <a:srgbClr val="4A5568"/>
              </a:buClr>
              <a:buSzPts val="1150"/>
              <a:buFont typeface="Calibri"/>
              <a:buNone/>
            </a:pPr>
            <a:r>
              <a:rPr lang="en-US" sz="1150">
                <a:solidFill>
                  <a:srgbClr val="4A5568"/>
                </a:solidFill>
                <a:latin typeface="Calibri"/>
                <a:ea typeface="Calibri"/>
                <a:cs typeface="Calibri"/>
                <a:sym typeface="Calibri"/>
              </a:rPr>
              <a:t>15  Mathematical Model: Ethylene Graph</a:t>
            </a:r>
            <a:endParaRPr sz="1150">
              <a:solidFill>
                <a:srgbClr val="4A5568"/>
              </a:solidFill>
              <a:latin typeface="Calibri"/>
              <a:ea typeface="Calibri"/>
              <a:cs typeface="Calibri"/>
              <a:sym typeface="Calibri"/>
            </a:endParaRPr>
          </a:p>
        </p:txBody>
      </p:sp>
      <p:sp>
        <p:nvSpPr>
          <p:cNvPr id="100" name="Google Shape;100;p4"/>
          <p:cNvSpPr/>
          <p:nvPr/>
        </p:nvSpPr>
        <p:spPr>
          <a:xfrm>
            <a:off x="4773168" y="1051560"/>
            <a:ext cx="3840480" cy="3749040"/>
          </a:xfrm>
          <a:prstGeom prst="rect">
            <a:avLst/>
          </a:prstGeom>
          <a:noFill/>
          <a:ln>
            <a:noFill/>
          </a:ln>
        </p:spPr>
        <p:txBody>
          <a:bodyPr anchorCtr="0" anchor="t" bIns="76200" lIns="76200" spcFirstLastPara="1" rIns="76200" wrap="square" tIns="76200">
            <a:noAutofit/>
          </a:bodyPr>
          <a:lstStyle/>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16  Dataset Overview</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17  Data Preprocessing</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18  Model Training Pipeline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19  System Architecture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20  System Design: 7-Layer Pipeline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21  Implementation Details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22  System Workflow</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23  Natural Language Generation</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24  Live System: EAT SOON Case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25  Live System: FRESH Case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26  Evaluation Results</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27  Headline Performance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28  State-of-the-Art Comparison</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29  Contributions to Knowledge</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30  Limitations &amp; Future Work</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31  References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05" name="Shape 105"/>
        <p:cNvGrpSpPr/>
        <p:nvPr/>
      </p:nvGrpSpPr>
      <p:grpSpPr>
        <a:xfrm>
          <a:off x="0" y="0"/>
          <a:ext cx="0" cy="0"/>
          <a:chOff x="0" y="0"/>
          <a:chExt cx="0" cy="0"/>
        </a:xfrm>
      </p:grpSpPr>
      <p:sp>
        <p:nvSpPr>
          <p:cNvPr id="106" name="Google Shape;106;p5"/>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7772400" y="347472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8074152" y="377647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8339328" y="404164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Definition of Terms</a:t>
            </a:r>
            <a:endParaRPr b="0" i="0" sz="2800" u="none" cap="none" strike="noStrike">
              <a:solidFill>
                <a:schemeClr val="dk1"/>
              </a:solidFill>
              <a:latin typeface="Calibri"/>
              <a:ea typeface="Calibri"/>
              <a:cs typeface="Calibri"/>
              <a:sym typeface="Calibri"/>
            </a:endParaRPr>
          </a:p>
        </p:txBody>
      </p:sp>
      <p:cxnSp>
        <p:nvCxnSpPr>
          <p:cNvPr id="135" name="Google Shape;135;p5"/>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36" name="Google Shape;136;p5"/>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37" name="Google Shape;137;p5"/>
          <p:cNvSpPr/>
          <p:nvPr/>
        </p:nvSpPr>
        <p:spPr>
          <a:xfrm>
            <a:off x="484632" y="100584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484632" y="10058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a:t>
            </a:r>
            <a:endParaRPr b="0" i="0" sz="1100" u="none" cap="none" strike="noStrike">
              <a:solidFill>
                <a:schemeClr val="dk1"/>
              </a:solidFill>
              <a:latin typeface="Calibri"/>
              <a:ea typeface="Calibri"/>
              <a:cs typeface="Calibri"/>
              <a:sym typeface="Calibri"/>
            </a:endParaRPr>
          </a:p>
        </p:txBody>
      </p:sp>
      <p:sp>
        <p:nvSpPr>
          <p:cNvPr id="139" name="Google Shape;139;p5"/>
          <p:cNvSpPr/>
          <p:nvPr/>
        </p:nvSpPr>
        <p:spPr>
          <a:xfrm>
            <a:off x="1005840" y="100584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Convolutional Neural Network (CNN)</a:t>
            </a:r>
            <a:endParaRPr b="0" i="0" sz="1300" u="none" cap="none" strike="noStrike">
              <a:solidFill>
                <a:schemeClr val="dk1"/>
              </a:solidFill>
              <a:latin typeface="Calibri"/>
              <a:ea typeface="Calibri"/>
              <a:cs typeface="Calibri"/>
              <a:sym typeface="Calibri"/>
            </a:endParaRPr>
          </a:p>
        </p:txBody>
      </p:sp>
      <p:sp>
        <p:nvSpPr>
          <p:cNvPr id="140" name="Google Shape;140;p5"/>
          <p:cNvSpPr/>
          <p:nvPr/>
        </p:nvSpPr>
        <p:spPr>
          <a:xfrm>
            <a:off x="1005840" y="126187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deep learning architecture that learns spatial hierarchies of features through convolution operations — the computational engine that looks at a fruit photograph and extracts visual patterns meaningful for classification.</a:t>
            </a:r>
            <a:endParaRPr b="0" i="0" sz="1150" u="none" cap="none" strike="noStrike">
              <a:solidFill>
                <a:schemeClr val="dk1"/>
              </a:solidFill>
              <a:latin typeface="Calibri"/>
              <a:ea typeface="Calibri"/>
              <a:cs typeface="Calibri"/>
              <a:sym typeface="Calibri"/>
            </a:endParaRPr>
          </a:p>
        </p:txBody>
      </p:sp>
      <p:sp>
        <p:nvSpPr>
          <p:cNvPr id="141" name="Google Shape;141;p5"/>
          <p:cNvSpPr/>
          <p:nvPr/>
        </p:nvSpPr>
        <p:spPr>
          <a:xfrm>
            <a:off x="484632" y="19659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484632" y="19659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II</a:t>
            </a:r>
            <a:endParaRPr b="0" i="0" sz="1100" u="none" cap="none" strike="noStrike">
              <a:solidFill>
                <a:schemeClr val="dk1"/>
              </a:solidFill>
              <a:latin typeface="Calibri"/>
              <a:ea typeface="Calibri"/>
              <a:cs typeface="Calibri"/>
              <a:sym typeface="Calibri"/>
            </a:endParaRPr>
          </a:p>
        </p:txBody>
      </p:sp>
      <p:sp>
        <p:nvSpPr>
          <p:cNvPr id="143" name="Google Shape;143;p5"/>
          <p:cNvSpPr/>
          <p:nvPr/>
        </p:nvSpPr>
        <p:spPr>
          <a:xfrm>
            <a:off x="1005840" y="196596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Transfer Learning</a:t>
            </a:r>
            <a:endParaRPr b="0" i="0" sz="1300" u="none" cap="none" strike="noStrike">
              <a:solidFill>
                <a:schemeClr val="dk1"/>
              </a:solidFill>
              <a:latin typeface="Calibri"/>
              <a:ea typeface="Calibri"/>
              <a:cs typeface="Calibri"/>
              <a:sym typeface="Calibri"/>
            </a:endParaRPr>
          </a:p>
        </p:txBody>
      </p:sp>
      <p:sp>
        <p:nvSpPr>
          <p:cNvPr id="144" name="Google Shape;144;p5"/>
          <p:cNvSpPr/>
          <p:nvPr/>
        </p:nvSpPr>
        <p:spPr>
          <a:xfrm>
            <a:off x="1005840" y="222199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Reusing a model pre-trained on a large dataset (ImageNet) as the starting point for a new task (fruit freshness). Enables high accuracy on small domain-specific datasets by leveraging learned visual features — edges, textures, shapes.</a:t>
            </a:r>
            <a:endParaRPr b="0" i="0" sz="1150" u="none" cap="none" strike="noStrike">
              <a:solidFill>
                <a:schemeClr val="dk1"/>
              </a:solidFill>
              <a:latin typeface="Calibri"/>
              <a:ea typeface="Calibri"/>
              <a:cs typeface="Calibri"/>
              <a:sym typeface="Calibri"/>
            </a:endParaRPr>
          </a:p>
        </p:txBody>
      </p:sp>
      <p:sp>
        <p:nvSpPr>
          <p:cNvPr id="145" name="Google Shape;145;p5"/>
          <p:cNvSpPr/>
          <p:nvPr/>
        </p:nvSpPr>
        <p:spPr>
          <a:xfrm>
            <a:off x="484632" y="292608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484632" y="29260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III</a:t>
            </a:r>
            <a:endParaRPr b="0" i="0" sz="1100" u="none" cap="none" strike="noStrike">
              <a:solidFill>
                <a:schemeClr val="dk1"/>
              </a:solidFill>
              <a:latin typeface="Calibri"/>
              <a:ea typeface="Calibri"/>
              <a:cs typeface="Calibri"/>
              <a:sym typeface="Calibri"/>
            </a:endParaRPr>
          </a:p>
        </p:txBody>
      </p:sp>
      <p:sp>
        <p:nvSpPr>
          <p:cNvPr id="147" name="Google Shape;147;p5"/>
          <p:cNvSpPr/>
          <p:nvPr/>
        </p:nvSpPr>
        <p:spPr>
          <a:xfrm>
            <a:off x="1005840" y="292608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MobileNetV2</a:t>
            </a:r>
            <a:endParaRPr b="0" i="0" sz="1300" u="none" cap="none" strike="noStrike">
              <a:solidFill>
                <a:schemeClr val="dk1"/>
              </a:solidFill>
              <a:latin typeface="Calibri"/>
              <a:ea typeface="Calibri"/>
              <a:cs typeface="Calibri"/>
              <a:sym typeface="Calibri"/>
            </a:endParaRPr>
          </a:p>
        </p:txBody>
      </p:sp>
      <p:sp>
        <p:nvSpPr>
          <p:cNvPr id="148" name="Google Shape;148;p5"/>
          <p:cNvSpPr/>
          <p:nvPr/>
        </p:nvSpPr>
        <p:spPr>
          <a:xfrm>
            <a:off x="1005840" y="318211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Google's efficient CNN architecture using depthwise separable convolutions and inverted residual blocks. Achieves ImageNet-grade accuracy at 11.6 MB — small enough to load at server startup and infer in ~380 ms on commodity CPU hardware.</a:t>
            </a:r>
            <a:endParaRPr b="0" i="0" sz="1150" u="none" cap="none" strike="noStrike">
              <a:solidFill>
                <a:schemeClr val="dk1"/>
              </a:solidFill>
              <a:latin typeface="Calibri"/>
              <a:ea typeface="Calibri"/>
              <a:cs typeface="Calibri"/>
              <a:sym typeface="Calibri"/>
            </a:endParaRPr>
          </a:p>
        </p:txBody>
      </p:sp>
      <p:sp>
        <p:nvSpPr>
          <p:cNvPr id="149" name="Google Shape;149;p5"/>
          <p:cNvSpPr/>
          <p:nvPr/>
        </p:nvSpPr>
        <p:spPr>
          <a:xfrm>
            <a:off x="484632" y="388620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484632" y="388620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IV</a:t>
            </a:r>
            <a:endParaRPr b="0" i="0" sz="1100" u="none" cap="none" strike="noStrike">
              <a:solidFill>
                <a:schemeClr val="dk1"/>
              </a:solidFill>
              <a:latin typeface="Calibri"/>
              <a:ea typeface="Calibri"/>
              <a:cs typeface="Calibri"/>
              <a:sym typeface="Calibri"/>
            </a:endParaRPr>
          </a:p>
        </p:txBody>
      </p:sp>
      <p:sp>
        <p:nvSpPr>
          <p:cNvPr id="151" name="Google Shape;151;p5"/>
          <p:cNvSpPr/>
          <p:nvPr/>
        </p:nvSpPr>
        <p:spPr>
          <a:xfrm>
            <a:off x="1005840" y="388620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Freshness Score</a:t>
            </a:r>
            <a:endParaRPr b="0" i="0" sz="1300" u="none" cap="none" strike="noStrike">
              <a:solidFill>
                <a:schemeClr val="dk1"/>
              </a:solidFill>
              <a:latin typeface="Calibri"/>
              <a:ea typeface="Calibri"/>
              <a:cs typeface="Calibri"/>
              <a:sym typeface="Calibri"/>
            </a:endParaRPr>
          </a:p>
        </p:txBody>
      </p:sp>
      <p:sp>
        <p:nvSpPr>
          <p:cNvPr id="152" name="Google Shape;152;p5"/>
          <p:cNvSpPr/>
          <p:nvPr/>
        </p:nvSpPr>
        <p:spPr>
          <a:xfrm>
            <a:off x="1005840" y="414223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continuous value ∈ [0.0, 1.0] derived from the classifier's predicted age-range class. Maps directly to five interpretable categories: Fresh (≥0.80), Slightly Aged (≥0.60), Aging (≥0.40), Old (≥0.20), Spoiled (&lt;0.20).</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57" name="Shape 157"/>
        <p:cNvGrpSpPr/>
        <p:nvPr/>
      </p:nvGrpSpPr>
      <p:grpSpPr>
        <a:xfrm>
          <a:off x="0" y="0"/>
          <a:ext cx="0" cy="0"/>
          <a:chOff x="0" y="0"/>
          <a:chExt cx="0" cy="0"/>
        </a:xfrm>
      </p:grpSpPr>
      <p:cxnSp>
        <p:nvCxnSpPr>
          <p:cNvPr id="158" name="Google Shape;158;p6"/>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59" name="Google Shape;159;p6"/>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0" name="Google Shape;160;p6"/>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1" name="Google Shape;161;p6"/>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2" name="Google Shape;162;p6"/>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3" name="Google Shape;163;p6"/>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4" name="Google Shape;164;p6"/>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65" name="Google Shape;165;p6"/>
          <p:cNvCxnSpPr/>
          <p:nvPr/>
        </p:nvCxnSpPr>
        <p:spPr>
          <a:xfrm rot="-2700000">
            <a:off x="133502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166" name="Google Shape;166;p6"/>
          <p:cNvSpPr/>
          <p:nvPr/>
        </p:nvSpPr>
        <p:spPr>
          <a:xfrm>
            <a:off x="7635240" y="3657600"/>
            <a:ext cx="609600" cy="60960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7635240" y="3657600"/>
            <a:ext cx="304800" cy="30480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Definition of Terms (cont.)</a:t>
            </a:r>
            <a:endParaRPr b="0" i="0" sz="2800" u="none" cap="none" strike="noStrike">
              <a:solidFill>
                <a:schemeClr val="dk1"/>
              </a:solidFill>
              <a:latin typeface="Calibri"/>
              <a:ea typeface="Calibri"/>
              <a:cs typeface="Calibri"/>
              <a:sym typeface="Calibri"/>
            </a:endParaRPr>
          </a:p>
        </p:txBody>
      </p:sp>
      <p:cxnSp>
        <p:nvCxnSpPr>
          <p:cNvPr id="169" name="Google Shape;169;p6"/>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70" name="Google Shape;170;p6"/>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71" name="Google Shape;171;p6"/>
          <p:cNvSpPr/>
          <p:nvPr/>
        </p:nvSpPr>
        <p:spPr>
          <a:xfrm>
            <a:off x="484632" y="100584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484632" y="10058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t>
            </a:r>
            <a:endParaRPr b="0" i="0" sz="1100" u="none" cap="none" strike="noStrike">
              <a:solidFill>
                <a:schemeClr val="dk1"/>
              </a:solidFill>
              <a:latin typeface="Calibri"/>
              <a:ea typeface="Calibri"/>
              <a:cs typeface="Calibri"/>
              <a:sym typeface="Calibri"/>
            </a:endParaRPr>
          </a:p>
        </p:txBody>
      </p:sp>
      <p:sp>
        <p:nvSpPr>
          <p:cNvPr id="173" name="Google Shape;173;p6"/>
          <p:cNvSpPr/>
          <p:nvPr/>
        </p:nvSpPr>
        <p:spPr>
          <a:xfrm>
            <a:off x="1005840" y="100584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Shelf-Life Estimation</a:t>
            </a:r>
            <a:endParaRPr b="0" i="0" sz="1300" u="none" cap="none" strike="noStrike">
              <a:solidFill>
                <a:schemeClr val="dk1"/>
              </a:solidFill>
              <a:latin typeface="Calibri"/>
              <a:ea typeface="Calibri"/>
              <a:cs typeface="Calibri"/>
              <a:sym typeface="Calibri"/>
            </a:endParaRPr>
          </a:p>
        </p:txBody>
      </p:sp>
      <p:sp>
        <p:nvSpPr>
          <p:cNvPr id="174" name="Google Shape;174;p6"/>
          <p:cNvSpPr/>
          <p:nvPr/>
        </p:nvSpPr>
        <p:spPr>
          <a:xfrm>
            <a:off x="1005840" y="126187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Computing the remaining edible days for a specific fruit under a specific storage method using its freshness score, biological baseline values, and temperature deviation from the fruit's optimal storage range.</a:t>
            </a:r>
            <a:endParaRPr b="0" i="0" sz="1150" u="none" cap="none" strike="noStrike">
              <a:solidFill>
                <a:schemeClr val="dk1"/>
              </a:solidFill>
              <a:latin typeface="Calibri"/>
              <a:ea typeface="Calibri"/>
              <a:cs typeface="Calibri"/>
              <a:sym typeface="Calibri"/>
            </a:endParaRPr>
          </a:p>
        </p:txBody>
      </p:sp>
      <p:sp>
        <p:nvSpPr>
          <p:cNvPr id="175" name="Google Shape;175;p6"/>
          <p:cNvSpPr/>
          <p:nvPr/>
        </p:nvSpPr>
        <p:spPr>
          <a:xfrm>
            <a:off x="484632" y="19659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484632" y="19659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VI</a:t>
            </a:r>
            <a:endParaRPr b="0" i="0" sz="1100" u="none" cap="none" strike="noStrike">
              <a:solidFill>
                <a:schemeClr val="dk1"/>
              </a:solidFill>
              <a:latin typeface="Calibri"/>
              <a:ea typeface="Calibri"/>
              <a:cs typeface="Calibri"/>
              <a:sym typeface="Calibri"/>
            </a:endParaRPr>
          </a:p>
        </p:txBody>
      </p:sp>
      <p:sp>
        <p:nvSpPr>
          <p:cNvPr id="177" name="Google Shape;177;p6"/>
          <p:cNvSpPr/>
          <p:nvPr/>
        </p:nvSpPr>
        <p:spPr>
          <a:xfrm>
            <a:off x="1005840" y="196596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Fuzzy-Logic-Inspired Scoring</a:t>
            </a:r>
            <a:endParaRPr b="0" i="0" sz="1300" u="none" cap="none" strike="noStrike">
              <a:solidFill>
                <a:schemeClr val="dk1"/>
              </a:solidFill>
              <a:latin typeface="Calibri"/>
              <a:ea typeface="Calibri"/>
              <a:cs typeface="Calibri"/>
              <a:sym typeface="Calibri"/>
            </a:endParaRPr>
          </a:p>
        </p:txBody>
      </p:sp>
      <p:sp>
        <p:nvSpPr>
          <p:cNvPr id="178" name="Google Shape;178;p6"/>
          <p:cNvSpPr/>
          <p:nvPr/>
        </p:nvSpPr>
        <p:spPr>
          <a:xfrm>
            <a:off x="1005840" y="222199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Using continuous scores and overlapping category boundaries rather than hard binary thresholds. A score of 0.79 is treated as 'Nearly Fresh' — the recommendation logic reflects the gradient, not a cliff edge at exactly 0.80.</a:t>
            </a:r>
            <a:endParaRPr b="0" i="0" sz="1150" u="none" cap="none" strike="noStrike">
              <a:solidFill>
                <a:schemeClr val="dk1"/>
              </a:solidFill>
              <a:latin typeface="Calibri"/>
              <a:ea typeface="Calibri"/>
              <a:cs typeface="Calibri"/>
              <a:sym typeface="Calibri"/>
            </a:endParaRPr>
          </a:p>
        </p:txBody>
      </p:sp>
      <p:sp>
        <p:nvSpPr>
          <p:cNvPr id="179" name="Google Shape;179;p6"/>
          <p:cNvSpPr/>
          <p:nvPr/>
        </p:nvSpPr>
        <p:spPr>
          <a:xfrm>
            <a:off x="484632" y="292608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484632" y="29260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VII</a:t>
            </a:r>
            <a:endParaRPr b="0" i="0" sz="1100" u="none" cap="none" strike="noStrike">
              <a:solidFill>
                <a:schemeClr val="dk1"/>
              </a:solidFill>
              <a:latin typeface="Calibri"/>
              <a:ea typeface="Calibri"/>
              <a:cs typeface="Calibri"/>
              <a:sym typeface="Calibri"/>
            </a:endParaRPr>
          </a:p>
        </p:txBody>
      </p:sp>
      <p:sp>
        <p:nvSpPr>
          <p:cNvPr id="181" name="Google Shape;181;p6"/>
          <p:cNvSpPr/>
          <p:nvPr/>
        </p:nvSpPr>
        <p:spPr>
          <a:xfrm>
            <a:off x="1005840" y="292608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Ethylene (Post-Harvest Biology)</a:t>
            </a:r>
            <a:endParaRPr b="0" i="0" sz="1300" u="none" cap="none" strike="noStrike">
              <a:solidFill>
                <a:schemeClr val="dk1"/>
              </a:solidFill>
              <a:latin typeface="Calibri"/>
              <a:ea typeface="Calibri"/>
              <a:cs typeface="Calibri"/>
              <a:sym typeface="Calibri"/>
            </a:endParaRPr>
          </a:p>
        </p:txBody>
      </p:sp>
      <p:sp>
        <p:nvSpPr>
          <p:cNvPr id="182" name="Google Shape;182;p6"/>
          <p:cNvSpPr/>
          <p:nvPr/>
        </p:nvSpPr>
        <p:spPr>
          <a:xfrm>
            <a:off x="1005840" y="318211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gaseous plant hormone emitted by ripening fruit. Ethylene producers (bananas, apples, mangoes) accelerate the deterioration of ethylene-sensitive neighbours (strawberries, grapes, kiwis). Fresco models this as a conflict graph.</a:t>
            </a:r>
            <a:endParaRPr b="0" i="0" sz="1150" u="none" cap="none" strike="noStrike">
              <a:solidFill>
                <a:schemeClr val="dk1"/>
              </a:solidFill>
              <a:latin typeface="Calibri"/>
              <a:ea typeface="Calibri"/>
              <a:cs typeface="Calibri"/>
              <a:sym typeface="Calibri"/>
            </a:endParaRPr>
          </a:p>
        </p:txBody>
      </p:sp>
      <p:sp>
        <p:nvSpPr>
          <p:cNvPr id="183" name="Google Shape;183;p6"/>
          <p:cNvSpPr/>
          <p:nvPr/>
        </p:nvSpPr>
        <p:spPr>
          <a:xfrm>
            <a:off x="484632" y="388620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484632" y="388620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VIII</a:t>
            </a:r>
            <a:endParaRPr b="0" i="0" sz="1100" u="none" cap="none" strike="noStrike">
              <a:solidFill>
                <a:schemeClr val="dk1"/>
              </a:solidFill>
              <a:latin typeface="Calibri"/>
              <a:ea typeface="Calibri"/>
              <a:cs typeface="Calibri"/>
              <a:sym typeface="Calibri"/>
            </a:endParaRPr>
          </a:p>
        </p:txBody>
      </p:sp>
      <p:sp>
        <p:nvSpPr>
          <p:cNvPr id="185" name="Google Shape;185;p6"/>
          <p:cNvSpPr/>
          <p:nvPr/>
        </p:nvSpPr>
        <p:spPr>
          <a:xfrm>
            <a:off x="1005840" y="388620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Progressive Web App (PWA)</a:t>
            </a:r>
            <a:endParaRPr b="0" i="0" sz="1300" u="none" cap="none" strike="noStrike">
              <a:solidFill>
                <a:schemeClr val="dk1"/>
              </a:solidFill>
              <a:latin typeface="Calibri"/>
              <a:ea typeface="Calibri"/>
              <a:cs typeface="Calibri"/>
              <a:sym typeface="Calibri"/>
            </a:endParaRPr>
          </a:p>
        </p:txBody>
      </p:sp>
      <p:sp>
        <p:nvSpPr>
          <p:cNvPr id="186" name="Google Shape;186;p6"/>
          <p:cNvSpPr/>
          <p:nvPr/>
        </p:nvSpPr>
        <p:spPr>
          <a:xfrm>
            <a:off x="1005840" y="414223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web application delivered via a standard browser URL that can be installed onto a mobile device home screen, providing a standalone, app-like experience without requiring an app store. Accessible on any smartphone with a browser.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91" name="Shape 191"/>
        <p:cNvGrpSpPr/>
        <p:nvPr/>
      </p:nvGrpSpPr>
      <p:grpSpPr>
        <a:xfrm>
          <a:off x="0" y="0"/>
          <a:ext cx="0" cy="0"/>
          <a:chOff x="0" y="0"/>
          <a:chExt cx="0" cy="0"/>
        </a:xfrm>
      </p:grpSpPr>
      <p:sp>
        <p:nvSpPr>
          <p:cNvPr id="192" name="Google Shape;192;p7"/>
          <p:cNvSpPr/>
          <p:nvPr/>
        </p:nvSpPr>
        <p:spPr>
          <a:xfrm>
            <a:off x="8092440"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8293608"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7"/>
          <p:cNvSpPr/>
          <p:nvPr/>
        </p:nvSpPr>
        <p:spPr>
          <a:xfrm>
            <a:off x="8494776"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8695944"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8897112"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8092440"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8293608"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8494776"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8695944"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8897112"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a:off x="8092440"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8293608"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8494776"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8695944"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
          <p:cNvSpPr/>
          <p:nvPr/>
        </p:nvSpPr>
        <p:spPr>
          <a:xfrm>
            <a:off x="8897112"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8092440"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8293608"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8494776"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7"/>
          <p:cNvSpPr/>
          <p:nvPr/>
        </p:nvSpPr>
        <p:spPr>
          <a:xfrm>
            <a:off x="8695944"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8897112"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8092440"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8293608"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7"/>
          <p:cNvSpPr/>
          <p:nvPr/>
        </p:nvSpPr>
        <p:spPr>
          <a:xfrm>
            <a:off x="8494776"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8695944"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7"/>
          <p:cNvSpPr/>
          <p:nvPr/>
        </p:nvSpPr>
        <p:spPr>
          <a:xfrm>
            <a:off x="8897112"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411480" y="4773168"/>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Problem Statement</a:t>
            </a:r>
            <a:endParaRPr b="0" i="0" sz="2800" u="none" cap="none" strike="noStrike">
              <a:solidFill>
                <a:schemeClr val="dk1"/>
              </a:solidFill>
              <a:latin typeface="Calibri"/>
              <a:ea typeface="Calibri"/>
              <a:cs typeface="Calibri"/>
              <a:sym typeface="Calibri"/>
            </a:endParaRPr>
          </a:p>
        </p:txBody>
      </p:sp>
      <p:cxnSp>
        <p:nvCxnSpPr>
          <p:cNvPr id="219" name="Google Shape;219;p7"/>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220" name="Google Shape;220;p7"/>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221" name="Google Shape;221;p7"/>
          <p:cNvSpPr/>
          <p:nvPr/>
        </p:nvSpPr>
        <p:spPr>
          <a:xfrm>
            <a:off x="384048" y="987552"/>
            <a:ext cx="4187952" cy="3291840"/>
          </a:xfrm>
          <a:prstGeom prst="roundRect">
            <a:avLst>
              <a:gd fmla="val 3333" name="adj"/>
            </a:avLst>
          </a:prstGeom>
          <a:solidFill>
            <a:srgbClr val="EBF4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548640" y="1060704"/>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300"/>
              <a:buFont typeface="Calibri"/>
              <a:buNone/>
            </a:pPr>
            <a:r>
              <a:rPr b="1" i="0" lang="en-US" sz="1300" u="none" cap="none" strike="noStrike">
                <a:solidFill>
                  <a:srgbClr val="3A8C7E"/>
                </a:solidFill>
                <a:latin typeface="Calibri"/>
                <a:ea typeface="Calibri"/>
                <a:cs typeface="Calibri"/>
                <a:sym typeface="Calibri"/>
              </a:rPr>
              <a:t>The Scale of Food Waste</a:t>
            </a:r>
            <a:endParaRPr b="0" i="0" sz="1300" u="none" cap="none" strike="noStrike">
              <a:solidFill>
                <a:schemeClr val="dk1"/>
              </a:solidFill>
              <a:latin typeface="Calibri"/>
              <a:ea typeface="Calibri"/>
              <a:cs typeface="Calibri"/>
              <a:sym typeface="Calibri"/>
            </a:endParaRPr>
          </a:p>
        </p:txBody>
      </p:sp>
      <p:sp>
        <p:nvSpPr>
          <p:cNvPr id="223" name="Google Shape;223;p7"/>
          <p:cNvSpPr/>
          <p:nvPr/>
        </p:nvSpPr>
        <p:spPr>
          <a:xfrm>
            <a:off x="548640" y="1371600"/>
            <a:ext cx="3840480" cy="2834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The Food and Agriculture Organization estimates that 1.3 billion tonnes of food  one-third of global production  is lost or wasted each year (FAO, 2019). Fresh fruit, sold without any expiration label in Nigerian markets, accounts for a substantial portion of this waste at the consumer level.</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By the time visible mould appears on a strawberry, fungal contamination has already been present for 24–48 hours (Tournas, 2005). By the time a banana looks overripe, it may be at peak quality for baking. The signals consumers rely on are lagging indicators that arrive too late for optimal decision-making.</a:t>
            </a:r>
            <a:endParaRPr b="0" i="0" sz="1150" u="none" cap="none" strike="noStrike">
              <a:solidFill>
                <a:schemeClr val="dk1"/>
              </a:solidFill>
              <a:latin typeface="Calibri"/>
              <a:ea typeface="Calibri"/>
              <a:cs typeface="Calibri"/>
              <a:sym typeface="Calibri"/>
            </a:endParaRPr>
          </a:p>
        </p:txBody>
      </p:sp>
      <p:sp>
        <p:nvSpPr>
          <p:cNvPr id="224" name="Google Shape;224;p7"/>
          <p:cNvSpPr/>
          <p:nvPr/>
        </p:nvSpPr>
        <p:spPr>
          <a:xfrm>
            <a:off x="4754880" y="987552"/>
            <a:ext cx="4005072" cy="1554480"/>
          </a:xfrm>
          <a:prstGeom prst="roundRect">
            <a:avLst>
              <a:gd fmla="val 7059" name="adj"/>
            </a:avLst>
          </a:prstGeom>
          <a:solidFill>
            <a:srgbClr val="FFF0F0"/>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4892040" y="1060704"/>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PROBLEM 1: No Reliable Freshness Information</a:t>
            </a:r>
            <a:endParaRPr b="0" i="0" sz="1200" u="none" cap="none" strike="noStrike">
              <a:solidFill>
                <a:schemeClr val="dk1"/>
              </a:solidFill>
              <a:latin typeface="Calibri"/>
              <a:ea typeface="Calibri"/>
              <a:cs typeface="Calibri"/>
              <a:sym typeface="Calibri"/>
            </a:endParaRPr>
          </a:p>
        </p:txBody>
      </p:sp>
      <p:sp>
        <p:nvSpPr>
          <p:cNvPr id="226" name="Google Shape;226;p7"/>
          <p:cNvSpPr/>
          <p:nvPr/>
        </p:nvSpPr>
        <p:spPr>
          <a:xfrm>
            <a:off x="4892040" y="1353312"/>
            <a:ext cx="3749040"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Consumers rely on smell, colour, and texture — sensory signals that food science has shown to be subjective, inconsistent, and systematically late. No consumer-facing tool translates a camera image of fresh fruit into a personalised, evidence-based shelf-life estimate.</a:t>
            </a:r>
            <a:endParaRPr b="0" i="0" sz="1100" u="none" cap="none" strike="noStrike">
              <a:solidFill>
                <a:schemeClr val="dk1"/>
              </a:solidFill>
              <a:latin typeface="Calibri"/>
              <a:ea typeface="Calibri"/>
              <a:cs typeface="Calibri"/>
              <a:sym typeface="Calibri"/>
            </a:endParaRPr>
          </a:p>
        </p:txBody>
      </p:sp>
      <p:sp>
        <p:nvSpPr>
          <p:cNvPr id="227" name="Google Shape;227;p7"/>
          <p:cNvSpPr/>
          <p:nvPr/>
        </p:nvSpPr>
        <p:spPr>
          <a:xfrm>
            <a:off x="4754880" y="2651760"/>
            <a:ext cx="4005072" cy="1627632"/>
          </a:xfrm>
          <a:prstGeom prst="roundRect">
            <a:avLst>
              <a:gd fmla="val 6742" name="adj"/>
            </a:avLst>
          </a:prstGeom>
          <a:solidFill>
            <a:srgbClr val="FFF0F0"/>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4892040" y="2724912"/>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200"/>
              <a:buFont typeface="Calibri"/>
              <a:buNone/>
            </a:pPr>
            <a:r>
              <a:rPr b="1" i="0" lang="en-US" sz="1200" u="none" cap="none" strike="noStrike">
                <a:solidFill>
                  <a:srgbClr val="C0392B"/>
                </a:solidFill>
                <a:latin typeface="Calibri"/>
                <a:ea typeface="Calibri"/>
                <a:cs typeface="Calibri"/>
                <a:sym typeface="Calibri"/>
              </a:rPr>
              <a:t>PROBLEM 2: Invisible Storage Conflicts</a:t>
            </a:r>
            <a:endParaRPr b="0" i="0" sz="1200" u="none" cap="none" strike="noStrike">
              <a:solidFill>
                <a:schemeClr val="dk1"/>
              </a:solidFill>
              <a:latin typeface="Calibri"/>
              <a:ea typeface="Calibri"/>
              <a:cs typeface="Calibri"/>
              <a:sym typeface="Calibri"/>
            </a:endParaRPr>
          </a:p>
        </p:txBody>
      </p:sp>
      <p:sp>
        <p:nvSpPr>
          <p:cNvPr id="229" name="Google Shape;229;p7"/>
          <p:cNvSpPr/>
          <p:nvPr/>
        </p:nvSpPr>
        <p:spPr>
          <a:xfrm>
            <a:off x="4892040" y="2999232"/>
            <a:ext cx="3749040" cy="12070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Ethylene-mediated storage interactions — known to commercial cold storage for 50+ years — are completely invisible to household consumers. Storing bananas with strawberries can reduce strawberry shelf life by 2–3 days. No existing consumer application surfaces this information at the point of storage decision.</a:t>
            </a:r>
            <a:endParaRPr b="0" i="0" sz="1100" u="none" cap="none" strike="noStrike">
              <a:solidFill>
                <a:schemeClr val="dk1"/>
              </a:solidFill>
              <a:latin typeface="Calibri"/>
              <a:ea typeface="Calibri"/>
              <a:cs typeface="Calibri"/>
              <a:sym typeface="Calibri"/>
            </a:endParaRPr>
          </a:p>
        </p:txBody>
      </p:sp>
      <p:sp>
        <p:nvSpPr>
          <p:cNvPr id="230" name="Google Shape;230;p7"/>
          <p:cNvSpPr/>
          <p:nvPr/>
        </p:nvSpPr>
        <p:spPr>
          <a:xfrm>
            <a:off x="384048" y="4370832"/>
            <a:ext cx="8375904" cy="411480"/>
          </a:xfrm>
          <a:prstGeom prst="roundRect">
            <a:avLst>
              <a:gd fmla="val 26667"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502920" y="4407408"/>
            <a:ext cx="8138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No prior consumer-facing system combines camera-based freshness assessment + multi-factor shelf-life estimation + ethylene compatibility warnings in a single deployable mobile app.</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36" name="Shape 236"/>
        <p:cNvGrpSpPr/>
        <p:nvPr/>
      </p:nvGrpSpPr>
      <p:grpSpPr>
        <a:xfrm>
          <a:off x="0" y="0"/>
          <a:ext cx="0" cy="0"/>
          <a:chOff x="0" y="0"/>
          <a:chExt cx="0" cy="0"/>
        </a:xfrm>
      </p:grpSpPr>
      <p:sp>
        <p:nvSpPr>
          <p:cNvPr id="237" name="Google Shape;237;p8"/>
          <p:cNvSpPr/>
          <p:nvPr/>
        </p:nvSpPr>
        <p:spPr>
          <a:xfrm>
            <a:off x="7589520" y="1371600"/>
            <a:ext cx="2377440" cy="237744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7981798" y="1763878"/>
            <a:ext cx="1592885" cy="159288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8326526" y="2108606"/>
            <a:ext cx="903427" cy="903427"/>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rot="2700000">
            <a:off x="-91440" y="3931920"/>
            <a:ext cx="1097280" cy="109728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rot="2700000">
            <a:off x="91440" y="4114800"/>
            <a:ext cx="731520" cy="73152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rot="2700000">
            <a:off x="274320" y="4297680"/>
            <a:ext cx="365760" cy="36576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Aims and Objectives</a:t>
            </a:r>
            <a:endParaRPr b="0" i="0" sz="2800" u="none" cap="none" strike="noStrike">
              <a:solidFill>
                <a:schemeClr val="dk1"/>
              </a:solidFill>
              <a:latin typeface="Calibri"/>
              <a:ea typeface="Calibri"/>
              <a:cs typeface="Calibri"/>
              <a:sym typeface="Calibri"/>
            </a:endParaRPr>
          </a:p>
        </p:txBody>
      </p:sp>
      <p:cxnSp>
        <p:nvCxnSpPr>
          <p:cNvPr id="244" name="Google Shape;244;p8"/>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245" name="Google Shape;245;p8"/>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246" name="Google Shape;246;p8"/>
          <p:cNvSpPr/>
          <p:nvPr/>
        </p:nvSpPr>
        <p:spPr>
          <a:xfrm>
            <a:off x="384048" y="987552"/>
            <a:ext cx="8375904" cy="594360"/>
          </a:xfrm>
          <a:prstGeom prst="roundRect">
            <a:avLst>
              <a:gd fmla="val 18462"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548640" y="1024128"/>
            <a:ext cx="4572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mbria"/>
              <a:buNone/>
            </a:pPr>
            <a:r>
              <a:rPr b="1" i="0" lang="en-US" sz="1200" u="none" cap="none" strike="noStrike">
                <a:solidFill>
                  <a:srgbClr val="1A2B4A"/>
                </a:solidFill>
                <a:latin typeface="Cambria"/>
                <a:ea typeface="Cambria"/>
                <a:cs typeface="Cambria"/>
                <a:sym typeface="Cambria"/>
              </a:rPr>
              <a:t>AIM  </a:t>
            </a:r>
            <a:endParaRPr b="0" i="0" sz="1200" u="none" cap="none" strike="noStrike">
              <a:solidFill>
                <a:schemeClr val="dk1"/>
              </a:solidFill>
              <a:latin typeface="Calibri"/>
              <a:ea typeface="Calibri"/>
              <a:cs typeface="Calibri"/>
              <a:sym typeface="Calibri"/>
            </a:endParaRPr>
          </a:p>
        </p:txBody>
      </p:sp>
      <p:sp>
        <p:nvSpPr>
          <p:cNvPr id="248" name="Google Shape;248;p8"/>
          <p:cNvSpPr/>
          <p:nvPr/>
        </p:nvSpPr>
        <p:spPr>
          <a:xfrm>
            <a:off x="914400" y="1024128"/>
            <a:ext cx="769924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To develop an interpretable AI platform that identifies fresh fruit from a smartphone photograph, assesses its visual freshness continuously, estimates personalised shelf life under user-selected storage conditions, flags ethylene-based storage conflicts, and deploys the entire system as an installable Progressive Web Application accessible from any mobile browser.</a:t>
            </a:r>
            <a:endParaRPr b="0" i="0" sz="1100" u="none" cap="none" strike="noStrike">
              <a:solidFill>
                <a:schemeClr val="dk1"/>
              </a:solidFill>
              <a:latin typeface="Calibri"/>
              <a:ea typeface="Calibri"/>
              <a:cs typeface="Calibri"/>
              <a:sym typeface="Calibri"/>
            </a:endParaRPr>
          </a:p>
        </p:txBody>
      </p:sp>
      <p:sp>
        <p:nvSpPr>
          <p:cNvPr id="249" name="Google Shape;249;p8"/>
          <p:cNvSpPr/>
          <p:nvPr/>
        </p:nvSpPr>
        <p:spPr>
          <a:xfrm>
            <a:off x="475488" y="1682496"/>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475488" y="16824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51" name="Google Shape;251;p8"/>
          <p:cNvSpPr/>
          <p:nvPr/>
        </p:nvSpPr>
        <p:spPr>
          <a:xfrm>
            <a:off x="969264" y="1691640"/>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Fruit Classification via Transfer Learning</a:t>
            </a:r>
            <a:endParaRPr b="0" i="0" sz="1150" u="none" cap="none" strike="noStrike">
              <a:solidFill>
                <a:schemeClr val="dk1"/>
              </a:solidFill>
              <a:latin typeface="Calibri"/>
              <a:ea typeface="Calibri"/>
              <a:cs typeface="Calibri"/>
              <a:sym typeface="Calibri"/>
            </a:endParaRPr>
          </a:p>
        </p:txBody>
      </p:sp>
      <p:sp>
        <p:nvSpPr>
          <p:cNvPr id="252" name="Google Shape;252;p8"/>
          <p:cNvSpPr/>
          <p:nvPr/>
        </p:nvSpPr>
        <p:spPr>
          <a:xfrm>
            <a:off x="969264" y="1965960"/>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Fine-tune MobileNetV2 on the Fruits-360 dataset across 14 age-range classes covering Apple, Banana, Carrot, and Tomato  enabling simultaneous fruit identification and freshness estimation from a single forward pass.</a:t>
            </a:r>
            <a:endParaRPr b="0" i="0" sz="1050" u="none" cap="none" strike="noStrike">
              <a:solidFill>
                <a:schemeClr val="dk1"/>
              </a:solidFill>
              <a:latin typeface="Calibri"/>
              <a:ea typeface="Calibri"/>
              <a:cs typeface="Calibri"/>
              <a:sym typeface="Calibri"/>
            </a:endParaRPr>
          </a:p>
        </p:txBody>
      </p:sp>
      <p:sp>
        <p:nvSpPr>
          <p:cNvPr id="253" name="Google Shape;253;p8"/>
          <p:cNvSpPr/>
          <p:nvPr/>
        </p:nvSpPr>
        <p:spPr>
          <a:xfrm>
            <a:off x="475488" y="2752344"/>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475488" y="275234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55" name="Google Shape;255;p8"/>
          <p:cNvSpPr/>
          <p:nvPr/>
        </p:nvSpPr>
        <p:spPr>
          <a:xfrm>
            <a:off x="969264" y="276148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Continuous Freshness Scoring</a:t>
            </a:r>
            <a:endParaRPr b="0" i="0" sz="1150" u="none" cap="none" strike="noStrike">
              <a:solidFill>
                <a:schemeClr val="dk1"/>
              </a:solidFill>
              <a:latin typeface="Calibri"/>
              <a:ea typeface="Calibri"/>
              <a:cs typeface="Calibri"/>
              <a:sym typeface="Calibri"/>
            </a:endParaRPr>
          </a:p>
        </p:txBody>
      </p:sp>
      <p:sp>
        <p:nvSpPr>
          <p:cNvPr id="256" name="Google Shape;256;p8"/>
          <p:cNvSpPr/>
          <p:nvPr/>
        </p:nvSpPr>
        <p:spPr>
          <a:xfrm>
            <a:off x="969264" y="3035808"/>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Map each classifier prediction to a continuous score ∈ [0, 1] and five fuzzy-logic-inspired categories, preserving the gradient of fruit quality rather than imposing a binary fresh/spoiled decision.</a:t>
            </a:r>
            <a:endParaRPr b="0" i="0" sz="1050" u="none" cap="none" strike="noStrike">
              <a:solidFill>
                <a:schemeClr val="dk1"/>
              </a:solidFill>
              <a:latin typeface="Calibri"/>
              <a:ea typeface="Calibri"/>
              <a:cs typeface="Calibri"/>
              <a:sym typeface="Calibri"/>
            </a:endParaRPr>
          </a:p>
        </p:txBody>
      </p:sp>
      <p:sp>
        <p:nvSpPr>
          <p:cNvPr id="257" name="Google Shape;257;p8"/>
          <p:cNvSpPr/>
          <p:nvPr/>
        </p:nvSpPr>
        <p:spPr>
          <a:xfrm>
            <a:off x="475488" y="3822192"/>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475488" y="38221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59" name="Google Shape;259;p8"/>
          <p:cNvSpPr/>
          <p:nvPr/>
        </p:nvSpPr>
        <p:spPr>
          <a:xfrm>
            <a:off x="969264" y="383133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Multi-Factor Shelf-Life Estimation</a:t>
            </a:r>
            <a:endParaRPr b="0" i="0" sz="1150" u="none" cap="none" strike="noStrike">
              <a:solidFill>
                <a:schemeClr val="dk1"/>
              </a:solidFill>
              <a:latin typeface="Calibri"/>
              <a:ea typeface="Calibri"/>
              <a:cs typeface="Calibri"/>
              <a:sym typeface="Calibri"/>
            </a:endParaRPr>
          </a:p>
        </p:txBody>
      </p:sp>
      <p:sp>
        <p:nvSpPr>
          <p:cNvPr id="260" name="Google Shape;260;p8"/>
          <p:cNvSpPr/>
          <p:nvPr/>
        </p:nvSpPr>
        <p:spPr>
          <a:xfrm>
            <a:off x="969264" y="4105656"/>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Compute personalised days-remaining estimates using Base × (Freshness)^1.5 × Temperature Factor × Ripeness Factor across all three storage methods for a 42-fruit curated reference database.</a:t>
            </a:r>
            <a:endParaRPr b="0" i="0" sz="1050" u="none" cap="none" strike="noStrike">
              <a:solidFill>
                <a:schemeClr val="dk1"/>
              </a:solidFill>
              <a:latin typeface="Calibri"/>
              <a:ea typeface="Calibri"/>
              <a:cs typeface="Calibri"/>
              <a:sym typeface="Calibri"/>
            </a:endParaRPr>
          </a:p>
        </p:txBody>
      </p:sp>
      <p:sp>
        <p:nvSpPr>
          <p:cNvPr id="261" name="Google Shape;261;p8"/>
          <p:cNvSpPr/>
          <p:nvPr/>
        </p:nvSpPr>
        <p:spPr>
          <a:xfrm>
            <a:off x="4745736" y="1682496"/>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4745736" y="168249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63" name="Google Shape;263;p8"/>
          <p:cNvSpPr/>
          <p:nvPr/>
        </p:nvSpPr>
        <p:spPr>
          <a:xfrm>
            <a:off x="5239512" y="1691640"/>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Decision Engine &amp; Composite Verdict</a:t>
            </a:r>
            <a:endParaRPr b="0" i="0" sz="1150" u="none" cap="none" strike="noStrike">
              <a:solidFill>
                <a:schemeClr val="dk1"/>
              </a:solidFill>
              <a:latin typeface="Calibri"/>
              <a:ea typeface="Calibri"/>
              <a:cs typeface="Calibri"/>
              <a:sym typeface="Calibri"/>
            </a:endParaRPr>
          </a:p>
        </p:txBody>
      </p:sp>
      <p:sp>
        <p:nvSpPr>
          <p:cNvPr id="264" name="Google Shape;264;p8"/>
          <p:cNvSpPr/>
          <p:nvPr/>
        </p:nvSpPr>
        <p:spPr>
          <a:xfrm>
            <a:off x="5239512" y="1965960"/>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Fuse the freshness and normalised shelf-life signals (60/40 weighting) into a single Composite Score that maps to four actionable verdict states: FRESH, EAT SOON, EAT TODAY, SPOILED.</a:t>
            </a:r>
            <a:endParaRPr b="0" i="0" sz="1050" u="none" cap="none" strike="noStrike">
              <a:solidFill>
                <a:schemeClr val="dk1"/>
              </a:solidFill>
              <a:latin typeface="Calibri"/>
              <a:ea typeface="Calibri"/>
              <a:cs typeface="Calibri"/>
              <a:sym typeface="Calibri"/>
            </a:endParaRPr>
          </a:p>
        </p:txBody>
      </p:sp>
      <p:sp>
        <p:nvSpPr>
          <p:cNvPr id="265" name="Google Shape;265;p8"/>
          <p:cNvSpPr/>
          <p:nvPr/>
        </p:nvSpPr>
        <p:spPr>
          <a:xfrm>
            <a:off x="4745736" y="2752344"/>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4745736" y="275234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267" name="Google Shape;267;p8"/>
          <p:cNvSpPr/>
          <p:nvPr/>
        </p:nvSpPr>
        <p:spPr>
          <a:xfrm>
            <a:off x="5239512" y="2761488"/>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Ethylene Compatibility Engine</a:t>
            </a:r>
            <a:endParaRPr b="0" i="0" sz="1150" u="none" cap="none" strike="noStrike">
              <a:solidFill>
                <a:schemeClr val="dk1"/>
              </a:solidFill>
              <a:latin typeface="Calibri"/>
              <a:ea typeface="Calibri"/>
              <a:cs typeface="Calibri"/>
              <a:sym typeface="Calibri"/>
            </a:endParaRPr>
          </a:p>
        </p:txBody>
      </p:sp>
      <p:sp>
        <p:nvSpPr>
          <p:cNvPr id="268" name="Google Shape;268;p8"/>
          <p:cNvSpPr/>
          <p:nvPr/>
        </p:nvSpPr>
        <p:spPr>
          <a:xfrm>
            <a:off x="5239512" y="3035808"/>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Model ethylene producer/sensitive interactions as a conflict graph  pairwise checking 456 potential pairs at O(n²) — and surface storage-separation recommendations for any list of fruits.</a:t>
            </a:r>
            <a:endParaRPr b="0" i="0" sz="1050" u="none" cap="none" strike="noStrike">
              <a:solidFill>
                <a:schemeClr val="dk1"/>
              </a:solidFill>
              <a:latin typeface="Calibri"/>
              <a:ea typeface="Calibri"/>
              <a:cs typeface="Calibri"/>
              <a:sym typeface="Calibri"/>
            </a:endParaRPr>
          </a:p>
        </p:txBody>
      </p:sp>
      <p:sp>
        <p:nvSpPr>
          <p:cNvPr id="269" name="Google Shape;269;p8"/>
          <p:cNvSpPr/>
          <p:nvPr/>
        </p:nvSpPr>
        <p:spPr>
          <a:xfrm>
            <a:off x="4745736" y="3822192"/>
            <a:ext cx="384048" cy="384048"/>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4745736" y="38221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271" name="Google Shape;271;p8"/>
          <p:cNvSpPr/>
          <p:nvPr/>
        </p:nvSpPr>
        <p:spPr>
          <a:xfrm>
            <a:off x="5239512" y="3831336"/>
            <a:ext cx="3474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Live PWA Deployment</a:t>
            </a:r>
            <a:endParaRPr b="0" i="0" sz="1150" u="none" cap="none" strike="noStrike">
              <a:solidFill>
                <a:schemeClr val="dk1"/>
              </a:solidFill>
              <a:latin typeface="Calibri"/>
              <a:ea typeface="Calibri"/>
              <a:cs typeface="Calibri"/>
              <a:sym typeface="Calibri"/>
            </a:endParaRPr>
          </a:p>
        </p:txBody>
      </p:sp>
      <p:sp>
        <p:nvSpPr>
          <p:cNvPr id="272" name="Google Shape;272;p8"/>
          <p:cNvSpPr/>
          <p:nvPr/>
        </p:nvSpPr>
        <p:spPr>
          <a:xfrm>
            <a:off x="5239512" y="4105656"/>
            <a:ext cx="34747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Deliver the full system as a FastAPI backend + Next.js React PWA: real-time scan, per-fruit storage advice, inventory tracking with expiry alerts, and compatibility checking — installable from any browser.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277" name="Shape 277"/>
        <p:cNvGrpSpPr/>
        <p:nvPr/>
      </p:nvGrpSpPr>
      <p:grpSpPr>
        <a:xfrm>
          <a:off x="0" y="0"/>
          <a:ext cx="0" cy="0"/>
          <a:chOff x="0" y="0"/>
          <a:chExt cx="0" cy="0"/>
        </a:xfrm>
      </p:grpSpPr>
      <p:sp>
        <p:nvSpPr>
          <p:cNvPr id="278" name="Google Shape;278;p9"/>
          <p:cNvSpPr/>
          <p:nvPr/>
        </p:nvSpPr>
        <p:spPr>
          <a:xfrm rot="-900000">
            <a:off x="137160" y="137160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rot="-900000">
            <a:off x="338328" y="146304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rot="-900000">
            <a:off x="539496" y="155448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1" name="Google Shape;281;p9"/>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282" name="Google Shape;282;p9"/>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283" name="Google Shape;283;p9"/>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Related Works</a:t>
            </a:r>
            <a:endParaRPr b="0" i="0" sz="2800" u="none" cap="none" strike="noStrike">
              <a:solidFill>
                <a:schemeClr val="dk1"/>
              </a:solidFill>
              <a:latin typeface="Calibri"/>
              <a:ea typeface="Calibri"/>
              <a:cs typeface="Calibri"/>
              <a:sym typeface="Calibri"/>
            </a:endParaRPr>
          </a:p>
        </p:txBody>
      </p:sp>
      <p:sp>
        <p:nvSpPr>
          <p:cNvPr id="284" name="Google Shape;284;p9"/>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Mapping the prior landscape in AI-driven food freshness assessment</a:t>
            </a:r>
            <a:endParaRPr b="0" i="0" sz="1400" u="none" cap="none" strike="noStrike">
              <a:solidFill>
                <a:schemeClr val="dk1"/>
              </a:solidFill>
              <a:latin typeface="Calibri"/>
              <a:ea typeface="Calibri"/>
              <a:cs typeface="Calibri"/>
              <a:sym typeface="Calibri"/>
            </a:endParaRPr>
          </a:p>
        </p:txBody>
      </p:sp>
      <p:sp>
        <p:nvSpPr>
          <p:cNvPr id="285" name="Google Shape;285;p9"/>
          <p:cNvSpPr/>
          <p:nvPr/>
        </p:nvSpPr>
        <p:spPr>
          <a:xfrm>
            <a:off x="384050" y="1116325"/>
            <a:ext cx="8376000" cy="867900"/>
          </a:xfrm>
          <a:prstGeom prst="roundRect">
            <a:avLst>
              <a:gd fmla="val 14118"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530352" y="1103572"/>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Fu et al. (2022) — Computers &amp; Electronics in Agriculture, 193, 106679</a:t>
            </a:r>
            <a:endParaRPr b="0" i="0" sz="950" u="none" cap="none" strike="noStrike">
              <a:solidFill>
                <a:schemeClr val="dk1"/>
              </a:solidFill>
              <a:latin typeface="Calibri"/>
              <a:ea typeface="Calibri"/>
              <a:cs typeface="Calibri"/>
              <a:sym typeface="Calibri"/>
            </a:endParaRPr>
          </a:p>
        </p:txBody>
      </p:sp>
      <p:sp>
        <p:nvSpPr>
          <p:cNvPr id="287" name="Google Shape;287;p9"/>
          <p:cNvSpPr/>
          <p:nvPr/>
        </p:nvSpPr>
        <p:spPr>
          <a:xfrm>
            <a:off x="469852" y="1234389"/>
            <a:ext cx="5303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CNN-Based Freshness Grading for Citrus</a:t>
            </a:r>
            <a:endParaRPr b="0" i="0" sz="1200" u="none" cap="none" strike="noStrike">
              <a:solidFill>
                <a:schemeClr val="dk1"/>
              </a:solidFill>
              <a:latin typeface="Calibri"/>
              <a:ea typeface="Calibri"/>
              <a:cs typeface="Calibri"/>
              <a:sym typeface="Calibri"/>
            </a:endParaRPr>
          </a:p>
        </p:txBody>
      </p:sp>
      <p:sp>
        <p:nvSpPr>
          <p:cNvPr id="288" name="Google Shape;288;p9"/>
          <p:cNvSpPr/>
          <p:nvPr/>
        </p:nvSpPr>
        <p:spPr>
          <a:xfrm>
            <a:off x="530350" y="1463099"/>
            <a:ext cx="63093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Demonstrated that deep CNNs (ResNet-50) can classify citrus fruit freshness from photographs with meaningful accuracy. Established CNN viability for visual freshness assessment and identified lighting sensitivity as a key challenge a limitation we address explicitly in our preprocessing pipeline.</a:t>
            </a:r>
            <a:endParaRPr b="0" i="0" sz="1050" u="none" cap="none" strike="noStrike">
              <a:solidFill>
                <a:schemeClr val="dk1"/>
              </a:solidFill>
              <a:latin typeface="Calibri"/>
              <a:ea typeface="Calibri"/>
              <a:cs typeface="Calibri"/>
              <a:sym typeface="Calibri"/>
            </a:endParaRPr>
          </a:p>
        </p:txBody>
      </p:sp>
      <p:sp>
        <p:nvSpPr>
          <p:cNvPr id="289" name="Google Shape;289;p9"/>
          <p:cNvSpPr/>
          <p:nvPr/>
        </p:nvSpPr>
        <p:spPr>
          <a:xfrm>
            <a:off x="6949440" y="1426464"/>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6976872" y="1444752"/>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Single fruit type; no shelf-life estimation; no deployment; no ethylene awareness.</a:t>
            </a:r>
            <a:endParaRPr b="0" i="0" sz="950" u="none" cap="none" strike="noStrike">
              <a:solidFill>
                <a:schemeClr val="dk1"/>
              </a:solidFill>
              <a:latin typeface="Calibri"/>
              <a:ea typeface="Calibri"/>
              <a:cs typeface="Calibri"/>
              <a:sym typeface="Calibri"/>
            </a:endParaRPr>
          </a:p>
        </p:txBody>
      </p:sp>
      <p:sp>
        <p:nvSpPr>
          <p:cNvPr id="291" name="Google Shape;291;p9"/>
          <p:cNvSpPr/>
          <p:nvPr/>
        </p:nvSpPr>
        <p:spPr>
          <a:xfrm>
            <a:off x="383950" y="1984224"/>
            <a:ext cx="8376000" cy="941700"/>
          </a:xfrm>
          <a:prstGeom prst="roundRect">
            <a:avLst>
              <a:gd fmla="val 1411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457252" y="2052829"/>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Hu et al. (2024) — Expert Systems with Applications, 238, 121872</a:t>
            </a:r>
            <a:endParaRPr b="0" i="0" sz="950" u="none" cap="none" strike="noStrike">
              <a:solidFill>
                <a:schemeClr val="dk1"/>
              </a:solidFill>
              <a:latin typeface="Calibri"/>
              <a:ea typeface="Calibri"/>
              <a:cs typeface="Calibri"/>
              <a:sym typeface="Calibri"/>
            </a:endParaRPr>
          </a:p>
        </p:txBody>
      </p:sp>
      <p:sp>
        <p:nvSpPr>
          <p:cNvPr id="293" name="Google Shape;293;p9"/>
          <p:cNvSpPr/>
          <p:nvPr/>
        </p:nvSpPr>
        <p:spPr>
          <a:xfrm>
            <a:off x="530352" y="2270571"/>
            <a:ext cx="5303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Mobile-Optimised EfficientNet for Vegetable Grading</a:t>
            </a:r>
            <a:endParaRPr b="0" i="0" sz="1200" u="none" cap="none" strike="noStrike">
              <a:solidFill>
                <a:schemeClr val="dk1"/>
              </a:solidFill>
              <a:latin typeface="Calibri"/>
              <a:ea typeface="Calibri"/>
              <a:cs typeface="Calibri"/>
              <a:sym typeface="Calibri"/>
            </a:endParaRPr>
          </a:p>
        </p:txBody>
      </p:sp>
      <p:sp>
        <p:nvSpPr>
          <p:cNvPr id="294" name="Google Shape;294;p9"/>
          <p:cNvSpPr/>
          <p:nvPr/>
        </p:nvSpPr>
        <p:spPr>
          <a:xfrm>
            <a:off x="530350" y="2503151"/>
            <a:ext cx="6309300" cy="39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Applied EfficientNet to vegetable quality grading on edge devices, demonstrating that lightweight architectures achieve near-full-network accuracy on produce quality tasks. Validates our choice of MobileNetV2 over heavier architectures.</a:t>
            </a:r>
            <a:endParaRPr b="0" i="0" sz="1050" u="none" cap="none" strike="noStrike">
              <a:solidFill>
                <a:schemeClr val="dk1"/>
              </a:solidFill>
              <a:latin typeface="Calibri"/>
              <a:ea typeface="Calibri"/>
              <a:cs typeface="Calibri"/>
              <a:sym typeface="Calibri"/>
            </a:endParaRPr>
          </a:p>
        </p:txBody>
      </p:sp>
      <p:sp>
        <p:nvSpPr>
          <p:cNvPr id="295" name="Google Shape;295;p9"/>
          <p:cNvSpPr/>
          <p:nvPr/>
        </p:nvSpPr>
        <p:spPr>
          <a:xfrm>
            <a:off x="6949440" y="2368296"/>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
          <p:cNvSpPr/>
          <p:nvPr/>
        </p:nvSpPr>
        <p:spPr>
          <a:xfrm>
            <a:off x="6976872" y="2386584"/>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Vegetables only; no consumer deployment; no personalised shelf-life; no multi-fruit catalogue.</a:t>
            </a:r>
            <a:endParaRPr b="0" i="0" sz="950" u="none" cap="none" strike="noStrike">
              <a:solidFill>
                <a:schemeClr val="dk1"/>
              </a:solidFill>
              <a:latin typeface="Calibri"/>
              <a:ea typeface="Calibri"/>
              <a:cs typeface="Calibri"/>
              <a:sym typeface="Calibri"/>
            </a:endParaRPr>
          </a:p>
        </p:txBody>
      </p:sp>
      <p:sp>
        <p:nvSpPr>
          <p:cNvPr id="297" name="Google Shape;297;p9"/>
          <p:cNvSpPr/>
          <p:nvPr/>
        </p:nvSpPr>
        <p:spPr>
          <a:xfrm>
            <a:off x="384048" y="3090672"/>
            <a:ext cx="8375904" cy="777240"/>
          </a:xfrm>
          <a:prstGeom prst="roundRect">
            <a:avLst>
              <a:gd fmla="val 14118"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530352" y="3127248"/>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Wang et al. (2025) — Sensors &amp; Actuators B: Chemical, 398, 134723</a:t>
            </a:r>
            <a:endParaRPr b="0" i="0" sz="950" u="none" cap="none" strike="noStrike">
              <a:solidFill>
                <a:schemeClr val="dk1"/>
              </a:solidFill>
              <a:latin typeface="Calibri"/>
              <a:ea typeface="Calibri"/>
              <a:cs typeface="Calibri"/>
              <a:sym typeface="Calibri"/>
            </a:endParaRPr>
          </a:p>
        </p:txBody>
      </p:sp>
      <p:sp>
        <p:nvSpPr>
          <p:cNvPr id="299" name="Google Shape;299;p9"/>
          <p:cNvSpPr/>
          <p:nvPr/>
        </p:nvSpPr>
        <p:spPr>
          <a:xfrm>
            <a:off x="530352" y="3310128"/>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IoT Multi-Sensor Freshness Detection</a:t>
            </a:r>
            <a:endParaRPr b="0" i="0" sz="1200" u="none" cap="none" strike="noStrike">
              <a:solidFill>
                <a:schemeClr val="dk1"/>
              </a:solidFill>
              <a:latin typeface="Calibri"/>
              <a:ea typeface="Calibri"/>
              <a:cs typeface="Calibri"/>
              <a:sym typeface="Calibri"/>
            </a:endParaRPr>
          </a:p>
        </p:txBody>
      </p:sp>
      <p:sp>
        <p:nvSpPr>
          <p:cNvPr id="300" name="Google Shape;300;p9"/>
          <p:cNvSpPr/>
          <p:nvPr/>
        </p:nvSpPr>
        <p:spPr>
          <a:xfrm>
            <a:off x="530352" y="3529584"/>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Achieved 94.5% prediction accuracy through sensor fusion (gas sensors + temperature). Represents the state of the art in absolute accuracy. CRITICAL LIMITATION: Requires electronic nose hardware costing hundreds of dollars, completely inaccessible to Nigerian household consumers.</a:t>
            </a:r>
            <a:endParaRPr b="0" i="0" sz="1050" u="none" cap="none" strike="noStrike">
              <a:solidFill>
                <a:schemeClr val="dk1"/>
              </a:solidFill>
              <a:latin typeface="Calibri"/>
              <a:ea typeface="Calibri"/>
              <a:cs typeface="Calibri"/>
              <a:sym typeface="Calibri"/>
            </a:endParaRPr>
          </a:p>
        </p:txBody>
      </p:sp>
      <p:sp>
        <p:nvSpPr>
          <p:cNvPr id="301" name="Google Shape;301;p9"/>
          <p:cNvSpPr/>
          <p:nvPr/>
        </p:nvSpPr>
        <p:spPr>
          <a:xfrm>
            <a:off x="6949440" y="3310128"/>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6976872" y="3328416"/>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Hardware cost prohibitive. Cannot be adapted to smartphone-only deployment.</a:t>
            </a:r>
            <a:endParaRPr b="0" i="0" sz="950" u="none" cap="none" strike="noStrike">
              <a:solidFill>
                <a:schemeClr val="dk1"/>
              </a:solidFill>
              <a:latin typeface="Calibri"/>
              <a:ea typeface="Calibri"/>
              <a:cs typeface="Calibri"/>
              <a:sym typeface="Calibri"/>
            </a:endParaRPr>
          </a:p>
        </p:txBody>
      </p:sp>
      <p:sp>
        <p:nvSpPr>
          <p:cNvPr id="303" name="Google Shape;303;p9"/>
          <p:cNvSpPr/>
          <p:nvPr/>
        </p:nvSpPr>
        <p:spPr>
          <a:xfrm>
            <a:off x="384048" y="4032504"/>
            <a:ext cx="8375904" cy="777240"/>
          </a:xfrm>
          <a:prstGeom prst="roundRect">
            <a:avLst>
              <a:gd fmla="val 1411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530352" y="4069080"/>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Vasquez et al. (2024) — Journal of Food Engineering, 367, 111892</a:t>
            </a:r>
            <a:endParaRPr b="0" i="0" sz="950" u="none" cap="none" strike="noStrike">
              <a:solidFill>
                <a:schemeClr val="dk1"/>
              </a:solidFill>
              <a:latin typeface="Calibri"/>
              <a:ea typeface="Calibri"/>
              <a:cs typeface="Calibri"/>
              <a:sym typeface="Calibri"/>
            </a:endParaRPr>
          </a:p>
        </p:txBody>
      </p:sp>
      <p:sp>
        <p:nvSpPr>
          <p:cNvPr id="305" name="Google Shape;305;p9"/>
          <p:cNvSpPr/>
          <p:nvPr/>
        </p:nvSpPr>
        <p:spPr>
          <a:xfrm>
            <a:off x="530352" y="4251960"/>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Fuzzy Logic vs. Arrhenius for Shelf-Life Prediction</a:t>
            </a:r>
            <a:endParaRPr b="0" i="0" sz="1200" u="none" cap="none" strike="noStrike">
              <a:solidFill>
                <a:schemeClr val="dk1"/>
              </a:solidFill>
              <a:latin typeface="Calibri"/>
              <a:ea typeface="Calibri"/>
              <a:cs typeface="Calibri"/>
              <a:sym typeface="Calibri"/>
            </a:endParaRPr>
          </a:p>
        </p:txBody>
      </p:sp>
      <p:sp>
        <p:nvSpPr>
          <p:cNvPr id="306" name="Google Shape;306;p9"/>
          <p:cNvSpPr/>
          <p:nvPr/>
        </p:nvSpPr>
        <p:spPr>
          <a:xfrm>
            <a:off x="530352" y="4471416"/>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Showed that fuzzy logic models outperform classical Arrhenius kinetics for shelf-life prediction under variable storage conditions, validating our fuzzy-inspired continuous scoring design. Demonstrates that discrete threshold systems miss the gradient of quality deterioration.</a:t>
            </a:r>
            <a:endParaRPr b="0" i="0" sz="1050" u="none" cap="none" strike="noStrike">
              <a:solidFill>
                <a:schemeClr val="dk1"/>
              </a:solidFill>
              <a:latin typeface="Calibri"/>
              <a:ea typeface="Calibri"/>
              <a:cs typeface="Calibri"/>
              <a:sym typeface="Calibri"/>
            </a:endParaRPr>
          </a:p>
        </p:txBody>
      </p:sp>
      <p:sp>
        <p:nvSpPr>
          <p:cNvPr id="307" name="Google Shape;307;p9"/>
          <p:cNvSpPr/>
          <p:nvPr/>
        </p:nvSpPr>
        <p:spPr>
          <a:xfrm>
            <a:off x="6949440" y="4251960"/>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6976872" y="4270248"/>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Theoretical/controlled laboratory study; no camera input; no mobile deployment; no user interface.</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13" name="Shape 313"/>
        <p:cNvGrpSpPr/>
        <p:nvPr/>
      </p:nvGrpSpPr>
      <p:grpSpPr>
        <a:xfrm>
          <a:off x="0" y="0"/>
          <a:ext cx="0" cy="0"/>
          <a:chOff x="0" y="0"/>
          <a:chExt cx="0" cy="0"/>
        </a:xfrm>
      </p:grpSpPr>
      <p:sp>
        <p:nvSpPr>
          <p:cNvPr id="314" name="Google Shape;314;p10"/>
          <p:cNvSpPr/>
          <p:nvPr/>
        </p:nvSpPr>
        <p:spPr>
          <a:xfrm>
            <a:off x="7680960" y="1645920"/>
            <a:ext cx="2194560" cy="219456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0"/>
          <p:cNvSpPr/>
          <p:nvPr/>
        </p:nvSpPr>
        <p:spPr>
          <a:xfrm>
            <a:off x="8043062" y="2008022"/>
            <a:ext cx="1470355" cy="147035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a:off x="8361274" y="2326234"/>
            <a:ext cx="833933" cy="833933"/>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7" name="Google Shape;317;p10"/>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18" name="Google Shape;318;p10"/>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19" name="Google Shape;319;p10"/>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0" name="Google Shape;320;p10"/>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1" name="Google Shape;321;p10"/>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2" name="Google Shape;322;p10"/>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323" name="Google Shape;323;p10"/>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324" name="Google Shape;324;p10"/>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Related Works (cont.)</a:t>
            </a:r>
            <a:endParaRPr b="0" i="0" sz="2800" u="none" cap="none" strike="noStrike">
              <a:solidFill>
                <a:schemeClr val="dk1"/>
              </a:solidFill>
              <a:latin typeface="Calibri"/>
              <a:ea typeface="Calibri"/>
              <a:cs typeface="Calibri"/>
              <a:sym typeface="Calibri"/>
            </a:endParaRPr>
          </a:p>
        </p:txBody>
      </p:sp>
      <p:cxnSp>
        <p:nvCxnSpPr>
          <p:cNvPr id="325" name="Google Shape;325;p10"/>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326" name="Google Shape;326;p10"/>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327" name="Google Shape;327;p10"/>
          <p:cNvSpPr/>
          <p:nvPr/>
        </p:nvSpPr>
        <p:spPr>
          <a:xfrm>
            <a:off x="384000" y="1168838"/>
            <a:ext cx="8376000" cy="981600"/>
          </a:xfrm>
          <a:prstGeom prst="roundRect">
            <a:avLst>
              <a:gd fmla="val 14118"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0"/>
          <p:cNvSpPr/>
          <p:nvPr/>
        </p:nvSpPr>
        <p:spPr>
          <a:xfrm>
            <a:off x="530352" y="1197872"/>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Patel et al. (2024) </a:t>
            </a:r>
            <a:r>
              <a:rPr b="0" i="1" lang="en-US" sz="950" u="none" cap="none" strike="noStrike">
                <a:solidFill>
                  <a:srgbClr val="607D8B"/>
                </a:solidFill>
                <a:latin typeface="Calibri"/>
                <a:ea typeface="Calibri"/>
                <a:cs typeface="Calibri"/>
                <a:sym typeface="Calibri"/>
              </a:rPr>
              <a:t>—</a:t>
            </a:r>
            <a:r>
              <a:rPr b="0" i="1" lang="en-US" sz="950" u="none" cap="none" strike="noStrike">
                <a:solidFill>
                  <a:srgbClr val="607D8B"/>
                </a:solidFill>
                <a:latin typeface="Calibri"/>
                <a:ea typeface="Calibri"/>
                <a:cs typeface="Calibri"/>
                <a:sym typeface="Calibri"/>
              </a:rPr>
              <a:t> Journal of Food Science, 89(3), 1234–1248</a:t>
            </a:r>
            <a:endParaRPr b="0" i="0" sz="950" u="none" cap="none" strike="noStrike">
              <a:solidFill>
                <a:schemeClr val="dk1"/>
              </a:solidFill>
              <a:latin typeface="Calibri"/>
              <a:ea typeface="Calibri"/>
              <a:cs typeface="Calibri"/>
              <a:sym typeface="Calibri"/>
            </a:endParaRPr>
          </a:p>
        </p:txBody>
      </p:sp>
      <p:sp>
        <p:nvSpPr>
          <p:cNvPr id="329" name="Google Shape;329;p10"/>
          <p:cNvSpPr/>
          <p:nvPr/>
        </p:nvSpPr>
        <p:spPr>
          <a:xfrm>
            <a:off x="530352" y="1356402"/>
            <a:ext cx="5303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Hyperspectral Imaging for Non-Destructive Quality Assessment</a:t>
            </a:r>
            <a:endParaRPr b="0" i="0" sz="1200" u="none" cap="none" strike="noStrike">
              <a:solidFill>
                <a:schemeClr val="dk1"/>
              </a:solidFill>
              <a:latin typeface="Calibri"/>
              <a:ea typeface="Calibri"/>
              <a:cs typeface="Calibri"/>
              <a:sym typeface="Calibri"/>
            </a:endParaRPr>
          </a:p>
        </p:txBody>
      </p:sp>
      <p:sp>
        <p:nvSpPr>
          <p:cNvPr id="330" name="Google Shape;330;p10"/>
          <p:cNvSpPr/>
          <p:nvPr/>
        </p:nvSpPr>
        <p:spPr>
          <a:xfrm>
            <a:off x="530350" y="1576000"/>
            <a:ext cx="63093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Hyperspectral cameras detect internal bruising and sugar content invisible to standard RGB cameras. Achieves ex</a:t>
            </a:r>
            <a:r>
              <a:rPr b="0" i="0" lang="en-US" sz="1050" u="none" cap="none" strike="noStrike">
                <a:solidFill>
                  <a:srgbClr val="4A5568"/>
                </a:solidFill>
                <a:latin typeface="Calibri"/>
                <a:ea typeface="Calibri"/>
                <a:cs typeface="Calibri"/>
                <a:sym typeface="Calibri"/>
              </a:rPr>
              <a:t>c</a:t>
            </a:r>
            <a:r>
              <a:rPr b="0" i="0" lang="en-US" sz="1050" u="none" cap="none" strike="noStrike">
                <a:solidFill>
                  <a:srgbClr val="4A5568"/>
                </a:solidFill>
                <a:latin typeface="Calibri"/>
                <a:ea typeface="Calibri"/>
                <a:cs typeface="Calibri"/>
                <a:sym typeface="Calibri"/>
              </a:rPr>
              <a:t>eptional freshness estimation accuracy. However, hyperspectral sensors cost tens of thousands of dollars and require controlled laboratory lighting — impossible in a consumer context.</a:t>
            </a:r>
            <a:endParaRPr b="0" i="0" sz="1050" u="none" cap="none" strike="noStrike">
              <a:solidFill>
                <a:schemeClr val="dk1"/>
              </a:solidFill>
              <a:latin typeface="Calibri"/>
              <a:ea typeface="Calibri"/>
              <a:cs typeface="Calibri"/>
              <a:sym typeface="Calibri"/>
            </a:endParaRPr>
          </a:p>
        </p:txBody>
      </p:sp>
      <p:sp>
        <p:nvSpPr>
          <p:cNvPr id="331" name="Google Shape;331;p10"/>
          <p:cNvSpPr/>
          <p:nvPr/>
        </p:nvSpPr>
        <p:spPr>
          <a:xfrm>
            <a:off x="6949440" y="1426464"/>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0"/>
          <p:cNvSpPr/>
          <p:nvPr/>
        </p:nvSpPr>
        <p:spPr>
          <a:xfrm>
            <a:off x="6976872" y="1444752"/>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Hardware access: impossible for consumers. Cannot scale to household use.</a:t>
            </a:r>
            <a:endParaRPr b="0" i="0" sz="950" u="none" cap="none" strike="noStrike">
              <a:solidFill>
                <a:schemeClr val="dk1"/>
              </a:solidFill>
              <a:latin typeface="Calibri"/>
              <a:ea typeface="Calibri"/>
              <a:cs typeface="Calibri"/>
              <a:sym typeface="Calibri"/>
            </a:endParaRPr>
          </a:p>
        </p:txBody>
      </p:sp>
      <p:sp>
        <p:nvSpPr>
          <p:cNvPr id="333" name="Google Shape;333;p10"/>
          <p:cNvSpPr/>
          <p:nvPr/>
        </p:nvSpPr>
        <p:spPr>
          <a:xfrm>
            <a:off x="383950" y="2148850"/>
            <a:ext cx="8376000" cy="868800"/>
          </a:xfrm>
          <a:prstGeom prst="roundRect">
            <a:avLst>
              <a:gd fmla="val 1411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p:nvPr/>
        </p:nvSpPr>
        <p:spPr>
          <a:xfrm>
            <a:off x="530352" y="2162554"/>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Watkins (2006) — Biotechnology Advances, 24(4), 389–409</a:t>
            </a:r>
            <a:endParaRPr b="0" i="0" sz="950" u="none" cap="none" strike="noStrike">
              <a:solidFill>
                <a:schemeClr val="dk1"/>
              </a:solidFill>
              <a:latin typeface="Calibri"/>
              <a:ea typeface="Calibri"/>
              <a:cs typeface="Calibri"/>
              <a:sym typeface="Calibri"/>
            </a:endParaRPr>
          </a:p>
        </p:txBody>
      </p:sp>
      <p:sp>
        <p:nvSpPr>
          <p:cNvPr id="335" name="Google Shape;335;p10"/>
          <p:cNvSpPr/>
          <p:nvPr/>
        </p:nvSpPr>
        <p:spPr>
          <a:xfrm>
            <a:off x="530290" y="2333334"/>
            <a:ext cx="5303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Ethylene in Post-Harvest Biology (Foundational Reference)</a:t>
            </a:r>
            <a:endParaRPr b="0" i="0" sz="1200" u="none" cap="none" strike="noStrike">
              <a:solidFill>
                <a:schemeClr val="dk1"/>
              </a:solidFill>
              <a:latin typeface="Calibri"/>
              <a:ea typeface="Calibri"/>
              <a:cs typeface="Calibri"/>
              <a:sym typeface="Calibri"/>
            </a:endParaRPr>
          </a:p>
        </p:txBody>
      </p:sp>
      <p:sp>
        <p:nvSpPr>
          <p:cNvPr id="336" name="Google Shape;336;p10"/>
          <p:cNvSpPr/>
          <p:nvPr/>
        </p:nvSpPr>
        <p:spPr>
          <a:xfrm>
            <a:off x="530352" y="2587752"/>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Definitive reference on ethylene's role in fruit ripening. Documents which species emit ethylene and which are sensitive to it. Provides the scientific basis for the 19 producers and 24 sensitive species encoded in Fresco's conflict graph. No prior consumer application had implemented this knowledge.</a:t>
            </a:r>
            <a:endParaRPr b="0" i="0" sz="1050" u="none" cap="none" strike="noStrike">
              <a:solidFill>
                <a:schemeClr val="dk1"/>
              </a:solidFill>
              <a:latin typeface="Calibri"/>
              <a:ea typeface="Calibri"/>
              <a:cs typeface="Calibri"/>
              <a:sym typeface="Calibri"/>
            </a:endParaRPr>
          </a:p>
        </p:txBody>
      </p:sp>
      <p:sp>
        <p:nvSpPr>
          <p:cNvPr id="337" name="Google Shape;337;p10"/>
          <p:cNvSpPr/>
          <p:nvPr/>
        </p:nvSpPr>
        <p:spPr>
          <a:xfrm>
            <a:off x="6949440" y="2368296"/>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0"/>
          <p:cNvSpPr/>
          <p:nvPr/>
        </p:nvSpPr>
        <p:spPr>
          <a:xfrm>
            <a:off x="6976872" y="2386584"/>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Academic reference  not a system. No consumer tool existed for this knowledge.</a:t>
            </a:r>
            <a:endParaRPr b="0" i="0" sz="950" u="none" cap="none" strike="noStrike">
              <a:solidFill>
                <a:schemeClr val="dk1"/>
              </a:solidFill>
              <a:latin typeface="Calibri"/>
              <a:ea typeface="Calibri"/>
              <a:cs typeface="Calibri"/>
              <a:sym typeface="Calibri"/>
            </a:endParaRPr>
          </a:p>
        </p:txBody>
      </p:sp>
      <p:sp>
        <p:nvSpPr>
          <p:cNvPr id="339" name="Google Shape;339;p10"/>
          <p:cNvSpPr/>
          <p:nvPr/>
        </p:nvSpPr>
        <p:spPr>
          <a:xfrm>
            <a:off x="384048" y="3090672"/>
            <a:ext cx="8375904" cy="777240"/>
          </a:xfrm>
          <a:prstGeom prst="roundRect">
            <a:avLst>
              <a:gd fmla="val 14118"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0"/>
          <p:cNvSpPr/>
          <p:nvPr/>
        </p:nvSpPr>
        <p:spPr>
          <a:xfrm>
            <a:off x="530352" y="3127248"/>
            <a:ext cx="8229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Kader (2002) — Postharvest Technology of Horticultural Crops, 3rd ed.</a:t>
            </a:r>
            <a:endParaRPr b="0" i="0" sz="950" u="none" cap="none" strike="noStrike">
              <a:solidFill>
                <a:schemeClr val="dk1"/>
              </a:solidFill>
              <a:latin typeface="Calibri"/>
              <a:ea typeface="Calibri"/>
              <a:cs typeface="Calibri"/>
              <a:sym typeface="Calibri"/>
            </a:endParaRPr>
          </a:p>
        </p:txBody>
      </p:sp>
      <p:sp>
        <p:nvSpPr>
          <p:cNvPr id="341" name="Google Shape;341;p10"/>
          <p:cNvSpPr/>
          <p:nvPr/>
        </p:nvSpPr>
        <p:spPr>
          <a:xfrm>
            <a:off x="530352" y="3310128"/>
            <a:ext cx="53035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USDA Postharvest Handling Guidelines</a:t>
            </a:r>
            <a:endParaRPr b="0" i="0" sz="1200" u="none" cap="none" strike="noStrike">
              <a:solidFill>
                <a:schemeClr val="dk1"/>
              </a:solidFill>
              <a:latin typeface="Calibri"/>
              <a:ea typeface="Calibri"/>
              <a:cs typeface="Calibri"/>
              <a:sym typeface="Calibri"/>
            </a:endParaRPr>
          </a:p>
        </p:txBody>
      </p:sp>
      <p:sp>
        <p:nvSpPr>
          <p:cNvPr id="342" name="Google Shape;342;p10"/>
          <p:cNvSpPr/>
          <p:nvPr/>
        </p:nvSpPr>
        <p:spPr>
          <a:xfrm>
            <a:off x="530352" y="3529584"/>
            <a:ext cx="63093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authoritative reference for baseline shelf-life values, optimal temperature ranges, and ethylene classification for horticultural produce. Used directly as the source for the 42-fruit reference database seed data in Fresco's database.</a:t>
            </a:r>
            <a:endParaRPr b="0" i="0" sz="1050" u="none" cap="none" strike="noStrike">
              <a:solidFill>
                <a:schemeClr val="dk1"/>
              </a:solidFill>
              <a:latin typeface="Calibri"/>
              <a:ea typeface="Calibri"/>
              <a:cs typeface="Calibri"/>
              <a:sym typeface="Calibri"/>
            </a:endParaRPr>
          </a:p>
        </p:txBody>
      </p:sp>
      <p:sp>
        <p:nvSpPr>
          <p:cNvPr id="343" name="Google Shape;343;p10"/>
          <p:cNvSpPr/>
          <p:nvPr/>
        </p:nvSpPr>
        <p:spPr>
          <a:xfrm>
            <a:off x="6949440" y="3310128"/>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0"/>
          <p:cNvSpPr/>
          <p:nvPr/>
        </p:nvSpPr>
        <p:spPr>
          <a:xfrm>
            <a:off x="6976872" y="3328416"/>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Reference data  not a consumer system. No digital interface.</a:t>
            </a:r>
            <a:endParaRPr b="0" i="0" sz="950" u="none" cap="none" strike="noStrike">
              <a:solidFill>
                <a:schemeClr val="dk1"/>
              </a:solidFill>
              <a:latin typeface="Calibri"/>
              <a:ea typeface="Calibri"/>
              <a:cs typeface="Calibri"/>
              <a:sym typeface="Calibri"/>
            </a:endParaRPr>
          </a:p>
        </p:txBody>
      </p:sp>
      <p:sp>
        <p:nvSpPr>
          <p:cNvPr id="345" name="Google Shape;345;p10"/>
          <p:cNvSpPr/>
          <p:nvPr/>
        </p:nvSpPr>
        <p:spPr>
          <a:xfrm>
            <a:off x="384050" y="3941051"/>
            <a:ext cx="8376000" cy="868800"/>
          </a:xfrm>
          <a:prstGeom prst="roundRect">
            <a:avLst>
              <a:gd fmla="val 1411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0"/>
          <p:cNvSpPr/>
          <p:nvPr/>
        </p:nvSpPr>
        <p:spPr>
          <a:xfrm>
            <a:off x="530352" y="3968493"/>
            <a:ext cx="8229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50"/>
              <a:buFont typeface="Calibri"/>
              <a:buNone/>
            </a:pPr>
            <a:r>
              <a:rPr b="0" i="1" lang="en-US" sz="950" u="none" cap="none" strike="noStrike">
                <a:solidFill>
                  <a:srgbClr val="607D8B"/>
                </a:solidFill>
                <a:latin typeface="Calibri"/>
                <a:ea typeface="Calibri"/>
                <a:cs typeface="Calibri"/>
                <a:sym typeface="Calibri"/>
              </a:rPr>
              <a:t>Mureșan &amp; Oltean (2018) — Acta Univ. Sapientiae Informatica, 10(1), 26–42</a:t>
            </a:r>
            <a:endParaRPr b="0" i="0" sz="950" u="none" cap="none" strike="noStrike">
              <a:solidFill>
                <a:schemeClr val="dk1"/>
              </a:solidFill>
              <a:latin typeface="Calibri"/>
              <a:ea typeface="Calibri"/>
              <a:cs typeface="Calibri"/>
              <a:sym typeface="Calibri"/>
            </a:endParaRPr>
          </a:p>
        </p:txBody>
      </p:sp>
      <p:sp>
        <p:nvSpPr>
          <p:cNvPr id="347" name="Google Shape;347;p10"/>
          <p:cNvSpPr/>
          <p:nvPr/>
        </p:nvSpPr>
        <p:spPr>
          <a:xfrm>
            <a:off x="579027" y="4130935"/>
            <a:ext cx="53034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Fruits-360 Dataset (Training Data Source)</a:t>
            </a:r>
            <a:endParaRPr b="0" i="0" sz="1200" u="none" cap="none" strike="noStrike">
              <a:solidFill>
                <a:schemeClr val="dk1"/>
              </a:solidFill>
              <a:latin typeface="Calibri"/>
              <a:ea typeface="Calibri"/>
              <a:cs typeface="Calibri"/>
              <a:sym typeface="Calibri"/>
            </a:endParaRPr>
          </a:p>
        </p:txBody>
      </p:sp>
      <p:sp>
        <p:nvSpPr>
          <p:cNvPr id="348" name="Google Shape;348;p10"/>
          <p:cNvSpPr/>
          <p:nvPr/>
        </p:nvSpPr>
        <p:spPr>
          <a:xfrm>
            <a:off x="530350" y="4288519"/>
            <a:ext cx="63093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public dataset used as the primary training data source. Contains clean, consistently-lit images of fruits across multiple age stages. The age-range class labels in Fruits-360 were the foundation for Fresco's 14 classification classes and freshness-score mapping.</a:t>
            </a:r>
            <a:endParaRPr b="0" i="0" sz="1050" u="none" cap="none" strike="noStrike">
              <a:solidFill>
                <a:schemeClr val="dk1"/>
              </a:solidFill>
              <a:latin typeface="Calibri"/>
              <a:ea typeface="Calibri"/>
              <a:cs typeface="Calibri"/>
              <a:sym typeface="Calibri"/>
            </a:endParaRPr>
          </a:p>
        </p:txBody>
      </p:sp>
      <p:sp>
        <p:nvSpPr>
          <p:cNvPr id="349" name="Google Shape;349;p10"/>
          <p:cNvSpPr/>
          <p:nvPr/>
        </p:nvSpPr>
        <p:spPr>
          <a:xfrm>
            <a:off x="6949440" y="4251960"/>
            <a:ext cx="1755648" cy="530352"/>
          </a:xfrm>
          <a:prstGeom prst="roundRect">
            <a:avLst>
              <a:gd fmla="val 20690" name="adj"/>
            </a:avLst>
          </a:prstGeom>
          <a:solidFill>
            <a:srgbClr val="FFF3F3"/>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0"/>
          <p:cNvSpPr/>
          <p:nvPr/>
        </p:nvSpPr>
        <p:spPr>
          <a:xfrm>
            <a:off x="6976872" y="4270248"/>
            <a:ext cx="1700784" cy="493776"/>
          </a:xfrm>
          <a:prstGeom prst="rect">
            <a:avLst/>
          </a:prstGeom>
          <a:noFill/>
          <a:ln>
            <a:noFill/>
          </a:ln>
        </p:spPr>
        <p:txBody>
          <a:bodyPr anchorCtr="0" anchor="t" bIns="38100" lIns="38100" spcFirstLastPara="1" rIns="38100" wrap="square" tIns="38100">
            <a:noAutofit/>
          </a:bodyPr>
          <a:lstStyle/>
          <a:p>
            <a:pPr indent="0" lvl="0" marL="0" marR="0" rtl="0" algn="l">
              <a:spcBef>
                <a:spcPts val="0"/>
              </a:spcBef>
              <a:spcAft>
                <a:spcPts val="0"/>
              </a:spcAft>
              <a:buClr>
                <a:srgbClr val="C0392B"/>
              </a:buClr>
              <a:buSzPts val="950"/>
              <a:buFont typeface="Calibri"/>
              <a:buNone/>
            </a:pPr>
            <a:r>
              <a:rPr b="0" i="0" lang="en-US" sz="950" u="none" cap="none" strike="noStrike">
                <a:solidFill>
                  <a:srgbClr val="C0392B"/>
                </a:solidFill>
                <a:latin typeface="Calibri"/>
                <a:ea typeface="Calibri"/>
                <a:cs typeface="Calibri"/>
                <a:sym typeface="Calibri"/>
              </a:rPr>
              <a:t>⚠ Dataset only  no model, no deployment, no shelf-life estimation.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55" name="Shape 355"/>
        <p:cNvGrpSpPr/>
        <p:nvPr/>
      </p:nvGrpSpPr>
      <p:grpSpPr>
        <a:xfrm>
          <a:off x="0" y="0"/>
          <a:ext cx="0" cy="0"/>
          <a:chOff x="0" y="0"/>
          <a:chExt cx="0" cy="0"/>
        </a:xfrm>
      </p:grpSpPr>
      <p:sp>
        <p:nvSpPr>
          <p:cNvPr id="356" name="Google Shape;356;p11"/>
          <p:cNvSpPr/>
          <p:nvPr/>
        </p:nvSpPr>
        <p:spPr>
          <a:xfrm>
            <a:off x="8092440"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8293608"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8494776"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8695944"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8897112"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p:nvPr/>
        </p:nvSpPr>
        <p:spPr>
          <a:xfrm>
            <a:off x="8092440"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8293608"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8494776"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8695944"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a:off x="8897112"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8092440"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8293608"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8494776"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1"/>
          <p:cNvSpPr/>
          <p:nvPr/>
        </p:nvSpPr>
        <p:spPr>
          <a:xfrm>
            <a:off x="8695944"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8897112"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p:nvPr/>
        </p:nvSpPr>
        <p:spPr>
          <a:xfrm>
            <a:off x="8092440"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8293608"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1"/>
          <p:cNvSpPr/>
          <p:nvPr/>
        </p:nvSpPr>
        <p:spPr>
          <a:xfrm>
            <a:off x="8494776"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8695944"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8897112"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a:off x="8092440"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8293608"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8494776"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1"/>
          <p:cNvSpPr/>
          <p:nvPr/>
        </p:nvSpPr>
        <p:spPr>
          <a:xfrm>
            <a:off x="8695944"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1"/>
          <p:cNvSpPr/>
          <p:nvPr/>
        </p:nvSpPr>
        <p:spPr>
          <a:xfrm>
            <a:off x="8897112"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1" name="Google Shape;381;p11"/>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382" name="Google Shape;382;p11"/>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383" name="Google Shape;383;p11"/>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Prior Work Is Partial</a:t>
            </a:r>
            <a:endParaRPr b="0" i="0" sz="2800" u="none" cap="none" strike="noStrike">
              <a:solidFill>
                <a:schemeClr val="dk1"/>
              </a:solidFill>
              <a:latin typeface="Calibri"/>
              <a:ea typeface="Calibri"/>
              <a:cs typeface="Calibri"/>
              <a:sym typeface="Calibri"/>
            </a:endParaRPr>
          </a:p>
        </p:txBody>
      </p:sp>
      <p:sp>
        <p:nvSpPr>
          <p:cNvPr id="384" name="Google Shape;384;p11"/>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No existing system combines all five capabilities Fresco delivers</a:t>
            </a:r>
            <a:endParaRPr b="0" i="0" sz="1400" u="none" cap="none" strike="noStrike">
              <a:solidFill>
                <a:schemeClr val="dk1"/>
              </a:solidFill>
              <a:latin typeface="Calibri"/>
              <a:ea typeface="Calibri"/>
              <a:cs typeface="Calibri"/>
              <a:sym typeface="Calibri"/>
            </a:endParaRPr>
          </a:p>
        </p:txBody>
      </p:sp>
      <p:graphicFrame>
        <p:nvGraphicFramePr>
          <p:cNvPr id="385" name="Google Shape;385;p11"/>
          <p:cNvGraphicFramePr/>
          <p:nvPr/>
        </p:nvGraphicFramePr>
        <p:xfrm>
          <a:off x="384048" y="1135008"/>
          <a:ext cx="3000000" cy="3000000"/>
        </p:xfrm>
        <a:graphic>
          <a:graphicData uri="http://schemas.openxmlformats.org/drawingml/2006/table">
            <a:tbl>
              <a:tblPr>
                <a:noFill/>
                <a:tableStyleId>{7A406C37-5A5E-4BF0-9AAD-7423E5C8C803}</a:tableStyleId>
              </a:tblPr>
              <a:tblGrid>
                <a:gridCol w="1691650"/>
                <a:gridCol w="2011675"/>
                <a:gridCol w="777250"/>
                <a:gridCol w="822950"/>
                <a:gridCol w="822950"/>
                <a:gridCol w="822950"/>
              </a:tblGrid>
              <a:tr h="463725">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Study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Approach</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Camera</a:t>
                      </a:r>
                      <a:endParaRPr sz="1000" u="none" cap="none" strike="noStrike"/>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Input</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Shelf-Life</a:t>
                      </a:r>
                      <a:endParaRPr sz="1000" u="none" cap="none" strike="noStrike"/>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Estimation</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Ethylene</a:t>
                      </a:r>
                      <a:endParaRPr sz="1000" u="none" cap="none" strike="noStrike"/>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Warnings</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PWA</a:t>
                      </a:r>
                      <a:endParaRPr sz="1000" u="none" cap="none" strike="noStrike"/>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rPr>
                        <a:t>Deployment</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Fu et al. (2022)</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CNN classification</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Hu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Mobile EfficientNet</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Wang et al. (2025)</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IoT multi-sensor</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050"/>
                        <a:buFont typeface="Calibri"/>
                        <a:buNone/>
                      </a:pPr>
                      <a:r>
                        <a:rPr lang="en-US" sz="1050" u="none" cap="none" strike="noStrike">
                          <a:solidFill>
                            <a:srgbClr val="4A5568"/>
                          </a:solidFill>
                        </a:rPr>
                        <a:t>✗ (sensor)</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Vasquez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Fuzzy logic model</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63725">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Patel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Hyperspectral imaging</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050"/>
                        <a:buFont typeface="Calibri"/>
                        <a:buNone/>
                      </a:pPr>
                      <a:r>
                        <a:rPr lang="en-US" sz="1050" u="none" cap="none" strike="noStrike">
                          <a:solidFill>
                            <a:srgbClr val="4A5568"/>
                          </a:solidFill>
                        </a:rPr>
                        <a:t>✗ (specialist)</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6372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chemeClr val="dk1"/>
                          </a:solidFill>
                        </a:rPr>
                        <a:t>FRESCO (Proposed)</a:t>
                      </a:r>
                      <a:endParaRPr sz="1200" u="none" cap="none" strike="noStrike">
                        <a:solidFill>
                          <a:schemeClr val="dk1"/>
                        </a:solidFill>
                      </a:endParaRPr>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chemeClr val="dk1"/>
                          </a:solidFill>
                        </a:rPr>
                        <a:t>MobileNetV2 + Multi-Factor Formula + Ethylene Graph + PWA</a:t>
                      </a:r>
                      <a:endParaRPr sz="1200" u="none" cap="none" strike="noStrike">
                        <a:solidFill>
                          <a:schemeClr val="dk1"/>
                        </a:solidFill>
                      </a:endParaRPr>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A8FFD8"/>
                        </a:buClr>
                        <a:buSzPts val="1300"/>
                        <a:buFont typeface="Calibri"/>
                        <a:buNone/>
                      </a:pPr>
                      <a:r>
                        <a:rPr b="1" lang="en-US" sz="1300" u="none" cap="none" strike="noStrike">
                          <a:solidFill>
                            <a:srgbClr val="38761D"/>
                          </a:solidFill>
                        </a:rPr>
                        <a:t>✓</a:t>
                      </a:r>
                      <a:endParaRPr sz="1300" u="none" cap="none" strike="noStrike">
                        <a:solidFill>
                          <a:srgbClr val="38761D"/>
                        </a:solidFill>
                      </a:endParaRPr>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A8FFD8"/>
                        </a:buClr>
                        <a:buSzPts val="1300"/>
                        <a:buFont typeface="Calibri"/>
                        <a:buNone/>
                      </a:pPr>
                      <a:r>
                        <a:rPr b="1" lang="en-US" sz="1300" u="none" cap="none" strike="noStrike">
                          <a:solidFill>
                            <a:srgbClr val="38761D"/>
                          </a:solidFill>
                        </a:rPr>
                        <a:t>✓</a:t>
                      </a:r>
                      <a:endParaRPr sz="1300" u="none" cap="none" strike="noStrike">
                        <a:solidFill>
                          <a:srgbClr val="38761D"/>
                        </a:solidFill>
                      </a:endParaRPr>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A8FFD8"/>
                        </a:buClr>
                        <a:buSzPts val="1300"/>
                        <a:buFont typeface="Calibri"/>
                        <a:buNone/>
                      </a:pPr>
                      <a:r>
                        <a:rPr b="1" lang="en-US" sz="1300" u="none" cap="none" strike="noStrike">
                          <a:solidFill>
                            <a:srgbClr val="38761D"/>
                          </a:solidFill>
                        </a:rPr>
                        <a:t>✓</a:t>
                      </a:r>
                      <a:endParaRPr sz="1300" u="none" cap="none" strike="noStrike">
                        <a:solidFill>
                          <a:srgbClr val="38761D"/>
                        </a:solidFill>
                      </a:endParaRPr>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A8FFD8"/>
                        </a:buClr>
                        <a:buSzPts val="1300"/>
                        <a:buFont typeface="Calibri"/>
                        <a:buNone/>
                      </a:pPr>
                      <a:r>
                        <a:rPr b="1" lang="en-US" sz="1300" u="none" cap="none" strike="noStrike">
                          <a:solidFill>
                            <a:srgbClr val="38761D"/>
                          </a:solidFill>
                        </a:rPr>
                        <a:t>✓</a:t>
                      </a:r>
                      <a:endParaRPr sz="1300" u="none" cap="none" strike="noStrike">
                        <a:solidFill>
                          <a:srgbClr val="38761D"/>
                        </a:solidFill>
                      </a:endParaRPr>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r>
            </a:tbl>
          </a:graphicData>
        </a:graphic>
      </p:graphicFrame>
      <p:sp>
        <p:nvSpPr>
          <p:cNvPr id="386" name="Google Shape;386;p11"/>
          <p:cNvSpPr/>
          <p:nvPr/>
        </p:nvSpPr>
        <p:spPr>
          <a:xfrm>
            <a:off x="86850" y="4691901"/>
            <a:ext cx="8134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Fresco is the only system in this table that addresses camera-based identification, fuzzy shelf-life estimation, ethylene-conflict detection, AND live PWA deployment simultaneously.</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391" name="Shape 391"/>
        <p:cNvGrpSpPr/>
        <p:nvPr/>
      </p:nvGrpSpPr>
      <p:grpSpPr>
        <a:xfrm>
          <a:off x="0" y="0"/>
          <a:ext cx="0" cy="0"/>
          <a:chOff x="0" y="0"/>
          <a:chExt cx="0" cy="0"/>
        </a:xfrm>
      </p:grpSpPr>
      <p:sp>
        <p:nvSpPr>
          <p:cNvPr id="392" name="Google Shape;392;p12"/>
          <p:cNvSpPr/>
          <p:nvPr/>
        </p:nvSpPr>
        <p:spPr>
          <a:xfrm rot="2700000">
            <a:off x="-137160" y="3520440"/>
            <a:ext cx="1188720" cy="118872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2"/>
          <p:cNvSpPr/>
          <p:nvPr/>
        </p:nvSpPr>
        <p:spPr>
          <a:xfrm rot="2700000">
            <a:off x="60960" y="3718560"/>
            <a:ext cx="792480" cy="79248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2"/>
          <p:cNvSpPr/>
          <p:nvPr/>
        </p:nvSpPr>
        <p:spPr>
          <a:xfrm rot="2700000">
            <a:off x="259080" y="3916680"/>
            <a:ext cx="396240" cy="39624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7680960" y="329184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2"/>
          <p:cNvSpPr/>
          <p:nvPr/>
        </p:nvSpPr>
        <p:spPr>
          <a:xfrm>
            <a:off x="7982712" y="359359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2"/>
          <p:cNvSpPr/>
          <p:nvPr/>
        </p:nvSpPr>
        <p:spPr>
          <a:xfrm>
            <a:off x="8247888" y="385876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2"/>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Research Methodology</a:t>
            </a:r>
            <a:endParaRPr b="0" i="0" sz="2800" u="none" cap="none" strike="noStrike">
              <a:solidFill>
                <a:schemeClr val="dk1"/>
              </a:solidFill>
              <a:latin typeface="Calibri"/>
              <a:ea typeface="Calibri"/>
              <a:cs typeface="Calibri"/>
              <a:sym typeface="Calibri"/>
            </a:endParaRPr>
          </a:p>
        </p:txBody>
      </p:sp>
      <p:sp>
        <p:nvSpPr>
          <p:cNvPr id="399" name="Google Shape;399;p12"/>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Quantitative Experimental Design</a:t>
            </a:r>
            <a:endParaRPr b="0" i="0" sz="1400" u="none" cap="none" strike="noStrike">
              <a:solidFill>
                <a:schemeClr val="dk1"/>
              </a:solidFill>
              <a:latin typeface="Calibri"/>
              <a:ea typeface="Calibri"/>
              <a:cs typeface="Calibri"/>
              <a:sym typeface="Calibri"/>
            </a:endParaRPr>
          </a:p>
        </p:txBody>
      </p:sp>
      <p:cxnSp>
        <p:nvCxnSpPr>
          <p:cNvPr id="400" name="Google Shape;400;p12"/>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401" name="Google Shape;401;p12"/>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402" name="Google Shape;402;p12"/>
          <p:cNvSpPr/>
          <p:nvPr/>
        </p:nvSpPr>
        <p:spPr>
          <a:xfrm>
            <a:off x="384048" y="1207008"/>
            <a:ext cx="4005072" cy="2286000"/>
          </a:xfrm>
          <a:prstGeom prst="roundRect">
            <a:avLst>
              <a:gd fmla="val 4800"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2"/>
          <p:cNvSpPr/>
          <p:nvPr/>
        </p:nvSpPr>
        <p:spPr>
          <a:xfrm>
            <a:off x="548640" y="128016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Why Quantitative Experimental?</a:t>
            </a:r>
            <a:endParaRPr b="0" i="0" sz="1200" u="none" cap="none" strike="noStrike">
              <a:solidFill>
                <a:schemeClr val="dk1"/>
              </a:solidFill>
              <a:latin typeface="Calibri"/>
              <a:ea typeface="Calibri"/>
              <a:cs typeface="Calibri"/>
              <a:sym typeface="Calibri"/>
            </a:endParaRPr>
          </a:p>
        </p:txBody>
      </p:sp>
      <p:sp>
        <p:nvSpPr>
          <p:cNvPr id="404" name="Google Shape;404;p12"/>
          <p:cNvSpPr/>
          <p:nvPr/>
        </p:nvSpPr>
        <p:spPr>
          <a:xfrm>
            <a:off x="548640" y="1572768"/>
            <a:ext cx="3657600" cy="1874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Fruit freshness assessment is a classification problem with measurable ground-truth labels. The central hypotheses — that transfer learning on age-labelled images produces meaningful freshness signals, and that a multi-factor formula outperforms a linear multiplier require empirical numerical evidence under controlled, reproducible conditions.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Fixed random seeds and pinned library versions ensure any researcher with the same dataset can reproduce identical classification results.</a:t>
            </a:r>
            <a:endParaRPr b="0" i="0" sz="1100" u="none" cap="none" strike="noStrike">
              <a:solidFill>
                <a:schemeClr val="dk1"/>
              </a:solidFill>
              <a:latin typeface="Calibri"/>
              <a:ea typeface="Calibri"/>
              <a:cs typeface="Calibri"/>
              <a:sym typeface="Calibri"/>
            </a:endParaRPr>
          </a:p>
        </p:txBody>
      </p:sp>
      <p:sp>
        <p:nvSpPr>
          <p:cNvPr id="405" name="Google Shape;405;p12"/>
          <p:cNvSpPr/>
          <p:nvPr/>
        </p:nvSpPr>
        <p:spPr>
          <a:xfrm>
            <a:off x="4443984" y="1179576"/>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2"/>
          <p:cNvSpPr/>
          <p:nvPr/>
        </p:nvSpPr>
        <p:spPr>
          <a:xfrm>
            <a:off x="4443984" y="117957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407" name="Google Shape;407;p12"/>
          <p:cNvSpPr/>
          <p:nvPr/>
        </p:nvSpPr>
        <p:spPr>
          <a:xfrm>
            <a:off x="4919472" y="1207008"/>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Dataset Preparation (Fruits-360 + curated freshness images)</a:t>
            </a:r>
            <a:endParaRPr b="0" i="0" sz="1100" u="none" cap="none" strike="noStrike">
              <a:solidFill>
                <a:schemeClr val="dk1"/>
              </a:solidFill>
              <a:latin typeface="Calibri"/>
              <a:ea typeface="Calibri"/>
              <a:cs typeface="Calibri"/>
              <a:sym typeface="Calibri"/>
            </a:endParaRPr>
          </a:p>
        </p:txBody>
      </p:sp>
      <p:sp>
        <p:nvSpPr>
          <p:cNvPr id="408" name="Google Shape;408;p12"/>
          <p:cNvSpPr/>
          <p:nvPr/>
        </p:nvSpPr>
        <p:spPr>
          <a:xfrm>
            <a:off x="4443984" y="1527048"/>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2"/>
          <p:cNvSpPr/>
          <p:nvPr/>
        </p:nvSpPr>
        <p:spPr>
          <a:xfrm>
            <a:off x="4443984" y="152704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410" name="Google Shape;410;p12"/>
          <p:cNvSpPr/>
          <p:nvPr/>
        </p:nvSpPr>
        <p:spPr>
          <a:xfrm>
            <a:off x="4919472" y="1554480"/>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Exploratory Data Analysis (class distribution, missing labels)</a:t>
            </a:r>
            <a:endParaRPr b="0" i="0" sz="1100" u="none" cap="none" strike="noStrike">
              <a:solidFill>
                <a:schemeClr val="dk1"/>
              </a:solidFill>
              <a:latin typeface="Calibri"/>
              <a:ea typeface="Calibri"/>
              <a:cs typeface="Calibri"/>
              <a:sym typeface="Calibri"/>
            </a:endParaRPr>
          </a:p>
        </p:txBody>
      </p:sp>
      <p:sp>
        <p:nvSpPr>
          <p:cNvPr id="411" name="Google Shape;411;p12"/>
          <p:cNvSpPr/>
          <p:nvPr/>
        </p:nvSpPr>
        <p:spPr>
          <a:xfrm>
            <a:off x="4443984" y="1874520"/>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2"/>
          <p:cNvSpPr/>
          <p:nvPr/>
        </p:nvSpPr>
        <p:spPr>
          <a:xfrm>
            <a:off x="4443984" y="187452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413" name="Google Shape;413;p12"/>
          <p:cNvSpPr/>
          <p:nvPr/>
        </p:nvSpPr>
        <p:spPr>
          <a:xfrm>
            <a:off x="4919472" y="1901952"/>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Label Engineering (age-range → freshness score mapping)</a:t>
            </a:r>
            <a:endParaRPr b="0" i="0" sz="1100" u="none" cap="none" strike="noStrike">
              <a:solidFill>
                <a:schemeClr val="dk1"/>
              </a:solidFill>
              <a:latin typeface="Calibri"/>
              <a:ea typeface="Calibri"/>
              <a:cs typeface="Calibri"/>
              <a:sym typeface="Calibri"/>
            </a:endParaRPr>
          </a:p>
        </p:txBody>
      </p:sp>
      <p:sp>
        <p:nvSpPr>
          <p:cNvPr id="414" name="Google Shape;414;p12"/>
          <p:cNvSpPr/>
          <p:nvPr/>
        </p:nvSpPr>
        <p:spPr>
          <a:xfrm>
            <a:off x="4443984" y="2221992"/>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2"/>
          <p:cNvSpPr/>
          <p:nvPr/>
        </p:nvSpPr>
        <p:spPr>
          <a:xfrm>
            <a:off x="4443984" y="222199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416" name="Google Shape;416;p12"/>
          <p:cNvSpPr/>
          <p:nvPr/>
        </p:nvSpPr>
        <p:spPr>
          <a:xfrm>
            <a:off x="4919472" y="2249424"/>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Train/Test Split (80/20 on image dataset, stratified by class)</a:t>
            </a:r>
            <a:endParaRPr b="0" i="0" sz="1100" u="none" cap="none" strike="noStrike">
              <a:solidFill>
                <a:schemeClr val="dk1"/>
              </a:solidFill>
              <a:latin typeface="Calibri"/>
              <a:ea typeface="Calibri"/>
              <a:cs typeface="Calibri"/>
              <a:sym typeface="Calibri"/>
            </a:endParaRPr>
          </a:p>
        </p:txBody>
      </p:sp>
      <p:sp>
        <p:nvSpPr>
          <p:cNvPr id="417" name="Google Shape;417;p12"/>
          <p:cNvSpPr/>
          <p:nvPr/>
        </p:nvSpPr>
        <p:spPr>
          <a:xfrm>
            <a:off x="4443984" y="2569464"/>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2"/>
          <p:cNvSpPr/>
          <p:nvPr/>
        </p:nvSpPr>
        <p:spPr>
          <a:xfrm>
            <a:off x="4443984" y="256946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419" name="Google Shape;419;p12"/>
          <p:cNvSpPr/>
          <p:nvPr/>
        </p:nvSpPr>
        <p:spPr>
          <a:xfrm>
            <a:off x="4919472" y="2596896"/>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Image Augmentation (flips, rotation ±15°, brightness ±20%)</a:t>
            </a:r>
            <a:endParaRPr b="0" i="0" sz="1100" u="none" cap="none" strike="noStrike">
              <a:solidFill>
                <a:schemeClr val="dk1"/>
              </a:solidFill>
              <a:latin typeface="Calibri"/>
              <a:ea typeface="Calibri"/>
              <a:cs typeface="Calibri"/>
              <a:sym typeface="Calibri"/>
            </a:endParaRPr>
          </a:p>
        </p:txBody>
      </p:sp>
      <p:sp>
        <p:nvSpPr>
          <p:cNvPr id="420" name="Google Shape;420;p12"/>
          <p:cNvSpPr/>
          <p:nvPr/>
        </p:nvSpPr>
        <p:spPr>
          <a:xfrm>
            <a:off x="4443984" y="2916936"/>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2"/>
          <p:cNvSpPr/>
          <p:nvPr/>
        </p:nvSpPr>
        <p:spPr>
          <a:xfrm>
            <a:off x="4443984" y="291693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422" name="Google Shape;422;p12"/>
          <p:cNvSpPr/>
          <p:nvPr/>
        </p:nvSpPr>
        <p:spPr>
          <a:xfrm>
            <a:off x="4919472" y="2944368"/>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Two-Phase Transfer Learning (frozen base → fine-tuning)</a:t>
            </a:r>
            <a:endParaRPr b="0" i="0" sz="1100" u="none" cap="none" strike="noStrike">
              <a:solidFill>
                <a:schemeClr val="dk1"/>
              </a:solidFill>
              <a:latin typeface="Calibri"/>
              <a:ea typeface="Calibri"/>
              <a:cs typeface="Calibri"/>
              <a:sym typeface="Calibri"/>
            </a:endParaRPr>
          </a:p>
        </p:txBody>
      </p:sp>
      <p:sp>
        <p:nvSpPr>
          <p:cNvPr id="423" name="Google Shape;423;p12"/>
          <p:cNvSpPr/>
          <p:nvPr/>
        </p:nvSpPr>
        <p:spPr>
          <a:xfrm>
            <a:off x="4443984" y="3264408"/>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2"/>
          <p:cNvSpPr/>
          <p:nvPr/>
        </p:nvSpPr>
        <p:spPr>
          <a:xfrm>
            <a:off x="4443984" y="326440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425" name="Google Shape;425;p12"/>
          <p:cNvSpPr/>
          <p:nvPr/>
        </p:nvSpPr>
        <p:spPr>
          <a:xfrm>
            <a:off x="4919472" y="3291840"/>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Multi-Factor Shelf-Life Formula Implementation</a:t>
            </a:r>
            <a:endParaRPr b="0" i="0" sz="1100" u="none" cap="none" strike="noStrike">
              <a:solidFill>
                <a:schemeClr val="dk1"/>
              </a:solidFill>
              <a:latin typeface="Calibri"/>
              <a:ea typeface="Calibri"/>
              <a:cs typeface="Calibri"/>
              <a:sym typeface="Calibri"/>
            </a:endParaRPr>
          </a:p>
        </p:txBody>
      </p:sp>
      <p:sp>
        <p:nvSpPr>
          <p:cNvPr id="426" name="Google Shape;426;p12"/>
          <p:cNvSpPr/>
          <p:nvPr/>
        </p:nvSpPr>
        <p:spPr>
          <a:xfrm>
            <a:off x="4443984" y="3611880"/>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2"/>
          <p:cNvSpPr/>
          <p:nvPr/>
        </p:nvSpPr>
        <p:spPr>
          <a:xfrm>
            <a:off x="4443984" y="361188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sp>
        <p:nvSpPr>
          <p:cNvPr id="428" name="Google Shape;428;p12"/>
          <p:cNvSpPr/>
          <p:nvPr/>
        </p:nvSpPr>
        <p:spPr>
          <a:xfrm>
            <a:off x="4919472" y="3639312"/>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Composite Decision Engine Assembly</a:t>
            </a:r>
            <a:endParaRPr b="0" i="0" sz="1100" u="none" cap="none" strike="noStrike">
              <a:solidFill>
                <a:schemeClr val="dk1"/>
              </a:solidFill>
              <a:latin typeface="Calibri"/>
              <a:ea typeface="Calibri"/>
              <a:cs typeface="Calibri"/>
              <a:sym typeface="Calibri"/>
            </a:endParaRPr>
          </a:p>
        </p:txBody>
      </p:sp>
      <p:sp>
        <p:nvSpPr>
          <p:cNvPr id="429" name="Google Shape;429;p12"/>
          <p:cNvSpPr/>
          <p:nvPr/>
        </p:nvSpPr>
        <p:spPr>
          <a:xfrm>
            <a:off x="4443984" y="3959352"/>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2"/>
          <p:cNvSpPr/>
          <p:nvPr/>
        </p:nvSpPr>
        <p:spPr>
          <a:xfrm>
            <a:off x="4443984" y="39593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
        <p:nvSpPr>
          <p:cNvPr id="431" name="Google Shape;431;p12"/>
          <p:cNvSpPr/>
          <p:nvPr/>
        </p:nvSpPr>
        <p:spPr>
          <a:xfrm>
            <a:off x="4919472" y="3986784"/>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Ethylene Conflict Graph Construction</a:t>
            </a:r>
            <a:endParaRPr b="0" i="0" sz="1100" u="none" cap="none" strike="noStrike">
              <a:solidFill>
                <a:schemeClr val="dk1"/>
              </a:solidFill>
              <a:latin typeface="Calibri"/>
              <a:ea typeface="Calibri"/>
              <a:cs typeface="Calibri"/>
              <a:sym typeface="Calibri"/>
            </a:endParaRPr>
          </a:p>
        </p:txBody>
      </p:sp>
      <p:sp>
        <p:nvSpPr>
          <p:cNvPr id="432" name="Google Shape;432;p12"/>
          <p:cNvSpPr/>
          <p:nvPr/>
        </p:nvSpPr>
        <p:spPr>
          <a:xfrm>
            <a:off x="4443984" y="4306824"/>
            <a:ext cx="365760" cy="36576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2"/>
          <p:cNvSpPr/>
          <p:nvPr/>
        </p:nvSpPr>
        <p:spPr>
          <a:xfrm>
            <a:off x="4443984" y="430682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
        <p:nvSpPr>
          <p:cNvPr id="434" name="Google Shape;434;p12"/>
          <p:cNvSpPr/>
          <p:nvPr/>
        </p:nvSpPr>
        <p:spPr>
          <a:xfrm>
            <a:off x="4919472" y="4334256"/>
            <a:ext cx="38404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Web Deployment (FastAPI backend + Next.js React PWA)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39" name="Shape 439"/>
        <p:cNvGrpSpPr/>
        <p:nvPr/>
      </p:nvGrpSpPr>
      <p:grpSpPr>
        <a:xfrm>
          <a:off x="0" y="0"/>
          <a:ext cx="0" cy="0"/>
          <a:chOff x="0" y="0"/>
          <a:chExt cx="0" cy="0"/>
        </a:xfrm>
      </p:grpSpPr>
      <p:sp>
        <p:nvSpPr>
          <p:cNvPr id="440" name="Google Shape;440;p13"/>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3"/>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3"/>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411480" y="4773168"/>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Why This Methodology?</a:t>
            </a:r>
            <a:endParaRPr b="0" i="0" sz="2800" u="none" cap="none" strike="noStrike">
              <a:solidFill>
                <a:schemeClr val="dk1"/>
              </a:solidFill>
              <a:latin typeface="Calibri"/>
              <a:ea typeface="Calibri"/>
              <a:cs typeface="Calibri"/>
              <a:sym typeface="Calibri"/>
            </a:endParaRPr>
          </a:p>
        </p:txBody>
      </p:sp>
      <p:sp>
        <p:nvSpPr>
          <p:cNvPr id="467" name="Google Shape;467;p13"/>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Alternatives considered and rejected</a:t>
            </a:r>
            <a:endParaRPr b="0" i="0" sz="1400" u="none" cap="none" strike="noStrike">
              <a:solidFill>
                <a:schemeClr val="dk1"/>
              </a:solidFill>
              <a:latin typeface="Calibri"/>
              <a:ea typeface="Calibri"/>
              <a:cs typeface="Calibri"/>
              <a:sym typeface="Calibri"/>
            </a:endParaRPr>
          </a:p>
        </p:txBody>
      </p:sp>
      <p:cxnSp>
        <p:nvCxnSpPr>
          <p:cNvPr id="468" name="Google Shape;468;p13"/>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469" name="Google Shape;469;p13"/>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470" name="Google Shape;470;p13"/>
          <p:cNvSpPr/>
          <p:nvPr/>
        </p:nvSpPr>
        <p:spPr>
          <a:xfrm>
            <a:off x="384048" y="1207008"/>
            <a:ext cx="4114800" cy="1444752"/>
          </a:xfrm>
          <a:prstGeom prst="roundRect">
            <a:avLst>
              <a:gd fmla="val 7595" name="adj"/>
            </a:avLst>
          </a:prstGeom>
          <a:solidFill>
            <a:srgbClr val="FEF2F2"/>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521208" y="1344168"/>
            <a:ext cx="329184" cy="329184"/>
          </a:xfrm>
          <a:prstGeom prst="ellipse">
            <a:avLst/>
          </a:prstGeom>
          <a:solidFill>
            <a:srgbClr val="C0392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3"/>
          <p:cNvSpPr/>
          <p:nvPr/>
        </p:nvSpPr>
        <p:spPr>
          <a:xfrm>
            <a:off x="521208" y="13441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73" name="Google Shape;473;p13"/>
          <p:cNvSpPr/>
          <p:nvPr/>
        </p:nvSpPr>
        <p:spPr>
          <a:xfrm>
            <a:off x="932688" y="1335024"/>
            <a:ext cx="3474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Classical Computer Vision</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(HOG + SVM)</a:t>
            </a:r>
            <a:endParaRPr b="0" i="0" sz="1150" u="none" cap="none" strike="noStrike">
              <a:solidFill>
                <a:schemeClr val="dk1"/>
              </a:solidFill>
              <a:latin typeface="Calibri"/>
              <a:ea typeface="Calibri"/>
              <a:cs typeface="Calibri"/>
              <a:sym typeface="Calibri"/>
            </a:endParaRPr>
          </a:p>
        </p:txBody>
      </p:sp>
      <p:sp>
        <p:nvSpPr>
          <p:cNvPr id="474" name="Google Shape;474;p13"/>
          <p:cNvSpPr/>
          <p:nvPr/>
        </p:nvSpPr>
        <p:spPr>
          <a:xfrm>
            <a:off x="521208" y="1737360"/>
            <a:ext cx="3840480"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Hand-crafted features miss the fine-grained texture changes that distinguish a 5-day-old banana from a 10-day-old one. No learning capacity to generalise. AUC ceiling well below deep CNNs on fresh produce datasets.</a:t>
            </a:r>
            <a:endParaRPr b="0" i="0" sz="1050" u="none" cap="none" strike="noStrike">
              <a:solidFill>
                <a:schemeClr val="dk1"/>
              </a:solidFill>
              <a:latin typeface="Calibri"/>
              <a:ea typeface="Calibri"/>
              <a:cs typeface="Calibri"/>
              <a:sym typeface="Calibri"/>
            </a:endParaRPr>
          </a:p>
        </p:txBody>
      </p:sp>
      <p:sp>
        <p:nvSpPr>
          <p:cNvPr id="475" name="Google Shape;475;p13"/>
          <p:cNvSpPr/>
          <p:nvPr/>
        </p:nvSpPr>
        <p:spPr>
          <a:xfrm>
            <a:off x="4636008" y="1207008"/>
            <a:ext cx="4114800" cy="1444752"/>
          </a:xfrm>
          <a:prstGeom prst="roundRect">
            <a:avLst>
              <a:gd fmla="val 7595" name="adj"/>
            </a:avLst>
          </a:prstGeom>
          <a:solidFill>
            <a:srgbClr val="FEF2F2"/>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3"/>
          <p:cNvSpPr/>
          <p:nvPr/>
        </p:nvSpPr>
        <p:spPr>
          <a:xfrm>
            <a:off x="4773168" y="1344168"/>
            <a:ext cx="329184" cy="329184"/>
          </a:xfrm>
          <a:prstGeom prst="ellipse">
            <a:avLst/>
          </a:prstGeom>
          <a:solidFill>
            <a:srgbClr val="C0392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3"/>
          <p:cNvSpPr/>
          <p:nvPr/>
        </p:nvSpPr>
        <p:spPr>
          <a:xfrm>
            <a:off x="4773168" y="13441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78" name="Google Shape;478;p13"/>
          <p:cNvSpPr/>
          <p:nvPr/>
        </p:nvSpPr>
        <p:spPr>
          <a:xfrm>
            <a:off x="5184648" y="1335024"/>
            <a:ext cx="3474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Sensor Arrays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(Electronic Nose / IoT)</a:t>
            </a:r>
            <a:endParaRPr b="0" i="0" sz="1150" u="none" cap="none" strike="noStrike">
              <a:solidFill>
                <a:schemeClr val="dk1"/>
              </a:solidFill>
              <a:latin typeface="Calibri"/>
              <a:ea typeface="Calibri"/>
              <a:cs typeface="Calibri"/>
              <a:sym typeface="Calibri"/>
            </a:endParaRPr>
          </a:p>
        </p:txBody>
      </p:sp>
      <p:sp>
        <p:nvSpPr>
          <p:cNvPr id="479" name="Google Shape;479;p13"/>
          <p:cNvSpPr/>
          <p:nvPr/>
        </p:nvSpPr>
        <p:spPr>
          <a:xfrm>
            <a:off x="4773168" y="1737360"/>
            <a:ext cx="3840480"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Achieves higher accuracy — but requires hardware costing hundreds of dollars. Impossible for Nigerian household adoption. Contradicts the fundamental design constraint: smartphone-only, no extra hardware.</a:t>
            </a:r>
            <a:endParaRPr b="0" i="0" sz="1050" u="none" cap="none" strike="noStrike">
              <a:solidFill>
                <a:schemeClr val="dk1"/>
              </a:solidFill>
              <a:latin typeface="Calibri"/>
              <a:ea typeface="Calibri"/>
              <a:cs typeface="Calibri"/>
              <a:sym typeface="Calibri"/>
            </a:endParaRPr>
          </a:p>
        </p:txBody>
      </p:sp>
      <p:sp>
        <p:nvSpPr>
          <p:cNvPr id="480" name="Google Shape;480;p13"/>
          <p:cNvSpPr/>
          <p:nvPr/>
        </p:nvSpPr>
        <p:spPr>
          <a:xfrm>
            <a:off x="384048" y="2807208"/>
            <a:ext cx="4114800" cy="1444752"/>
          </a:xfrm>
          <a:prstGeom prst="roundRect">
            <a:avLst>
              <a:gd fmla="val 7595" name="adj"/>
            </a:avLst>
          </a:prstGeom>
          <a:solidFill>
            <a:srgbClr val="FEF2F2"/>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3"/>
          <p:cNvSpPr/>
          <p:nvPr/>
        </p:nvSpPr>
        <p:spPr>
          <a:xfrm>
            <a:off x="521208" y="2944368"/>
            <a:ext cx="329184" cy="329184"/>
          </a:xfrm>
          <a:prstGeom prst="ellipse">
            <a:avLst/>
          </a:prstGeom>
          <a:solidFill>
            <a:srgbClr val="C0392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521208" y="29443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3" name="Google Shape;483;p13"/>
          <p:cNvSpPr/>
          <p:nvPr/>
        </p:nvSpPr>
        <p:spPr>
          <a:xfrm>
            <a:off x="932688" y="2935224"/>
            <a:ext cx="3474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Neural Networks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(ResNet-50 / EfficientNet-L)</a:t>
            </a:r>
            <a:endParaRPr b="0" i="0" sz="1150" u="none" cap="none" strike="noStrike">
              <a:solidFill>
                <a:schemeClr val="dk1"/>
              </a:solidFill>
              <a:latin typeface="Calibri"/>
              <a:ea typeface="Calibri"/>
              <a:cs typeface="Calibri"/>
              <a:sym typeface="Calibri"/>
            </a:endParaRPr>
          </a:p>
        </p:txBody>
      </p:sp>
      <p:sp>
        <p:nvSpPr>
          <p:cNvPr id="484" name="Google Shape;484;p13"/>
          <p:cNvSpPr/>
          <p:nvPr/>
        </p:nvSpPr>
        <p:spPr>
          <a:xfrm>
            <a:off x="521208" y="3337560"/>
            <a:ext cx="3840480"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Heavier architectures achieve marginally higher validation accuracy but consume 3–8× more memory. At 11.6 MB, MobileNetV2 loads at startup and infers in 380 ms on commodity CPU. Larger models would require GPU infrastructure.</a:t>
            </a:r>
            <a:endParaRPr b="0" i="0" sz="1050" u="none" cap="none" strike="noStrike">
              <a:solidFill>
                <a:schemeClr val="dk1"/>
              </a:solidFill>
              <a:latin typeface="Calibri"/>
              <a:ea typeface="Calibri"/>
              <a:cs typeface="Calibri"/>
              <a:sym typeface="Calibri"/>
            </a:endParaRPr>
          </a:p>
        </p:txBody>
      </p:sp>
      <p:sp>
        <p:nvSpPr>
          <p:cNvPr id="485" name="Google Shape;485;p13"/>
          <p:cNvSpPr/>
          <p:nvPr/>
        </p:nvSpPr>
        <p:spPr>
          <a:xfrm>
            <a:off x="4636008" y="2807208"/>
            <a:ext cx="4114800" cy="1444752"/>
          </a:xfrm>
          <a:prstGeom prst="roundRect">
            <a:avLst>
              <a:gd fmla="val 7595" name="adj"/>
            </a:avLst>
          </a:prstGeom>
          <a:solidFill>
            <a:srgbClr val="FEF2F2"/>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3"/>
          <p:cNvSpPr/>
          <p:nvPr/>
        </p:nvSpPr>
        <p:spPr>
          <a:xfrm>
            <a:off x="4773168" y="2944368"/>
            <a:ext cx="329184" cy="329184"/>
          </a:xfrm>
          <a:prstGeom prst="ellipse">
            <a:avLst/>
          </a:prstGeom>
          <a:solidFill>
            <a:srgbClr val="C0392B">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3"/>
          <p:cNvSpPr/>
          <p:nvPr/>
        </p:nvSpPr>
        <p:spPr>
          <a:xfrm>
            <a:off x="4773168" y="29443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88" name="Google Shape;488;p13"/>
          <p:cNvSpPr/>
          <p:nvPr/>
        </p:nvSpPr>
        <p:spPr>
          <a:xfrm>
            <a:off x="5184648" y="2935224"/>
            <a:ext cx="3474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Binary Freshness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(Fresh / Spoiled only)</a:t>
            </a:r>
            <a:endParaRPr b="0" i="0" sz="1150" u="none" cap="none" strike="noStrike">
              <a:solidFill>
                <a:schemeClr val="dk1"/>
              </a:solidFill>
              <a:latin typeface="Calibri"/>
              <a:ea typeface="Calibri"/>
              <a:cs typeface="Calibri"/>
              <a:sym typeface="Calibri"/>
            </a:endParaRPr>
          </a:p>
        </p:txBody>
      </p:sp>
      <p:sp>
        <p:nvSpPr>
          <p:cNvPr id="489" name="Google Shape;489;p13"/>
          <p:cNvSpPr/>
          <p:nvPr/>
        </p:nvSpPr>
        <p:spPr>
          <a:xfrm>
            <a:off x="4773168" y="3337560"/>
            <a:ext cx="3840480" cy="877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Collapses the quality gradient into two states. A banana at 70% freshness needs different advice than one at 40% — both would be labelled 'Fresh' under a binary system, producing identical and wrong recommendations.</a:t>
            </a:r>
            <a:endParaRPr b="0" i="0" sz="1050" u="none" cap="none" strike="noStrike">
              <a:solidFill>
                <a:schemeClr val="dk1"/>
              </a:solidFill>
              <a:latin typeface="Calibri"/>
              <a:ea typeface="Calibri"/>
              <a:cs typeface="Calibri"/>
              <a:sym typeface="Calibri"/>
            </a:endParaRPr>
          </a:p>
        </p:txBody>
      </p:sp>
      <p:sp>
        <p:nvSpPr>
          <p:cNvPr id="490" name="Google Shape;490;p13"/>
          <p:cNvSpPr/>
          <p:nvPr/>
        </p:nvSpPr>
        <p:spPr>
          <a:xfrm>
            <a:off x="384048" y="4517136"/>
            <a:ext cx="8375904" cy="475488"/>
          </a:xfrm>
          <a:prstGeom prst="roundRect">
            <a:avLst>
              <a:gd fmla="val 23077"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3"/>
          <p:cNvSpPr/>
          <p:nvPr/>
        </p:nvSpPr>
        <p:spPr>
          <a:xfrm>
            <a:off x="502920" y="4608576"/>
            <a:ext cx="329184" cy="329184"/>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3"/>
          <p:cNvSpPr/>
          <p:nvPr/>
        </p:nvSpPr>
        <p:spPr>
          <a:xfrm>
            <a:off x="502920" y="46085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93" name="Google Shape;493;p13"/>
          <p:cNvSpPr/>
          <p:nvPr/>
        </p:nvSpPr>
        <p:spPr>
          <a:xfrm>
            <a:off x="914400" y="4544568"/>
            <a:ext cx="768096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CHOSEN:  MobileNetV2 Transfer Learning + Multi-Factor Shelf-Life Formula + Ethylene Conflict Graph + PWA Deployment — accurate on commodity hardware, interpretable, deployable in resource-constrained environments.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498" name="Shape 498"/>
        <p:cNvGrpSpPr/>
        <p:nvPr/>
      </p:nvGrpSpPr>
      <p:grpSpPr>
        <a:xfrm>
          <a:off x="0" y="0"/>
          <a:ext cx="0" cy="0"/>
          <a:chOff x="0" y="0"/>
          <a:chExt cx="0" cy="0"/>
        </a:xfrm>
      </p:grpSpPr>
      <p:sp>
        <p:nvSpPr>
          <p:cNvPr id="499" name="Google Shape;499;p14"/>
          <p:cNvSpPr/>
          <p:nvPr/>
        </p:nvSpPr>
        <p:spPr>
          <a:xfrm>
            <a:off x="7772400" y="9144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4"/>
          <p:cNvSpPr/>
          <p:nvPr/>
        </p:nvSpPr>
        <p:spPr>
          <a:xfrm>
            <a:off x="8043977" y="36301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4"/>
          <p:cNvSpPr/>
          <p:nvPr/>
        </p:nvSpPr>
        <p:spPr>
          <a:xfrm>
            <a:off x="8282635" y="60167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 name="Google Shape;502;p14"/>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3" name="Google Shape;503;p14"/>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4" name="Google Shape;504;p14"/>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5" name="Google Shape;505;p14"/>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6" name="Google Shape;506;p14"/>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7" name="Google Shape;507;p14"/>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508" name="Google Shape;508;p14"/>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509" name="Google Shape;509;p14"/>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Mathematical Model: MobileNetV2</a:t>
            </a:r>
            <a:endParaRPr b="0" i="0" sz="2800" u="none" cap="none" strike="noStrike">
              <a:solidFill>
                <a:schemeClr val="dk1"/>
              </a:solidFill>
              <a:latin typeface="Calibri"/>
              <a:ea typeface="Calibri"/>
              <a:cs typeface="Calibri"/>
              <a:sym typeface="Calibri"/>
            </a:endParaRPr>
          </a:p>
        </p:txBody>
      </p:sp>
      <p:sp>
        <p:nvSpPr>
          <p:cNvPr id="510" name="Google Shape;510;p14"/>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Efficient CNN architecture — the visual intelligence of Fresco</a:t>
            </a:r>
            <a:endParaRPr b="0" i="0" sz="1400" u="none" cap="none" strike="noStrike">
              <a:solidFill>
                <a:schemeClr val="dk1"/>
              </a:solidFill>
              <a:latin typeface="Calibri"/>
              <a:ea typeface="Calibri"/>
              <a:cs typeface="Calibri"/>
              <a:sym typeface="Calibri"/>
            </a:endParaRPr>
          </a:p>
        </p:txBody>
      </p:sp>
      <p:cxnSp>
        <p:nvCxnSpPr>
          <p:cNvPr id="511" name="Google Shape;511;p14"/>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512" name="Google Shape;512;p14"/>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513" name="Google Shape;513;p14"/>
          <p:cNvSpPr/>
          <p:nvPr/>
        </p:nvSpPr>
        <p:spPr>
          <a:xfrm>
            <a:off x="384048" y="1207008"/>
            <a:ext cx="4370832" cy="3474720"/>
          </a:xfrm>
          <a:prstGeom prst="roundRect">
            <a:avLst>
              <a:gd fmla="val 3158"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4"/>
          <p:cNvSpPr/>
          <p:nvPr/>
        </p:nvSpPr>
        <p:spPr>
          <a:xfrm>
            <a:off x="548640" y="1280160"/>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The Inverted Residual Block</a:t>
            </a:r>
            <a:endParaRPr b="0" i="0" sz="1200" u="none" cap="none" strike="noStrike">
              <a:solidFill>
                <a:schemeClr val="dk1"/>
              </a:solidFill>
              <a:latin typeface="Calibri"/>
              <a:ea typeface="Calibri"/>
              <a:cs typeface="Calibri"/>
              <a:sym typeface="Calibri"/>
            </a:endParaRPr>
          </a:p>
        </p:txBody>
      </p:sp>
      <p:sp>
        <p:nvSpPr>
          <p:cNvPr id="515" name="Google Shape;515;p14"/>
          <p:cNvSpPr/>
          <p:nvPr/>
        </p:nvSpPr>
        <p:spPr>
          <a:xfrm>
            <a:off x="621792" y="1591056"/>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ourier New"/>
              <a:buNone/>
            </a:pPr>
            <a:r>
              <a:rPr b="0" i="0" lang="en-US" sz="1200" u="none" cap="none" strike="noStrike">
                <a:solidFill>
                  <a:srgbClr val="1A2B4A"/>
                </a:solidFill>
                <a:latin typeface="Courier New"/>
                <a:ea typeface="Courier New"/>
                <a:cs typeface="Courier New"/>
                <a:sym typeface="Courier New"/>
              </a:rPr>
              <a:t>Expand:   h = ReLU6(BatchNorm(W_e · x))</a:t>
            </a:r>
            <a:endParaRPr b="0" i="0" sz="1200" u="none" cap="none" strike="noStrike">
              <a:solidFill>
                <a:schemeClr val="dk1"/>
              </a:solidFill>
              <a:latin typeface="Calibri"/>
              <a:ea typeface="Calibri"/>
              <a:cs typeface="Calibri"/>
              <a:sym typeface="Calibri"/>
            </a:endParaRPr>
          </a:p>
        </p:txBody>
      </p:sp>
      <p:sp>
        <p:nvSpPr>
          <p:cNvPr id="516" name="Google Shape;516;p14"/>
          <p:cNvSpPr/>
          <p:nvPr/>
        </p:nvSpPr>
        <p:spPr>
          <a:xfrm>
            <a:off x="621792" y="1874520"/>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ourier New"/>
              <a:buNone/>
            </a:pPr>
            <a:r>
              <a:rPr b="0" i="0" lang="en-US" sz="1200" u="none" cap="none" strike="noStrike">
                <a:solidFill>
                  <a:srgbClr val="1A2B4A"/>
                </a:solidFill>
                <a:latin typeface="Courier New"/>
                <a:ea typeface="Courier New"/>
                <a:cs typeface="Courier New"/>
                <a:sym typeface="Courier New"/>
              </a:rPr>
              <a:t>Depthwise: y = ReLU6(BatchNorm(DW(h)))</a:t>
            </a:r>
            <a:endParaRPr b="0" i="0" sz="1200" u="none" cap="none" strike="noStrike">
              <a:solidFill>
                <a:schemeClr val="dk1"/>
              </a:solidFill>
              <a:latin typeface="Calibri"/>
              <a:ea typeface="Calibri"/>
              <a:cs typeface="Calibri"/>
              <a:sym typeface="Calibri"/>
            </a:endParaRPr>
          </a:p>
        </p:txBody>
      </p:sp>
      <p:sp>
        <p:nvSpPr>
          <p:cNvPr id="517" name="Google Shape;517;p14"/>
          <p:cNvSpPr/>
          <p:nvPr/>
        </p:nvSpPr>
        <p:spPr>
          <a:xfrm>
            <a:off x="621792" y="2157984"/>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ourier New"/>
              <a:buNone/>
            </a:pPr>
            <a:r>
              <a:rPr b="0" i="0" lang="en-US" sz="1200" u="none" cap="none" strike="noStrike">
                <a:solidFill>
                  <a:srgbClr val="1A2B4A"/>
                </a:solidFill>
                <a:latin typeface="Courier New"/>
                <a:ea typeface="Courier New"/>
                <a:cs typeface="Courier New"/>
                <a:sym typeface="Courier New"/>
              </a:rPr>
              <a:t>Project:  z = BatchNorm(W_p · y)</a:t>
            </a:r>
            <a:endParaRPr b="0" i="0" sz="1200" u="none" cap="none" strike="noStrike">
              <a:solidFill>
                <a:schemeClr val="dk1"/>
              </a:solidFill>
              <a:latin typeface="Calibri"/>
              <a:ea typeface="Calibri"/>
              <a:cs typeface="Calibri"/>
              <a:sym typeface="Calibri"/>
            </a:endParaRPr>
          </a:p>
        </p:txBody>
      </p:sp>
      <p:sp>
        <p:nvSpPr>
          <p:cNvPr id="518" name="Google Shape;518;p14"/>
          <p:cNvSpPr/>
          <p:nvPr/>
        </p:nvSpPr>
        <p:spPr>
          <a:xfrm>
            <a:off x="621792" y="2441448"/>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200"/>
              <a:buFont typeface="Courier New"/>
              <a:buNone/>
            </a:pPr>
            <a:r>
              <a:rPr b="1" i="0" lang="en-US" sz="1200" u="none" cap="none" strike="noStrike">
                <a:solidFill>
                  <a:srgbClr val="3A8C7E"/>
                </a:solidFill>
                <a:latin typeface="Courier New"/>
                <a:ea typeface="Courier New"/>
                <a:cs typeface="Courier New"/>
                <a:sym typeface="Courier New"/>
              </a:rPr>
              <a:t>Residual: out = x + z  (if stride = 1)</a:t>
            </a:r>
            <a:endParaRPr b="0" i="0" sz="1200" u="none" cap="none" strike="noStrike">
              <a:solidFill>
                <a:schemeClr val="dk1"/>
              </a:solidFill>
              <a:latin typeface="Calibri"/>
              <a:ea typeface="Calibri"/>
              <a:cs typeface="Calibri"/>
              <a:sym typeface="Calibri"/>
            </a:endParaRPr>
          </a:p>
        </p:txBody>
      </p:sp>
      <p:cxnSp>
        <p:nvCxnSpPr>
          <p:cNvPr id="519" name="Google Shape;519;p14"/>
          <p:cNvCxnSpPr/>
          <p:nvPr/>
        </p:nvCxnSpPr>
        <p:spPr>
          <a:xfrm>
            <a:off x="548640" y="2761488"/>
            <a:ext cx="4114800" cy="0"/>
          </a:xfrm>
          <a:prstGeom prst="straightConnector1">
            <a:avLst/>
          </a:prstGeom>
          <a:noFill/>
          <a:ln cap="flat" cmpd="sng" w="9525">
            <a:solidFill>
              <a:srgbClr val="1A2B4A">
                <a:alpha val="45098"/>
              </a:srgbClr>
            </a:solidFill>
            <a:prstDash val="solid"/>
            <a:round/>
            <a:headEnd len="sm" w="sm" type="none"/>
            <a:tailEnd len="sm" w="sm" type="none"/>
          </a:ln>
        </p:spPr>
      </p:cxnSp>
      <p:sp>
        <p:nvSpPr>
          <p:cNvPr id="520" name="Google Shape;520;p14"/>
          <p:cNvSpPr/>
          <p:nvPr/>
        </p:nvSpPr>
        <p:spPr>
          <a:xfrm>
            <a:off x="548640" y="2834640"/>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00"/>
              <a:buFont typeface="Calibri"/>
              <a:buNone/>
            </a:pPr>
            <a:r>
              <a:rPr b="1" i="0" lang="en-US" sz="1100" u="none" cap="none" strike="noStrike">
                <a:solidFill>
                  <a:srgbClr val="1A2B4A"/>
                </a:solidFill>
                <a:latin typeface="Calibri"/>
                <a:ea typeface="Calibri"/>
                <a:cs typeface="Calibri"/>
                <a:sym typeface="Calibri"/>
              </a:rPr>
              <a:t>Preprocessing (matches ImageNet training):</a:t>
            </a:r>
            <a:endParaRPr b="0" i="0" sz="1100" u="none" cap="none" strike="noStrike">
              <a:solidFill>
                <a:schemeClr val="dk1"/>
              </a:solidFill>
              <a:latin typeface="Calibri"/>
              <a:ea typeface="Calibri"/>
              <a:cs typeface="Calibri"/>
              <a:sym typeface="Calibri"/>
            </a:endParaRPr>
          </a:p>
        </p:txBody>
      </p:sp>
      <p:sp>
        <p:nvSpPr>
          <p:cNvPr id="521" name="Google Shape;521;p14"/>
          <p:cNvSpPr/>
          <p:nvPr/>
        </p:nvSpPr>
        <p:spPr>
          <a:xfrm>
            <a:off x="621792" y="3072384"/>
            <a:ext cx="4023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ourier New"/>
              <a:buNone/>
            </a:pPr>
            <a:r>
              <a:rPr b="0" i="0" lang="en-US" sz="1200" u="none" cap="none" strike="noStrike">
                <a:solidFill>
                  <a:srgbClr val="1A2B4A"/>
                </a:solidFill>
                <a:latin typeface="Courier New"/>
                <a:ea typeface="Courier New"/>
                <a:cs typeface="Courier New"/>
                <a:sym typeface="Courier New"/>
              </a:rPr>
              <a:t>z_pixel = (pixel / 127.5) − 1.0  →  z ∈ [−1, 1]</a:t>
            </a:r>
            <a:endParaRPr b="0" i="0" sz="1200" u="none" cap="none" strike="noStrike">
              <a:solidFill>
                <a:schemeClr val="dk1"/>
              </a:solidFill>
              <a:latin typeface="Calibri"/>
              <a:ea typeface="Calibri"/>
              <a:cs typeface="Calibri"/>
              <a:sym typeface="Calibri"/>
            </a:endParaRPr>
          </a:p>
        </p:txBody>
      </p:sp>
      <p:sp>
        <p:nvSpPr>
          <p:cNvPr id="522" name="Google Shape;522;p14"/>
          <p:cNvSpPr/>
          <p:nvPr/>
        </p:nvSpPr>
        <p:spPr>
          <a:xfrm>
            <a:off x="621792" y="3346704"/>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Input shape: 224 × 224 × 3 (RGB)</a:t>
            </a:r>
            <a:endParaRPr b="0" i="0" sz="1150" u="none" cap="none" strike="noStrike">
              <a:solidFill>
                <a:schemeClr val="dk1"/>
              </a:solidFill>
              <a:latin typeface="Calibri"/>
              <a:ea typeface="Calibri"/>
              <a:cs typeface="Calibri"/>
              <a:sym typeface="Calibri"/>
            </a:endParaRPr>
          </a:p>
        </p:txBody>
      </p:sp>
      <p:sp>
        <p:nvSpPr>
          <p:cNvPr id="523" name="Google Shape;523;p14"/>
          <p:cNvSpPr/>
          <p:nvPr/>
        </p:nvSpPr>
        <p:spPr>
          <a:xfrm>
            <a:off x="621792" y="3584448"/>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Parameter count: ~3.5M total | 11.6 MB on disk</a:t>
            </a:r>
            <a:endParaRPr b="0" i="0" sz="1150" u="none" cap="none" strike="noStrike">
              <a:solidFill>
                <a:schemeClr val="dk1"/>
              </a:solidFill>
              <a:latin typeface="Calibri"/>
              <a:ea typeface="Calibri"/>
              <a:cs typeface="Calibri"/>
              <a:sym typeface="Calibri"/>
            </a:endParaRPr>
          </a:p>
        </p:txBody>
      </p:sp>
      <p:sp>
        <p:nvSpPr>
          <p:cNvPr id="524" name="Google Shape;524;p14"/>
          <p:cNvSpPr/>
          <p:nvPr/>
        </p:nvSpPr>
        <p:spPr>
          <a:xfrm>
            <a:off x="621792" y="3803904"/>
            <a:ext cx="4023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Inference: ~380 ms avg (commodity CPU, post-warmup)</a:t>
            </a:r>
            <a:endParaRPr b="0" i="0" sz="1150" u="none" cap="none" strike="noStrike">
              <a:solidFill>
                <a:schemeClr val="dk1"/>
              </a:solidFill>
              <a:latin typeface="Calibri"/>
              <a:ea typeface="Calibri"/>
              <a:cs typeface="Calibri"/>
              <a:sym typeface="Calibri"/>
            </a:endParaRPr>
          </a:p>
        </p:txBody>
      </p:sp>
      <p:sp>
        <p:nvSpPr>
          <p:cNvPr id="525" name="Google Shape;525;p14"/>
          <p:cNvSpPr/>
          <p:nvPr/>
        </p:nvSpPr>
        <p:spPr>
          <a:xfrm>
            <a:off x="4956048" y="1207008"/>
            <a:ext cx="3803904" cy="1572768"/>
          </a:xfrm>
          <a:prstGeom prst="roundRect">
            <a:avLst>
              <a:gd fmla="val 6977" name="adj"/>
            </a:avLst>
          </a:prstGeom>
          <a:solidFill>
            <a:srgbClr val="FFFDE7"/>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4"/>
          <p:cNvSpPr/>
          <p:nvPr/>
        </p:nvSpPr>
        <p:spPr>
          <a:xfrm>
            <a:off x="5102352" y="1280160"/>
            <a:ext cx="3547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Why Depthwise Separable Convolutions?</a:t>
            </a:r>
            <a:endParaRPr b="0" i="0" sz="1150" u="none" cap="none" strike="noStrike">
              <a:solidFill>
                <a:schemeClr val="dk1"/>
              </a:solidFill>
              <a:latin typeface="Calibri"/>
              <a:ea typeface="Calibri"/>
              <a:cs typeface="Calibri"/>
              <a:sym typeface="Calibri"/>
            </a:endParaRPr>
          </a:p>
        </p:txBody>
      </p:sp>
      <p:sp>
        <p:nvSpPr>
          <p:cNvPr id="527" name="Google Shape;527;p14"/>
          <p:cNvSpPr/>
          <p:nvPr/>
        </p:nvSpPr>
        <p:spPr>
          <a:xfrm>
            <a:off x="5102352" y="1572768"/>
            <a:ext cx="3547872" cy="11704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 standard 3×3 conv on a 64-channel tensor requires 3×3×64×64 = 36,864 multiplications per spatial position. The depthwise (DW) step convolves each channel independently (3×3×1×64 = 576), and the pointwise projects across channels (1×1×64×64 = 4,096). Total: 4,672 — an 8× reduction with minimal accuracy loss.</a:t>
            </a:r>
            <a:endParaRPr b="0" i="0" sz="1050" u="none" cap="none" strike="noStrike">
              <a:solidFill>
                <a:schemeClr val="dk1"/>
              </a:solidFill>
              <a:latin typeface="Calibri"/>
              <a:ea typeface="Calibri"/>
              <a:cs typeface="Calibri"/>
              <a:sym typeface="Calibri"/>
            </a:endParaRPr>
          </a:p>
        </p:txBody>
      </p:sp>
      <p:sp>
        <p:nvSpPr>
          <p:cNvPr id="528" name="Google Shape;528;p14"/>
          <p:cNvSpPr/>
          <p:nvPr/>
        </p:nvSpPr>
        <p:spPr>
          <a:xfrm>
            <a:off x="4956048" y="2889504"/>
            <a:ext cx="3803904" cy="1792224"/>
          </a:xfrm>
          <a:prstGeom prst="roundRect">
            <a:avLst>
              <a:gd fmla="val 6122"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5102352" y="2962656"/>
            <a:ext cx="354787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Why MobileNetV2 over ResNet-50?</a:t>
            </a:r>
            <a:endParaRPr b="0" i="0" sz="1150" u="none" cap="none" strike="noStrike">
              <a:solidFill>
                <a:schemeClr val="dk1"/>
              </a:solidFill>
              <a:latin typeface="Calibri"/>
              <a:ea typeface="Calibri"/>
              <a:cs typeface="Calibri"/>
              <a:sym typeface="Calibri"/>
            </a:endParaRPr>
          </a:p>
        </p:txBody>
      </p:sp>
      <p:sp>
        <p:nvSpPr>
          <p:cNvPr id="530" name="Google Shape;530;p14"/>
          <p:cNvSpPr/>
          <p:nvPr/>
        </p:nvSpPr>
        <p:spPr>
          <a:xfrm>
            <a:off x="5102352" y="3255264"/>
            <a:ext cx="3547872" cy="13898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ResNet-50 achieves ~1–2% higher Top-1 accuracy on ImageNet but is 97 MB on disk — 8× heavier. At 11.6 MB, MobileNetV2:</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 Loads at server startup in ~800 ms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 Infers in ~380 ms on CPU (no GPU needed)</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 Fits in RAM on a free-tier Render instance</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 Can later be converted to TensorFlow Lite for on-device inference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35" name="Shape 535"/>
        <p:cNvGrpSpPr/>
        <p:nvPr/>
      </p:nvGrpSpPr>
      <p:grpSpPr>
        <a:xfrm>
          <a:off x="0" y="0"/>
          <a:ext cx="0" cy="0"/>
          <a:chOff x="0" y="0"/>
          <a:chExt cx="0" cy="0"/>
        </a:xfrm>
      </p:grpSpPr>
      <p:sp>
        <p:nvSpPr>
          <p:cNvPr id="536" name="Google Shape;536;p15"/>
          <p:cNvSpPr/>
          <p:nvPr/>
        </p:nvSpPr>
        <p:spPr>
          <a:xfrm>
            <a:off x="7589520" y="182880"/>
            <a:ext cx="1005840" cy="100584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5"/>
          <p:cNvSpPr/>
          <p:nvPr/>
        </p:nvSpPr>
        <p:spPr>
          <a:xfrm>
            <a:off x="7589520" y="182880"/>
            <a:ext cx="670560" cy="67056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5"/>
          <p:cNvSpPr/>
          <p:nvPr/>
        </p:nvSpPr>
        <p:spPr>
          <a:xfrm>
            <a:off x="7589520" y="182880"/>
            <a:ext cx="335280" cy="33528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5"/>
          <p:cNvSpPr/>
          <p:nvPr/>
        </p:nvSpPr>
        <p:spPr>
          <a:xfrm rot="-900000">
            <a:off x="137160" y="137160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5"/>
          <p:cNvSpPr/>
          <p:nvPr/>
        </p:nvSpPr>
        <p:spPr>
          <a:xfrm rot="-900000">
            <a:off x="338328" y="146304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5"/>
          <p:cNvSpPr/>
          <p:nvPr/>
        </p:nvSpPr>
        <p:spPr>
          <a:xfrm rot="-900000">
            <a:off x="539496" y="155448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5"/>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Mathematical Model: Shelf-Life Estimator</a:t>
            </a:r>
            <a:endParaRPr b="0" i="0" sz="2800" u="none" cap="none" strike="noStrike">
              <a:solidFill>
                <a:schemeClr val="dk1"/>
              </a:solidFill>
              <a:latin typeface="Calibri"/>
              <a:ea typeface="Calibri"/>
              <a:cs typeface="Calibri"/>
              <a:sym typeface="Calibri"/>
            </a:endParaRPr>
          </a:p>
        </p:txBody>
      </p:sp>
      <p:cxnSp>
        <p:nvCxnSpPr>
          <p:cNvPr id="543" name="Google Shape;543;p15"/>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544" name="Google Shape;544;p15"/>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545" name="Google Shape;545;p15"/>
          <p:cNvSpPr/>
          <p:nvPr/>
        </p:nvSpPr>
        <p:spPr>
          <a:xfrm>
            <a:off x="384048" y="1005840"/>
            <a:ext cx="8375904" cy="621792"/>
          </a:xfrm>
          <a:prstGeom prst="rect">
            <a:avLst/>
          </a:prstGeom>
          <a:solidFill>
            <a:srgbClr val="1A2B4A"/>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5"/>
          <p:cNvSpPr/>
          <p:nvPr/>
        </p:nvSpPr>
        <p:spPr>
          <a:xfrm>
            <a:off x="384048" y="1005840"/>
            <a:ext cx="8375904"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ourier New"/>
              <a:buNone/>
            </a:pPr>
            <a:r>
              <a:rPr b="1" i="0" lang="en-US" sz="2600" u="none" cap="none" strike="noStrike">
                <a:solidFill>
                  <a:srgbClr val="FFFFFF"/>
                </a:solidFill>
                <a:latin typeface="Courier New"/>
                <a:ea typeface="Courier New"/>
                <a:cs typeface="Courier New"/>
                <a:sym typeface="Courier New"/>
              </a:rPr>
              <a:t>D = B × F^1.5 × T × R</a:t>
            </a:r>
            <a:endParaRPr b="0" i="0" sz="2600" u="none" cap="none" strike="noStrike">
              <a:solidFill>
                <a:schemeClr val="dk1"/>
              </a:solidFill>
              <a:latin typeface="Calibri"/>
              <a:ea typeface="Calibri"/>
              <a:cs typeface="Calibri"/>
              <a:sym typeface="Calibri"/>
            </a:endParaRPr>
          </a:p>
        </p:txBody>
      </p:sp>
      <p:sp>
        <p:nvSpPr>
          <p:cNvPr id="547" name="Google Shape;547;p15"/>
          <p:cNvSpPr/>
          <p:nvPr/>
        </p:nvSpPr>
        <p:spPr>
          <a:xfrm>
            <a:off x="384048" y="1737360"/>
            <a:ext cx="4114800" cy="1216152"/>
          </a:xfrm>
          <a:prstGeom prst="roundRect">
            <a:avLst>
              <a:gd fmla="val 902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5"/>
          <p:cNvSpPr/>
          <p:nvPr/>
        </p:nvSpPr>
        <p:spPr>
          <a:xfrm>
            <a:off x="493776" y="184708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ourier New"/>
              <a:buNone/>
            </a:pPr>
            <a:r>
              <a:rPr b="1" i="0" lang="en-US" sz="2200" u="none" cap="none" strike="noStrike">
                <a:solidFill>
                  <a:srgbClr val="3A8C7E"/>
                </a:solidFill>
                <a:latin typeface="Courier New"/>
                <a:ea typeface="Courier New"/>
                <a:cs typeface="Courier New"/>
                <a:sym typeface="Courier New"/>
              </a:rPr>
              <a:t>D</a:t>
            </a:r>
            <a:endParaRPr b="0" i="0" sz="2200" u="none" cap="none" strike="noStrike">
              <a:solidFill>
                <a:schemeClr val="dk1"/>
              </a:solidFill>
              <a:latin typeface="Calibri"/>
              <a:ea typeface="Calibri"/>
              <a:cs typeface="Calibri"/>
              <a:sym typeface="Calibri"/>
            </a:endParaRPr>
          </a:p>
        </p:txBody>
      </p:sp>
      <p:sp>
        <p:nvSpPr>
          <p:cNvPr id="549" name="Google Shape;549;p15"/>
          <p:cNvSpPr/>
          <p:nvPr/>
        </p:nvSpPr>
        <p:spPr>
          <a:xfrm>
            <a:off x="1207008" y="182880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Days Remaining</a:t>
            </a:r>
            <a:endParaRPr b="0" i="0" sz="1200" u="none" cap="none" strike="noStrike">
              <a:solidFill>
                <a:schemeClr val="dk1"/>
              </a:solidFill>
              <a:latin typeface="Calibri"/>
              <a:ea typeface="Calibri"/>
              <a:cs typeface="Calibri"/>
              <a:sym typeface="Calibri"/>
            </a:endParaRPr>
          </a:p>
        </p:txBody>
      </p:sp>
      <p:sp>
        <p:nvSpPr>
          <p:cNvPr id="550" name="Google Shape;550;p15"/>
          <p:cNvSpPr/>
          <p:nvPr/>
        </p:nvSpPr>
        <p:spPr>
          <a:xfrm>
            <a:off x="1207008" y="2103120"/>
            <a:ext cx="320040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personalised shelf-life estimate. Computed separately for room temperature, refrigerator, and freezer — all three returned; the recommended storage method shows the longest.</a:t>
            </a:r>
            <a:endParaRPr b="0" i="0" sz="1050" u="none" cap="none" strike="noStrike">
              <a:solidFill>
                <a:schemeClr val="dk1"/>
              </a:solidFill>
              <a:latin typeface="Calibri"/>
              <a:ea typeface="Calibri"/>
              <a:cs typeface="Calibri"/>
              <a:sym typeface="Calibri"/>
            </a:endParaRPr>
          </a:p>
        </p:txBody>
      </p:sp>
      <p:sp>
        <p:nvSpPr>
          <p:cNvPr id="551" name="Google Shape;551;p15"/>
          <p:cNvSpPr/>
          <p:nvPr/>
        </p:nvSpPr>
        <p:spPr>
          <a:xfrm>
            <a:off x="4636008" y="1737360"/>
            <a:ext cx="4114800" cy="1216152"/>
          </a:xfrm>
          <a:prstGeom prst="roundRect">
            <a:avLst>
              <a:gd fmla="val 902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5"/>
          <p:cNvSpPr/>
          <p:nvPr/>
        </p:nvSpPr>
        <p:spPr>
          <a:xfrm>
            <a:off x="4745736" y="184708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ourier New"/>
              <a:buNone/>
            </a:pPr>
            <a:r>
              <a:rPr b="1" i="0" lang="en-US" sz="2200" u="none" cap="none" strike="noStrike">
                <a:solidFill>
                  <a:srgbClr val="3A8C7E"/>
                </a:solidFill>
                <a:latin typeface="Courier New"/>
                <a:ea typeface="Courier New"/>
                <a:cs typeface="Courier New"/>
                <a:sym typeface="Courier New"/>
              </a:rPr>
              <a:t>B</a:t>
            </a:r>
            <a:endParaRPr b="0" i="0" sz="2200" u="none" cap="none" strike="noStrike">
              <a:solidFill>
                <a:schemeClr val="dk1"/>
              </a:solidFill>
              <a:latin typeface="Calibri"/>
              <a:ea typeface="Calibri"/>
              <a:cs typeface="Calibri"/>
              <a:sym typeface="Calibri"/>
            </a:endParaRPr>
          </a:p>
        </p:txBody>
      </p:sp>
      <p:sp>
        <p:nvSpPr>
          <p:cNvPr id="553" name="Google Shape;553;p15"/>
          <p:cNvSpPr/>
          <p:nvPr/>
        </p:nvSpPr>
        <p:spPr>
          <a:xfrm>
            <a:off x="5458968" y="182880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Base Shelf Life</a:t>
            </a:r>
            <a:endParaRPr b="0" i="0" sz="1200" u="none" cap="none" strike="noStrike">
              <a:solidFill>
                <a:schemeClr val="dk1"/>
              </a:solidFill>
              <a:latin typeface="Calibri"/>
              <a:ea typeface="Calibri"/>
              <a:cs typeface="Calibri"/>
              <a:sym typeface="Calibri"/>
            </a:endParaRPr>
          </a:p>
        </p:txBody>
      </p:sp>
      <p:sp>
        <p:nvSpPr>
          <p:cNvPr id="554" name="Google Shape;554;p15"/>
          <p:cNvSpPr/>
          <p:nvPr/>
        </p:nvSpPr>
        <p:spPr>
          <a:xfrm>
            <a:off x="5458968" y="2103120"/>
            <a:ext cx="320040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Read from the 42-fruit reference database for the identified variety and chosen storage method. Values drawn from USDA Postharvest Handling Guidelines (Kader, 2002).</a:t>
            </a:r>
            <a:endParaRPr b="0" i="0" sz="1050" u="none" cap="none" strike="noStrike">
              <a:solidFill>
                <a:schemeClr val="dk1"/>
              </a:solidFill>
              <a:latin typeface="Calibri"/>
              <a:ea typeface="Calibri"/>
              <a:cs typeface="Calibri"/>
              <a:sym typeface="Calibri"/>
            </a:endParaRPr>
          </a:p>
        </p:txBody>
      </p:sp>
      <p:sp>
        <p:nvSpPr>
          <p:cNvPr id="555" name="Google Shape;555;p15"/>
          <p:cNvSpPr/>
          <p:nvPr/>
        </p:nvSpPr>
        <p:spPr>
          <a:xfrm>
            <a:off x="384048" y="3063240"/>
            <a:ext cx="4114800" cy="1216152"/>
          </a:xfrm>
          <a:prstGeom prst="roundRect">
            <a:avLst>
              <a:gd fmla="val 902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5"/>
          <p:cNvSpPr/>
          <p:nvPr/>
        </p:nvSpPr>
        <p:spPr>
          <a:xfrm>
            <a:off x="493776" y="317296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ourier New"/>
              <a:buNone/>
            </a:pPr>
            <a:r>
              <a:rPr b="1" i="0" lang="en-US" sz="2200" u="none" cap="none" strike="noStrike">
                <a:solidFill>
                  <a:srgbClr val="3A8C7E"/>
                </a:solidFill>
                <a:latin typeface="Courier New"/>
                <a:ea typeface="Courier New"/>
                <a:cs typeface="Courier New"/>
                <a:sym typeface="Courier New"/>
              </a:rPr>
              <a:t>F^1.5</a:t>
            </a:r>
            <a:endParaRPr b="0" i="0" sz="2200" u="none" cap="none" strike="noStrike">
              <a:solidFill>
                <a:schemeClr val="dk1"/>
              </a:solidFill>
              <a:latin typeface="Calibri"/>
              <a:ea typeface="Calibri"/>
              <a:cs typeface="Calibri"/>
              <a:sym typeface="Calibri"/>
            </a:endParaRPr>
          </a:p>
        </p:txBody>
      </p:sp>
      <p:sp>
        <p:nvSpPr>
          <p:cNvPr id="557" name="Google Shape;557;p15"/>
          <p:cNvSpPr/>
          <p:nvPr/>
        </p:nvSpPr>
        <p:spPr>
          <a:xfrm>
            <a:off x="1207008" y="315468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Freshness Factor (non-linear)</a:t>
            </a:r>
            <a:endParaRPr b="0" i="0" sz="1200" u="none" cap="none" strike="noStrike">
              <a:solidFill>
                <a:schemeClr val="dk1"/>
              </a:solidFill>
              <a:latin typeface="Calibri"/>
              <a:ea typeface="Calibri"/>
              <a:cs typeface="Calibri"/>
              <a:sym typeface="Calibri"/>
            </a:endParaRPr>
          </a:p>
        </p:txBody>
      </p:sp>
      <p:sp>
        <p:nvSpPr>
          <p:cNvPr id="558" name="Google Shape;558;p15"/>
          <p:cNvSpPr/>
          <p:nvPr/>
        </p:nvSpPr>
        <p:spPr>
          <a:xfrm>
            <a:off x="1207008" y="3429000"/>
            <a:ext cx="320040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freshness score ∈ [0,1] raised to the power 1.5. The exponent reflects food-science evidence that quality degrades acceleratingly — a fruit at 50% freshness has less than 50% of base life remaining. A banana at F=0.72 → F^1.5 = 0.611 (not 0.72).</a:t>
            </a:r>
            <a:endParaRPr b="0" i="0" sz="1050" u="none" cap="none" strike="noStrike">
              <a:solidFill>
                <a:schemeClr val="dk1"/>
              </a:solidFill>
              <a:latin typeface="Calibri"/>
              <a:ea typeface="Calibri"/>
              <a:cs typeface="Calibri"/>
              <a:sym typeface="Calibri"/>
            </a:endParaRPr>
          </a:p>
        </p:txBody>
      </p:sp>
      <p:sp>
        <p:nvSpPr>
          <p:cNvPr id="559" name="Google Shape;559;p15"/>
          <p:cNvSpPr/>
          <p:nvPr/>
        </p:nvSpPr>
        <p:spPr>
          <a:xfrm>
            <a:off x="4636008" y="3063240"/>
            <a:ext cx="4114800" cy="1216152"/>
          </a:xfrm>
          <a:prstGeom prst="roundRect">
            <a:avLst>
              <a:gd fmla="val 902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4745736" y="3172968"/>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ourier New"/>
              <a:buNone/>
            </a:pPr>
            <a:r>
              <a:rPr b="1" i="0" lang="en-US" sz="2200" u="none" cap="none" strike="noStrike">
                <a:solidFill>
                  <a:srgbClr val="3A8C7E"/>
                </a:solidFill>
                <a:latin typeface="Courier New"/>
                <a:ea typeface="Courier New"/>
                <a:cs typeface="Courier New"/>
                <a:sym typeface="Courier New"/>
              </a:rPr>
              <a:t>T</a:t>
            </a:r>
            <a:endParaRPr b="0" i="0" sz="2200" u="none" cap="none" strike="noStrike">
              <a:solidFill>
                <a:schemeClr val="dk1"/>
              </a:solidFill>
              <a:latin typeface="Calibri"/>
              <a:ea typeface="Calibri"/>
              <a:cs typeface="Calibri"/>
              <a:sym typeface="Calibri"/>
            </a:endParaRPr>
          </a:p>
        </p:txBody>
      </p:sp>
      <p:sp>
        <p:nvSpPr>
          <p:cNvPr id="561" name="Google Shape;561;p15"/>
          <p:cNvSpPr/>
          <p:nvPr/>
        </p:nvSpPr>
        <p:spPr>
          <a:xfrm>
            <a:off x="5458968" y="315468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Temperature Factor</a:t>
            </a:r>
            <a:endParaRPr b="0" i="0" sz="1200" u="none" cap="none" strike="noStrike">
              <a:solidFill>
                <a:schemeClr val="dk1"/>
              </a:solidFill>
              <a:latin typeface="Calibri"/>
              <a:ea typeface="Calibri"/>
              <a:cs typeface="Calibri"/>
              <a:sym typeface="Calibri"/>
            </a:endParaRPr>
          </a:p>
        </p:txBody>
      </p:sp>
      <p:sp>
        <p:nvSpPr>
          <p:cNvPr id="562" name="Google Shape;562;p15"/>
          <p:cNvSpPr/>
          <p:nvPr/>
        </p:nvSpPr>
        <p:spPr>
          <a:xfrm>
            <a:off x="5458968" y="3429000"/>
            <a:ext cx="320040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2% penalty per °C deviation from the fruit's optimal storage range. Clamped at 0.5 minimum. Freezer always applies T = 0.95 (small quality loss from freezing). Banana stored at 4°C (9° below optimal 13–15°C) → T = 0.82.</a:t>
            </a:r>
            <a:endParaRPr b="0" i="0" sz="1050" u="none" cap="none" strike="noStrike">
              <a:solidFill>
                <a:schemeClr val="dk1"/>
              </a:solidFill>
              <a:latin typeface="Calibri"/>
              <a:ea typeface="Calibri"/>
              <a:cs typeface="Calibri"/>
              <a:sym typeface="Calibri"/>
            </a:endParaRPr>
          </a:p>
        </p:txBody>
      </p:sp>
      <p:sp>
        <p:nvSpPr>
          <p:cNvPr id="563" name="Google Shape;563;p15"/>
          <p:cNvSpPr/>
          <p:nvPr/>
        </p:nvSpPr>
        <p:spPr>
          <a:xfrm>
            <a:off x="384048" y="4407408"/>
            <a:ext cx="8375904" cy="548640"/>
          </a:xfrm>
          <a:prstGeom prst="roundRect">
            <a:avLst>
              <a:gd fmla="val 20000"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548640" y="4462272"/>
            <a:ext cx="25603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R — Ripeness Factor (categorical multiplier):  </a:t>
            </a:r>
            <a:endParaRPr b="0" i="0" sz="1150" u="none" cap="none" strike="noStrike">
              <a:solidFill>
                <a:schemeClr val="dk1"/>
              </a:solidFill>
              <a:latin typeface="Calibri"/>
              <a:ea typeface="Calibri"/>
              <a:cs typeface="Calibri"/>
              <a:sym typeface="Calibri"/>
            </a:endParaRPr>
          </a:p>
        </p:txBody>
      </p:sp>
      <p:sp>
        <p:nvSpPr>
          <p:cNvPr id="565" name="Google Shape;565;p15"/>
          <p:cNvSpPr/>
          <p:nvPr/>
        </p:nvSpPr>
        <p:spPr>
          <a:xfrm>
            <a:off x="2926080" y="4462272"/>
            <a:ext cx="56692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Unripe (F ≥ 0.85) → R = 1.00  ·  Nearly Ripe (F ≥ 0.70) → R = 0.85  ·  Ripe (F ≥ 0.50) → R = 0.65  ·  Overripe (F &lt; 0.50) → R = 0.30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570" name="Shape 570"/>
        <p:cNvGrpSpPr/>
        <p:nvPr/>
      </p:nvGrpSpPr>
      <p:grpSpPr>
        <a:xfrm>
          <a:off x="0" y="0"/>
          <a:ext cx="0" cy="0"/>
          <a:chOff x="0" y="0"/>
          <a:chExt cx="0" cy="0"/>
        </a:xfrm>
      </p:grpSpPr>
      <p:sp>
        <p:nvSpPr>
          <p:cNvPr id="571" name="Google Shape;571;p16"/>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6"/>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6"/>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6"/>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6"/>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6"/>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6"/>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6"/>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6"/>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6"/>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6"/>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6"/>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6"/>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6"/>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6"/>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6"/>
          <p:cNvSpPr/>
          <p:nvPr/>
        </p:nvSpPr>
        <p:spPr>
          <a:xfrm rot="2700000">
            <a:off x="-45720" y="3611880"/>
            <a:ext cx="1005840" cy="100584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6"/>
          <p:cNvSpPr/>
          <p:nvPr/>
        </p:nvSpPr>
        <p:spPr>
          <a:xfrm rot="2700000">
            <a:off x="121920" y="3779520"/>
            <a:ext cx="670560" cy="67056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p:nvPr/>
        </p:nvSpPr>
        <p:spPr>
          <a:xfrm rot="2700000">
            <a:off x="289560" y="3947160"/>
            <a:ext cx="335280" cy="33528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6"/>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Mathematical Model: Composite Decision Engine</a:t>
            </a:r>
            <a:endParaRPr b="0" i="0" sz="2800" u="none" cap="none" strike="noStrike">
              <a:solidFill>
                <a:schemeClr val="dk1"/>
              </a:solidFill>
              <a:latin typeface="Calibri"/>
              <a:ea typeface="Calibri"/>
              <a:cs typeface="Calibri"/>
              <a:sym typeface="Calibri"/>
            </a:endParaRPr>
          </a:p>
        </p:txBody>
      </p:sp>
      <p:cxnSp>
        <p:nvCxnSpPr>
          <p:cNvPr id="600" name="Google Shape;600;p16"/>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601" name="Google Shape;601;p16"/>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602" name="Google Shape;602;p16"/>
          <p:cNvSpPr/>
          <p:nvPr/>
        </p:nvSpPr>
        <p:spPr>
          <a:xfrm>
            <a:off x="384048" y="1005840"/>
            <a:ext cx="8375904" cy="548640"/>
          </a:xfrm>
          <a:prstGeom prst="rect">
            <a:avLst/>
          </a:prstGeom>
          <a:solidFill>
            <a:srgbClr val="1A2B4A"/>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6"/>
          <p:cNvSpPr/>
          <p:nvPr/>
        </p:nvSpPr>
        <p:spPr>
          <a:xfrm>
            <a:off x="384048" y="1005840"/>
            <a:ext cx="8375904"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ourier New"/>
              <a:buNone/>
            </a:pPr>
            <a:r>
              <a:rPr b="1" i="0" lang="en-US" sz="1800" u="none" cap="none" strike="noStrike">
                <a:solidFill>
                  <a:srgbClr val="FFFFFF"/>
                </a:solidFill>
                <a:latin typeface="Courier New"/>
                <a:ea typeface="Courier New"/>
                <a:cs typeface="Courier New"/>
                <a:sym typeface="Courier New"/>
              </a:rPr>
              <a:t>C = (F × 0.6) + (N × 0.4)     where N = min(D / B, 1.0)</a:t>
            </a:r>
            <a:endParaRPr b="0" i="0" sz="1800" u="none" cap="none" strike="noStrike">
              <a:solidFill>
                <a:schemeClr val="dk1"/>
              </a:solidFill>
              <a:latin typeface="Calibri"/>
              <a:ea typeface="Calibri"/>
              <a:cs typeface="Calibri"/>
              <a:sym typeface="Calibri"/>
            </a:endParaRPr>
          </a:p>
        </p:txBody>
      </p:sp>
      <p:sp>
        <p:nvSpPr>
          <p:cNvPr id="604" name="Google Shape;604;p16"/>
          <p:cNvSpPr/>
          <p:nvPr/>
        </p:nvSpPr>
        <p:spPr>
          <a:xfrm>
            <a:off x="384050" y="1664199"/>
            <a:ext cx="4005000" cy="2858700"/>
          </a:xfrm>
          <a:prstGeom prst="roundRect">
            <a:avLst>
              <a:gd fmla="val 444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6"/>
          <p:cNvSpPr/>
          <p:nvPr/>
        </p:nvSpPr>
        <p:spPr>
          <a:xfrm>
            <a:off x="548640" y="173736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Signal Fusion Logic</a:t>
            </a:r>
            <a:endParaRPr b="0" i="0" sz="1200" u="none" cap="none" strike="noStrike">
              <a:solidFill>
                <a:schemeClr val="dk1"/>
              </a:solidFill>
              <a:latin typeface="Calibri"/>
              <a:ea typeface="Calibri"/>
              <a:cs typeface="Calibri"/>
              <a:sym typeface="Calibri"/>
            </a:endParaRPr>
          </a:p>
        </p:txBody>
      </p:sp>
      <p:sp>
        <p:nvSpPr>
          <p:cNvPr id="606" name="Google Shape;606;p16"/>
          <p:cNvSpPr/>
          <p:nvPr/>
        </p:nvSpPr>
        <p:spPr>
          <a:xfrm>
            <a:off x="548640" y="2029968"/>
            <a:ext cx="3749040" cy="20665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 = Composite Score ∈ [0.0, 1.0]</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F = Freshness Score (direct visual assessment)</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N = Normalised days remaining (D ÷ Base, clamped to 1.0)</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Why 60/40 weighting?</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freshness score is the stronger, more direct signal  it is the model's visual assessment of the fruit's current condition. The normalised days remaining provides context but is one inference step away from the raw visual evidence. The 60/40 weighting reflects this difference in signal reliability.</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Normalisation is essential: 3 days remaining means something completely different for a strawberry (base = 5 days) vs. an apple (base = 30 days). Dividing by the baseline creates a comparable scale.</a:t>
            </a:r>
            <a:endParaRPr b="0" i="0" sz="1050" u="none" cap="none" strike="noStrike">
              <a:solidFill>
                <a:schemeClr val="dk1"/>
              </a:solidFill>
              <a:latin typeface="Calibri"/>
              <a:ea typeface="Calibri"/>
              <a:cs typeface="Calibri"/>
              <a:sym typeface="Calibri"/>
            </a:endParaRPr>
          </a:p>
        </p:txBody>
      </p:sp>
      <p:sp>
        <p:nvSpPr>
          <p:cNvPr id="607" name="Google Shape;607;p16"/>
          <p:cNvSpPr/>
          <p:nvPr/>
        </p:nvSpPr>
        <p:spPr>
          <a:xfrm>
            <a:off x="4572000" y="1664208"/>
            <a:ext cx="4187952" cy="566928"/>
          </a:xfrm>
          <a:prstGeom prst="roundRect">
            <a:avLst>
              <a:gd fmla="val 19355" name="adj"/>
            </a:avLst>
          </a:prstGeom>
          <a:solidFill>
            <a:srgbClr val="E8F5E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6"/>
          <p:cNvSpPr/>
          <p:nvPr/>
        </p:nvSpPr>
        <p:spPr>
          <a:xfrm>
            <a:off x="4572000" y="1664208"/>
            <a:ext cx="1097280" cy="566928"/>
          </a:xfrm>
          <a:prstGeom prst="roundRect">
            <a:avLst>
              <a:gd fmla="val 12903" name="adj"/>
            </a:avLst>
          </a:pr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6"/>
          <p:cNvSpPr/>
          <p:nvPr/>
        </p:nvSpPr>
        <p:spPr>
          <a:xfrm>
            <a:off x="4572000" y="1664208"/>
            <a:ext cx="10972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FRESH</a:t>
            </a:r>
            <a:endParaRPr b="0" i="0" sz="1100" u="none" cap="none" strike="noStrike">
              <a:solidFill>
                <a:schemeClr val="dk1"/>
              </a:solidFill>
              <a:latin typeface="Calibri"/>
              <a:ea typeface="Calibri"/>
              <a:cs typeface="Calibri"/>
              <a:sym typeface="Calibri"/>
            </a:endParaRPr>
          </a:p>
        </p:txBody>
      </p:sp>
      <p:sp>
        <p:nvSpPr>
          <p:cNvPr id="610" name="Google Shape;610;p16"/>
          <p:cNvSpPr/>
          <p:nvPr/>
        </p:nvSpPr>
        <p:spPr>
          <a:xfrm>
            <a:off x="5742432" y="1700784"/>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150"/>
              <a:buFont typeface="Courier New"/>
              <a:buNone/>
            </a:pPr>
            <a:r>
              <a:rPr b="1" i="0" lang="en-US" sz="1150" u="none" cap="none" strike="noStrike">
                <a:solidFill>
                  <a:srgbClr val="2E7D32"/>
                </a:solidFill>
                <a:latin typeface="Courier New"/>
                <a:ea typeface="Courier New"/>
                <a:cs typeface="Courier New"/>
                <a:sym typeface="Courier New"/>
              </a:rPr>
              <a:t>C ≥ 0.70</a:t>
            </a:r>
            <a:endParaRPr b="0" i="0" sz="1150" u="none" cap="none" strike="noStrike">
              <a:solidFill>
                <a:schemeClr val="dk1"/>
              </a:solidFill>
              <a:latin typeface="Calibri"/>
              <a:ea typeface="Calibri"/>
              <a:cs typeface="Calibri"/>
              <a:sym typeface="Calibri"/>
            </a:endParaRPr>
          </a:p>
        </p:txBody>
      </p:sp>
      <p:sp>
        <p:nvSpPr>
          <p:cNvPr id="611" name="Google Shape;611;p16"/>
          <p:cNvSpPr/>
          <p:nvPr/>
        </p:nvSpPr>
        <p:spPr>
          <a:xfrm>
            <a:off x="5742432" y="1956816"/>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Full base shelf life. Standard storage advice.</a:t>
            </a:r>
            <a:endParaRPr b="0" i="0" sz="1050" u="none" cap="none" strike="noStrike">
              <a:solidFill>
                <a:schemeClr val="dk1"/>
              </a:solidFill>
              <a:latin typeface="Calibri"/>
              <a:ea typeface="Calibri"/>
              <a:cs typeface="Calibri"/>
              <a:sym typeface="Calibri"/>
            </a:endParaRPr>
          </a:p>
        </p:txBody>
      </p:sp>
      <p:sp>
        <p:nvSpPr>
          <p:cNvPr id="612" name="Google Shape;612;p16"/>
          <p:cNvSpPr/>
          <p:nvPr/>
        </p:nvSpPr>
        <p:spPr>
          <a:xfrm>
            <a:off x="4572000" y="2322576"/>
            <a:ext cx="4187952" cy="566928"/>
          </a:xfrm>
          <a:prstGeom prst="roundRect">
            <a:avLst>
              <a:gd fmla="val 19355" name="adj"/>
            </a:avLst>
          </a:prstGeom>
          <a:solidFill>
            <a:srgbClr val="FFF8E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6"/>
          <p:cNvSpPr/>
          <p:nvPr/>
        </p:nvSpPr>
        <p:spPr>
          <a:xfrm>
            <a:off x="4572000" y="2322576"/>
            <a:ext cx="1097280" cy="566928"/>
          </a:xfrm>
          <a:prstGeom prst="roundRect">
            <a:avLst>
              <a:gd fmla="val 12903" name="adj"/>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p:nvPr/>
        </p:nvSpPr>
        <p:spPr>
          <a:xfrm>
            <a:off x="4572000" y="2322576"/>
            <a:ext cx="10972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EAT SOON</a:t>
            </a:r>
            <a:endParaRPr b="0" i="0" sz="1100" u="none" cap="none" strike="noStrike">
              <a:solidFill>
                <a:schemeClr val="dk1"/>
              </a:solidFill>
              <a:latin typeface="Calibri"/>
              <a:ea typeface="Calibri"/>
              <a:cs typeface="Calibri"/>
              <a:sym typeface="Calibri"/>
            </a:endParaRPr>
          </a:p>
        </p:txBody>
      </p:sp>
      <p:sp>
        <p:nvSpPr>
          <p:cNvPr id="615" name="Google Shape;615;p16"/>
          <p:cNvSpPr/>
          <p:nvPr/>
        </p:nvSpPr>
        <p:spPr>
          <a:xfrm>
            <a:off x="5742432" y="2359152"/>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150"/>
              <a:buFont typeface="Courier New"/>
              <a:buNone/>
            </a:pPr>
            <a:r>
              <a:rPr b="1" i="0" lang="en-US" sz="1150" u="none" cap="none" strike="noStrike">
                <a:solidFill>
                  <a:srgbClr val="D97706"/>
                </a:solidFill>
                <a:latin typeface="Courier New"/>
                <a:ea typeface="Courier New"/>
                <a:cs typeface="Courier New"/>
                <a:sym typeface="Courier New"/>
              </a:rPr>
              <a:t>C ≥ 0.40</a:t>
            </a:r>
            <a:endParaRPr b="0" i="0" sz="1150" u="none" cap="none" strike="noStrike">
              <a:solidFill>
                <a:schemeClr val="dk1"/>
              </a:solidFill>
              <a:latin typeface="Calibri"/>
              <a:ea typeface="Calibri"/>
              <a:cs typeface="Calibri"/>
              <a:sym typeface="Calibri"/>
            </a:endParaRPr>
          </a:p>
        </p:txBody>
      </p:sp>
      <p:sp>
        <p:nvSpPr>
          <p:cNvPr id="616" name="Google Shape;616;p16"/>
          <p:cNvSpPr/>
          <p:nvPr/>
        </p:nvSpPr>
        <p:spPr>
          <a:xfrm>
            <a:off x="5742432" y="2615184"/>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Aging. Consume in 2–3 days. Consider freezer.</a:t>
            </a:r>
            <a:endParaRPr b="0" i="0" sz="1050" u="none" cap="none" strike="noStrike">
              <a:solidFill>
                <a:schemeClr val="dk1"/>
              </a:solidFill>
              <a:latin typeface="Calibri"/>
              <a:ea typeface="Calibri"/>
              <a:cs typeface="Calibri"/>
              <a:sym typeface="Calibri"/>
            </a:endParaRPr>
          </a:p>
        </p:txBody>
      </p:sp>
      <p:sp>
        <p:nvSpPr>
          <p:cNvPr id="617" name="Google Shape;617;p16"/>
          <p:cNvSpPr/>
          <p:nvPr/>
        </p:nvSpPr>
        <p:spPr>
          <a:xfrm>
            <a:off x="4572000" y="2980944"/>
            <a:ext cx="4187952" cy="566928"/>
          </a:xfrm>
          <a:prstGeom prst="roundRect">
            <a:avLst>
              <a:gd fmla="val 19355" name="adj"/>
            </a:avLst>
          </a:prstGeom>
          <a:solidFill>
            <a:srgbClr val="FFF3E0"/>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p:nvPr/>
        </p:nvSpPr>
        <p:spPr>
          <a:xfrm>
            <a:off x="4572000" y="2980944"/>
            <a:ext cx="1097280" cy="566928"/>
          </a:xfrm>
          <a:prstGeom prst="roundRect">
            <a:avLst>
              <a:gd fmla="val 12903" name="adj"/>
            </a:avLst>
          </a:prstGeom>
          <a:solidFill>
            <a:srgbClr val="E651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6"/>
          <p:cNvSpPr/>
          <p:nvPr/>
        </p:nvSpPr>
        <p:spPr>
          <a:xfrm>
            <a:off x="4572000" y="2980944"/>
            <a:ext cx="10972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EAT TODAY</a:t>
            </a:r>
            <a:endParaRPr b="0" i="0" sz="1100" u="none" cap="none" strike="noStrike">
              <a:solidFill>
                <a:schemeClr val="dk1"/>
              </a:solidFill>
              <a:latin typeface="Calibri"/>
              <a:ea typeface="Calibri"/>
              <a:cs typeface="Calibri"/>
              <a:sym typeface="Calibri"/>
            </a:endParaRPr>
          </a:p>
        </p:txBody>
      </p:sp>
      <p:sp>
        <p:nvSpPr>
          <p:cNvPr id="620" name="Google Shape;620;p16"/>
          <p:cNvSpPr/>
          <p:nvPr/>
        </p:nvSpPr>
        <p:spPr>
          <a:xfrm>
            <a:off x="5742432" y="3017520"/>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5100"/>
              </a:buClr>
              <a:buSzPts val="1150"/>
              <a:buFont typeface="Courier New"/>
              <a:buNone/>
            </a:pPr>
            <a:r>
              <a:rPr b="1" i="0" lang="en-US" sz="1150" u="none" cap="none" strike="noStrike">
                <a:solidFill>
                  <a:srgbClr val="E65100"/>
                </a:solidFill>
                <a:latin typeface="Courier New"/>
                <a:ea typeface="Courier New"/>
                <a:cs typeface="Courier New"/>
                <a:sym typeface="Courier New"/>
              </a:rPr>
              <a:t>C ≥ 0.20</a:t>
            </a:r>
            <a:endParaRPr b="0" i="0" sz="1150" u="none" cap="none" strike="noStrike">
              <a:solidFill>
                <a:schemeClr val="dk1"/>
              </a:solidFill>
              <a:latin typeface="Calibri"/>
              <a:ea typeface="Calibri"/>
              <a:cs typeface="Calibri"/>
              <a:sym typeface="Calibri"/>
            </a:endParaRPr>
          </a:p>
        </p:txBody>
      </p:sp>
      <p:sp>
        <p:nvSpPr>
          <p:cNvPr id="621" name="Google Shape;621;p16"/>
          <p:cNvSpPr/>
          <p:nvPr/>
        </p:nvSpPr>
        <p:spPr>
          <a:xfrm>
            <a:off x="5742432" y="327355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Urgency high. Suggest smoothie or cooking use.</a:t>
            </a:r>
            <a:endParaRPr b="0" i="0" sz="1050" u="none" cap="none" strike="noStrike">
              <a:solidFill>
                <a:schemeClr val="dk1"/>
              </a:solidFill>
              <a:latin typeface="Calibri"/>
              <a:ea typeface="Calibri"/>
              <a:cs typeface="Calibri"/>
              <a:sym typeface="Calibri"/>
            </a:endParaRPr>
          </a:p>
        </p:txBody>
      </p:sp>
      <p:sp>
        <p:nvSpPr>
          <p:cNvPr id="622" name="Google Shape;622;p16"/>
          <p:cNvSpPr/>
          <p:nvPr/>
        </p:nvSpPr>
        <p:spPr>
          <a:xfrm>
            <a:off x="4572000" y="3639312"/>
            <a:ext cx="4187952" cy="566928"/>
          </a:xfrm>
          <a:prstGeom prst="roundRect">
            <a:avLst>
              <a:gd fmla="val 19355" name="adj"/>
            </a:avLst>
          </a:prstGeom>
          <a:solidFill>
            <a:srgbClr val="FFEBEE"/>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6"/>
          <p:cNvSpPr/>
          <p:nvPr/>
        </p:nvSpPr>
        <p:spPr>
          <a:xfrm>
            <a:off x="4572000" y="3639312"/>
            <a:ext cx="1097280" cy="566928"/>
          </a:xfrm>
          <a:prstGeom prst="roundRect">
            <a:avLst>
              <a:gd fmla="val 12903" name="adj"/>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6"/>
          <p:cNvSpPr/>
          <p:nvPr/>
        </p:nvSpPr>
        <p:spPr>
          <a:xfrm>
            <a:off x="4572000" y="3639312"/>
            <a:ext cx="10972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SPOILED</a:t>
            </a:r>
            <a:endParaRPr b="0" i="0" sz="1100" u="none" cap="none" strike="noStrike">
              <a:solidFill>
                <a:schemeClr val="dk1"/>
              </a:solidFill>
              <a:latin typeface="Calibri"/>
              <a:ea typeface="Calibri"/>
              <a:cs typeface="Calibri"/>
              <a:sym typeface="Calibri"/>
            </a:endParaRPr>
          </a:p>
        </p:txBody>
      </p:sp>
      <p:sp>
        <p:nvSpPr>
          <p:cNvPr id="625" name="Google Shape;625;p16"/>
          <p:cNvSpPr/>
          <p:nvPr/>
        </p:nvSpPr>
        <p:spPr>
          <a:xfrm>
            <a:off x="5742432" y="3675888"/>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ourier New"/>
              <a:buNone/>
            </a:pPr>
            <a:r>
              <a:rPr b="1" i="0" lang="en-US" sz="1150" u="none" cap="none" strike="noStrike">
                <a:solidFill>
                  <a:srgbClr val="C0392B"/>
                </a:solidFill>
                <a:latin typeface="Courier New"/>
                <a:ea typeface="Courier New"/>
                <a:cs typeface="Courier New"/>
                <a:sym typeface="Courier New"/>
              </a:rPr>
              <a:t>C &lt; 0.20</a:t>
            </a:r>
            <a:endParaRPr b="0" i="0" sz="1150" u="none" cap="none" strike="noStrike">
              <a:solidFill>
                <a:schemeClr val="dk1"/>
              </a:solidFill>
              <a:latin typeface="Calibri"/>
              <a:ea typeface="Calibri"/>
              <a:cs typeface="Calibri"/>
              <a:sym typeface="Calibri"/>
            </a:endParaRPr>
          </a:p>
        </p:txBody>
      </p:sp>
      <p:sp>
        <p:nvSpPr>
          <p:cNvPr id="626" name="Google Shape;626;p16"/>
          <p:cNvSpPr/>
          <p:nvPr/>
        </p:nvSpPr>
        <p:spPr>
          <a:xfrm>
            <a:off x="5742432" y="3931920"/>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Past usable condition. Recommend discarding.</a:t>
            </a:r>
            <a:endParaRPr b="0" i="0" sz="1050" u="none" cap="none" strike="noStrike">
              <a:solidFill>
                <a:schemeClr val="dk1"/>
              </a:solidFill>
              <a:latin typeface="Calibri"/>
              <a:ea typeface="Calibri"/>
              <a:cs typeface="Calibri"/>
              <a:sym typeface="Calibri"/>
            </a:endParaRPr>
          </a:p>
        </p:txBody>
      </p:sp>
      <p:sp>
        <p:nvSpPr>
          <p:cNvPr id="627" name="Google Shape;627;p16"/>
          <p:cNvSpPr/>
          <p:nvPr/>
        </p:nvSpPr>
        <p:spPr>
          <a:xfrm>
            <a:off x="4504775" y="4334249"/>
            <a:ext cx="4255200" cy="724800"/>
          </a:xfrm>
          <a:prstGeom prst="roundRect">
            <a:avLst>
              <a:gd fmla="val 17647"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a:off x="4681728" y="4370832"/>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00"/>
              <a:buFont typeface="Calibri"/>
              <a:buNone/>
            </a:pPr>
            <a:r>
              <a:rPr b="1" i="0" lang="en-US" sz="1100" u="none" cap="none" strike="noStrike">
                <a:solidFill>
                  <a:srgbClr val="1A2B4A"/>
                </a:solidFill>
                <a:latin typeface="Calibri"/>
                <a:ea typeface="Calibri"/>
                <a:cs typeface="Calibri"/>
                <a:sym typeface="Calibri"/>
              </a:rPr>
              <a:t>Worked Example — Banana scan, F = 0.72:</a:t>
            </a:r>
            <a:endParaRPr b="0" i="0" sz="1100" u="none" cap="none" strike="noStrike">
              <a:solidFill>
                <a:schemeClr val="dk1"/>
              </a:solidFill>
              <a:latin typeface="Calibri"/>
              <a:ea typeface="Calibri"/>
              <a:cs typeface="Calibri"/>
              <a:sym typeface="Calibri"/>
            </a:endParaRPr>
          </a:p>
        </p:txBody>
      </p:sp>
      <p:sp>
        <p:nvSpPr>
          <p:cNvPr id="629" name="Google Shape;629;p16"/>
          <p:cNvSpPr/>
          <p:nvPr/>
        </p:nvSpPr>
        <p:spPr>
          <a:xfrm>
            <a:off x="4681728" y="4590288"/>
            <a:ext cx="39319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00"/>
              <a:buFont typeface="Courier New"/>
              <a:buNone/>
            </a:pPr>
            <a:r>
              <a:rPr b="1" i="0" lang="en-US" sz="1000" u="none" cap="none" strike="noStrike">
                <a:solidFill>
                  <a:srgbClr val="3A8C7E"/>
                </a:solidFill>
                <a:latin typeface="Courier New"/>
                <a:ea typeface="Courier New"/>
                <a:cs typeface="Courier New"/>
                <a:sym typeface="Courier New"/>
              </a:rPr>
              <a:t>D(fridge) = 7 × 0.611 × 0.82 × 0.85 ≈ 2.98 days   N = 2.98/7 = 0.426   C = (0.72×0.6)+(0.426×0.4) = 0.602  →  EAT SOON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634" name="Shape 634"/>
        <p:cNvGrpSpPr/>
        <p:nvPr/>
      </p:nvGrpSpPr>
      <p:grpSpPr>
        <a:xfrm>
          <a:off x="0" y="0"/>
          <a:ext cx="0" cy="0"/>
          <a:chOff x="0" y="0"/>
          <a:chExt cx="0" cy="0"/>
        </a:xfrm>
      </p:grpSpPr>
      <p:sp>
        <p:nvSpPr>
          <p:cNvPr id="635" name="Google Shape;635;p17"/>
          <p:cNvSpPr/>
          <p:nvPr/>
        </p:nvSpPr>
        <p:spPr>
          <a:xfrm>
            <a:off x="7772400" y="9144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7"/>
          <p:cNvSpPr/>
          <p:nvPr/>
        </p:nvSpPr>
        <p:spPr>
          <a:xfrm>
            <a:off x="8043977" y="36301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7"/>
          <p:cNvSpPr/>
          <p:nvPr/>
        </p:nvSpPr>
        <p:spPr>
          <a:xfrm>
            <a:off x="8282635" y="60167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8" name="Google Shape;638;p17"/>
          <p:cNvCxnSpPr/>
          <p:nvPr/>
        </p:nvCxnSpPr>
        <p:spPr>
          <a:xfrm rot="-2700000">
            <a:off x="182880"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39" name="Google Shape;639;p17"/>
          <p:cNvCxnSpPr/>
          <p:nvPr/>
        </p:nvCxnSpPr>
        <p:spPr>
          <a:xfrm rot="-2700000">
            <a:off x="347472"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0" name="Google Shape;640;p17"/>
          <p:cNvCxnSpPr/>
          <p:nvPr/>
        </p:nvCxnSpPr>
        <p:spPr>
          <a:xfrm rot="-2700000">
            <a:off x="512064"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1" name="Google Shape;641;p17"/>
          <p:cNvCxnSpPr/>
          <p:nvPr/>
        </p:nvCxnSpPr>
        <p:spPr>
          <a:xfrm rot="-2700000">
            <a:off x="676656"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2" name="Google Shape;642;p17"/>
          <p:cNvCxnSpPr/>
          <p:nvPr/>
        </p:nvCxnSpPr>
        <p:spPr>
          <a:xfrm rot="-2700000">
            <a:off x="841248"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643" name="Google Shape;643;p17"/>
          <p:cNvCxnSpPr/>
          <p:nvPr/>
        </p:nvCxnSpPr>
        <p:spPr>
          <a:xfrm rot="-2700000">
            <a:off x="1005840"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644" name="Google Shape;644;p17"/>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Mathematical Model: Ethylene Compatibility Engine</a:t>
            </a:r>
            <a:endParaRPr b="0" i="0" sz="2800" u="none" cap="none" strike="noStrike">
              <a:solidFill>
                <a:schemeClr val="dk1"/>
              </a:solidFill>
              <a:latin typeface="Calibri"/>
              <a:ea typeface="Calibri"/>
              <a:cs typeface="Calibri"/>
              <a:sym typeface="Calibri"/>
            </a:endParaRPr>
          </a:p>
        </p:txBody>
      </p:sp>
      <p:cxnSp>
        <p:nvCxnSpPr>
          <p:cNvPr id="645" name="Google Shape;645;p17"/>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646" name="Google Shape;646;p17"/>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647" name="Google Shape;647;p17"/>
          <p:cNvSpPr/>
          <p:nvPr/>
        </p:nvSpPr>
        <p:spPr>
          <a:xfrm>
            <a:off x="384048" y="1005840"/>
            <a:ext cx="4160520" cy="3566160"/>
          </a:xfrm>
          <a:prstGeom prst="roundRect">
            <a:avLst>
              <a:gd fmla="val 3077"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7"/>
          <p:cNvSpPr/>
          <p:nvPr/>
        </p:nvSpPr>
        <p:spPr>
          <a:xfrm>
            <a:off x="548640" y="1078992"/>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Graph Construction (O(P × S))</a:t>
            </a:r>
            <a:endParaRPr b="0" i="0" sz="1200" u="none" cap="none" strike="noStrike">
              <a:solidFill>
                <a:schemeClr val="dk1"/>
              </a:solidFill>
              <a:latin typeface="Calibri"/>
              <a:ea typeface="Calibri"/>
              <a:cs typeface="Calibri"/>
              <a:sym typeface="Calibri"/>
            </a:endParaRPr>
          </a:p>
        </p:txBody>
      </p:sp>
      <p:sp>
        <p:nvSpPr>
          <p:cNvPr id="649" name="Google Shape;649;p17"/>
          <p:cNvSpPr/>
          <p:nvPr/>
        </p:nvSpPr>
        <p:spPr>
          <a:xfrm>
            <a:off x="548640" y="1371600"/>
            <a:ext cx="3840480" cy="3163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ETHYLENE_PRODUCERS</a:t>
            </a:r>
            <a:r>
              <a:rPr b="0" i="0" lang="en-US" sz="1100" u="none" cap="none" strike="noStrike">
                <a:solidFill>
                  <a:srgbClr val="4A5568"/>
                </a:solidFill>
                <a:latin typeface="Calibri"/>
                <a:ea typeface="Calibri"/>
                <a:cs typeface="Calibri"/>
                <a:sym typeface="Calibri"/>
              </a:rPr>
              <a:t> = frozenset of 19 fruits</a:t>
            </a:r>
            <a:br>
              <a:rPr b="0" i="0" lang="en-US" sz="1100" u="none" cap="none" strike="noStrike">
                <a:solidFill>
                  <a:srgbClr val="4A5568"/>
                </a:solidFill>
                <a:latin typeface="Calibri"/>
                <a:ea typeface="Calibri"/>
                <a:cs typeface="Calibri"/>
                <a:sym typeface="Calibri"/>
              </a:rPr>
            </a:br>
            <a:r>
              <a:rPr b="0" i="0" lang="en-US" sz="1100" u="none" cap="none" strike="noStrike">
                <a:solidFill>
                  <a:srgbClr val="4A5568"/>
                </a:solidFill>
                <a:latin typeface="Calibri"/>
                <a:ea typeface="Calibri"/>
                <a:cs typeface="Calibri"/>
                <a:sym typeface="Calibri"/>
              </a:rPr>
              <a:t>  (Banana, Apple, Mango, Avocado, ...)</a:t>
            </a:r>
            <a:br>
              <a:rPr b="0" i="0" lang="en-US" sz="1100" u="none" cap="none" strike="noStrike">
                <a:solidFill>
                  <a:srgbClr val="4A5568"/>
                </a:solidFill>
                <a:latin typeface="Calibri"/>
                <a:ea typeface="Calibri"/>
                <a:cs typeface="Calibri"/>
                <a:sym typeface="Calibri"/>
              </a:rPr>
            </a:br>
            <a:br>
              <a:rPr b="0" i="0" lang="en-US" sz="1100" u="none" cap="none" strike="noStrike">
                <a:solidFill>
                  <a:srgbClr val="4A5568"/>
                </a:solidFill>
                <a:latin typeface="Calibri"/>
                <a:ea typeface="Calibri"/>
                <a:cs typeface="Calibri"/>
                <a:sym typeface="Calibri"/>
              </a:rPr>
            </a:br>
            <a:r>
              <a:rPr b="1" i="0" lang="en-US" sz="1100" u="none" cap="none" strike="noStrike">
                <a:solidFill>
                  <a:srgbClr val="3A8C7E"/>
                </a:solidFill>
                <a:latin typeface="Calibri"/>
                <a:ea typeface="Calibri"/>
                <a:cs typeface="Calibri"/>
                <a:sym typeface="Calibri"/>
              </a:rPr>
              <a:t>ETHYLENE_SENSITIVE</a:t>
            </a:r>
            <a:r>
              <a:rPr b="0" i="0" lang="en-US" sz="1100" u="none" cap="none" strike="noStrike">
                <a:solidFill>
                  <a:srgbClr val="4A5568"/>
                </a:solidFill>
                <a:latin typeface="Calibri"/>
                <a:ea typeface="Calibri"/>
                <a:cs typeface="Calibri"/>
                <a:sym typeface="Calibri"/>
              </a:rPr>
              <a:t> = frozenset of 24 fruits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(Strawberry, Grape, Kiwi,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For each (P, S) pair where P ≠ 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G[P].add(S)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G[S].add(P)</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19 × 24 = 456 iterations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 5 self-conflicts = 451 edges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Construction time: &lt; 1 ms at startup</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Lookup time: O(1) per pair</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Total pairwise checks at query time:</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n fruits → n(n−1)/2 comparisons</a:t>
            </a:r>
            <a:endParaRPr b="0" i="0" sz="1100" u="none" cap="none" strike="noStrike">
              <a:solidFill>
                <a:schemeClr val="dk1"/>
              </a:solidFill>
              <a:latin typeface="Calibri"/>
              <a:ea typeface="Calibri"/>
              <a:cs typeface="Calibri"/>
              <a:sym typeface="Calibri"/>
            </a:endParaRPr>
          </a:p>
        </p:txBody>
      </p:sp>
      <p:sp>
        <p:nvSpPr>
          <p:cNvPr id="650" name="Google Shape;650;p17"/>
          <p:cNvSpPr/>
          <p:nvPr/>
        </p:nvSpPr>
        <p:spPr>
          <a:xfrm>
            <a:off x="4736592" y="1005840"/>
            <a:ext cx="4023360" cy="3566160"/>
          </a:xfrm>
          <a:prstGeom prst="roundRect">
            <a:avLst>
              <a:gd fmla="val 30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7"/>
          <p:cNvSpPr/>
          <p:nvPr/>
        </p:nvSpPr>
        <p:spPr>
          <a:xfrm>
            <a:off x="4901184" y="1078992"/>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Pairwise Checking Algorithm</a:t>
            </a:r>
            <a:endParaRPr b="0" i="0" sz="1200" u="none" cap="none" strike="noStrike">
              <a:solidFill>
                <a:schemeClr val="dk1"/>
              </a:solidFill>
              <a:latin typeface="Calibri"/>
              <a:ea typeface="Calibri"/>
              <a:cs typeface="Calibri"/>
              <a:sym typeface="Calibri"/>
            </a:endParaRPr>
          </a:p>
        </p:txBody>
      </p:sp>
      <p:sp>
        <p:nvSpPr>
          <p:cNvPr id="652" name="Google Shape;652;p17"/>
          <p:cNvSpPr/>
          <p:nvPr/>
        </p:nvSpPr>
        <p:spPr>
          <a:xfrm>
            <a:off x="4901184" y="1371600"/>
            <a:ext cx="3657600" cy="31638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Input: list of n fruit names from user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1. Normalise to title case, deduplicate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2. For each unordered pair (a, b):</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IF b in CONFLICT_GRAPH[a]: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record conflict(a, b)</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3. Generate warning text naming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producer, sensitive party, consequence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4. Group output: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 Producers → store separately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 Non-producers → can co-locate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Real output for [Banana, Apple, Strawberry]: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Banana produces ethylene that accelerates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ripening of Strawberry. Apple both produces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ethylene and responds to it — store away from</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Strawberry.</a:t>
            </a:r>
            <a:endParaRPr b="0" i="0" sz="1100" u="none" cap="none" strike="noStrike">
              <a:solidFill>
                <a:schemeClr val="dk1"/>
              </a:solidFill>
              <a:latin typeface="Calibri"/>
              <a:ea typeface="Calibri"/>
              <a:cs typeface="Calibri"/>
              <a:sym typeface="Calibri"/>
            </a:endParaRPr>
          </a:p>
        </p:txBody>
      </p:sp>
      <p:sp>
        <p:nvSpPr>
          <p:cNvPr id="653" name="Google Shape;653;p17"/>
          <p:cNvSpPr/>
          <p:nvPr/>
        </p:nvSpPr>
        <p:spPr>
          <a:xfrm>
            <a:off x="384048" y="4645152"/>
            <a:ext cx="8375904" cy="365760"/>
          </a:xfrm>
          <a:prstGeom prst="roundRect">
            <a:avLst>
              <a:gd fmla="val 30000"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7"/>
          <p:cNvSpPr/>
          <p:nvPr/>
        </p:nvSpPr>
        <p:spPr>
          <a:xfrm>
            <a:off x="530352" y="4681728"/>
            <a:ext cx="81381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19 producers × 24 sensitive species = 451 real bidirectional conflict edges  ·  SHAP equivalent: the ethylene flags in SHAP notation are φ_producer &gt; 0 and φ_sensitive &lt; 0 for co-located fruits.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659" name="Shape 659"/>
        <p:cNvGrpSpPr/>
        <p:nvPr/>
      </p:nvGrpSpPr>
      <p:grpSpPr>
        <a:xfrm>
          <a:off x="0" y="0"/>
          <a:ext cx="0" cy="0"/>
          <a:chOff x="0" y="0"/>
          <a:chExt cx="0" cy="0"/>
        </a:xfrm>
      </p:grpSpPr>
      <p:sp>
        <p:nvSpPr>
          <p:cNvPr id="660" name="Google Shape;660;p18"/>
          <p:cNvSpPr/>
          <p:nvPr/>
        </p:nvSpPr>
        <p:spPr>
          <a:xfrm rot="-900000">
            <a:off x="137160" y="128016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8"/>
          <p:cNvSpPr/>
          <p:nvPr/>
        </p:nvSpPr>
        <p:spPr>
          <a:xfrm rot="-900000">
            <a:off x="338328" y="137160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8"/>
          <p:cNvSpPr/>
          <p:nvPr/>
        </p:nvSpPr>
        <p:spPr>
          <a:xfrm rot="-900000">
            <a:off x="539496" y="146304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8"/>
          <p:cNvSpPr/>
          <p:nvPr/>
        </p:nvSpPr>
        <p:spPr>
          <a:xfrm>
            <a:off x="8092440"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8"/>
          <p:cNvSpPr/>
          <p:nvPr/>
        </p:nvSpPr>
        <p:spPr>
          <a:xfrm>
            <a:off x="8293608"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8"/>
          <p:cNvSpPr/>
          <p:nvPr/>
        </p:nvSpPr>
        <p:spPr>
          <a:xfrm>
            <a:off x="8494776"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8"/>
          <p:cNvSpPr/>
          <p:nvPr/>
        </p:nvSpPr>
        <p:spPr>
          <a:xfrm>
            <a:off x="8695944"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8"/>
          <p:cNvSpPr/>
          <p:nvPr/>
        </p:nvSpPr>
        <p:spPr>
          <a:xfrm>
            <a:off x="8897112"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8"/>
          <p:cNvSpPr/>
          <p:nvPr/>
        </p:nvSpPr>
        <p:spPr>
          <a:xfrm>
            <a:off x="8092440"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8"/>
          <p:cNvSpPr/>
          <p:nvPr/>
        </p:nvSpPr>
        <p:spPr>
          <a:xfrm>
            <a:off x="8293608"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8"/>
          <p:cNvSpPr/>
          <p:nvPr/>
        </p:nvSpPr>
        <p:spPr>
          <a:xfrm>
            <a:off x="8494776"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8"/>
          <p:cNvSpPr/>
          <p:nvPr/>
        </p:nvSpPr>
        <p:spPr>
          <a:xfrm>
            <a:off x="8695944"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8"/>
          <p:cNvSpPr/>
          <p:nvPr/>
        </p:nvSpPr>
        <p:spPr>
          <a:xfrm>
            <a:off x="8897112"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8"/>
          <p:cNvSpPr/>
          <p:nvPr/>
        </p:nvSpPr>
        <p:spPr>
          <a:xfrm>
            <a:off x="8092440"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8"/>
          <p:cNvSpPr/>
          <p:nvPr/>
        </p:nvSpPr>
        <p:spPr>
          <a:xfrm>
            <a:off x="8293608"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8"/>
          <p:cNvSpPr/>
          <p:nvPr/>
        </p:nvSpPr>
        <p:spPr>
          <a:xfrm>
            <a:off x="8494776"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8"/>
          <p:cNvSpPr/>
          <p:nvPr/>
        </p:nvSpPr>
        <p:spPr>
          <a:xfrm>
            <a:off x="8695944"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8"/>
          <p:cNvSpPr/>
          <p:nvPr/>
        </p:nvSpPr>
        <p:spPr>
          <a:xfrm>
            <a:off x="8897112"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8"/>
          <p:cNvSpPr/>
          <p:nvPr/>
        </p:nvSpPr>
        <p:spPr>
          <a:xfrm>
            <a:off x="8092440"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8"/>
          <p:cNvSpPr/>
          <p:nvPr/>
        </p:nvSpPr>
        <p:spPr>
          <a:xfrm>
            <a:off x="8293608"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8"/>
          <p:cNvSpPr/>
          <p:nvPr/>
        </p:nvSpPr>
        <p:spPr>
          <a:xfrm>
            <a:off x="8494776"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8"/>
          <p:cNvSpPr/>
          <p:nvPr/>
        </p:nvSpPr>
        <p:spPr>
          <a:xfrm>
            <a:off x="8695944"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8"/>
          <p:cNvSpPr/>
          <p:nvPr/>
        </p:nvSpPr>
        <p:spPr>
          <a:xfrm>
            <a:off x="8897112"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8"/>
          <p:cNvSpPr/>
          <p:nvPr/>
        </p:nvSpPr>
        <p:spPr>
          <a:xfrm>
            <a:off x="8092440"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8"/>
          <p:cNvSpPr/>
          <p:nvPr/>
        </p:nvSpPr>
        <p:spPr>
          <a:xfrm>
            <a:off x="8293608"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8"/>
          <p:cNvSpPr/>
          <p:nvPr/>
        </p:nvSpPr>
        <p:spPr>
          <a:xfrm>
            <a:off x="8494776"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8"/>
          <p:cNvSpPr/>
          <p:nvPr/>
        </p:nvSpPr>
        <p:spPr>
          <a:xfrm>
            <a:off x="8695944"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8"/>
          <p:cNvSpPr/>
          <p:nvPr/>
        </p:nvSpPr>
        <p:spPr>
          <a:xfrm>
            <a:off x="8897112"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8"/>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Dataset Overview</a:t>
            </a:r>
            <a:endParaRPr b="0" i="0" sz="2800" u="none" cap="none" strike="noStrike">
              <a:solidFill>
                <a:schemeClr val="dk1"/>
              </a:solidFill>
              <a:latin typeface="Calibri"/>
              <a:ea typeface="Calibri"/>
              <a:cs typeface="Calibri"/>
              <a:sym typeface="Calibri"/>
            </a:endParaRPr>
          </a:p>
        </p:txBody>
      </p:sp>
      <p:sp>
        <p:nvSpPr>
          <p:cNvPr id="689" name="Google Shape;689;p18"/>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Fruits-360 + curated freshness images  ·  14 age-range classes  ·  4 fruit types</a:t>
            </a:r>
            <a:endParaRPr b="0" i="0" sz="1400" u="none" cap="none" strike="noStrike">
              <a:solidFill>
                <a:schemeClr val="dk1"/>
              </a:solidFill>
              <a:latin typeface="Calibri"/>
              <a:ea typeface="Calibri"/>
              <a:cs typeface="Calibri"/>
              <a:sym typeface="Calibri"/>
            </a:endParaRPr>
          </a:p>
        </p:txBody>
      </p:sp>
      <p:cxnSp>
        <p:nvCxnSpPr>
          <p:cNvPr id="690" name="Google Shape;690;p18"/>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691" name="Google Shape;691;p18"/>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graphicFrame>
        <p:nvGraphicFramePr>
          <p:cNvPr id="692" name="Google Shape;692;p18"/>
          <p:cNvGraphicFramePr/>
          <p:nvPr/>
        </p:nvGraphicFramePr>
        <p:xfrm>
          <a:off x="384048" y="1207008"/>
          <a:ext cx="3000000" cy="3000000"/>
        </p:xfrm>
        <a:graphic>
          <a:graphicData uri="http://schemas.openxmlformats.org/drawingml/2006/table">
            <a:tbl>
              <a:tblPr>
                <a:noFill/>
                <a:tableStyleId>{7A406C37-5A5E-4BF0-9AAD-7423E5C8C803}</a:tableStyleId>
              </a:tblPr>
              <a:tblGrid>
                <a:gridCol w="1005850"/>
                <a:gridCol w="3566150"/>
                <a:gridCol w="1792225"/>
                <a:gridCol w="1188725"/>
              </a:tblGrid>
              <a:tr h="3048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Fruit Type</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Age-Range Classes</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Freshness Score Range</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Top-1 Accuracy</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r>
              <a:tr h="30480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Apple(1-5)  ·  Apple(5-10)  ·  Apple(10-15)</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0.60 – 1.00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87–94%</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30480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Banana(1-5)  ·  Banana(5-10)  ·  Banana(10-15)  ·  Banana(15-20)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0.40 – 1.00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86–92%</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30480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Carrot*</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Carrot(1-7)  ·  Carrot(7-14)  ·  Carrot(14-21)</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0.50 – 1.00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82–88%</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304800">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Tomato*</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Tomato(1-3)  ·  Tomato(3-7)  ·  Tomato(7-10)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0.50 – 1.00</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4A5568"/>
                        </a:buClr>
                        <a:buSzPts val="1100"/>
                        <a:buFont typeface="Calibri"/>
                        <a:buNone/>
                      </a:pPr>
                      <a:r>
                        <a:rPr lang="en-US" sz="1100" u="none" cap="none" strike="noStrike">
                          <a:solidFill>
                            <a:srgbClr val="4A5568"/>
                          </a:solidFill>
                        </a:rPr>
                        <a:t>82–88%</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304800">
                <a:tc>
                  <a:txBody>
                    <a:bodyPr/>
                    <a:lstStyle/>
                    <a:p>
                      <a:pPr indent="0" lvl="0" marL="0" marR="0" rtl="0" algn="l">
                        <a:spcBef>
                          <a:spcPts val="0"/>
                        </a:spcBef>
                        <a:spcAft>
                          <a:spcPts val="0"/>
                        </a:spcAft>
                        <a:buClr>
                          <a:srgbClr val="000000"/>
                        </a:buClr>
                        <a:buSzPts val="1200"/>
                        <a:buFont typeface="Calibri"/>
                        <a:buNone/>
                      </a:pPr>
                      <a:r>
                        <a:rPr b="1" lang="en-US" sz="1200" u="none" cap="none" strike="noStrike">
                          <a:solidFill>
                            <a:srgbClr val="000000"/>
                          </a:solidFill>
                        </a:rPr>
                        <a:t>All types</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Calibri"/>
                        <a:buNone/>
                      </a:pPr>
                      <a:r>
                        <a:rPr b="1" lang="en-US" sz="1200" u="none" cap="none" strike="noStrike">
                          <a:solidFill>
                            <a:srgbClr val="000000"/>
                          </a:solidFill>
                        </a:rPr>
                        <a:t>Expired (visual spoilage catch-all)</a:t>
                      </a:r>
                      <a:endParaRPr sz="12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tcPr>
                </a:tc>
                <a:tc>
                  <a:txBody>
                    <a:bodyPr/>
                    <a:lstStyle/>
                    <a:p>
                      <a:pPr indent="0" lvl="0" marL="0" marR="0" rtl="0" algn="l">
                        <a:spcBef>
                          <a:spcPts val="0"/>
                        </a:spcBef>
                        <a:spcAft>
                          <a:spcPts val="0"/>
                        </a:spcAft>
                        <a:buClr>
                          <a:srgbClr val="1A2B4A"/>
                        </a:buClr>
                        <a:buSzPts val="1100"/>
                        <a:buFont typeface="Calibri"/>
                        <a:buNone/>
                      </a:pPr>
                      <a:r>
                        <a:rPr lang="en-US" sz="1100" u="none" cap="none" strike="noStrike">
                          <a:solidFill>
                            <a:srgbClr val="1A2B4A"/>
                          </a:solidFill>
                        </a:rPr>
                        <a:t>0.00 – 0.19</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2B4A"/>
                        </a:buClr>
                        <a:buSzPts val="1100"/>
                        <a:buFont typeface="Calibri"/>
                        <a:buNone/>
                      </a:pPr>
                      <a:r>
                        <a:rPr lang="en-US" sz="1100" u="none" cap="none" strike="noStrike">
                          <a:solidFill>
                            <a:srgbClr val="1A2B4A"/>
                          </a:solidFill>
                        </a:rPr>
                        <a:t>91%</a:t>
                      </a:r>
                      <a:endParaRPr sz="11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bl>
          </a:graphicData>
        </a:graphic>
      </p:graphicFrame>
      <p:sp>
        <p:nvSpPr>
          <p:cNvPr id="693" name="Google Shape;693;p18"/>
          <p:cNvSpPr/>
          <p:nvPr/>
        </p:nvSpPr>
        <p:spPr>
          <a:xfrm>
            <a:off x="384048" y="3090672"/>
            <a:ext cx="837590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1000"/>
              <a:buFont typeface="Calibri"/>
              <a:buNone/>
            </a:pPr>
            <a:r>
              <a:rPr b="0" i="1" lang="en-US" sz="1000" u="none" cap="none" strike="noStrike">
                <a:solidFill>
                  <a:srgbClr val="607D8B"/>
                </a:solidFill>
                <a:latin typeface="Calibri"/>
                <a:ea typeface="Calibri"/>
                <a:cs typeface="Calibri"/>
                <a:sym typeface="Calibri"/>
              </a:rPr>
              <a:t>* Carrot and Tomato: training-set classes that add visual diversity and improve separability of Apple/Banana features. They are not in the production fruit database — scans classified as these fall back to manual fruit selection.</a:t>
            </a:r>
            <a:endParaRPr b="0" i="0" sz="1000" u="none" cap="none" strike="noStrike">
              <a:solidFill>
                <a:schemeClr val="dk1"/>
              </a:solidFill>
              <a:latin typeface="Calibri"/>
              <a:ea typeface="Calibri"/>
              <a:cs typeface="Calibri"/>
              <a:sym typeface="Calibri"/>
            </a:endParaRPr>
          </a:p>
        </p:txBody>
      </p:sp>
      <p:sp>
        <p:nvSpPr>
          <p:cNvPr id="694" name="Google Shape;694;p18"/>
          <p:cNvSpPr/>
          <p:nvPr/>
        </p:nvSpPr>
        <p:spPr>
          <a:xfrm>
            <a:off x="384048"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8"/>
          <p:cNvSpPr/>
          <p:nvPr/>
        </p:nvSpPr>
        <p:spPr>
          <a:xfrm>
            <a:off x="384048"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400"/>
              <a:buFont typeface="Cambria"/>
              <a:buNone/>
            </a:pPr>
            <a:r>
              <a:rPr b="1" i="0" lang="en-US" sz="2400" u="none" cap="none" strike="noStrike">
                <a:solidFill>
                  <a:srgbClr val="3A8C7E"/>
                </a:solidFill>
                <a:latin typeface="Cambria"/>
                <a:ea typeface="Cambria"/>
                <a:cs typeface="Cambria"/>
                <a:sym typeface="Cambria"/>
              </a:rPr>
              <a:t>14</a:t>
            </a:r>
            <a:endParaRPr b="0" i="0" sz="2400" u="none" cap="none" strike="noStrike">
              <a:solidFill>
                <a:schemeClr val="dk1"/>
              </a:solidFill>
              <a:latin typeface="Calibri"/>
              <a:ea typeface="Calibri"/>
              <a:cs typeface="Calibri"/>
              <a:sym typeface="Calibri"/>
            </a:endParaRPr>
          </a:p>
        </p:txBody>
      </p:sp>
      <p:sp>
        <p:nvSpPr>
          <p:cNvPr id="696" name="Google Shape;696;p18"/>
          <p:cNvSpPr/>
          <p:nvPr/>
        </p:nvSpPr>
        <p:spPr>
          <a:xfrm>
            <a:off x="384048"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Output classes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(age-range labels)</a:t>
            </a:r>
            <a:endParaRPr b="0" i="0" sz="950" u="none" cap="none" strike="noStrike">
              <a:solidFill>
                <a:schemeClr val="dk1"/>
              </a:solidFill>
              <a:latin typeface="Calibri"/>
              <a:ea typeface="Calibri"/>
              <a:cs typeface="Calibri"/>
              <a:sym typeface="Calibri"/>
            </a:endParaRPr>
          </a:p>
        </p:txBody>
      </p:sp>
      <p:sp>
        <p:nvSpPr>
          <p:cNvPr id="697" name="Google Shape;697;p18"/>
          <p:cNvSpPr/>
          <p:nvPr/>
        </p:nvSpPr>
        <p:spPr>
          <a:xfrm>
            <a:off x="2084832"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8"/>
          <p:cNvSpPr/>
          <p:nvPr/>
        </p:nvSpPr>
        <p:spPr>
          <a:xfrm>
            <a:off x="2084832"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400"/>
              <a:buFont typeface="Cambria"/>
              <a:buNone/>
            </a:pPr>
            <a:r>
              <a:rPr b="1" i="0" lang="en-US" sz="2400" u="none" cap="none" strike="noStrike">
                <a:solidFill>
                  <a:srgbClr val="3A8C7E"/>
                </a:solidFill>
                <a:latin typeface="Cambria"/>
                <a:ea typeface="Cambria"/>
                <a:cs typeface="Cambria"/>
                <a:sym typeface="Cambria"/>
              </a:rPr>
              <a:t>4</a:t>
            </a:r>
            <a:endParaRPr b="0" i="0" sz="2400" u="none" cap="none" strike="noStrike">
              <a:solidFill>
                <a:schemeClr val="dk1"/>
              </a:solidFill>
              <a:latin typeface="Calibri"/>
              <a:ea typeface="Calibri"/>
              <a:cs typeface="Calibri"/>
              <a:sym typeface="Calibri"/>
            </a:endParaRPr>
          </a:p>
        </p:txBody>
      </p:sp>
      <p:sp>
        <p:nvSpPr>
          <p:cNvPr id="699" name="Google Shape;699;p18"/>
          <p:cNvSpPr/>
          <p:nvPr/>
        </p:nvSpPr>
        <p:spPr>
          <a:xfrm>
            <a:off x="2084832"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Fruit types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(Apple · Banana · Carrot · Tomato)</a:t>
            </a:r>
            <a:endParaRPr b="0" i="0" sz="950" u="none" cap="none" strike="noStrike">
              <a:solidFill>
                <a:schemeClr val="dk1"/>
              </a:solidFill>
              <a:latin typeface="Calibri"/>
              <a:ea typeface="Calibri"/>
              <a:cs typeface="Calibri"/>
              <a:sym typeface="Calibri"/>
            </a:endParaRPr>
          </a:p>
        </p:txBody>
      </p:sp>
      <p:sp>
        <p:nvSpPr>
          <p:cNvPr id="700" name="Google Shape;700;p18"/>
          <p:cNvSpPr/>
          <p:nvPr/>
        </p:nvSpPr>
        <p:spPr>
          <a:xfrm>
            <a:off x="3785616"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8"/>
          <p:cNvSpPr/>
          <p:nvPr/>
        </p:nvSpPr>
        <p:spPr>
          <a:xfrm>
            <a:off x="3785616"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400"/>
              <a:buFont typeface="Cambria"/>
              <a:buNone/>
            </a:pPr>
            <a:r>
              <a:rPr b="1" i="0" lang="en-US" sz="2400" u="none" cap="none" strike="noStrike">
                <a:solidFill>
                  <a:srgbClr val="3A8C7E"/>
                </a:solidFill>
                <a:latin typeface="Cambria"/>
                <a:ea typeface="Cambria"/>
                <a:cs typeface="Cambria"/>
                <a:sym typeface="Cambria"/>
              </a:rPr>
              <a:t>42</a:t>
            </a:r>
            <a:endParaRPr b="0" i="0" sz="2400" u="none" cap="none" strike="noStrike">
              <a:solidFill>
                <a:schemeClr val="dk1"/>
              </a:solidFill>
              <a:latin typeface="Calibri"/>
              <a:ea typeface="Calibri"/>
              <a:cs typeface="Calibri"/>
              <a:sym typeface="Calibri"/>
            </a:endParaRPr>
          </a:p>
        </p:txBody>
      </p:sp>
      <p:sp>
        <p:nvSpPr>
          <p:cNvPr id="702" name="Google Shape;702;p18"/>
          <p:cNvSpPr/>
          <p:nvPr/>
        </p:nvSpPr>
        <p:spPr>
          <a:xfrm>
            <a:off x="3785616"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Fruits in the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reference database</a:t>
            </a:r>
            <a:endParaRPr b="0" i="0" sz="950" u="none" cap="none" strike="noStrike">
              <a:solidFill>
                <a:schemeClr val="dk1"/>
              </a:solidFill>
              <a:latin typeface="Calibri"/>
              <a:ea typeface="Calibri"/>
              <a:cs typeface="Calibri"/>
              <a:sym typeface="Calibri"/>
            </a:endParaRPr>
          </a:p>
        </p:txBody>
      </p:sp>
      <p:sp>
        <p:nvSpPr>
          <p:cNvPr id="703" name="Google Shape;703;p18"/>
          <p:cNvSpPr/>
          <p:nvPr/>
        </p:nvSpPr>
        <p:spPr>
          <a:xfrm>
            <a:off x="5486400"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a:off x="5486400"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800"/>
              <a:buFont typeface="Cambria"/>
              <a:buNone/>
            </a:pPr>
            <a:r>
              <a:rPr b="1" i="0" lang="en-US" sz="1800" u="none" cap="none" strike="noStrike">
                <a:solidFill>
                  <a:srgbClr val="3A8C7E"/>
                </a:solidFill>
                <a:latin typeface="Cambria"/>
                <a:ea typeface="Cambria"/>
                <a:cs typeface="Cambria"/>
                <a:sym typeface="Cambria"/>
              </a:rPr>
              <a:t>~380ms</a:t>
            </a:r>
            <a:endParaRPr b="0" i="0" sz="1800" u="none" cap="none" strike="noStrike">
              <a:solidFill>
                <a:schemeClr val="dk1"/>
              </a:solidFill>
              <a:latin typeface="Calibri"/>
              <a:ea typeface="Calibri"/>
              <a:cs typeface="Calibri"/>
              <a:sym typeface="Calibri"/>
            </a:endParaRPr>
          </a:p>
        </p:txBody>
      </p:sp>
      <p:sp>
        <p:nvSpPr>
          <p:cNvPr id="705" name="Google Shape;705;p18"/>
          <p:cNvSpPr/>
          <p:nvPr/>
        </p:nvSpPr>
        <p:spPr>
          <a:xfrm>
            <a:off x="5486400"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Avg inference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(CPU, post-warmup)</a:t>
            </a:r>
            <a:endParaRPr b="0" i="0" sz="950" u="none" cap="none" strike="noStrike">
              <a:solidFill>
                <a:schemeClr val="dk1"/>
              </a:solidFill>
              <a:latin typeface="Calibri"/>
              <a:ea typeface="Calibri"/>
              <a:cs typeface="Calibri"/>
              <a:sym typeface="Calibri"/>
            </a:endParaRPr>
          </a:p>
        </p:txBody>
      </p:sp>
      <p:sp>
        <p:nvSpPr>
          <p:cNvPr id="706" name="Google Shape;706;p18"/>
          <p:cNvSpPr/>
          <p:nvPr/>
        </p:nvSpPr>
        <p:spPr>
          <a:xfrm>
            <a:off x="7187184" y="3456432"/>
            <a:ext cx="1572768" cy="1024128"/>
          </a:xfrm>
          <a:prstGeom prst="roundRect">
            <a:avLst>
              <a:gd fmla="val 10714"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8"/>
          <p:cNvSpPr/>
          <p:nvPr/>
        </p:nvSpPr>
        <p:spPr>
          <a:xfrm>
            <a:off x="7187184" y="3493008"/>
            <a:ext cx="1572768"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800"/>
              <a:buFont typeface="Cambria"/>
              <a:buNone/>
            </a:pPr>
            <a:r>
              <a:rPr b="1" i="0" lang="en-US" sz="1800" u="none" cap="none" strike="noStrike">
                <a:solidFill>
                  <a:srgbClr val="3A8C7E"/>
                </a:solidFill>
                <a:latin typeface="Cambria"/>
                <a:ea typeface="Cambria"/>
                <a:cs typeface="Cambria"/>
                <a:sym typeface="Cambria"/>
              </a:rPr>
              <a:t>89.3%</a:t>
            </a:r>
            <a:endParaRPr b="0" i="0" sz="1800" u="none" cap="none" strike="noStrike">
              <a:solidFill>
                <a:schemeClr val="dk1"/>
              </a:solidFill>
              <a:latin typeface="Calibri"/>
              <a:ea typeface="Calibri"/>
              <a:cs typeface="Calibri"/>
              <a:sym typeface="Calibri"/>
            </a:endParaRPr>
          </a:p>
        </p:txBody>
      </p:sp>
      <p:sp>
        <p:nvSpPr>
          <p:cNvPr id="708" name="Google Shape;708;p18"/>
          <p:cNvSpPr/>
          <p:nvPr/>
        </p:nvSpPr>
        <p:spPr>
          <a:xfrm>
            <a:off x="7187184" y="4005072"/>
            <a:ext cx="1572768" cy="4389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Top-1 Accuracy</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(held-out test set)</a:t>
            </a:r>
            <a:endParaRPr b="0" i="0" sz="950" u="none" cap="none" strike="noStrike">
              <a:solidFill>
                <a:schemeClr val="dk1"/>
              </a:solidFill>
              <a:latin typeface="Calibri"/>
              <a:ea typeface="Calibri"/>
              <a:cs typeface="Calibri"/>
              <a:sym typeface="Calibri"/>
            </a:endParaRPr>
          </a:p>
        </p:txBody>
      </p:sp>
      <p:sp>
        <p:nvSpPr>
          <p:cNvPr id="709" name="Google Shape;709;p18"/>
          <p:cNvSpPr/>
          <p:nvPr/>
        </p:nvSpPr>
        <p:spPr>
          <a:xfrm>
            <a:off x="384048" y="4544568"/>
            <a:ext cx="8375904" cy="420624"/>
          </a:xfrm>
          <a:prstGeom prst="roundRect">
            <a:avLst>
              <a:gd fmla="val 26087"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8"/>
          <p:cNvSpPr/>
          <p:nvPr/>
        </p:nvSpPr>
        <p:spPr>
          <a:xfrm>
            <a:off x="530352" y="4572000"/>
            <a:ext cx="8138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100"/>
              <a:buFont typeface="Calibri"/>
              <a:buNone/>
            </a:pPr>
            <a:r>
              <a:rPr b="0" i="0" lang="en-US" sz="1100" u="none" cap="none" strike="noStrike">
                <a:solidFill>
                  <a:srgbClr val="1A2B4A"/>
                </a:solidFill>
                <a:latin typeface="Calibri"/>
                <a:ea typeface="Calibri"/>
                <a:cs typeface="Calibri"/>
                <a:sym typeface="Calibri"/>
              </a:rPr>
              <a:t>Training Setup:  47 minutes · Google Colab T4 GPU · Batch 32 (reduced from 64 for fine-tuning phase) · 10 epochs frozen base (lr=1e-3) + 15 epochs fine-tuned top layers (lr=1e-5) · random_state=42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715" name="Shape 715"/>
        <p:cNvGrpSpPr/>
        <p:nvPr/>
      </p:nvGrpSpPr>
      <p:grpSpPr>
        <a:xfrm>
          <a:off x="0" y="0"/>
          <a:ext cx="0" cy="0"/>
          <a:chOff x="0" y="0"/>
          <a:chExt cx="0" cy="0"/>
        </a:xfrm>
      </p:grpSpPr>
      <p:sp>
        <p:nvSpPr>
          <p:cNvPr id="716" name="Google Shape;716;p19"/>
          <p:cNvSpPr/>
          <p:nvPr/>
        </p:nvSpPr>
        <p:spPr>
          <a:xfrm>
            <a:off x="7772400" y="9144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a:off x="8043977" y="36301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a:off x="8282635" y="60167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9"/>
          <p:cNvSpPr/>
          <p:nvPr/>
        </p:nvSpPr>
        <p:spPr>
          <a:xfrm>
            <a:off x="411480" y="4773168"/>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9"/>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Data Preprocessing Pipeline</a:t>
            </a:r>
            <a:endParaRPr b="0" i="0" sz="2800" u="none" cap="none" strike="noStrike">
              <a:solidFill>
                <a:schemeClr val="dk1"/>
              </a:solidFill>
              <a:latin typeface="Calibri"/>
              <a:ea typeface="Calibri"/>
              <a:cs typeface="Calibri"/>
              <a:sym typeface="Calibri"/>
            </a:endParaRPr>
          </a:p>
        </p:txBody>
      </p:sp>
      <p:cxnSp>
        <p:nvCxnSpPr>
          <p:cNvPr id="721" name="Google Shape;721;p19"/>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722" name="Google Shape;722;p19"/>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723" name="Google Shape;723;p19"/>
          <p:cNvSpPr/>
          <p:nvPr/>
        </p:nvSpPr>
        <p:spPr>
          <a:xfrm>
            <a:off x="384048" y="102412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9"/>
          <p:cNvSpPr/>
          <p:nvPr/>
        </p:nvSpPr>
        <p:spPr>
          <a:xfrm>
            <a:off x="466344" y="117043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9"/>
          <p:cNvSpPr/>
          <p:nvPr/>
        </p:nvSpPr>
        <p:spPr>
          <a:xfrm>
            <a:off x="466344" y="117043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726" name="Google Shape;726;p19"/>
          <p:cNvSpPr/>
          <p:nvPr/>
        </p:nvSpPr>
        <p:spPr>
          <a:xfrm>
            <a:off x="987552" y="107899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Image Loading &amp; RGB Conversion</a:t>
            </a:r>
            <a:endParaRPr b="0" i="0" sz="1200" u="none" cap="none" strike="noStrike">
              <a:solidFill>
                <a:schemeClr val="dk1"/>
              </a:solidFill>
              <a:latin typeface="Calibri"/>
              <a:ea typeface="Calibri"/>
              <a:cs typeface="Calibri"/>
              <a:sym typeface="Calibri"/>
            </a:endParaRPr>
          </a:p>
        </p:txBody>
      </p:sp>
      <p:sp>
        <p:nvSpPr>
          <p:cNvPr id="727" name="Google Shape;727;p19"/>
          <p:cNvSpPr/>
          <p:nvPr/>
        </p:nvSpPr>
        <p:spPr>
          <a:xfrm>
            <a:off x="987552" y="133502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img = PIL.open(path).convert('RGB').resize((224, 224), BILINEAR)</a:t>
            </a:r>
            <a:endParaRPr b="0" i="0" sz="1050" u="none" cap="none" strike="noStrike">
              <a:solidFill>
                <a:schemeClr val="dk1"/>
              </a:solidFill>
              <a:latin typeface="Calibri"/>
              <a:ea typeface="Calibri"/>
              <a:cs typeface="Calibri"/>
              <a:sym typeface="Calibri"/>
            </a:endParaRPr>
          </a:p>
        </p:txBody>
      </p:sp>
      <p:sp>
        <p:nvSpPr>
          <p:cNvPr id="728" name="Google Shape;728;p19"/>
          <p:cNvSpPr/>
          <p:nvPr/>
        </p:nvSpPr>
        <p:spPr>
          <a:xfrm>
            <a:off x="5760720" y="126187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Handles single-channel grayscale and 4-channel RGBA uploads. Bilinear resizing preserves feature gradients. The fixed 224×224 matches MobileNetV2's ImageNet pretraining input.</a:t>
            </a:r>
            <a:endParaRPr b="0" i="0" sz="950" u="none" cap="none" strike="noStrike">
              <a:solidFill>
                <a:schemeClr val="dk1"/>
              </a:solidFill>
              <a:latin typeface="Calibri"/>
              <a:ea typeface="Calibri"/>
              <a:cs typeface="Calibri"/>
              <a:sym typeface="Calibri"/>
            </a:endParaRPr>
          </a:p>
        </p:txBody>
      </p:sp>
      <p:sp>
        <p:nvSpPr>
          <p:cNvPr id="729" name="Google Shape;729;p19"/>
          <p:cNvSpPr/>
          <p:nvPr/>
        </p:nvSpPr>
        <p:spPr>
          <a:xfrm>
            <a:off x="384048" y="180136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a:off x="466344" y="194767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a:off x="466344" y="194767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732" name="Google Shape;732;p19"/>
          <p:cNvSpPr/>
          <p:nvPr/>
        </p:nvSpPr>
        <p:spPr>
          <a:xfrm>
            <a:off x="987552" y="185623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Pixel Normalisation  →  z ∈ [−1, 1]</a:t>
            </a:r>
            <a:endParaRPr b="0" i="0" sz="1200" u="none" cap="none" strike="noStrike">
              <a:solidFill>
                <a:schemeClr val="dk1"/>
              </a:solidFill>
              <a:latin typeface="Calibri"/>
              <a:ea typeface="Calibri"/>
              <a:cs typeface="Calibri"/>
              <a:sym typeface="Calibri"/>
            </a:endParaRPr>
          </a:p>
        </p:txBody>
      </p:sp>
      <p:sp>
        <p:nvSpPr>
          <p:cNvPr id="733" name="Google Shape;733;p19"/>
          <p:cNvSpPr/>
          <p:nvPr/>
        </p:nvSpPr>
        <p:spPr>
          <a:xfrm>
            <a:off x="987552" y="211226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z = (pixel_value / 127.5) − 1.0</a:t>
            </a:r>
            <a:endParaRPr b="0" i="0" sz="1050" u="none" cap="none" strike="noStrike">
              <a:solidFill>
                <a:schemeClr val="dk1"/>
              </a:solidFill>
              <a:latin typeface="Calibri"/>
              <a:ea typeface="Calibri"/>
              <a:cs typeface="Calibri"/>
              <a:sym typeface="Calibri"/>
            </a:endParaRPr>
          </a:p>
        </p:txBody>
      </p:sp>
      <p:sp>
        <p:nvSpPr>
          <p:cNvPr id="734" name="Google Shape;734;p19"/>
          <p:cNvSpPr/>
          <p:nvPr/>
        </p:nvSpPr>
        <p:spPr>
          <a:xfrm>
            <a:off x="5760720" y="203911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Must precisely match MobileNetV2's ImageNet preprocessing. Using any other normalisation (e.g., [0,1] or mean-subtraction) would misalign the classifier's learned feature space, degrading accuracy.</a:t>
            </a:r>
            <a:endParaRPr b="0" i="0" sz="950" u="none" cap="none" strike="noStrike">
              <a:solidFill>
                <a:schemeClr val="dk1"/>
              </a:solidFill>
              <a:latin typeface="Calibri"/>
              <a:ea typeface="Calibri"/>
              <a:cs typeface="Calibri"/>
              <a:sym typeface="Calibri"/>
            </a:endParaRPr>
          </a:p>
        </p:txBody>
      </p:sp>
      <p:sp>
        <p:nvSpPr>
          <p:cNvPr id="735" name="Google Shape;735;p19"/>
          <p:cNvSpPr/>
          <p:nvPr/>
        </p:nvSpPr>
        <p:spPr>
          <a:xfrm>
            <a:off x="384048" y="257860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a:off x="466344" y="272491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9"/>
          <p:cNvSpPr/>
          <p:nvPr/>
        </p:nvSpPr>
        <p:spPr>
          <a:xfrm>
            <a:off x="466344" y="272491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738" name="Google Shape;738;p19"/>
          <p:cNvSpPr/>
          <p:nvPr/>
        </p:nvSpPr>
        <p:spPr>
          <a:xfrm>
            <a:off x="987552" y="263347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Batch Dimension Expansion</a:t>
            </a:r>
            <a:endParaRPr b="0" i="0" sz="1200" u="none" cap="none" strike="noStrike">
              <a:solidFill>
                <a:schemeClr val="dk1"/>
              </a:solidFill>
              <a:latin typeface="Calibri"/>
              <a:ea typeface="Calibri"/>
              <a:cs typeface="Calibri"/>
              <a:sym typeface="Calibri"/>
            </a:endParaRPr>
          </a:p>
        </p:txBody>
      </p:sp>
      <p:sp>
        <p:nvSpPr>
          <p:cNvPr id="739" name="Google Shape;739;p19"/>
          <p:cNvSpPr/>
          <p:nvPr/>
        </p:nvSpPr>
        <p:spPr>
          <a:xfrm>
            <a:off x="987552" y="288950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tensor = np.expand_dims(arr, axis=0)   # shape: (1, 224, 224, 3)</a:t>
            </a:r>
            <a:endParaRPr b="0" i="0" sz="1050" u="none" cap="none" strike="noStrike">
              <a:solidFill>
                <a:schemeClr val="dk1"/>
              </a:solidFill>
              <a:latin typeface="Calibri"/>
              <a:ea typeface="Calibri"/>
              <a:cs typeface="Calibri"/>
              <a:sym typeface="Calibri"/>
            </a:endParaRPr>
          </a:p>
        </p:txBody>
      </p:sp>
      <p:sp>
        <p:nvSpPr>
          <p:cNvPr id="740" name="Google Shape;740;p19"/>
          <p:cNvSpPr/>
          <p:nvPr/>
        </p:nvSpPr>
        <p:spPr>
          <a:xfrm>
            <a:off x="5760720" y="281635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TensorFlow models expect a leading batch dimension. The single-image inference path must add this programmatically since we process one image at a time in the REST API.</a:t>
            </a:r>
            <a:endParaRPr b="0" i="0" sz="950" u="none" cap="none" strike="noStrike">
              <a:solidFill>
                <a:schemeClr val="dk1"/>
              </a:solidFill>
              <a:latin typeface="Calibri"/>
              <a:ea typeface="Calibri"/>
              <a:cs typeface="Calibri"/>
              <a:sym typeface="Calibri"/>
            </a:endParaRPr>
          </a:p>
        </p:txBody>
      </p:sp>
      <p:sp>
        <p:nvSpPr>
          <p:cNvPr id="741" name="Google Shape;741;p19"/>
          <p:cNvSpPr/>
          <p:nvPr/>
        </p:nvSpPr>
        <p:spPr>
          <a:xfrm>
            <a:off x="384048" y="335584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9"/>
          <p:cNvSpPr/>
          <p:nvPr/>
        </p:nvSpPr>
        <p:spPr>
          <a:xfrm>
            <a:off x="466344" y="350215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9"/>
          <p:cNvSpPr/>
          <p:nvPr/>
        </p:nvSpPr>
        <p:spPr>
          <a:xfrm>
            <a:off x="466344" y="350215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744" name="Google Shape;744;p19"/>
          <p:cNvSpPr/>
          <p:nvPr/>
        </p:nvSpPr>
        <p:spPr>
          <a:xfrm>
            <a:off x="987552" y="341071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Inference in Thread Pool (Non-Blocking)</a:t>
            </a:r>
            <a:endParaRPr b="0" i="0" sz="1200" u="none" cap="none" strike="noStrike">
              <a:solidFill>
                <a:schemeClr val="dk1"/>
              </a:solidFill>
              <a:latin typeface="Calibri"/>
              <a:ea typeface="Calibri"/>
              <a:cs typeface="Calibri"/>
              <a:sym typeface="Calibri"/>
            </a:endParaRPr>
          </a:p>
        </p:txBody>
      </p:sp>
      <p:sp>
        <p:nvSpPr>
          <p:cNvPr id="745" name="Google Shape;745;p19"/>
          <p:cNvSpPr/>
          <p:nvPr/>
        </p:nvSpPr>
        <p:spPr>
          <a:xfrm>
            <a:off x="987552" y="366674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result = await asyncio.to_thread(model.predict, tensor, verbose=0)</a:t>
            </a:r>
            <a:endParaRPr b="0" i="0" sz="1050" u="none" cap="none" strike="noStrike">
              <a:solidFill>
                <a:schemeClr val="dk1"/>
              </a:solidFill>
              <a:latin typeface="Calibri"/>
              <a:ea typeface="Calibri"/>
              <a:cs typeface="Calibri"/>
              <a:sym typeface="Calibri"/>
            </a:endParaRPr>
          </a:p>
        </p:txBody>
      </p:sp>
      <p:sp>
        <p:nvSpPr>
          <p:cNvPr id="746" name="Google Shape;746;p19"/>
          <p:cNvSpPr/>
          <p:nvPr/>
        </p:nvSpPr>
        <p:spPr>
          <a:xfrm>
            <a:off x="5760720" y="359359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TensorFlow's predict() is synchronous. Running it directly on the FastAPI event loop would block all other concurrent requests for 380 ms per scan. asyncio.to_thread() offloads to a worker thread, keeping the server responsive.</a:t>
            </a:r>
            <a:endParaRPr b="0" i="0" sz="950" u="none" cap="none" strike="noStrike">
              <a:solidFill>
                <a:schemeClr val="dk1"/>
              </a:solidFill>
              <a:latin typeface="Calibri"/>
              <a:ea typeface="Calibri"/>
              <a:cs typeface="Calibri"/>
              <a:sym typeface="Calibri"/>
            </a:endParaRPr>
          </a:p>
        </p:txBody>
      </p:sp>
      <p:sp>
        <p:nvSpPr>
          <p:cNvPr id="747" name="Google Shape;747;p19"/>
          <p:cNvSpPr/>
          <p:nvPr/>
        </p:nvSpPr>
        <p:spPr>
          <a:xfrm>
            <a:off x="384048" y="4133088"/>
            <a:ext cx="8375904" cy="694944"/>
          </a:xfrm>
          <a:prstGeom prst="roundRect">
            <a:avLst>
              <a:gd fmla="val 15789"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9"/>
          <p:cNvSpPr/>
          <p:nvPr/>
        </p:nvSpPr>
        <p:spPr>
          <a:xfrm>
            <a:off x="466344" y="427939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9"/>
          <p:cNvSpPr/>
          <p:nvPr/>
        </p:nvSpPr>
        <p:spPr>
          <a:xfrm>
            <a:off x="466344" y="4279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750" name="Google Shape;750;p19"/>
          <p:cNvSpPr/>
          <p:nvPr/>
        </p:nvSpPr>
        <p:spPr>
          <a:xfrm>
            <a:off x="987552" y="4187952"/>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Post-Processing: Expired Class Suppression</a:t>
            </a:r>
            <a:endParaRPr b="0" i="0" sz="1200" u="none" cap="none" strike="noStrike">
              <a:solidFill>
                <a:schemeClr val="dk1"/>
              </a:solidFill>
              <a:latin typeface="Calibri"/>
              <a:ea typeface="Calibri"/>
              <a:cs typeface="Calibri"/>
              <a:sym typeface="Calibri"/>
            </a:endParaRPr>
          </a:p>
        </p:txBody>
      </p:sp>
      <p:sp>
        <p:nvSpPr>
          <p:cNvPr id="751" name="Google Shape;751;p19"/>
          <p:cNvSpPr/>
          <p:nvPr/>
        </p:nvSpPr>
        <p:spPr>
          <a:xfrm>
            <a:off x="987552" y="4443984"/>
            <a:ext cx="4663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050"/>
              <a:buFont typeface="Courier New"/>
              <a:buNone/>
            </a:pPr>
            <a:r>
              <a:rPr b="0" i="0" lang="en-US" sz="1050" u="none" cap="none" strike="noStrike">
                <a:solidFill>
                  <a:srgbClr val="1A2B4A"/>
                </a:solidFill>
                <a:latin typeface="Courier New"/>
                <a:ea typeface="Courier New"/>
                <a:cs typeface="Courier New"/>
                <a:sym typeface="Courier New"/>
              </a:rPr>
              <a:t>probs[0][EXPIRED_IDX] = 0.0   # then argmax over remaining 13</a:t>
            </a:r>
            <a:endParaRPr b="0" i="0" sz="1050" u="none" cap="none" strike="noStrike">
              <a:solidFill>
                <a:schemeClr val="dk1"/>
              </a:solidFill>
              <a:latin typeface="Calibri"/>
              <a:ea typeface="Calibri"/>
              <a:cs typeface="Calibri"/>
              <a:sym typeface="Calibri"/>
            </a:endParaRPr>
          </a:p>
        </p:txBody>
      </p:sp>
      <p:sp>
        <p:nvSpPr>
          <p:cNvPr id="752" name="Google Shape;752;p19"/>
          <p:cNvSpPr/>
          <p:nvPr/>
        </p:nvSpPr>
        <p:spPr>
          <a:xfrm>
            <a:off x="5760720" y="4370832"/>
            <a:ext cx="2871216" cy="42062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The Expired class was over-represented in the training data. Setting its probability to zero before argmax eliminates false-positive spoilage predictions on borderline-fresh images without retraining.</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757" name="Shape 757"/>
        <p:cNvGrpSpPr/>
        <p:nvPr/>
      </p:nvGrpSpPr>
      <p:grpSpPr>
        <a:xfrm>
          <a:off x="0" y="0"/>
          <a:ext cx="0" cy="0"/>
          <a:chOff x="0" y="0"/>
          <a:chExt cx="0" cy="0"/>
        </a:xfrm>
      </p:grpSpPr>
      <p:cxnSp>
        <p:nvCxnSpPr>
          <p:cNvPr id="758" name="Google Shape;758;p20"/>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59" name="Google Shape;759;p20"/>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0" name="Google Shape;760;p20"/>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1" name="Google Shape;761;p20"/>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2" name="Google Shape;762;p20"/>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3" name="Google Shape;763;p20"/>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764" name="Google Shape;764;p20"/>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765" name="Google Shape;765;p20"/>
          <p:cNvSpPr/>
          <p:nvPr/>
        </p:nvSpPr>
        <p:spPr>
          <a:xfrm>
            <a:off x="8092440"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0"/>
          <p:cNvSpPr/>
          <p:nvPr/>
        </p:nvSpPr>
        <p:spPr>
          <a:xfrm>
            <a:off x="8293608"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p:nvPr/>
        </p:nvSpPr>
        <p:spPr>
          <a:xfrm>
            <a:off x="8494776"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a:off x="8695944"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0"/>
          <p:cNvSpPr/>
          <p:nvPr/>
        </p:nvSpPr>
        <p:spPr>
          <a:xfrm>
            <a:off x="8897112" y="374904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0"/>
          <p:cNvSpPr/>
          <p:nvPr/>
        </p:nvSpPr>
        <p:spPr>
          <a:xfrm>
            <a:off x="8092440"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p:nvPr/>
        </p:nvSpPr>
        <p:spPr>
          <a:xfrm>
            <a:off x="8293608"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a:off x="8494776"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a:off x="8695944"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0"/>
          <p:cNvSpPr/>
          <p:nvPr/>
        </p:nvSpPr>
        <p:spPr>
          <a:xfrm>
            <a:off x="8897112" y="395020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a:off x="8092440"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a:off x="8293608"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a:off x="8494776"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0"/>
          <p:cNvSpPr/>
          <p:nvPr/>
        </p:nvSpPr>
        <p:spPr>
          <a:xfrm>
            <a:off x="8695944"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p:nvPr/>
        </p:nvSpPr>
        <p:spPr>
          <a:xfrm>
            <a:off x="8897112" y="415137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0"/>
          <p:cNvSpPr/>
          <p:nvPr/>
        </p:nvSpPr>
        <p:spPr>
          <a:xfrm>
            <a:off x="8092440"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a:off x="8293608"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0"/>
          <p:cNvSpPr/>
          <p:nvPr/>
        </p:nvSpPr>
        <p:spPr>
          <a:xfrm>
            <a:off x="8494776"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a:off x="8695944"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0"/>
          <p:cNvSpPr/>
          <p:nvPr/>
        </p:nvSpPr>
        <p:spPr>
          <a:xfrm>
            <a:off x="8897112" y="435254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0"/>
          <p:cNvSpPr/>
          <p:nvPr/>
        </p:nvSpPr>
        <p:spPr>
          <a:xfrm>
            <a:off x="8092440"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0"/>
          <p:cNvSpPr/>
          <p:nvPr/>
        </p:nvSpPr>
        <p:spPr>
          <a:xfrm>
            <a:off x="8293608"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0"/>
          <p:cNvSpPr/>
          <p:nvPr/>
        </p:nvSpPr>
        <p:spPr>
          <a:xfrm>
            <a:off x="8494776"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0"/>
          <p:cNvSpPr/>
          <p:nvPr/>
        </p:nvSpPr>
        <p:spPr>
          <a:xfrm>
            <a:off x="8695944"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a:off x="8897112" y="455371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0"/>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Model Training Pipeline</a:t>
            </a:r>
            <a:endParaRPr b="0" i="0" sz="2800" u="none" cap="none" strike="noStrike">
              <a:solidFill>
                <a:schemeClr val="dk1"/>
              </a:solidFill>
              <a:latin typeface="Calibri"/>
              <a:ea typeface="Calibri"/>
              <a:cs typeface="Calibri"/>
              <a:sym typeface="Calibri"/>
            </a:endParaRPr>
          </a:p>
        </p:txBody>
      </p:sp>
      <p:sp>
        <p:nvSpPr>
          <p:cNvPr id="791" name="Google Shape;791;p20"/>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Two-phase transfer learning on Google Colab T4 GPU  ·  47 minutes total</a:t>
            </a:r>
            <a:endParaRPr b="0" i="0" sz="1400" u="none" cap="none" strike="noStrike">
              <a:solidFill>
                <a:schemeClr val="dk1"/>
              </a:solidFill>
              <a:latin typeface="Calibri"/>
              <a:ea typeface="Calibri"/>
              <a:cs typeface="Calibri"/>
              <a:sym typeface="Calibri"/>
            </a:endParaRPr>
          </a:p>
        </p:txBody>
      </p:sp>
      <p:cxnSp>
        <p:nvCxnSpPr>
          <p:cNvPr id="792" name="Google Shape;792;p20"/>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793" name="Google Shape;793;p20"/>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794" name="Google Shape;794;p20"/>
          <p:cNvSpPr/>
          <p:nvPr/>
        </p:nvSpPr>
        <p:spPr>
          <a:xfrm>
            <a:off x="384048" y="1207008"/>
            <a:ext cx="4160520" cy="3218688"/>
          </a:xfrm>
          <a:prstGeom prst="roundRect">
            <a:avLst>
              <a:gd fmla="val 3409"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0"/>
          <p:cNvSpPr/>
          <p:nvPr/>
        </p:nvSpPr>
        <p:spPr>
          <a:xfrm>
            <a:off x="548640" y="1280160"/>
            <a:ext cx="38404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PHASE 1: Frozen Base — Classification Head Only</a:t>
            </a:r>
            <a:endParaRPr b="0" i="0" sz="1200" u="none" cap="none" strike="noStrike">
              <a:solidFill>
                <a:schemeClr val="dk1"/>
              </a:solidFill>
              <a:latin typeface="Calibri"/>
              <a:ea typeface="Calibri"/>
              <a:cs typeface="Calibri"/>
              <a:sym typeface="Calibri"/>
            </a:endParaRPr>
          </a:p>
        </p:txBody>
      </p:sp>
      <p:sp>
        <p:nvSpPr>
          <p:cNvPr id="796" name="Google Shape;796;p20"/>
          <p:cNvSpPr/>
          <p:nvPr/>
        </p:nvSpPr>
        <p:spPr>
          <a:xfrm>
            <a:off x="548640" y="1609344"/>
            <a:ext cx="3877056" cy="27797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4A"/>
              </a:buClr>
              <a:buSzPts val="1100"/>
              <a:buFont typeface="Calibri"/>
              <a:buNone/>
            </a:pPr>
            <a:r>
              <a:rPr b="1" i="0" lang="en-US" sz="1100" u="none" cap="none" strike="noStrike">
                <a:solidFill>
                  <a:srgbClr val="1A2B4A"/>
                </a:solidFill>
                <a:latin typeface="Calibri"/>
                <a:ea typeface="Calibri"/>
                <a:cs typeface="Calibri"/>
                <a:sym typeface="Calibri"/>
              </a:rPr>
              <a:t>Epochs:</a:t>
            </a:r>
            <a:r>
              <a:rPr b="0" i="0" lang="en-US" sz="1100" u="none" cap="none" strike="noStrike">
                <a:solidFill>
                  <a:srgbClr val="4A5568"/>
                </a:solidFill>
                <a:latin typeface="Calibri"/>
                <a:ea typeface="Calibri"/>
                <a:cs typeface="Calibri"/>
                <a:sym typeface="Calibri"/>
              </a:rPr>
              <a:t>  10</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Learning rate:</a:t>
            </a:r>
            <a:r>
              <a:rPr b="0" i="0" lang="en-US" sz="1100" u="none" cap="none" strike="noStrike">
                <a:solidFill>
                  <a:srgbClr val="4A5568"/>
                </a:solidFill>
                <a:latin typeface="Calibri"/>
                <a:ea typeface="Calibri"/>
                <a:cs typeface="Calibri"/>
                <a:sym typeface="Calibri"/>
              </a:rPr>
              <a:t>  1×10⁻³ (Adam)</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Batch size:</a:t>
            </a:r>
            <a:r>
              <a:rPr b="0" i="0" lang="en-US" sz="1100" u="none" cap="none" strike="noStrike">
                <a:solidFill>
                  <a:srgbClr val="4A5568"/>
                </a:solidFill>
                <a:latin typeface="Calibri"/>
                <a:ea typeface="Calibri"/>
                <a:cs typeface="Calibri"/>
                <a:sym typeface="Calibri"/>
              </a:rPr>
              <a:t>  64</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Loss:</a:t>
            </a:r>
            <a:r>
              <a:rPr b="0" i="0" lang="en-US" sz="1100" u="none" cap="none" strike="noStrike">
                <a:solidFill>
                  <a:srgbClr val="4A5568"/>
                </a:solidFill>
                <a:latin typeface="Calibri"/>
                <a:ea typeface="Calibri"/>
                <a:cs typeface="Calibri"/>
                <a:sym typeface="Calibri"/>
              </a:rPr>
              <a:t>  Categorical cross-entropy</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Augmentation:</a:t>
            </a:r>
            <a:r>
              <a:rPr b="0" i="0" lang="en-US" sz="1100" u="none" cap="none" strike="noStrike">
                <a:solidFill>
                  <a:srgbClr val="4A5568"/>
                </a:solidFill>
                <a:latin typeface="Calibri"/>
                <a:ea typeface="Calibri"/>
                <a:cs typeface="Calibri"/>
                <a:sym typeface="Calibri"/>
              </a:rPr>
              <a:t>  Flips · rotation ±15° · brightness ±20% · zoom ±10%</a:t>
            </a:r>
            <a:br>
              <a:rPr b="0" i="0" lang="en-US" sz="1100" u="none" cap="none" strike="noStrike">
                <a:solidFill>
                  <a:srgbClr val="4A5568"/>
                </a:solidFill>
                <a:latin typeface="Calibri"/>
                <a:ea typeface="Calibri"/>
                <a:cs typeface="Calibri"/>
                <a:sym typeface="Calibri"/>
              </a:rPr>
            </a:br>
            <a:br>
              <a:rPr b="0" i="0" lang="en-US" sz="1100" u="none" cap="none" strike="noStrike">
                <a:solidFill>
                  <a:srgbClr val="4A5568"/>
                </a:solidFill>
                <a:latin typeface="Calibri"/>
                <a:ea typeface="Calibri"/>
                <a:cs typeface="Calibri"/>
                <a:sym typeface="Calibri"/>
              </a:rPr>
            </a:br>
            <a:r>
              <a:rPr b="1" i="0" lang="en-US" sz="1100" u="none" cap="none" strike="noStrike">
                <a:solidFill>
                  <a:srgbClr val="3A8C7E"/>
                </a:solidFill>
                <a:latin typeface="Calibri"/>
                <a:ea typeface="Calibri"/>
                <a:cs typeface="Calibri"/>
                <a:sym typeface="Calibri"/>
              </a:rPr>
              <a:t>What happens:</a:t>
            </a:r>
            <a:br>
              <a:rPr b="1" i="0" lang="en-US" sz="1100" u="none" cap="none" strike="noStrike">
                <a:solidFill>
                  <a:srgbClr val="3A8C7E"/>
                </a:solidFill>
                <a:latin typeface="Calibri"/>
                <a:ea typeface="Calibri"/>
                <a:cs typeface="Calibri"/>
                <a:sym typeface="Calibri"/>
              </a:rPr>
            </a:br>
            <a:r>
              <a:rPr b="0" i="0" lang="en-US" sz="1100" u="none" cap="none" strike="noStrike">
                <a:solidFill>
                  <a:srgbClr val="4A5568"/>
                </a:solidFill>
                <a:latin typeface="Calibri"/>
                <a:ea typeface="Calibri"/>
                <a:cs typeface="Calibri"/>
                <a:sym typeface="Calibri"/>
              </a:rPr>
              <a:t>MobileNetV2's convolutional weights are frozen. Only the new classification head (GlobalAveragePooling → Dense 128 ReLU → Dropout 0.3 → Dense 14 Softmax) learns. This adapts the output space to our 14 fruit-age classes without disturbing the pre-trained visual feature extractors.</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Converges in ~6 epochs. Val accuracy: ~0.72.</a:t>
            </a:r>
            <a:endParaRPr b="0" i="0" sz="1100" u="none" cap="none" strike="noStrike">
              <a:solidFill>
                <a:schemeClr val="dk1"/>
              </a:solidFill>
              <a:latin typeface="Calibri"/>
              <a:ea typeface="Calibri"/>
              <a:cs typeface="Calibri"/>
              <a:sym typeface="Calibri"/>
            </a:endParaRPr>
          </a:p>
        </p:txBody>
      </p:sp>
      <p:sp>
        <p:nvSpPr>
          <p:cNvPr id="797" name="Google Shape;797;p20"/>
          <p:cNvSpPr/>
          <p:nvPr/>
        </p:nvSpPr>
        <p:spPr>
          <a:xfrm>
            <a:off x="4736592" y="1207008"/>
            <a:ext cx="4023360" cy="3218688"/>
          </a:xfrm>
          <a:prstGeom prst="roundRect">
            <a:avLst>
              <a:gd fmla="val 3409" name="adj"/>
            </a:avLst>
          </a:prstGeom>
          <a:solidFill>
            <a:srgbClr val="EDF5ED"/>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0"/>
          <p:cNvSpPr/>
          <p:nvPr/>
        </p:nvSpPr>
        <p:spPr>
          <a:xfrm>
            <a:off x="4901184" y="1280160"/>
            <a:ext cx="3749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PHASE 2: Fine-Tuning — Top Layers Unfrozen</a:t>
            </a:r>
            <a:endParaRPr b="0" i="0" sz="1200" u="none" cap="none" strike="noStrike">
              <a:solidFill>
                <a:schemeClr val="dk1"/>
              </a:solidFill>
              <a:latin typeface="Calibri"/>
              <a:ea typeface="Calibri"/>
              <a:cs typeface="Calibri"/>
              <a:sym typeface="Calibri"/>
            </a:endParaRPr>
          </a:p>
        </p:txBody>
      </p:sp>
      <p:sp>
        <p:nvSpPr>
          <p:cNvPr id="799" name="Google Shape;799;p20"/>
          <p:cNvSpPr/>
          <p:nvPr/>
        </p:nvSpPr>
        <p:spPr>
          <a:xfrm>
            <a:off x="4901184" y="1609344"/>
            <a:ext cx="3767328" cy="27797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4A"/>
              </a:buClr>
              <a:buSzPts val="1100"/>
              <a:buFont typeface="Calibri"/>
              <a:buNone/>
            </a:pPr>
            <a:r>
              <a:rPr b="1" i="0" lang="en-US" sz="1100" u="none" cap="none" strike="noStrike">
                <a:solidFill>
                  <a:srgbClr val="1A2B4A"/>
                </a:solidFill>
                <a:latin typeface="Calibri"/>
                <a:ea typeface="Calibri"/>
                <a:cs typeface="Calibri"/>
                <a:sym typeface="Calibri"/>
              </a:rPr>
              <a:t>Epochs:</a:t>
            </a:r>
            <a:r>
              <a:rPr b="0" i="0" lang="en-US" sz="1100" u="none" cap="none" strike="noStrike">
                <a:solidFill>
                  <a:srgbClr val="4A5568"/>
                </a:solidFill>
                <a:latin typeface="Calibri"/>
                <a:ea typeface="Calibri"/>
                <a:cs typeface="Calibri"/>
                <a:sym typeface="Calibri"/>
              </a:rPr>
              <a:t>  15 additional</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Learning rate:</a:t>
            </a:r>
            <a:r>
              <a:rPr b="0" i="0" lang="en-US" sz="1100" u="none" cap="none" strike="noStrike">
                <a:solidFill>
                  <a:srgbClr val="4A5568"/>
                </a:solidFill>
                <a:latin typeface="Calibri"/>
                <a:ea typeface="Calibri"/>
                <a:cs typeface="Calibri"/>
                <a:sym typeface="Calibri"/>
              </a:rPr>
              <a:t>  1×10⁻⁵ (Adam — very slow)</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Batch size:</a:t>
            </a:r>
            <a:r>
              <a:rPr b="0" i="0" lang="en-US" sz="1100" u="none" cap="none" strike="noStrike">
                <a:solidFill>
                  <a:srgbClr val="4A5568"/>
                </a:solidFill>
                <a:latin typeface="Calibri"/>
                <a:ea typeface="Calibri"/>
                <a:cs typeface="Calibri"/>
                <a:sym typeface="Calibri"/>
              </a:rPr>
              <a:t>  32 (reduced from 64 — OOM fix)</a:t>
            </a:r>
            <a:br>
              <a:rPr b="0" i="0" lang="en-US" sz="1100" u="none" cap="none" strike="noStrike">
                <a:solidFill>
                  <a:srgbClr val="4A5568"/>
                </a:solidFill>
                <a:latin typeface="Calibri"/>
                <a:ea typeface="Calibri"/>
                <a:cs typeface="Calibri"/>
                <a:sym typeface="Calibri"/>
              </a:rPr>
            </a:br>
            <a:r>
              <a:rPr b="1" i="0" lang="en-US" sz="1100" u="none" cap="none" strike="noStrike">
                <a:solidFill>
                  <a:srgbClr val="1A2B4A"/>
                </a:solidFill>
                <a:latin typeface="Calibri"/>
                <a:ea typeface="Calibri"/>
                <a:cs typeface="Calibri"/>
                <a:sym typeface="Calibri"/>
              </a:rPr>
              <a:t>Layers unfrozen:</a:t>
            </a:r>
            <a:r>
              <a:rPr b="0" i="0" lang="en-US" sz="1100" u="none" cap="none" strike="noStrike">
                <a:solidFill>
                  <a:srgbClr val="4A5568"/>
                </a:solidFill>
                <a:latin typeface="Calibri"/>
                <a:ea typeface="Calibri"/>
                <a:cs typeface="Calibri"/>
                <a:sym typeface="Calibri"/>
              </a:rPr>
              <a:t>  Top 30 of MobileNetV2 base</a:t>
            </a:r>
            <a:br>
              <a:rPr b="0" i="0" lang="en-US" sz="1100" u="none" cap="none" strike="noStrike">
                <a:solidFill>
                  <a:srgbClr val="4A5568"/>
                </a:solidFill>
                <a:latin typeface="Calibri"/>
                <a:ea typeface="Calibri"/>
                <a:cs typeface="Calibri"/>
                <a:sym typeface="Calibri"/>
              </a:rPr>
            </a:br>
            <a:br>
              <a:rPr b="0" i="0" lang="en-US" sz="1100" u="none" cap="none" strike="noStrike">
                <a:solidFill>
                  <a:srgbClr val="4A5568"/>
                </a:solidFill>
                <a:latin typeface="Calibri"/>
                <a:ea typeface="Calibri"/>
                <a:cs typeface="Calibri"/>
                <a:sym typeface="Calibri"/>
              </a:rPr>
            </a:br>
            <a:r>
              <a:rPr b="1" i="0" lang="en-US" sz="1100" u="none" cap="none" strike="noStrike">
                <a:solidFill>
                  <a:srgbClr val="3A8C7E"/>
                </a:solidFill>
                <a:latin typeface="Calibri"/>
                <a:ea typeface="Calibri"/>
                <a:cs typeface="Calibri"/>
                <a:sym typeface="Calibri"/>
              </a:rPr>
              <a:t>What happens:</a:t>
            </a:r>
            <a:br>
              <a:rPr b="1" i="0" lang="en-US" sz="1100" u="none" cap="none" strike="noStrike">
                <a:solidFill>
                  <a:srgbClr val="3A8C7E"/>
                </a:solidFill>
                <a:latin typeface="Calibri"/>
                <a:ea typeface="Calibri"/>
                <a:cs typeface="Calibri"/>
                <a:sym typeface="Calibri"/>
              </a:rPr>
            </a:br>
            <a:r>
              <a:rPr b="0" i="0" lang="en-US" sz="1100" u="none" cap="none" strike="noStrike">
                <a:solidFill>
                  <a:srgbClr val="4A5568"/>
                </a:solidFill>
                <a:latin typeface="Calibri"/>
                <a:ea typeface="Calibri"/>
                <a:cs typeface="Calibri"/>
                <a:sym typeface="Calibri"/>
              </a:rPr>
              <a:t>The top convolutional layers adapt their feature representations toward fruit-specific visual patterns. The very small learning rate prevents catastrophic forgetting — the model retains its ImageNet knowledge while specialising.</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Reducing batch size from 64→32 was required: unfreezing activates gradient storage for each unfrozen layer, doubling GPU memory pressure. T4's 15 GB was insufficient at batch 64.</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Final val accuracy: 91.4%</a:t>
            </a:r>
            <a:endParaRPr b="0" i="0" sz="1100" u="none" cap="none" strike="noStrike">
              <a:solidFill>
                <a:schemeClr val="dk1"/>
              </a:solidFill>
              <a:latin typeface="Calibri"/>
              <a:ea typeface="Calibri"/>
              <a:cs typeface="Calibri"/>
              <a:sym typeface="Calibri"/>
            </a:endParaRPr>
          </a:p>
        </p:txBody>
      </p:sp>
      <p:sp>
        <p:nvSpPr>
          <p:cNvPr id="800" name="Google Shape;800;p20"/>
          <p:cNvSpPr/>
          <p:nvPr/>
        </p:nvSpPr>
        <p:spPr>
          <a:xfrm>
            <a:off x="384048" y="4498848"/>
            <a:ext cx="8375904" cy="475488"/>
          </a:xfrm>
          <a:prstGeom prst="rect">
            <a:avLst/>
          </a:prstGeom>
          <a:solidFill>
            <a:srgbClr val="1A2B4A"/>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0"/>
          <p:cNvSpPr/>
          <p:nvPr/>
        </p:nvSpPr>
        <p:spPr>
          <a:xfrm>
            <a:off x="548640" y="4517136"/>
            <a:ext cx="81381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300"/>
              <a:buFont typeface="Calibri"/>
              <a:buNone/>
            </a:pPr>
            <a:r>
              <a:rPr b="1" i="0" lang="en-US" sz="1300" u="none" cap="none" strike="noStrike">
                <a:solidFill>
                  <a:srgbClr val="3A8C7E"/>
                </a:solidFill>
                <a:latin typeface="Calibri"/>
                <a:ea typeface="Calibri"/>
                <a:cs typeface="Calibri"/>
                <a:sym typeface="Calibri"/>
              </a:rPr>
              <a:t>Top-1: 89.3%   ·   Top-3: 97.5%   ·   Val Accuracy: 91.4%   ·   End-to-end (20 imgs): 18/20 ✓   ·   Inference: 380 ms avg</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806" name="Shape 806"/>
        <p:cNvGrpSpPr/>
        <p:nvPr/>
      </p:nvGrpSpPr>
      <p:grpSpPr>
        <a:xfrm>
          <a:off x="0" y="0"/>
          <a:ext cx="0" cy="0"/>
          <a:chOff x="0" y="0"/>
          <a:chExt cx="0" cy="0"/>
        </a:xfrm>
      </p:grpSpPr>
      <p:sp>
        <p:nvSpPr>
          <p:cNvPr id="807" name="Google Shape;807;p21"/>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1"/>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1"/>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1"/>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1"/>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1"/>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1"/>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1"/>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1"/>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1"/>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1"/>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1"/>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1"/>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1"/>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1"/>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1"/>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1"/>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1"/>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1"/>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1"/>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1"/>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1"/>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1"/>
          <p:cNvSpPr/>
          <p:nvPr/>
        </p:nvSpPr>
        <p:spPr>
          <a:xfrm>
            <a:off x="-457200" y="182880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1"/>
          <p:cNvSpPr/>
          <p:nvPr/>
        </p:nvSpPr>
        <p:spPr>
          <a:xfrm>
            <a:off x="-155448" y="213055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1"/>
          <p:cNvSpPr/>
          <p:nvPr/>
        </p:nvSpPr>
        <p:spPr>
          <a:xfrm>
            <a:off x="109728" y="239572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1"/>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System Architecture</a:t>
            </a:r>
            <a:endParaRPr b="0" i="0" sz="2800" u="none" cap="none" strike="noStrike">
              <a:solidFill>
                <a:schemeClr val="dk1"/>
              </a:solidFill>
              <a:latin typeface="Calibri"/>
              <a:ea typeface="Calibri"/>
              <a:cs typeface="Calibri"/>
              <a:sym typeface="Calibri"/>
            </a:endParaRPr>
          </a:p>
        </p:txBody>
      </p:sp>
      <p:sp>
        <p:nvSpPr>
          <p:cNvPr id="836" name="Google Shape;836;p21"/>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Seven-Layer Clinical Decision Support Pipeline</a:t>
            </a:r>
            <a:endParaRPr b="0" i="0" sz="1400" u="none" cap="none" strike="noStrike">
              <a:solidFill>
                <a:schemeClr val="dk1"/>
              </a:solidFill>
              <a:latin typeface="Calibri"/>
              <a:ea typeface="Calibri"/>
              <a:cs typeface="Calibri"/>
              <a:sym typeface="Calibri"/>
            </a:endParaRPr>
          </a:p>
        </p:txBody>
      </p:sp>
      <p:cxnSp>
        <p:nvCxnSpPr>
          <p:cNvPr id="837" name="Google Shape;837;p21"/>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838" name="Google Shape;838;p21"/>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839" name="Google Shape;839;p21"/>
          <p:cNvSpPr/>
          <p:nvPr/>
        </p:nvSpPr>
        <p:spPr>
          <a:xfrm>
            <a:off x="1371600" y="1024128"/>
            <a:ext cx="6400800" cy="438912"/>
          </a:xfrm>
          <a:prstGeom prst="roundRect">
            <a:avLst>
              <a:gd fmla="val 16667" name="adj"/>
            </a:avLst>
          </a:prstGeom>
          <a:solidFill>
            <a:srgbClr val="3B5FA0"/>
          </a:solidFill>
          <a:ln cap="flat" cmpd="sng" w="12700">
            <a:solidFill>
              <a:srgbClr val="3B5FA0"/>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1"/>
          <p:cNvSpPr/>
          <p:nvPr/>
        </p:nvSpPr>
        <p:spPr>
          <a:xfrm>
            <a:off x="1481328" y="106070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PATIENT / USER</a:t>
            </a:r>
            <a:endParaRPr b="0" i="0" sz="1150" u="none" cap="none" strike="noStrike">
              <a:solidFill>
                <a:schemeClr val="dk1"/>
              </a:solidFill>
              <a:latin typeface="Calibri"/>
              <a:ea typeface="Calibri"/>
              <a:cs typeface="Calibri"/>
              <a:sym typeface="Calibri"/>
            </a:endParaRPr>
          </a:p>
        </p:txBody>
      </p:sp>
      <p:sp>
        <p:nvSpPr>
          <p:cNvPr id="841" name="Google Shape;841;p21"/>
          <p:cNvSpPr/>
          <p:nvPr/>
        </p:nvSpPr>
        <p:spPr>
          <a:xfrm>
            <a:off x="1481328" y="126187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EEE9"/>
              </a:buClr>
              <a:buSzPts val="950"/>
              <a:buFont typeface="Calibri"/>
              <a:buNone/>
            </a:pPr>
            <a:r>
              <a:rPr b="0" i="0" lang="en-US" sz="950" u="none" cap="none" strike="noStrike">
                <a:solidFill>
                  <a:srgbClr val="D1EEE9"/>
                </a:solidFill>
                <a:latin typeface="Calibri"/>
                <a:ea typeface="Calibri"/>
                <a:cs typeface="Calibri"/>
                <a:sym typeface="Calibri"/>
              </a:rPr>
              <a:t>Mobile browser or installed PWA</a:t>
            </a:r>
            <a:endParaRPr b="0" i="0" sz="950" u="none" cap="none" strike="noStrike">
              <a:solidFill>
                <a:schemeClr val="dk1"/>
              </a:solidFill>
              <a:latin typeface="Calibri"/>
              <a:ea typeface="Calibri"/>
              <a:cs typeface="Calibri"/>
              <a:sym typeface="Calibri"/>
            </a:endParaRPr>
          </a:p>
        </p:txBody>
      </p:sp>
      <p:cxnSp>
        <p:nvCxnSpPr>
          <p:cNvPr id="842" name="Google Shape;842;p21"/>
          <p:cNvCxnSpPr/>
          <p:nvPr/>
        </p:nvCxnSpPr>
        <p:spPr>
          <a:xfrm>
            <a:off x="4562856" y="1463040"/>
            <a:ext cx="0" cy="64008"/>
          </a:xfrm>
          <a:prstGeom prst="straightConnector1">
            <a:avLst/>
          </a:prstGeom>
          <a:noFill/>
          <a:ln cap="flat" cmpd="sng" w="19050">
            <a:solidFill>
              <a:srgbClr val="3A8C7E"/>
            </a:solidFill>
            <a:prstDash val="solid"/>
            <a:round/>
            <a:headEnd len="sm" w="sm" type="none"/>
            <a:tailEnd len="sm" w="sm" type="none"/>
          </a:ln>
        </p:spPr>
      </p:cxnSp>
      <p:sp>
        <p:nvSpPr>
          <p:cNvPr id="843" name="Google Shape;843;p21"/>
          <p:cNvSpPr/>
          <p:nvPr/>
        </p:nvSpPr>
        <p:spPr>
          <a:xfrm>
            <a:off x="1371600" y="152704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1"/>
          <p:cNvSpPr/>
          <p:nvPr/>
        </p:nvSpPr>
        <p:spPr>
          <a:xfrm>
            <a:off x="1481328" y="156362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1  INPUT LAYER</a:t>
            </a:r>
            <a:endParaRPr b="0" i="0" sz="1150" u="none" cap="none" strike="noStrike">
              <a:solidFill>
                <a:schemeClr val="dk1"/>
              </a:solidFill>
              <a:latin typeface="Calibri"/>
              <a:ea typeface="Calibri"/>
              <a:cs typeface="Calibri"/>
              <a:sym typeface="Calibri"/>
            </a:endParaRPr>
          </a:p>
        </p:txBody>
      </p:sp>
      <p:sp>
        <p:nvSpPr>
          <p:cNvPr id="845" name="Google Shape;845;p21"/>
          <p:cNvSpPr/>
          <p:nvPr/>
        </p:nvSpPr>
        <p:spPr>
          <a:xfrm>
            <a:off x="1481328" y="176479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10 fruit features entered via React form</a:t>
            </a:r>
            <a:endParaRPr b="0" i="0" sz="950" u="none" cap="none" strike="noStrike">
              <a:solidFill>
                <a:schemeClr val="dk1"/>
              </a:solidFill>
              <a:latin typeface="Calibri"/>
              <a:ea typeface="Calibri"/>
              <a:cs typeface="Calibri"/>
              <a:sym typeface="Calibri"/>
            </a:endParaRPr>
          </a:p>
        </p:txBody>
      </p:sp>
      <p:cxnSp>
        <p:nvCxnSpPr>
          <p:cNvPr id="846" name="Google Shape;846;p21"/>
          <p:cNvCxnSpPr/>
          <p:nvPr/>
        </p:nvCxnSpPr>
        <p:spPr>
          <a:xfrm>
            <a:off x="4562856" y="1965960"/>
            <a:ext cx="0" cy="64008"/>
          </a:xfrm>
          <a:prstGeom prst="straightConnector1">
            <a:avLst/>
          </a:prstGeom>
          <a:noFill/>
          <a:ln cap="flat" cmpd="sng" w="19050">
            <a:solidFill>
              <a:srgbClr val="3A8C7E"/>
            </a:solidFill>
            <a:prstDash val="solid"/>
            <a:round/>
            <a:headEnd len="sm" w="sm" type="none"/>
            <a:tailEnd len="sm" w="sm" type="none"/>
          </a:ln>
        </p:spPr>
      </p:cxnSp>
      <p:sp>
        <p:nvSpPr>
          <p:cNvPr id="847" name="Google Shape;847;p21"/>
          <p:cNvSpPr/>
          <p:nvPr/>
        </p:nvSpPr>
        <p:spPr>
          <a:xfrm>
            <a:off x="1371600" y="202996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1481328" y="206654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2  PREPROCESSING</a:t>
            </a:r>
            <a:endParaRPr b="0" i="0" sz="1150" u="none" cap="none" strike="noStrike">
              <a:solidFill>
                <a:schemeClr val="dk1"/>
              </a:solidFill>
              <a:latin typeface="Calibri"/>
              <a:ea typeface="Calibri"/>
              <a:cs typeface="Calibri"/>
              <a:sym typeface="Calibri"/>
            </a:endParaRPr>
          </a:p>
        </p:txBody>
      </p:sp>
      <p:sp>
        <p:nvSpPr>
          <p:cNvPr id="849" name="Google Shape;849;p21"/>
          <p:cNvSpPr/>
          <p:nvPr/>
        </p:nvSpPr>
        <p:spPr>
          <a:xfrm>
            <a:off x="1481328" y="226771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Image loading · RGB convert · 224×224 resize · normalise to [−1,1]</a:t>
            </a:r>
            <a:endParaRPr b="0" i="0" sz="950" u="none" cap="none" strike="noStrike">
              <a:solidFill>
                <a:schemeClr val="dk1"/>
              </a:solidFill>
              <a:latin typeface="Calibri"/>
              <a:ea typeface="Calibri"/>
              <a:cs typeface="Calibri"/>
              <a:sym typeface="Calibri"/>
            </a:endParaRPr>
          </a:p>
        </p:txBody>
      </p:sp>
      <p:cxnSp>
        <p:nvCxnSpPr>
          <p:cNvPr id="850" name="Google Shape;850;p21"/>
          <p:cNvCxnSpPr/>
          <p:nvPr/>
        </p:nvCxnSpPr>
        <p:spPr>
          <a:xfrm>
            <a:off x="4562856" y="2468880"/>
            <a:ext cx="0" cy="64008"/>
          </a:xfrm>
          <a:prstGeom prst="straightConnector1">
            <a:avLst/>
          </a:prstGeom>
          <a:noFill/>
          <a:ln cap="flat" cmpd="sng" w="19050">
            <a:solidFill>
              <a:srgbClr val="3A8C7E"/>
            </a:solidFill>
            <a:prstDash val="solid"/>
            <a:round/>
            <a:headEnd len="sm" w="sm" type="none"/>
            <a:tailEnd len="sm" w="sm" type="none"/>
          </a:ln>
        </p:spPr>
      </p:cxnSp>
      <p:sp>
        <p:nvSpPr>
          <p:cNvPr id="851" name="Google Shape;851;p21"/>
          <p:cNvSpPr/>
          <p:nvPr/>
        </p:nvSpPr>
        <p:spPr>
          <a:xfrm>
            <a:off x="1371600" y="2532888"/>
            <a:ext cx="6400800" cy="438912"/>
          </a:xfrm>
          <a:prstGeom prst="roundRect">
            <a:avLst>
              <a:gd fmla="val 16667" name="adj"/>
            </a:avLst>
          </a:prstGeom>
          <a:solidFill>
            <a:srgbClr val="3A8C7E"/>
          </a:solidFill>
          <a:ln cap="flat" cmpd="sng" w="12700">
            <a:solidFill>
              <a:srgbClr val="3A8C7E"/>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1"/>
          <p:cNvSpPr/>
          <p:nvPr/>
        </p:nvSpPr>
        <p:spPr>
          <a:xfrm>
            <a:off x="1481328" y="256946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3  MobileNetV2 INFERENCE</a:t>
            </a:r>
            <a:endParaRPr b="0" i="0" sz="1150" u="none" cap="none" strike="noStrike">
              <a:solidFill>
                <a:schemeClr val="dk1"/>
              </a:solidFill>
              <a:latin typeface="Calibri"/>
              <a:ea typeface="Calibri"/>
              <a:cs typeface="Calibri"/>
              <a:sym typeface="Calibri"/>
            </a:endParaRPr>
          </a:p>
        </p:txBody>
      </p:sp>
      <p:sp>
        <p:nvSpPr>
          <p:cNvPr id="853" name="Google Shape;853;p21"/>
          <p:cNvSpPr/>
          <p:nvPr/>
        </p:nvSpPr>
        <p:spPr>
          <a:xfrm>
            <a:off x="1481328" y="277063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EEE9"/>
              </a:buClr>
              <a:buSzPts val="950"/>
              <a:buFont typeface="Calibri"/>
              <a:buNone/>
            </a:pPr>
            <a:r>
              <a:rPr b="0" i="0" lang="en-US" sz="950" u="none" cap="none" strike="noStrike">
                <a:solidFill>
                  <a:srgbClr val="D1EEE9"/>
                </a:solidFill>
                <a:latin typeface="Calibri"/>
                <a:ea typeface="Calibri"/>
                <a:cs typeface="Calibri"/>
                <a:sym typeface="Calibri"/>
              </a:rPr>
              <a:t>14-class prediction → fruit name + freshness score  |  asyncio thread pool</a:t>
            </a:r>
            <a:endParaRPr b="0" i="0" sz="950" u="none" cap="none" strike="noStrike">
              <a:solidFill>
                <a:schemeClr val="dk1"/>
              </a:solidFill>
              <a:latin typeface="Calibri"/>
              <a:ea typeface="Calibri"/>
              <a:cs typeface="Calibri"/>
              <a:sym typeface="Calibri"/>
            </a:endParaRPr>
          </a:p>
        </p:txBody>
      </p:sp>
      <p:cxnSp>
        <p:nvCxnSpPr>
          <p:cNvPr id="854" name="Google Shape;854;p21"/>
          <p:cNvCxnSpPr/>
          <p:nvPr/>
        </p:nvCxnSpPr>
        <p:spPr>
          <a:xfrm>
            <a:off x="4562856" y="2971800"/>
            <a:ext cx="0" cy="64008"/>
          </a:xfrm>
          <a:prstGeom prst="straightConnector1">
            <a:avLst/>
          </a:prstGeom>
          <a:noFill/>
          <a:ln cap="flat" cmpd="sng" w="19050">
            <a:solidFill>
              <a:srgbClr val="3A8C7E"/>
            </a:solidFill>
            <a:prstDash val="solid"/>
            <a:round/>
            <a:headEnd len="sm" w="sm" type="none"/>
            <a:tailEnd len="sm" w="sm" type="none"/>
          </a:ln>
        </p:spPr>
      </p:cxnSp>
      <p:sp>
        <p:nvSpPr>
          <p:cNvPr id="855" name="Google Shape;855;p21"/>
          <p:cNvSpPr/>
          <p:nvPr/>
        </p:nvSpPr>
        <p:spPr>
          <a:xfrm>
            <a:off x="1371600" y="303580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1"/>
          <p:cNvSpPr/>
          <p:nvPr/>
        </p:nvSpPr>
        <p:spPr>
          <a:xfrm>
            <a:off x="1481328" y="307238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4  SHELF-LIFE ESTIMATION</a:t>
            </a:r>
            <a:endParaRPr b="0" i="0" sz="1150" u="none" cap="none" strike="noStrike">
              <a:solidFill>
                <a:schemeClr val="dk1"/>
              </a:solidFill>
              <a:latin typeface="Calibri"/>
              <a:ea typeface="Calibri"/>
              <a:cs typeface="Calibri"/>
              <a:sym typeface="Calibri"/>
            </a:endParaRPr>
          </a:p>
        </p:txBody>
      </p:sp>
      <p:sp>
        <p:nvSpPr>
          <p:cNvPr id="857" name="Google Shape;857;p21"/>
          <p:cNvSpPr/>
          <p:nvPr/>
        </p:nvSpPr>
        <p:spPr>
          <a:xfrm>
            <a:off x="1481328" y="327355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D = B × F^1.5 × T × R  (all 3 storage methods)  |  42-fruit reference DB</a:t>
            </a:r>
            <a:endParaRPr b="0" i="0" sz="950" u="none" cap="none" strike="noStrike">
              <a:solidFill>
                <a:schemeClr val="dk1"/>
              </a:solidFill>
              <a:latin typeface="Calibri"/>
              <a:ea typeface="Calibri"/>
              <a:cs typeface="Calibri"/>
              <a:sym typeface="Calibri"/>
            </a:endParaRPr>
          </a:p>
        </p:txBody>
      </p:sp>
      <p:cxnSp>
        <p:nvCxnSpPr>
          <p:cNvPr id="858" name="Google Shape;858;p21"/>
          <p:cNvCxnSpPr/>
          <p:nvPr/>
        </p:nvCxnSpPr>
        <p:spPr>
          <a:xfrm>
            <a:off x="4562856" y="3474720"/>
            <a:ext cx="0" cy="64008"/>
          </a:xfrm>
          <a:prstGeom prst="straightConnector1">
            <a:avLst/>
          </a:prstGeom>
          <a:noFill/>
          <a:ln cap="flat" cmpd="sng" w="19050">
            <a:solidFill>
              <a:srgbClr val="3A8C7E"/>
            </a:solidFill>
            <a:prstDash val="solid"/>
            <a:round/>
            <a:headEnd len="sm" w="sm" type="none"/>
            <a:tailEnd len="sm" w="sm" type="none"/>
          </a:ln>
        </p:spPr>
      </p:cxnSp>
      <p:sp>
        <p:nvSpPr>
          <p:cNvPr id="859" name="Google Shape;859;p21"/>
          <p:cNvSpPr/>
          <p:nvPr/>
        </p:nvSpPr>
        <p:spPr>
          <a:xfrm>
            <a:off x="1371600" y="353872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1"/>
          <p:cNvSpPr/>
          <p:nvPr/>
        </p:nvSpPr>
        <p:spPr>
          <a:xfrm>
            <a:off x="1481328" y="357530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5  COMPOSITE DECISION</a:t>
            </a:r>
            <a:endParaRPr b="0" i="0" sz="1150" u="none" cap="none" strike="noStrike">
              <a:solidFill>
                <a:schemeClr val="dk1"/>
              </a:solidFill>
              <a:latin typeface="Calibri"/>
              <a:ea typeface="Calibri"/>
              <a:cs typeface="Calibri"/>
              <a:sym typeface="Calibri"/>
            </a:endParaRPr>
          </a:p>
        </p:txBody>
      </p:sp>
      <p:sp>
        <p:nvSpPr>
          <p:cNvPr id="861" name="Google Shape;861;p21"/>
          <p:cNvSpPr/>
          <p:nvPr/>
        </p:nvSpPr>
        <p:spPr>
          <a:xfrm>
            <a:off x="1481328" y="377647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C = (F×0.6)+(N×0.4) → FRESH / EAT SOON / EAT TODAY / SPOILED</a:t>
            </a:r>
            <a:endParaRPr b="0" i="0" sz="950" u="none" cap="none" strike="noStrike">
              <a:solidFill>
                <a:schemeClr val="dk1"/>
              </a:solidFill>
              <a:latin typeface="Calibri"/>
              <a:ea typeface="Calibri"/>
              <a:cs typeface="Calibri"/>
              <a:sym typeface="Calibri"/>
            </a:endParaRPr>
          </a:p>
        </p:txBody>
      </p:sp>
      <p:cxnSp>
        <p:nvCxnSpPr>
          <p:cNvPr id="862" name="Google Shape;862;p21"/>
          <p:cNvCxnSpPr/>
          <p:nvPr/>
        </p:nvCxnSpPr>
        <p:spPr>
          <a:xfrm>
            <a:off x="4562856" y="3977640"/>
            <a:ext cx="0" cy="64008"/>
          </a:xfrm>
          <a:prstGeom prst="straightConnector1">
            <a:avLst/>
          </a:prstGeom>
          <a:noFill/>
          <a:ln cap="flat" cmpd="sng" w="19050">
            <a:solidFill>
              <a:srgbClr val="3A8C7E"/>
            </a:solidFill>
            <a:prstDash val="solid"/>
            <a:round/>
            <a:headEnd len="sm" w="sm" type="none"/>
            <a:tailEnd len="sm" w="sm" type="none"/>
          </a:ln>
        </p:spPr>
      </p:cxnSp>
      <p:sp>
        <p:nvSpPr>
          <p:cNvPr id="863" name="Google Shape;863;p21"/>
          <p:cNvSpPr/>
          <p:nvPr/>
        </p:nvSpPr>
        <p:spPr>
          <a:xfrm>
            <a:off x="1371600" y="4041648"/>
            <a:ext cx="6400800" cy="438912"/>
          </a:xfrm>
          <a:prstGeom prst="roundRect">
            <a:avLst>
              <a:gd fmla="val 16667" name="adj"/>
            </a:avLst>
          </a:prstGeom>
          <a:solidFill>
            <a:srgbClr val="F4F7F9"/>
          </a:solidFill>
          <a:ln cap="flat" cmpd="sng" w="12700">
            <a:solidFill>
              <a:srgbClr val="CBD5E1"/>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1"/>
          <p:cNvSpPr/>
          <p:nvPr/>
        </p:nvSpPr>
        <p:spPr>
          <a:xfrm>
            <a:off x="1481328" y="407822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6  ETHYLENE CHECK</a:t>
            </a:r>
            <a:endParaRPr b="0" i="0" sz="1150" u="none" cap="none" strike="noStrike">
              <a:solidFill>
                <a:schemeClr val="dk1"/>
              </a:solidFill>
              <a:latin typeface="Calibri"/>
              <a:ea typeface="Calibri"/>
              <a:cs typeface="Calibri"/>
              <a:sym typeface="Calibri"/>
            </a:endParaRPr>
          </a:p>
        </p:txBody>
      </p:sp>
      <p:sp>
        <p:nvSpPr>
          <p:cNvPr id="865" name="Google Shape;865;p21"/>
          <p:cNvSpPr/>
          <p:nvPr/>
        </p:nvSpPr>
        <p:spPr>
          <a:xfrm>
            <a:off x="1481328" y="427939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Conflict graph pairwise lookup  |  O(n²)  |  451 real edges</a:t>
            </a:r>
            <a:endParaRPr b="0" i="0" sz="950" u="none" cap="none" strike="noStrike">
              <a:solidFill>
                <a:schemeClr val="dk1"/>
              </a:solidFill>
              <a:latin typeface="Calibri"/>
              <a:ea typeface="Calibri"/>
              <a:cs typeface="Calibri"/>
              <a:sym typeface="Calibri"/>
            </a:endParaRPr>
          </a:p>
        </p:txBody>
      </p:sp>
      <p:cxnSp>
        <p:nvCxnSpPr>
          <p:cNvPr id="866" name="Google Shape;866;p21"/>
          <p:cNvCxnSpPr/>
          <p:nvPr/>
        </p:nvCxnSpPr>
        <p:spPr>
          <a:xfrm>
            <a:off x="4562856" y="4480560"/>
            <a:ext cx="0" cy="64008"/>
          </a:xfrm>
          <a:prstGeom prst="straightConnector1">
            <a:avLst/>
          </a:prstGeom>
          <a:noFill/>
          <a:ln cap="flat" cmpd="sng" w="19050">
            <a:solidFill>
              <a:srgbClr val="3A8C7E"/>
            </a:solidFill>
            <a:prstDash val="solid"/>
            <a:round/>
            <a:headEnd len="sm" w="sm" type="none"/>
            <a:tailEnd len="sm" w="sm" type="none"/>
          </a:ln>
        </p:spPr>
      </p:cxnSp>
      <p:sp>
        <p:nvSpPr>
          <p:cNvPr id="867" name="Google Shape;867;p21"/>
          <p:cNvSpPr/>
          <p:nvPr/>
        </p:nvSpPr>
        <p:spPr>
          <a:xfrm>
            <a:off x="1371600" y="4544568"/>
            <a:ext cx="6400800" cy="438912"/>
          </a:xfrm>
          <a:prstGeom prst="roundRect">
            <a:avLst>
              <a:gd fmla="val 16667" name="adj"/>
            </a:avLst>
          </a:prstGeom>
          <a:solidFill>
            <a:srgbClr val="3A8C7E"/>
          </a:solidFill>
          <a:ln cap="flat" cmpd="sng" w="12700">
            <a:solidFill>
              <a:srgbClr val="3A8C7E"/>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1"/>
          <p:cNvSpPr/>
          <p:nvPr/>
        </p:nvSpPr>
        <p:spPr>
          <a:xfrm>
            <a:off x="1481328" y="4581144"/>
            <a:ext cx="6217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7  CLINICAL DASHBOARD</a:t>
            </a:r>
            <a:endParaRPr b="0" i="0" sz="1150" u="none" cap="none" strike="noStrike">
              <a:solidFill>
                <a:schemeClr val="dk1"/>
              </a:solidFill>
              <a:latin typeface="Calibri"/>
              <a:ea typeface="Calibri"/>
              <a:cs typeface="Calibri"/>
              <a:sym typeface="Calibri"/>
            </a:endParaRPr>
          </a:p>
        </p:txBody>
      </p:sp>
      <p:sp>
        <p:nvSpPr>
          <p:cNvPr id="869" name="Google Shape;869;p21"/>
          <p:cNvSpPr/>
          <p:nvPr/>
        </p:nvSpPr>
        <p:spPr>
          <a:xfrm>
            <a:off x="1481328" y="4782312"/>
            <a:ext cx="62179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EEE9"/>
              </a:buClr>
              <a:buSzPts val="950"/>
              <a:buFont typeface="Calibri"/>
              <a:buNone/>
            </a:pPr>
            <a:r>
              <a:rPr b="0" i="0" lang="en-US" sz="950" u="none" cap="none" strike="noStrike">
                <a:solidFill>
                  <a:srgbClr val="D1EEE9"/>
                </a:solidFill>
                <a:latin typeface="Calibri"/>
                <a:ea typeface="Calibri"/>
                <a:cs typeface="Calibri"/>
                <a:sym typeface="Calibri"/>
              </a:rPr>
              <a:t>Risk gauge · shelf-life bars · ethylene warnings · NLG recommendations · inventory tracking</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874" name="Shape 874"/>
        <p:cNvGrpSpPr/>
        <p:nvPr/>
      </p:nvGrpSpPr>
      <p:grpSpPr>
        <a:xfrm>
          <a:off x="0" y="0"/>
          <a:ext cx="0" cy="0"/>
          <a:chOff x="0" y="0"/>
          <a:chExt cx="0" cy="0"/>
        </a:xfrm>
      </p:grpSpPr>
      <p:sp>
        <p:nvSpPr>
          <p:cNvPr id="875" name="Google Shape;875;p22"/>
          <p:cNvSpPr/>
          <p:nvPr/>
        </p:nvSpPr>
        <p:spPr>
          <a:xfrm>
            <a:off x="7589520" y="182880"/>
            <a:ext cx="1005840" cy="100584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2"/>
          <p:cNvSpPr/>
          <p:nvPr/>
        </p:nvSpPr>
        <p:spPr>
          <a:xfrm>
            <a:off x="7589520" y="182880"/>
            <a:ext cx="670560" cy="67056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2"/>
          <p:cNvSpPr/>
          <p:nvPr/>
        </p:nvSpPr>
        <p:spPr>
          <a:xfrm>
            <a:off x="7589520" y="182880"/>
            <a:ext cx="335280" cy="33528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2"/>
          <p:cNvSpPr/>
          <p:nvPr/>
        </p:nvSpPr>
        <p:spPr>
          <a:xfrm rot="-900000">
            <a:off x="137160" y="228600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2"/>
          <p:cNvSpPr/>
          <p:nvPr/>
        </p:nvSpPr>
        <p:spPr>
          <a:xfrm rot="-900000">
            <a:off x="338328" y="237744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2"/>
          <p:cNvSpPr/>
          <p:nvPr/>
        </p:nvSpPr>
        <p:spPr>
          <a:xfrm rot="-900000">
            <a:off x="539496" y="246888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2"/>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System Design: Seven-Layer Pipeline</a:t>
            </a:r>
            <a:endParaRPr b="0" i="0" sz="2800" u="none" cap="none" strike="noStrike">
              <a:solidFill>
                <a:schemeClr val="dk1"/>
              </a:solidFill>
              <a:latin typeface="Calibri"/>
              <a:ea typeface="Calibri"/>
              <a:cs typeface="Calibri"/>
              <a:sym typeface="Calibri"/>
            </a:endParaRPr>
          </a:p>
        </p:txBody>
      </p:sp>
      <p:cxnSp>
        <p:nvCxnSpPr>
          <p:cNvPr id="882" name="Google Shape;882;p22"/>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883" name="Google Shape;883;p22"/>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884" name="Google Shape;884;p22"/>
          <p:cNvSpPr/>
          <p:nvPr/>
        </p:nvSpPr>
        <p:spPr>
          <a:xfrm>
            <a:off x="393192" y="1088136"/>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2"/>
          <p:cNvSpPr/>
          <p:nvPr/>
        </p:nvSpPr>
        <p:spPr>
          <a:xfrm>
            <a:off x="393192" y="108813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886" name="Google Shape;886;p22"/>
          <p:cNvSpPr/>
          <p:nvPr/>
        </p:nvSpPr>
        <p:spPr>
          <a:xfrm>
            <a:off x="914400" y="1042416"/>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Input Layer</a:t>
            </a:r>
            <a:endParaRPr b="0" i="0" sz="1150" u="none" cap="none" strike="noStrike">
              <a:solidFill>
                <a:schemeClr val="dk1"/>
              </a:solidFill>
              <a:latin typeface="Calibri"/>
              <a:ea typeface="Calibri"/>
              <a:cs typeface="Calibri"/>
              <a:sym typeface="Calibri"/>
            </a:endParaRPr>
          </a:p>
        </p:txBody>
      </p:sp>
      <p:sp>
        <p:nvSpPr>
          <p:cNvPr id="887" name="Google Shape;887;p22"/>
          <p:cNvSpPr/>
          <p:nvPr/>
        </p:nvSpPr>
        <p:spPr>
          <a:xfrm>
            <a:off x="914400" y="1298448"/>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Collects 10 features via React form. All are available in a standard GP consultation: no imaging, no lab beyond a routine glucose check. Intentional design for resource-constrained deployment.</a:t>
            </a:r>
            <a:endParaRPr b="0" i="0" sz="1050" u="none" cap="none" strike="noStrike">
              <a:solidFill>
                <a:schemeClr val="dk1"/>
              </a:solidFill>
              <a:latin typeface="Calibri"/>
              <a:ea typeface="Calibri"/>
              <a:cs typeface="Calibri"/>
              <a:sym typeface="Calibri"/>
            </a:endParaRPr>
          </a:p>
        </p:txBody>
      </p:sp>
      <p:cxnSp>
        <p:nvCxnSpPr>
          <p:cNvPr id="888" name="Google Shape;888;p22"/>
          <p:cNvCxnSpPr/>
          <p:nvPr/>
        </p:nvCxnSpPr>
        <p:spPr>
          <a:xfrm>
            <a:off x="411480" y="1572768"/>
            <a:ext cx="8321040" cy="0"/>
          </a:xfrm>
          <a:prstGeom prst="straightConnector1">
            <a:avLst/>
          </a:prstGeom>
          <a:noFill/>
          <a:ln cap="flat" cmpd="sng" w="9525">
            <a:solidFill>
              <a:srgbClr val="E2E8F0"/>
            </a:solidFill>
            <a:prstDash val="solid"/>
            <a:round/>
            <a:headEnd len="sm" w="sm" type="none"/>
            <a:tailEnd len="sm" w="sm" type="none"/>
          </a:ln>
        </p:spPr>
      </p:cxnSp>
      <p:sp>
        <p:nvSpPr>
          <p:cNvPr id="889" name="Google Shape;889;p22"/>
          <p:cNvSpPr/>
          <p:nvPr/>
        </p:nvSpPr>
        <p:spPr>
          <a:xfrm>
            <a:off x="393192" y="1655064"/>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2"/>
          <p:cNvSpPr/>
          <p:nvPr/>
        </p:nvSpPr>
        <p:spPr>
          <a:xfrm>
            <a:off x="393192" y="165506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891" name="Google Shape;891;p22"/>
          <p:cNvSpPr/>
          <p:nvPr/>
        </p:nvSpPr>
        <p:spPr>
          <a:xfrm>
            <a:off x="914400" y="1609344"/>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Preprocessing Layer</a:t>
            </a:r>
            <a:endParaRPr b="0" i="0" sz="1150" u="none" cap="none" strike="noStrike">
              <a:solidFill>
                <a:schemeClr val="dk1"/>
              </a:solidFill>
              <a:latin typeface="Calibri"/>
              <a:ea typeface="Calibri"/>
              <a:cs typeface="Calibri"/>
              <a:sym typeface="Calibri"/>
            </a:endParaRPr>
          </a:p>
        </p:txBody>
      </p:sp>
      <p:sp>
        <p:nvSpPr>
          <p:cNvPr id="892" name="Google Shape;892;p22"/>
          <p:cNvSpPr/>
          <p:nvPr/>
        </p:nvSpPr>
        <p:spPr>
          <a:xfrm>
            <a:off x="914400" y="1865376"/>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PIL load → RGB → 224×224 bilinear resize → pixel normalisation z=(p/127.5)−1.0. Order matters: normalisation must follow resize to match MobileNetV2's ImageNet preprocessing contract exactly.</a:t>
            </a:r>
            <a:endParaRPr b="0" i="0" sz="1050" u="none" cap="none" strike="noStrike">
              <a:solidFill>
                <a:schemeClr val="dk1"/>
              </a:solidFill>
              <a:latin typeface="Calibri"/>
              <a:ea typeface="Calibri"/>
              <a:cs typeface="Calibri"/>
              <a:sym typeface="Calibri"/>
            </a:endParaRPr>
          </a:p>
        </p:txBody>
      </p:sp>
      <p:cxnSp>
        <p:nvCxnSpPr>
          <p:cNvPr id="893" name="Google Shape;893;p22"/>
          <p:cNvCxnSpPr/>
          <p:nvPr/>
        </p:nvCxnSpPr>
        <p:spPr>
          <a:xfrm>
            <a:off x="411480" y="2139696"/>
            <a:ext cx="8321040" cy="0"/>
          </a:xfrm>
          <a:prstGeom prst="straightConnector1">
            <a:avLst/>
          </a:prstGeom>
          <a:noFill/>
          <a:ln cap="flat" cmpd="sng" w="9525">
            <a:solidFill>
              <a:srgbClr val="E2E8F0"/>
            </a:solidFill>
            <a:prstDash val="solid"/>
            <a:round/>
            <a:headEnd len="sm" w="sm" type="none"/>
            <a:tailEnd len="sm" w="sm" type="none"/>
          </a:ln>
        </p:spPr>
      </p:cxnSp>
      <p:sp>
        <p:nvSpPr>
          <p:cNvPr id="894" name="Google Shape;894;p22"/>
          <p:cNvSpPr/>
          <p:nvPr/>
        </p:nvSpPr>
        <p:spPr>
          <a:xfrm>
            <a:off x="393192" y="2221992"/>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2"/>
          <p:cNvSpPr/>
          <p:nvPr/>
        </p:nvSpPr>
        <p:spPr>
          <a:xfrm>
            <a:off x="393192" y="22219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896" name="Google Shape;896;p22"/>
          <p:cNvSpPr/>
          <p:nvPr/>
        </p:nvSpPr>
        <p:spPr>
          <a:xfrm>
            <a:off x="914400" y="2176272"/>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MobileNetV2 Classifier</a:t>
            </a:r>
            <a:endParaRPr b="0" i="0" sz="1150" u="none" cap="none" strike="noStrike">
              <a:solidFill>
                <a:schemeClr val="dk1"/>
              </a:solidFill>
              <a:latin typeface="Calibri"/>
              <a:ea typeface="Calibri"/>
              <a:cs typeface="Calibri"/>
              <a:sym typeface="Calibri"/>
            </a:endParaRPr>
          </a:p>
        </p:txBody>
      </p:sp>
      <p:sp>
        <p:nvSpPr>
          <p:cNvPr id="897" name="Google Shape;897;p22"/>
          <p:cNvSpPr/>
          <p:nvPr/>
        </p:nvSpPr>
        <p:spPr>
          <a:xfrm>
            <a:off x="914400" y="2432304"/>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Two-phase fine-tuned model. Expired-class probability masked to zero before argmax. Fruit name parsed from class label via regex. Freshness score from per-class lookup table calibrated against labelled training set.</a:t>
            </a:r>
            <a:endParaRPr b="0" i="0" sz="1050" u="none" cap="none" strike="noStrike">
              <a:solidFill>
                <a:schemeClr val="dk1"/>
              </a:solidFill>
              <a:latin typeface="Calibri"/>
              <a:ea typeface="Calibri"/>
              <a:cs typeface="Calibri"/>
              <a:sym typeface="Calibri"/>
            </a:endParaRPr>
          </a:p>
        </p:txBody>
      </p:sp>
      <p:cxnSp>
        <p:nvCxnSpPr>
          <p:cNvPr id="898" name="Google Shape;898;p22"/>
          <p:cNvCxnSpPr/>
          <p:nvPr/>
        </p:nvCxnSpPr>
        <p:spPr>
          <a:xfrm>
            <a:off x="411480" y="2706624"/>
            <a:ext cx="8321040" cy="0"/>
          </a:xfrm>
          <a:prstGeom prst="straightConnector1">
            <a:avLst/>
          </a:prstGeom>
          <a:noFill/>
          <a:ln cap="flat" cmpd="sng" w="9525">
            <a:solidFill>
              <a:srgbClr val="E2E8F0"/>
            </a:solidFill>
            <a:prstDash val="solid"/>
            <a:round/>
            <a:headEnd len="sm" w="sm" type="none"/>
            <a:tailEnd len="sm" w="sm" type="none"/>
          </a:ln>
        </p:spPr>
      </p:cxnSp>
      <p:sp>
        <p:nvSpPr>
          <p:cNvPr id="899" name="Google Shape;899;p22"/>
          <p:cNvSpPr/>
          <p:nvPr/>
        </p:nvSpPr>
        <p:spPr>
          <a:xfrm>
            <a:off x="393192" y="278892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2"/>
          <p:cNvSpPr/>
          <p:nvPr/>
        </p:nvSpPr>
        <p:spPr>
          <a:xfrm>
            <a:off x="393192" y="278892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901" name="Google Shape;901;p22"/>
          <p:cNvSpPr/>
          <p:nvPr/>
        </p:nvSpPr>
        <p:spPr>
          <a:xfrm>
            <a:off x="914400" y="2743200"/>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Shelf-Life Estimator</a:t>
            </a:r>
            <a:endParaRPr b="0" i="0" sz="1150" u="none" cap="none" strike="noStrike">
              <a:solidFill>
                <a:schemeClr val="dk1"/>
              </a:solidFill>
              <a:latin typeface="Calibri"/>
              <a:ea typeface="Calibri"/>
              <a:cs typeface="Calibri"/>
              <a:sym typeface="Calibri"/>
            </a:endParaRPr>
          </a:p>
        </p:txBody>
      </p:sp>
      <p:sp>
        <p:nvSpPr>
          <p:cNvPr id="902" name="Google Shape;902;p22"/>
          <p:cNvSpPr/>
          <p:nvPr/>
        </p:nvSpPr>
        <p:spPr>
          <a:xfrm>
            <a:off x="914400" y="2999232"/>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D = B × F^1.5 × T × R computed for all three storage methods. Returns best-storage recommendation as the method with highest D. Draws base values from 42-fruit SQLAlchemy database.</a:t>
            </a:r>
            <a:endParaRPr b="0" i="0" sz="1050" u="none" cap="none" strike="noStrike">
              <a:solidFill>
                <a:schemeClr val="dk1"/>
              </a:solidFill>
              <a:latin typeface="Calibri"/>
              <a:ea typeface="Calibri"/>
              <a:cs typeface="Calibri"/>
              <a:sym typeface="Calibri"/>
            </a:endParaRPr>
          </a:p>
        </p:txBody>
      </p:sp>
      <p:cxnSp>
        <p:nvCxnSpPr>
          <p:cNvPr id="903" name="Google Shape;903;p22"/>
          <p:cNvCxnSpPr/>
          <p:nvPr/>
        </p:nvCxnSpPr>
        <p:spPr>
          <a:xfrm>
            <a:off x="411480" y="3273552"/>
            <a:ext cx="8321040" cy="0"/>
          </a:xfrm>
          <a:prstGeom prst="straightConnector1">
            <a:avLst/>
          </a:prstGeom>
          <a:noFill/>
          <a:ln cap="flat" cmpd="sng" w="9525">
            <a:solidFill>
              <a:srgbClr val="E2E8F0"/>
            </a:solidFill>
            <a:prstDash val="solid"/>
            <a:round/>
            <a:headEnd len="sm" w="sm" type="none"/>
            <a:tailEnd len="sm" w="sm" type="none"/>
          </a:ln>
        </p:spPr>
      </p:cxnSp>
      <p:sp>
        <p:nvSpPr>
          <p:cNvPr id="904" name="Google Shape;904;p22"/>
          <p:cNvSpPr/>
          <p:nvPr/>
        </p:nvSpPr>
        <p:spPr>
          <a:xfrm>
            <a:off x="393192" y="335584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2"/>
          <p:cNvSpPr/>
          <p:nvPr/>
        </p:nvSpPr>
        <p:spPr>
          <a:xfrm>
            <a:off x="393192" y="33558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906" name="Google Shape;906;p22"/>
          <p:cNvSpPr/>
          <p:nvPr/>
        </p:nvSpPr>
        <p:spPr>
          <a:xfrm>
            <a:off x="914400" y="3310128"/>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Composite Decision Engine</a:t>
            </a:r>
            <a:endParaRPr b="0" i="0" sz="1150" u="none" cap="none" strike="noStrike">
              <a:solidFill>
                <a:schemeClr val="dk1"/>
              </a:solidFill>
              <a:latin typeface="Calibri"/>
              <a:ea typeface="Calibri"/>
              <a:cs typeface="Calibri"/>
              <a:sym typeface="Calibri"/>
            </a:endParaRPr>
          </a:p>
        </p:txBody>
      </p:sp>
      <p:sp>
        <p:nvSpPr>
          <p:cNvPr id="907" name="Google Shape;907;p22"/>
          <p:cNvSpPr/>
          <p:nvPr/>
        </p:nvSpPr>
        <p:spPr>
          <a:xfrm>
            <a:off x="914400" y="3566160"/>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 = (F×0.6)+(N×0.4) fuses two signals. Status thresholds evaluate in descending order. Generates personalised recommendation string via template substitution.</a:t>
            </a:r>
            <a:endParaRPr b="0" i="0" sz="1050" u="none" cap="none" strike="noStrike">
              <a:solidFill>
                <a:schemeClr val="dk1"/>
              </a:solidFill>
              <a:latin typeface="Calibri"/>
              <a:ea typeface="Calibri"/>
              <a:cs typeface="Calibri"/>
              <a:sym typeface="Calibri"/>
            </a:endParaRPr>
          </a:p>
        </p:txBody>
      </p:sp>
      <p:cxnSp>
        <p:nvCxnSpPr>
          <p:cNvPr id="908" name="Google Shape;908;p22"/>
          <p:cNvCxnSpPr/>
          <p:nvPr/>
        </p:nvCxnSpPr>
        <p:spPr>
          <a:xfrm>
            <a:off x="411480" y="3840480"/>
            <a:ext cx="8321040" cy="0"/>
          </a:xfrm>
          <a:prstGeom prst="straightConnector1">
            <a:avLst/>
          </a:prstGeom>
          <a:noFill/>
          <a:ln cap="flat" cmpd="sng" w="9525">
            <a:solidFill>
              <a:srgbClr val="E2E8F0"/>
            </a:solidFill>
            <a:prstDash val="solid"/>
            <a:round/>
            <a:headEnd len="sm" w="sm" type="none"/>
            <a:tailEnd len="sm" w="sm" type="none"/>
          </a:ln>
        </p:spPr>
      </p:cxnSp>
      <p:sp>
        <p:nvSpPr>
          <p:cNvPr id="909" name="Google Shape;909;p22"/>
          <p:cNvSpPr/>
          <p:nvPr/>
        </p:nvSpPr>
        <p:spPr>
          <a:xfrm>
            <a:off x="393192" y="3922776"/>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2"/>
          <p:cNvSpPr/>
          <p:nvPr/>
        </p:nvSpPr>
        <p:spPr>
          <a:xfrm>
            <a:off x="393192" y="392277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911" name="Google Shape;911;p22"/>
          <p:cNvSpPr/>
          <p:nvPr/>
        </p:nvSpPr>
        <p:spPr>
          <a:xfrm>
            <a:off x="914400" y="3877056"/>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Ethylene Compatibility</a:t>
            </a:r>
            <a:endParaRPr b="0" i="0" sz="1150" u="none" cap="none" strike="noStrike">
              <a:solidFill>
                <a:schemeClr val="dk1"/>
              </a:solidFill>
              <a:latin typeface="Calibri"/>
              <a:ea typeface="Calibri"/>
              <a:cs typeface="Calibri"/>
              <a:sym typeface="Calibri"/>
            </a:endParaRPr>
          </a:p>
        </p:txBody>
      </p:sp>
      <p:sp>
        <p:nvSpPr>
          <p:cNvPr id="912" name="Google Shape;912;p22"/>
          <p:cNvSpPr/>
          <p:nvPr/>
        </p:nvSpPr>
        <p:spPr>
          <a:xfrm>
            <a:off x="914400" y="4133088"/>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Bidirectional conflict graph built at startup from PRODUCERS ∩ SENSITIVE set. Per-prediction: checks scanned fruit against user's saved inventory for storage conflicts and surfaces grouped recommendations.</a:t>
            </a:r>
            <a:endParaRPr b="0" i="0" sz="1050" u="none" cap="none" strike="noStrike">
              <a:solidFill>
                <a:schemeClr val="dk1"/>
              </a:solidFill>
              <a:latin typeface="Calibri"/>
              <a:ea typeface="Calibri"/>
              <a:cs typeface="Calibri"/>
              <a:sym typeface="Calibri"/>
            </a:endParaRPr>
          </a:p>
        </p:txBody>
      </p:sp>
      <p:cxnSp>
        <p:nvCxnSpPr>
          <p:cNvPr id="913" name="Google Shape;913;p22"/>
          <p:cNvCxnSpPr/>
          <p:nvPr/>
        </p:nvCxnSpPr>
        <p:spPr>
          <a:xfrm>
            <a:off x="411480" y="4407408"/>
            <a:ext cx="8321040" cy="0"/>
          </a:xfrm>
          <a:prstGeom prst="straightConnector1">
            <a:avLst/>
          </a:prstGeom>
          <a:noFill/>
          <a:ln cap="flat" cmpd="sng" w="9525">
            <a:solidFill>
              <a:srgbClr val="E2E8F0"/>
            </a:solidFill>
            <a:prstDash val="solid"/>
            <a:round/>
            <a:headEnd len="sm" w="sm" type="none"/>
            <a:tailEnd len="sm" w="sm" type="none"/>
          </a:ln>
        </p:spPr>
      </p:cxnSp>
      <p:sp>
        <p:nvSpPr>
          <p:cNvPr id="914" name="Google Shape;914;p22"/>
          <p:cNvSpPr/>
          <p:nvPr/>
        </p:nvSpPr>
        <p:spPr>
          <a:xfrm>
            <a:off x="393192" y="4489704"/>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2"/>
          <p:cNvSpPr/>
          <p:nvPr/>
        </p:nvSpPr>
        <p:spPr>
          <a:xfrm>
            <a:off x="393192" y="448970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
        <p:nvSpPr>
          <p:cNvPr id="916" name="Google Shape;916;p22"/>
          <p:cNvSpPr/>
          <p:nvPr/>
        </p:nvSpPr>
        <p:spPr>
          <a:xfrm>
            <a:off x="914400" y="4443984"/>
            <a:ext cx="1920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Clinical Dashboard (PWA)</a:t>
            </a:r>
            <a:endParaRPr b="0" i="0" sz="1150" u="none" cap="none" strike="noStrike">
              <a:solidFill>
                <a:schemeClr val="dk1"/>
              </a:solidFill>
              <a:latin typeface="Calibri"/>
              <a:ea typeface="Calibri"/>
              <a:cs typeface="Calibri"/>
              <a:sym typeface="Calibri"/>
            </a:endParaRPr>
          </a:p>
        </p:txBody>
      </p:sp>
      <p:sp>
        <p:nvSpPr>
          <p:cNvPr id="917" name="Google Shape;917;p22"/>
          <p:cNvSpPr/>
          <p:nvPr/>
        </p:nvSpPr>
        <p:spPr>
          <a:xfrm>
            <a:off x="914400" y="4700016"/>
            <a:ext cx="782726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Next.js App Router · 28 hand-built Tailwind components · no UI library. CameraView: getUserMedia → canvas → JPEG blob → multipart POST. Standalone PWA mode via manifest.json + service worker.</a:t>
            </a:r>
            <a:endParaRPr b="0" i="0" sz="1050" u="none" cap="none" strike="noStrike">
              <a:solidFill>
                <a:schemeClr val="dk1"/>
              </a:solidFill>
              <a:latin typeface="Calibri"/>
              <a:ea typeface="Calibri"/>
              <a:cs typeface="Calibri"/>
              <a:sym typeface="Calibri"/>
            </a:endParaRPr>
          </a:p>
        </p:txBody>
      </p:sp>
      <p:cxnSp>
        <p:nvCxnSpPr>
          <p:cNvPr id="918" name="Google Shape;918;p22"/>
          <p:cNvCxnSpPr/>
          <p:nvPr/>
        </p:nvCxnSpPr>
        <p:spPr>
          <a:xfrm>
            <a:off x="411480" y="4974336"/>
            <a:ext cx="8321040" cy="0"/>
          </a:xfrm>
          <a:prstGeom prst="straightConnector1">
            <a:avLst/>
          </a:prstGeom>
          <a:noFill/>
          <a:ln cap="flat" cmpd="sng" w="9525">
            <a:solidFill>
              <a:srgbClr val="E2E8F0"/>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923" name="Shape 923"/>
        <p:cNvGrpSpPr/>
        <p:nvPr/>
      </p:nvGrpSpPr>
      <p:grpSpPr>
        <a:xfrm>
          <a:off x="0" y="0"/>
          <a:ext cx="0" cy="0"/>
          <a:chOff x="0" y="0"/>
          <a:chExt cx="0" cy="0"/>
        </a:xfrm>
      </p:grpSpPr>
      <p:cxnSp>
        <p:nvCxnSpPr>
          <p:cNvPr id="924" name="Google Shape;924;p23"/>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25" name="Google Shape;925;p23"/>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26" name="Google Shape;926;p23"/>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27" name="Google Shape;927;p23"/>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28" name="Google Shape;928;p23"/>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29" name="Google Shape;929;p23"/>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930" name="Google Shape;930;p23"/>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931" name="Google Shape;931;p23"/>
          <p:cNvSpPr/>
          <p:nvPr/>
        </p:nvSpPr>
        <p:spPr>
          <a:xfrm>
            <a:off x="7680960" y="329184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3"/>
          <p:cNvSpPr/>
          <p:nvPr/>
        </p:nvSpPr>
        <p:spPr>
          <a:xfrm>
            <a:off x="7982712" y="359359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3"/>
          <p:cNvSpPr/>
          <p:nvPr/>
        </p:nvSpPr>
        <p:spPr>
          <a:xfrm>
            <a:off x="8247888" y="385876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3"/>
          <p:cNvSpPr/>
          <p:nvPr/>
        </p:nvSpPr>
        <p:spPr>
          <a:xfrm>
            <a:off x="411480" y="100633"/>
            <a:ext cx="83211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Implementation Details</a:t>
            </a:r>
            <a:endParaRPr b="0" i="0" sz="2800" u="none" cap="none" strike="noStrike">
              <a:solidFill>
                <a:schemeClr val="dk1"/>
              </a:solidFill>
              <a:latin typeface="Calibri"/>
              <a:ea typeface="Calibri"/>
              <a:cs typeface="Calibri"/>
              <a:sym typeface="Calibri"/>
            </a:endParaRPr>
          </a:p>
        </p:txBody>
      </p:sp>
      <p:cxnSp>
        <p:nvCxnSpPr>
          <p:cNvPr id="935" name="Google Shape;935;p23"/>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936" name="Google Shape;936;p23"/>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graphicFrame>
        <p:nvGraphicFramePr>
          <p:cNvPr id="937" name="Google Shape;937;p23"/>
          <p:cNvGraphicFramePr/>
          <p:nvPr/>
        </p:nvGraphicFramePr>
        <p:xfrm>
          <a:off x="384048" y="755577"/>
          <a:ext cx="3000000" cy="3000000"/>
        </p:xfrm>
        <a:graphic>
          <a:graphicData uri="http://schemas.openxmlformats.org/drawingml/2006/table">
            <a:tbl>
              <a:tblPr>
                <a:noFill/>
                <a:tableStyleId>{7A406C37-5A5E-4BF0-9AAD-7423E5C8C803}</a:tableStyleId>
              </a:tblPr>
              <a:tblGrid>
                <a:gridCol w="1645925"/>
                <a:gridCol w="1554475"/>
                <a:gridCol w="914400"/>
                <a:gridCol w="4261100"/>
              </a:tblGrid>
              <a:tr h="23022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Component</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Library / Tool</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Version</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Role</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Language (backend)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Python</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3.12</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Backend runtime — chosen for TF/Keras compatibility</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Language (frontend)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TypeScript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5.x</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Type-safe frontend — compile-time schema matching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ML Framework</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TensorFlow / Keras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2.16</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Model definition, training, and inference</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CNN Architecture</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MobileNetV2 (ImageNet)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Keras App</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Transfer learning base — 11.6 MB, ~380 ms CPU</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Image Processing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Pillow</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10.x</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Load, RGB convert, resize, normalise</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Web Framework</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FastAPI</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0.115+</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Async REST API, auto OpenAPI docs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ASGI Server</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Uvicorn</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0.30+</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Production ASGI server for FastAPI</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Database ORM</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SQLAlchemy</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2.0</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Async multi-backend (MySQL dev / PostgreSQL prod)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Frontend Framework</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Next.js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16.2.1</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App Router, server-render landing, 8 routes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UI Components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React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19.2.4</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28 hand-built components, no external library</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Styling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Tailwind CSS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v4</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Utility-first, dark-mode PWA aesthetic</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Password Hashing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passlib (bcrypt)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1.7</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SHA-256 pre-hash → bcrypt 12 rounds</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JWT Auth</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python-jose</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3.x</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HS256 tokens, 30-min expiry</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Validation</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Pydantic</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v2</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Request/response schemas, settings management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Deployment (backend)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Render</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PostgreSQL + FastAPI, asyncpg driver</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30225">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Deployment (frontend)</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Vercel</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050"/>
                        <a:buFont typeface="Calibri"/>
                        <a:buNone/>
                      </a:pPr>
                      <a:r>
                        <a:rPr lang="en-US" sz="1050" u="none" cap="none" strike="noStrike">
                          <a:solidFill>
                            <a:srgbClr val="3A8C7E"/>
                          </a:solidFill>
                        </a:rPr>
                        <a:t>—</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50"/>
                        <a:buFont typeface="Calibri"/>
                        <a:buNone/>
                      </a:pPr>
                      <a:r>
                        <a:rPr lang="en-US" sz="1050" u="none" cap="none" strike="noStrike">
                          <a:solidFill>
                            <a:srgbClr val="4A5568"/>
                          </a:solidFill>
                        </a:rPr>
                        <a:t>PWA CDN hosting</a:t>
                      </a:r>
                      <a:endParaRPr sz="105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bl>
          </a:graphicData>
        </a:graphic>
      </p:graphicFrame>
      <p:sp>
        <p:nvSpPr>
          <p:cNvPr id="938" name="Google Shape;938;p23"/>
          <p:cNvSpPr/>
          <p:nvPr/>
        </p:nvSpPr>
        <p:spPr>
          <a:xfrm>
            <a:off x="384048" y="4919472"/>
            <a:ext cx="8375904" cy="256032"/>
          </a:xfrm>
          <a:prstGeom prst="rect">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3"/>
          <p:cNvSpPr/>
          <p:nvPr/>
        </p:nvSpPr>
        <p:spPr>
          <a:xfrm>
            <a:off x="548640" y="4937760"/>
            <a:ext cx="81381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050"/>
              <a:buFont typeface="Calibri"/>
              <a:buNone/>
            </a:pPr>
            <a:r>
              <a:rPr b="1" i="0" lang="en-US" sz="1050" u="none" cap="none" strike="noStrike">
                <a:solidFill>
                  <a:srgbClr val="1A2B4A"/>
                </a:solidFill>
                <a:latin typeface="Calibri"/>
                <a:ea typeface="Calibri"/>
                <a:cs typeface="Calibri"/>
                <a:sym typeface="Calibri"/>
              </a:rPr>
              <a:t>Fixed random_state=42 throughout · pinned library versions · reproducible pipeline · inference &lt; 200 ms per request on commodity CPU</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944" name="Shape 944"/>
        <p:cNvGrpSpPr/>
        <p:nvPr/>
      </p:nvGrpSpPr>
      <p:grpSpPr>
        <a:xfrm>
          <a:off x="0" y="0"/>
          <a:ext cx="0" cy="0"/>
          <a:chOff x="0" y="0"/>
          <a:chExt cx="0" cy="0"/>
        </a:xfrm>
      </p:grpSpPr>
      <p:sp>
        <p:nvSpPr>
          <p:cNvPr id="945" name="Google Shape;945;p24"/>
          <p:cNvSpPr/>
          <p:nvPr/>
        </p:nvSpPr>
        <p:spPr>
          <a:xfrm>
            <a:off x="8092440"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4"/>
          <p:cNvSpPr/>
          <p:nvPr/>
        </p:nvSpPr>
        <p:spPr>
          <a:xfrm>
            <a:off x="8293608"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4"/>
          <p:cNvSpPr/>
          <p:nvPr/>
        </p:nvSpPr>
        <p:spPr>
          <a:xfrm>
            <a:off x="8494776"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4"/>
          <p:cNvSpPr/>
          <p:nvPr/>
        </p:nvSpPr>
        <p:spPr>
          <a:xfrm>
            <a:off x="8695944"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4"/>
          <p:cNvSpPr/>
          <p:nvPr/>
        </p:nvSpPr>
        <p:spPr>
          <a:xfrm>
            <a:off x="8897112"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4"/>
          <p:cNvSpPr/>
          <p:nvPr/>
        </p:nvSpPr>
        <p:spPr>
          <a:xfrm>
            <a:off x="8092440"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4"/>
          <p:cNvSpPr/>
          <p:nvPr/>
        </p:nvSpPr>
        <p:spPr>
          <a:xfrm>
            <a:off x="8293608"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4"/>
          <p:cNvSpPr/>
          <p:nvPr/>
        </p:nvSpPr>
        <p:spPr>
          <a:xfrm>
            <a:off x="8494776"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4"/>
          <p:cNvSpPr/>
          <p:nvPr/>
        </p:nvSpPr>
        <p:spPr>
          <a:xfrm>
            <a:off x="8695944"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4"/>
          <p:cNvSpPr/>
          <p:nvPr/>
        </p:nvSpPr>
        <p:spPr>
          <a:xfrm>
            <a:off x="8897112"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4"/>
          <p:cNvSpPr/>
          <p:nvPr/>
        </p:nvSpPr>
        <p:spPr>
          <a:xfrm>
            <a:off x="8092440"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4"/>
          <p:cNvSpPr/>
          <p:nvPr/>
        </p:nvSpPr>
        <p:spPr>
          <a:xfrm>
            <a:off x="8293608"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4"/>
          <p:cNvSpPr/>
          <p:nvPr/>
        </p:nvSpPr>
        <p:spPr>
          <a:xfrm>
            <a:off x="8494776"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4"/>
          <p:cNvSpPr/>
          <p:nvPr/>
        </p:nvSpPr>
        <p:spPr>
          <a:xfrm>
            <a:off x="8695944"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4"/>
          <p:cNvSpPr/>
          <p:nvPr/>
        </p:nvSpPr>
        <p:spPr>
          <a:xfrm>
            <a:off x="8897112"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4"/>
          <p:cNvSpPr/>
          <p:nvPr/>
        </p:nvSpPr>
        <p:spPr>
          <a:xfrm>
            <a:off x="8092440"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4"/>
          <p:cNvSpPr/>
          <p:nvPr/>
        </p:nvSpPr>
        <p:spPr>
          <a:xfrm>
            <a:off x="8293608"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4"/>
          <p:cNvSpPr/>
          <p:nvPr/>
        </p:nvSpPr>
        <p:spPr>
          <a:xfrm>
            <a:off x="8494776"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4"/>
          <p:cNvSpPr/>
          <p:nvPr/>
        </p:nvSpPr>
        <p:spPr>
          <a:xfrm>
            <a:off x="8695944"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4"/>
          <p:cNvSpPr/>
          <p:nvPr/>
        </p:nvSpPr>
        <p:spPr>
          <a:xfrm>
            <a:off x="8897112"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4"/>
          <p:cNvSpPr/>
          <p:nvPr/>
        </p:nvSpPr>
        <p:spPr>
          <a:xfrm>
            <a:off x="8092440"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4"/>
          <p:cNvSpPr/>
          <p:nvPr/>
        </p:nvSpPr>
        <p:spPr>
          <a:xfrm>
            <a:off x="8293608"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4"/>
          <p:cNvSpPr/>
          <p:nvPr/>
        </p:nvSpPr>
        <p:spPr>
          <a:xfrm>
            <a:off x="8494776"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4"/>
          <p:cNvSpPr/>
          <p:nvPr/>
        </p:nvSpPr>
        <p:spPr>
          <a:xfrm>
            <a:off x="8695944"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4"/>
          <p:cNvSpPr/>
          <p:nvPr/>
        </p:nvSpPr>
        <p:spPr>
          <a:xfrm>
            <a:off x="8897112"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4"/>
          <p:cNvSpPr/>
          <p:nvPr/>
        </p:nvSpPr>
        <p:spPr>
          <a:xfrm>
            <a:off x="411480" y="4846320"/>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4"/>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System Workflow</a:t>
            </a:r>
            <a:endParaRPr b="0" i="0" sz="2800" u="none" cap="none" strike="noStrike">
              <a:solidFill>
                <a:schemeClr val="dk1"/>
              </a:solidFill>
              <a:latin typeface="Calibri"/>
              <a:ea typeface="Calibri"/>
              <a:cs typeface="Calibri"/>
              <a:sym typeface="Calibri"/>
            </a:endParaRPr>
          </a:p>
        </p:txBody>
      </p:sp>
      <p:sp>
        <p:nvSpPr>
          <p:cNvPr id="972" name="Google Shape;972;p24"/>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From photograph to personalised shelf-life recommendation  ·  end-to-end &lt; 2 seconds</a:t>
            </a:r>
            <a:endParaRPr b="0" i="0" sz="1400" u="none" cap="none" strike="noStrike">
              <a:solidFill>
                <a:schemeClr val="dk1"/>
              </a:solidFill>
              <a:latin typeface="Calibri"/>
              <a:ea typeface="Calibri"/>
              <a:cs typeface="Calibri"/>
              <a:sym typeface="Calibri"/>
            </a:endParaRPr>
          </a:p>
        </p:txBody>
      </p:sp>
      <p:cxnSp>
        <p:nvCxnSpPr>
          <p:cNvPr id="973" name="Google Shape;973;p24"/>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974" name="Google Shape;974;p24"/>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975" name="Google Shape;975;p24"/>
          <p:cNvSpPr/>
          <p:nvPr/>
        </p:nvSpPr>
        <p:spPr>
          <a:xfrm>
            <a:off x="346750" y="1206999"/>
            <a:ext cx="4225200" cy="951000"/>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4"/>
          <p:cNvSpPr/>
          <p:nvPr/>
        </p:nvSpPr>
        <p:spPr>
          <a:xfrm>
            <a:off x="484632" y="143560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4"/>
          <p:cNvSpPr/>
          <p:nvPr/>
        </p:nvSpPr>
        <p:spPr>
          <a:xfrm>
            <a:off x="484632" y="143560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978" name="Google Shape;978;p24"/>
          <p:cNvSpPr/>
          <p:nvPr/>
        </p:nvSpPr>
        <p:spPr>
          <a:xfrm>
            <a:off x="1005840" y="1261872"/>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Capture</a:t>
            </a:r>
            <a:endParaRPr b="0" i="0" sz="1200" u="none" cap="none" strike="noStrike">
              <a:solidFill>
                <a:schemeClr val="dk1"/>
              </a:solidFill>
              <a:latin typeface="Calibri"/>
              <a:ea typeface="Calibri"/>
              <a:cs typeface="Calibri"/>
              <a:sym typeface="Calibri"/>
            </a:endParaRPr>
          </a:p>
        </p:txBody>
      </p:sp>
      <p:sp>
        <p:nvSpPr>
          <p:cNvPr id="979" name="Google Shape;979;p24"/>
          <p:cNvSpPr/>
          <p:nvPr/>
        </p:nvSpPr>
        <p:spPr>
          <a:xfrm>
            <a:off x="1005840" y="1517904"/>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User opens PWA, taps scan button. CameraView component calls navigator.mediaDevices.getUserMedia({video:{facingMode:'environment'}}). On approval, draws live video frame to canvas → exports JPEG at 0.92 quality. On denial, falls back to file &lt;input&gt;.</a:t>
            </a:r>
            <a:endParaRPr b="0" i="0" sz="1000" u="none" cap="none" strike="noStrike">
              <a:solidFill>
                <a:schemeClr val="dk1"/>
              </a:solidFill>
              <a:latin typeface="Calibri"/>
              <a:ea typeface="Calibri"/>
              <a:cs typeface="Calibri"/>
              <a:sym typeface="Calibri"/>
            </a:endParaRPr>
          </a:p>
        </p:txBody>
      </p:sp>
      <p:sp>
        <p:nvSpPr>
          <p:cNvPr id="980" name="Google Shape;980;p24"/>
          <p:cNvSpPr/>
          <p:nvPr/>
        </p:nvSpPr>
        <p:spPr>
          <a:xfrm>
            <a:off x="346750" y="2157975"/>
            <a:ext cx="4225200" cy="1005900"/>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4"/>
          <p:cNvSpPr/>
          <p:nvPr/>
        </p:nvSpPr>
        <p:spPr>
          <a:xfrm>
            <a:off x="484632" y="2386584"/>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4"/>
          <p:cNvSpPr/>
          <p:nvPr/>
        </p:nvSpPr>
        <p:spPr>
          <a:xfrm>
            <a:off x="484632" y="238658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983" name="Google Shape;983;p24"/>
          <p:cNvSpPr/>
          <p:nvPr/>
        </p:nvSpPr>
        <p:spPr>
          <a:xfrm>
            <a:off x="1005840" y="2212848"/>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Upload</a:t>
            </a:r>
            <a:endParaRPr b="0" i="0" sz="1200" u="none" cap="none" strike="noStrike">
              <a:solidFill>
                <a:schemeClr val="dk1"/>
              </a:solidFill>
              <a:latin typeface="Calibri"/>
              <a:ea typeface="Calibri"/>
              <a:cs typeface="Calibri"/>
              <a:sym typeface="Calibri"/>
            </a:endParaRPr>
          </a:p>
        </p:txBody>
      </p:sp>
      <p:sp>
        <p:nvSpPr>
          <p:cNvPr id="984" name="Google Shape;984;p24"/>
          <p:cNvSpPr/>
          <p:nvPr/>
        </p:nvSpPr>
        <p:spPr>
          <a:xfrm>
            <a:off x="1005840" y="2468880"/>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JPEG blob sent as multipart/form-data to FastAPI /api/scan/ with JWT Bearer token in Authorization header. AbortController sets 30-second timeout. Request validated by Pydantic: MIME type, max 10 MB.</a:t>
            </a:r>
            <a:endParaRPr b="0" i="0" sz="1000" u="none" cap="none" strike="noStrike">
              <a:solidFill>
                <a:schemeClr val="dk1"/>
              </a:solidFill>
              <a:latin typeface="Calibri"/>
              <a:ea typeface="Calibri"/>
              <a:cs typeface="Calibri"/>
              <a:sym typeface="Calibri"/>
            </a:endParaRPr>
          </a:p>
        </p:txBody>
      </p:sp>
      <p:sp>
        <p:nvSpPr>
          <p:cNvPr id="985" name="Google Shape;985;p24"/>
          <p:cNvSpPr/>
          <p:nvPr/>
        </p:nvSpPr>
        <p:spPr>
          <a:xfrm>
            <a:off x="346800" y="3108949"/>
            <a:ext cx="4225200" cy="951000"/>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4"/>
          <p:cNvSpPr/>
          <p:nvPr/>
        </p:nvSpPr>
        <p:spPr>
          <a:xfrm>
            <a:off x="484632" y="33375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4"/>
          <p:cNvSpPr/>
          <p:nvPr/>
        </p:nvSpPr>
        <p:spPr>
          <a:xfrm>
            <a:off x="484632" y="33375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988" name="Google Shape;988;p24"/>
          <p:cNvSpPr/>
          <p:nvPr/>
        </p:nvSpPr>
        <p:spPr>
          <a:xfrm>
            <a:off x="1005840" y="3163824"/>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Classify</a:t>
            </a:r>
            <a:endParaRPr b="0" i="0" sz="1200" u="none" cap="none" strike="noStrike">
              <a:solidFill>
                <a:schemeClr val="dk1"/>
              </a:solidFill>
              <a:latin typeface="Calibri"/>
              <a:ea typeface="Calibri"/>
              <a:cs typeface="Calibri"/>
              <a:sym typeface="Calibri"/>
            </a:endParaRPr>
          </a:p>
        </p:txBody>
      </p:sp>
      <p:sp>
        <p:nvSpPr>
          <p:cNvPr id="989" name="Google Shape;989;p24"/>
          <p:cNvSpPr/>
          <p:nvPr/>
        </p:nvSpPr>
        <p:spPr>
          <a:xfrm>
            <a:off x="1005840" y="3419856"/>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PIL loads image, converts to RGB, resizes 224×224, normalises to [−1,1]. asyncio.to_thread() passes tensor to MobileNetV2. Expired class probability zeroed. Argmax → class label parsed by regex → fruit name + freshness score.</a:t>
            </a:r>
            <a:endParaRPr b="0" i="0" sz="1000" u="none" cap="none" strike="noStrike">
              <a:solidFill>
                <a:schemeClr val="dk1"/>
              </a:solidFill>
              <a:latin typeface="Calibri"/>
              <a:ea typeface="Calibri"/>
              <a:cs typeface="Calibri"/>
              <a:sym typeface="Calibri"/>
            </a:endParaRPr>
          </a:p>
        </p:txBody>
      </p:sp>
      <p:sp>
        <p:nvSpPr>
          <p:cNvPr id="990" name="Google Shape;990;p24"/>
          <p:cNvSpPr/>
          <p:nvPr/>
        </p:nvSpPr>
        <p:spPr>
          <a:xfrm>
            <a:off x="4572000" y="1207008"/>
            <a:ext cx="4187952" cy="859536"/>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4"/>
          <p:cNvSpPr/>
          <p:nvPr/>
        </p:nvSpPr>
        <p:spPr>
          <a:xfrm>
            <a:off x="4681728" y="143560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4"/>
          <p:cNvSpPr/>
          <p:nvPr/>
        </p:nvSpPr>
        <p:spPr>
          <a:xfrm>
            <a:off x="4681728" y="143560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993" name="Google Shape;993;p24"/>
          <p:cNvSpPr/>
          <p:nvPr/>
        </p:nvSpPr>
        <p:spPr>
          <a:xfrm>
            <a:off x="5212080" y="1261872"/>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Estimate</a:t>
            </a:r>
            <a:endParaRPr b="0" i="0" sz="1200" u="none" cap="none" strike="noStrike">
              <a:solidFill>
                <a:schemeClr val="dk1"/>
              </a:solidFill>
              <a:latin typeface="Calibri"/>
              <a:ea typeface="Calibri"/>
              <a:cs typeface="Calibri"/>
              <a:sym typeface="Calibri"/>
            </a:endParaRPr>
          </a:p>
        </p:txBody>
      </p:sp>
      <p:sp>
        <p:nvSpPr>
          <p:cNvPr id="994" name="Google Shape;994;p24"/>
          <p:cNvSpPr/>
          <p:nvPr/>
        </p:nvSpPr>
        <p:spPr>
          <a:xfrm>
            <a:off x="5212080" y="1517904"/>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Two-stage DB lookup (exact case-insensitive → fuzzy LIKE fallback). Fruit reference row retrieved. D = B × F^1.5 × T × R computed for room temp, fridge, freezer. Best storage method selected.</a:t>
            </a:r>
            <a:endParaRPr b="0" i="0" sz="1000" u="none" cap="none" strike="noStrike">
              <a:solidFill>
                <a:schemeClr val="dk1"/>
              </a:solidFill>
              <a:latin typeface="Calibri"/>
              <a:ea typeface="Calibri"/>
              <a:cs typeface="Calibri"/>
              <a:sym typeface="Calibri"/>
            </a:endParaRPr>
          </a:p>
        </p:txBody>
      </p:sp>
      <p:sp>
        <p:nvSpPr>
          <p:cNvPr id="995" name="Google Shape;995;p24"/>
          <p:cNvSpPr/>
          <p:nvPr/>
        </p:nvSpPr>
        <p:spPr>
          <a:xfrm>
            <a:off x="4572000" y="2157975"/>
            <a:ext cx="4188000" cy="951000"/>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4"/>
          <p:cNvSpPr/>
          <p:nvPr/>
        </p:nvSpPr>
        <p:spPr>
          <a:xfrm>
            <a:off x="4681728" y="2386584"/>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4"/>
          <p:cNvSpPr/>
          <p:nvPr/>
        </p:nvSpPr>
        <p:spPr>
          <a:xfrm>
            <a:off x="4681728" y="2386584"/>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998" name="Google Shape;998;p24"/>
          <p:cNvSpPr/>
          <p:nvPr/>
        </p:nvSpPr>
        <p:spPr>
          <a:xfrm>
            <a:off x="5212080" y="2212848"/>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Decide</a:t>
            </a:r>
            <a:endParaRPr b="0" i="0" sz="1200" u="none" cap="none" strike="noStrike">
              <a:solidFill>
                <a:schemeClr val="dk1"/>
              </a:solidFill>
              <a:latin typeface="Calibri"/>
              <a:ea typeface="Calibri"/>
              <a:cs typeface="Calibri"/>
              <a:sym typeface="Calibri"/>
            </a:endParaRPr>
          </a:p>
        </p:txBody>
      </p:sp>
      <p:sp>
        <p:nvSpPr>
          <p:cNvPr id="999" name="Google Shape;999;p24"/>
          <p:cNvSpPr/>
          <p:nvPr/>
        </p:nvSpPr>
        <p:spPr>
          <a:xfrm>
            <a:off x="5212080" y="2468880"/>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C = (F×0.6) + (N×0.4). Status threshold evaluated. Recommendation template substituted. Ethylene flags checked; context note generated. JSON assembled: {probability, status, shelf_life_by_method, ethylene_note, recommendation}.</a:t>
            </a:r>
            <a:endParaRPr b="0" i="0" sz="1000" u="none" cap="none" strike="noStrike">
              <a:solidFill>
                <a:schemeClr val="dk1"/>
              </a:solidFill>
              <a:latin typeface="Calibri"/>
              <a:ea typeface="Calibri"/>
              <a:cs typeface="Calibri"/>
              <a:sym typeface="Calibri"/>
            </a:endParaRPr>
          </a:p>
        </p:txBody>
      </p:sp>
      <p:sp>
        <p:nvSpPr>
          <p:cNvPr id="1000" name="Google Shape;1000;p24"/>
          <p:cNvSpPr/>
          <p:nvPr/>
        </p:nvSpPr>
        <p:spPr>
          <a:xfrm>
            <a:off x="4572000" y="3108950"/>
            <a:ext cx="4188000" cy="1134000"/>
          </a:xfrm>
          <a:prstGeom prst="roundRect">
            <a:avLst>
              <a:gd fmla="val 12766"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4"/>
          <p:cNvSpPr/>
          <p:nvPr/>
        </p:nvSpPr>
        <p:spPr>
          <a:xfrm>
            <a:off x="4681728" y="33375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4"/>
          <p:cNvSpPr/>
          <p:nvPr/>
        </p:nvSpPr>
        <p:spPr>
          <a:xfrm>
            <a:off x="4681728" y="33375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1003" name="Google Shape;1003;p24"/>
          <p:cNvSpPr/>
          <p:nvPr/>
        </p:nvSpPr>
        <p:spPr>
          <a:xfrm>
            <a:off x="5212080" y="3163824"/>
            <a:ext cx="34747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Render</a:t>
            </a:r>
            <a:endParaRPr b="0" i="0" sz="1200" u="none" cap="none" strike="noStrike">
              <a:solidFill>
                <a:schemeClr val="dk1"/>
              </a:solidFill>
              <a:latin typeface="Calibri"/>
              <a:ea typeface="Calibri"/>
              <a:cs typeface="Calibri"/>
              <a:sym typeface="Calibri"/>
            </a:endParaRPr>
          </a:p>
        </p:txBody>
      </p:sp>
      <p:sp>
        <p:nvSpPr>
          <p:cNvPr id="1004" name="Google Shape;1004;p24"/>
          <p:cNvSpPr/>
          <p:nvPr/>
        </p:nvSpPr>
        <p:spPr>
          <a:xfrm>
            <a:off x="5212080" y="3419856"/>
            <a:ext cx="34747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00"/>
              <a:buFont typeface="Calibri"/>
              <a:buNone/>
            </a:pPr>
            <a:r>
              <a:rPr b="0" i="0" lang="en-US" sz="1000" u="none" cap="none" strike="noStrike">
                <a:solidFill>
                  <a:srgbClr val="4A5568"/>
                </a:solidFill>
                <a:latin typeface="Calibri"/>
                <a:ea typeface="Calibri"/>
                <a:cs typeface="Calibri"/>
                <a:sym typeface="Calibri"/>
              </a:rPr>
              <a:t>React receives JSON. Circular freshness gauge animates to score. Status badge colours: green (FRESH) / amber (EAT SOON) / orange (EAT TODAY) / red (SPOILED). Shelf-life bars rendered per method. Ethylene warning if applicable. Add to Inventory → UserInventory row created + notification scheduled.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009" name="Shape 1009"/>
        <p:cNvGrpSpPr/>
        <p:nvPr/>
      </p:nvGrpSpPr>
      <p:grpSpPr>
        <a:xfrm>
          <a:off x="0" y="0"/>
          <a:ext cx="0" cy="0"/>
          <a:chOff x="0" y="0"/>
          <a:chExt cx="0" cy="0"/>
        </a:xfrm>
      </p:grpSpPr>
      <p:sp>
        <p:nvSpPr>
          <p:cNvPr id="1010" name="Google Shape;1010;p25"/>
          <p:cNvSpPr/>
          <p:nvPr/>
        </p:nvSpPr>
        <p:spPr>
          <a:xfrm>
            <a:off x="7772400" y="9144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5"/>
          <p:cNvSpPr/>
          <p:nvPr/>
        </p:nvSpPr>
        <p:spPr>
          <a:xfrm>
            <a:off x="8043977" y="36301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5"/>
          <p:cNvSpPr/>
          <p:nvPr/>
        </p:nvSpPr>
        <p:spPr>
          <a:xfrm>
            <a:off x="8282635" y="60167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5"/>
          <p:cNvSpPr/>
          <p:nvPr/>
        </p:nvSpPr>
        <p:spPr>
          <a:xfrm rot="2700000">
            <a:off x="-45720" y="3794760"/>
            <a:ext cx="1005840" cy="100584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5"/>
          <p:cNvSpPr/>
          <p:nvPr/>
        </p:nvSpPr>
        <p:spPr>
          <a:xfrm rot="2700000">
            <a:off x="121920" y="3962400"/>
            <a:ext cx="670560" cy="67056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5"/>
          <p:cNvSpPr/>
          <p:nvPr/>
        </p:nvSpPr>
        <p:spPr>
          <a:xfrm rot="2700000">
            <a:off x="289560" y="4130040"/>
            <a:ext cx="335280" cy="33528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5"/>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Natural Language Generation for Recommendations</a:t>
            </a:r>
            <a:endParaRPr b="0" i="0" sz="2800" u="none" cap="none" strike="noStrike">
              <a:solidFill>
                <a:schemeClr val="dk1"/>
              </a:solidFill>
              <a:latin typeface="Calibri"/>
              <a:ea typeface="Calibri"/>
              <a:cs typeface="Calibri"/>
              <a:sym typeface="Calibri"/>
            </a:endParaRPr>
          </a:p>
        </p:txBody>
      </p:sp>
      <p:sp>
        <p:nvSpPr>
          <p:cNvPr id="1017" name="Google Shape;1017;p25"/>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Template-based NLG — interpretable, reliable, zero hallucination risk</a:t>
            </a:r>
            <a:endParaRPr b="0" i="0" sz="1400" u="none" cap="none" strike="noStrike">
              <a:solidFill>
                <a:schemeClr val="dk1"/>
              </a:solidFill>
              <a:latin typeface="Calibri"/>
              <a:ea typeface="Calibri"/>
              <a:cs typeface="Calibri"/>
              <a:sym typeface="Calibri"/>
            </a:endParaRPr>
          </a:p>
        </p:txBody>
      </p:sp>
      <p:cxnSp>
        <p:nvCxnSpPr>
          <p:cNvPr id="1018" name="Google Shape;1018;p25"/>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019" name="Google Shape;1019;p25"/>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020" name="Google Shape;1020;p25"/>
          <p:cNvSpPr/>
          <p:nvPr/>
        </p:nvSpPr>
        <p:spPr>
          <a:xfrm>
            <a:off x="355375" y="1207000"/>
            <a:ext cx="4033800" cy="3310200"/>
          </a:xfrm>
          <a:prstGeom prst="roundRect">
            <a:avLst>
              <a:gd fmla="val 3429"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5"/>
          <p:cNvSpPr/>
          <p:nvPr/>
        </p:nvSpPr>
        <p:spPr>
          <a:xfrm>
            <a:off x="548640" y="1280160"/>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Why Template-Based NLG?</a:t>
            </a:r>
            <a:endParaRPr b="0" i="0" sz="1200" u="none" cap="none" strike="noStrike">
              <a:solidFill>
                <a:schemeClr val="dk1"/>
              </a:solidFill>
              <a:latin typeface="Calibri"/>
              <a:ea typeface="Calibri"/>
              <a:cs typeface="Calibri"/>
              <a:sym typeface="Calibri"/>
            </a:endParaRPr>
          </a:p>
        </p:txBody>
      </p:sp>
      <p:sp>
        <p:nvSpPr>
          <p:cNvPr id="1022" name="Google Shape;1022;p25"/>
          <p:cNvSpPr/>
          <p:nvPr/>
        </p:nvSpPr>
        <p:spPr>
          <a:xfrm>
            <a:off x="548640" y="1572768"/>
            <a:ext cx="3749040" cy="2798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Recommendation strings are generated by selecting a status-keyed template and substituting the patient-specific values: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fruit_name, days_remaining, storage_method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freshness_label, ethylene_role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This approach is deliberate. A language model might generate more varied text — but at the cost of occasional hallucination (inventing risk factors that the model did not identify). Template-based NLG:</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Every claim is directly traceable to a calculated value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No free-form clinical reasoning — the system explains its numbers, it doesn't advise the user what to do medically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Fully deterministic — the same scan always produces the same text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  Zero dependency on external API calls</a:t>
            </a:r>
            <a:endParaRPr b="0" i="0" sz="1100" u="none" cap="none" strike="noStrike">
              <a:solidFill>
                <a:schemeClr val="dk1"/>
              </a:solidFill>
              <a:latin typeface="Calibri"/>
              <a:ea typeface="Calibri"/>
              <a:cs typeface="Calibri"/>
              <a:sym typeface="Calibri"/>
            </a:endParaRPr>
          </a:p>
        </p:txBody>
      </p:sp>
      <p:sp>
        <p:nvSpPr>
          <p:cNvPr id="1023" name="Google Shape;1023;p25"/>
          <p:cNvSpPr/>
          <p:nvPr/>
        </p:nvSpPr>
        <p:spPr>
          <a:xfrm>
            <a:off x="4572000" y="1207008"/>
            <a:ext cx="4187952" cy="749808"/>
          </a:xfrm>
          <a:prstGeom prst="roundRect">
            <a:avLst>
              <a:gd fmla="val 14634" name="adj"/>
            </a:avLst>
          </a:prstGeom>
          <a:solidFill>
            <a:srgbClr val="E8F5E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5"/>
          <p:cNvSpPr/>
          <p:nvPr/>
        </p:nvSpPr>
        <p:spPr>
          <a:xfrm>
            <a:off x="4718304" y="1261872"/>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100"/>
              <a:buFont typeface="Calibri"/>
              <a:buNone/>
            </a:pPr>
            <a:r>
              <a:rPr b="1" i="0" lang="en-US" sz="1100" u="none" cap="none" strike="noStrike">
                <a:solidFill>
                  <a:srgbClr val="2E7D32"/>
                </a:solidFill>
                <a:latin typeface="Calibri"/>
                <a:ea typeface="Calibri"/>
                <a:cs typeface="Calibri"/>
                <a:sym typeface="Calibri"/>
              </a:rPr>
              <a:t>FRESH template:</a:t>
            </a:r>
            <a:endParaRPr b="0" i="0" sz="1100" u="none" cap="none" strike="noStrike">
              <a:solidFill>
                <a:schemeClr val="dk1"/>
              </a:solidFill>
              <a:latin typeface="Calibri"/>
              <a:ea typeface="Calibri"/>
              <a:cs typeface="Calibri"/>
              <a:sym typeface="Calibri"/>
            </a:endParaRPr>
          </a:p>
        </p:txBody>
      </p:sp>
      <p:sp>
        <p:nvSpPr>
          <p:cNvPr id="1025" name="Google Shape;1025;p25"/>
          <p:cNvSpPr/>
          <p:nvPr/>
        </p:nvSpPr>
        <p:spPr>
          <a:xfrm>
            <a:off x="4718304" y="1463040"/>
            <a:ext cx="3931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1" lang="en-US" sz="1050" u="none" cap="none" strike="noStrike">
                <a:solidFill>
                  <a:srgbClr val="4A5568"/>
                </a:solidFill>
                <a:latin typeface="Calibri"/>
                <a:ea typeface="Calibri"/>
                <a:cs typeface="Calibri"/>
                <a:sym typeface="Calibri"/>
              </a:rPr>
              <a:t>"Your {fruit} is in great condition. Store in the {method} for up to {days} more days."</a:t>
            </a:r>
            <a:endParaRPr b="0" i="0" sz="1050" u="none" cap="none" strike="noStrike">
              <a:solidFill>
                <a:schemeClr val="dk1"/>
              </a:solidFill>
              <a:latin typeface="Calibri"/>
              <a:ea typeface="Calibri"/>
              <a:cs typeface="Calibri"/>
              <a:sym typeface="Calibri"/>
            </a:endParaRPr>
          </a:p>
        </p:txBody>
      </p:sp>
      <p:sp>
        <p:nvSpPr>
          <p:cNvPr id="1026" name="Google Shape;1026;p25"/>
          <p:cNvSpPr/>
          <p:nvPr/>
        </p:nvSpPr>
        <p:spPr>
          <a:xfrm>
            <a:off x="4572000" y="2048256"/>
            <a:ext cx="4187952" cy="749808"/>
          </a:xfrm>
          <a:prstGeom prst="roundRect">
            <a:avLst>
              <a:gd fmla="val 14634" name="adj"/>
            </a:avLst>
          </a:prstGeom>
          <a:solidFill>
            <a:srgbClr val="FFF8E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5"/>
          <p:cNvSpPr/>
          <p:nvPr/>
        </p:nvSpPr>
        <p:spPr>
          <a:xfrm>
            <a:off x="4718304" y="2103120"/>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EAT SOON template:</a:t>
            </a:r>
            <a:endParaRPr b="0" i="0" sz="1100" u="none" cap="none" strike="noStrike">
              <a:solidFill>
                <a:schemeClr val="dk1"/>
              </a:solidFill>
              <a:latin typeface="Calibri"/>
              <a:ea typeface="Calibri"/>
              <a:cs typeface="Calibri"/>
              <a:sym typeface="Calibri"/>
            </a:endParaRPr>
          </a:p>
        </p:txBody>
      </p:sp>
      <p:sp>
        <p:nvSpPr>
          <p:cNvPr id="1028" name="Google Shape;1028;p25"/>
          <p:cNvSpPr/>
          <p:nvPr/>
        </p:nvSpPr>
        <p:spPr>
          <a:xfrm>
            <a:off x="4718304" y="2304288"/>
            <a:ext cx="3931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1" lang="en-US" sz="1050" u="none" cap="none" strike="noStrike">
                <a:solidFill>
                  <a:srgbClr val="4A5568"/>
                </a:solidFill>
                <a:latin typeface="Calibri"/>
                <a:ea typeface="Calibri"/>
                <a:cs typeface="Calibri"/>
                <a:sym typeface="Calibri"/>
              </a:rPr>
              <a:t>"Your {fruit} is aging — eat it within {days_label}. For longest life, move it to the {method}."</a:t>
            </a:r>
            <a:endParaRPr b="0" i="0" sz="1050" u="none" cap="none" strike="noStrike">
              <a:solidFill>
                <a:schemeClr val="dk1"/>
              </a:solidFill>
              <a:latin typeface="Calibri"/>
              <a:ea typeface="Calibri"/>
              <a:cs typeface="Calibri"/>
              <a:sym typeface="Calibri"/>
            </a:endParaRPr>
          </a:p>
        </p:txBody>
      </p:sp>
      <p:sp>
        <p:nvSpPr>
          <p:cNvPr id="1029" name="Google Shape;1029;p25"/>
          <p:cNvSpPr/>
          <p:nvPr/>
        </p:nvSpPr>
        <p:spPr>
          <a:xfrm>
            <a:off x="4572000" y="2889504"/>
            <a:ext cx="4187952" cy="749808"/>
          </a:xfrm>
          <a:prstGeom prst="roundRect">
            <a:avLst>
              <a:gd fmla="val 14634" name="adj"/>
            </a:avLst>
          </a:prstGeom>
          <a:solidFill>
            <a:srgbClr val="FFF3E0"/>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5"/>
          <p:cNvSpPr/>
          <p:nvPr/>
        </p:nvSpPr>
        <p:spPr>
          <a:xfrm>
            <a:off x="4718304" y="2944368"/>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5100"/>
              </a:buClr>
              <a:buSzPts val="1100"/>
              <a:buFont typeface="Calibri"/>
              <a:buNone/>
            </a:pPr>
            <a:r>
              <a:rPr b="1" i="0" lang="en-US" sz="1100" u="none" cap="none" strike="noStrike">
                <a:solidFill>
                  <a:srgbClr val="E65100"/>
                </a:solidFill>
                <a:latin typeface="Calibri"/>
                <a:ea typeface="Calibri"/>
                <a:cs typeface="Calibri"/>
                <a:sym typeface="Calibri"/>
              </a:rPr>
              <a:t>EAT TODAY template:</a:t>
            </a:r>
            <a:endParaRPr b="0" i="0" sz="1100" u="none" cap="none" strike="noStrike">
              <a:solidFill>
                <a:schemeClr val="dk1"/>
              </a:solidFill>
              <a:latin typeface="Calibri"/>
              <a:ea typeface="Calibri"/>
              <a:cs typeface="Calibri"/>
              <a:sym typeface="Calibri"/>
            </a:endParaRPr>
          </a:p>
        </p:txBody>
      </p:sp>
      <p:sp>
        <p:nvSpPr>
          <p:cNvPr id="1031" name="Google Shape;1031;p25"/>
          <p:cNvSpPr/>
          <p:nvPr/>
        </p:nvSpPr>
        <p:spPr>
          <a:xfrm>
            <a:off x="4718304" y="3145536"/>
            <a:ext cx="39319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1" lang="en-US" sz="1050" u="none" cap="none" strike="noStrike">
                <a:solidFill>
                  <a:srgbClr val="4A5568"/>
                </a:solidFill>
                <a:latin typeface="Calibri"/>
                <a:ea typeface="Calibri"/>
                <a:cs typeface="Calibri"/>
                <a:sym typeface="Calibri"/>
              </a:rPr>
              <a:t>"Your {fruit} needs to be consumed today. Consider using it in a smoothie or cooked recipe."</a:t>
            </a:r>
            <a:endParaRPr b="0" i="0" sz="1050" u="none" cap="none" strike="noStrike">
              <a:solidFill>
                <a:schemeClr val="dk1"/>
              </a:solidFill>
              <a:latin typeface="Calibri"/>
              <a:ea typeface="Calibri"/>
              <a:cs typeface="Calibri"/>
              <a:sym typeface="Calibri"/>
            </a:endParaRPr>
          </a:p>
        </p:txBody>
      </p:sp>
      <p:sp>
        <p:nvSpPr>
          <p:cNvPr id="1032" name="Google Shape;1032;p25"/>
          <p:cNvSpPr/>
          <p:nvPr/>
        </p:nvSpPr>
        <p:spPr>
          <a:xfrm>
            <a:off x="4572000" y="3730752"/>
            <a:ext cx="4187952" cy="676656"/>
          </a:xfrm>
          <a:prstGeom prst="roundRect">
            <a:avLst>
              <a:gd fmla="val 16216" name="adj"/>
            </a:avLst>
          </a:prstGeom>
          <a:solidFill>
            <a:srgbClr val="FFEBEE"/>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5"/>
          <p:cNvSpPr/>
          <p:nvPr/>
        </p:nvSpPr>
        <p:spPr>
          <a:xfrm>
            <a:off x="4718304" y="3785616"/>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00"/>
              <a:buFont typeface="Calibri"/>
              <a:buNone/>
            </a:pPr>
            <a:r>
              <a:rPr b="1" i="0" lang="en-US" sz="1100" u="none" cap="none" strike="noStrike">
                <a:solidFill>
                  <a:srgbClr val="C0392B"/>
                </a:solidFill>
                <a:latin typeface="Calibri"/>
                <a:ea typeface="Calibri"/>
                <a:cs typeface="Calibri"/>
                <a:sym typeface="Calibri"/>
              </a:rPr>
              <a:t>SPOILED template:</a:t>
            </a:r>
            <a:endParaRPr b="0" i="0" sz="1100" u="none" cap="none" strike="noStrike">
              <a:solidFill>
                <a:schemeClr val="dk1"/>
              </a:solidFill>
              <a:latin typeface="Calibri"/>
              <a:ea typeface="Calibri"/>
              <a:cs typeface="Calibri"/>
              <a:sym typeface="Calibri"/>
            </a:endParaRPr>
          </a:p>
        </p:txBody>
      </p:sp>
      <p:sp>
        <p:nvSpPr>
          <p:cNvPr id="1034" name="Google Shape;1034;p25"/>
          <p:cNvSpPr/>
          <p:nvPr/>
        </p:nvSpPr>
        <p:spPr>
          <a:xfrm>
            <a:off x="4718304" y="3986784"/>
            <a:ext cx="39319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1" lang="en-US" sz="1050" u="none" cap="none" strike="noStrike">
                <a:solidFill>
                  <a:srgbClr val="4A5568"/>
                </a:solidFill>
                <a:latin typeface="Calibri"/>
                <a:ea typeface="Calibri"/>
                <a:cs typeface="Calibri"/>
                <a:sym typeface="Calibri"/>
              </a:rPr>
              <a:t>"Your {fruit} appears to be past its usable condition. We recommend discarding it."</a:t>
            </a:r>
            <a:endParaRPr b="0" i="0" sz="1050" u="none" cap="none" strike="noStrike">
              <a:solidFill>
                <a:schemeClr val="dk1"/>
              </a:solidFill>
              <a:latin typeface="Calibri"/>
              <a:ea typeface="Calibri"/>
              <a:cs typeface="Calibri"/>
              <a:sym typeface="Calibri"/>
            </a:endParaRPr>
          </a:p>
        </p:txBody>
      </p:sp>
      <p:sp>
        <p:nvSpPr>
          <p:cNvPr id="1035" name="Google Shape;1035;p25"/>
          <p:cNvSpPr/>
          <p:nvPr/>
        </p:nvSpPr>
        <p:spPr>
          <a:xfrm>
            <a:off x="4572000" y="4480548"/>
            <a:ext cx="4188000" cy="569700"/>
          </a:xfrm>
          <a:prstGeom prst="roundRect">
            <a:avLst>
              <a:gd fmla="val 23077"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5"/>
          <p:cNvSpPr/>
          <p:nvPr/>
        </p:nvSpPr>
        <p:spPr>
          <a:xfrm>
            <a:off x="4681728" y="4517136"/>
            <a:ext cx="3986784"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2B4A"/>
              </a:buClr>
              <a:buSzPts val="1050"/>
              <a:buFont typeface="Calibri"/>
              <a:buNone/>
            </a:pPr>
            <a:r>
              <a:rPr b="0" i="0" lang="en-US" sz="1050" u="none" cap="none" strike="noStrike">
                <a:solidFill>
                  <a:srgbClr val="1A2B4A"/>
                </a:solidFill>
                <a:latin typeface="Calibri"/>
                <a:ea typeface="Calibri"/>
                <a:cs typeface="Calibri"/>
                <a:sym typeface="Calibri"/>
              </a:rPr>
              <a:t>Ethylene notes generated conditionally  producer-only, sensitive-only, or both-roles  from separate templates keyed on the fruit's ethylene flags in the reference database.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041" name="Shape 1041"/>
        <p:cNvGrpSpPr/>
        <p:nvPr/>
      </p:nvGrpSpPr>
      <p:grpSpPr>
        <a:xfrm>
          <a:off x="0" y="0"/>
          <a:ext cx="0" cy="0"/>
          <a:chOff x="0" y="0"/>
          <a:chExt cx="0" cy="0"/>
        </a:xfrm>
      </p:grpSpPr>
      <p:sp>
        <p:nvSpPr>
          <p:cNvPr id="1042" name="Google Shape;1042;p26"/>
          <p:cNvSpPr/>
          <p:nvPr/>
        </p:nvSpPr>
        <p:spPr>
          <a:xfrm rot="-900000">
            <a:off x="137160" y="137160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6"/>
          <p:cNvSpPr/>
          <p:nvPr/>
        </p:nvSpPr>
        <p:spPr>
          <a:xfrm rot="-900000">
            <a:off x="338328" y="146304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6"/>
          <p:cNvSpPr/>
          <p:nvPr/>
        </p:nvSpPr>
        <p:spPr>
          <a:xfrm rot="-900000">
            <a:off x="539496" y="155448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6"/>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6"/>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6"/>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6"/>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6"/>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6"/>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6"/>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6"/>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6"/>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6"/>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6"/>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6"/>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6"/>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6"/>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6"/>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6"/>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6"/>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6"/>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6"/>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6"/>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6"/>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6"/>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6"/>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6"/>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6"/>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6"/>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Live System: EAT SOON — Banana Scan</a:t>
            </a:r>
            <a:endParaRPr b="0" i="0" sz="2800" u="none" cap="none" strike="noStrike">
              <a:solidFill>
                <a:schemeClr val="dk1"/>
              </a:solidFill>
              <a:latin typeface="Calibri"/>
              <a:ea typeface="Calibri"/>
              <a:cs typeface="Calibri"/>
              <a:sym typeface="Calibri"/>
            </a:endParaRPr>
          </a:p>
        </p:txBody>
      </p:sp>
      <p:cxnSp>
        <p:nvCxnSpPr>
          <p:cNvPr id="1071" name="Google Shape;1071;p26"/>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072" name="Google Shape;1072;p26"/>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073" name="Google Shape;1073;p26"/>
          <p:cNvSpPr/>
          <p:nvPr/>
        </p:nvSpPr>
        <p:spPr>
          <a:xfrm>
            <a:off x="384048" y="1005840"/>
            <a:ext cx="4389120" cy="3749040"/>
          </a:xfrm>
          <a:prstGeom prst="roundRect">
            <a:avLst>
              <a:gd fmla="val 2927" name="adj"/>
            </a:avLst>
          </a:prstGeom>
          <a:solidFill>
            <a:srgbClr val="E8E8E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6"/>
          <p:cNvSpPr/>
          <p:nvPr/>
        </p:nvSpPr>
        <p:spPr>
          <a:xfrm>
            <a:off x="1188720" y="1828800"/>
            <a:ext cx="27432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400"/>
              <a:buFont typeface="Cambria"/>
              <a:buNone/>
            </a:pPr>
            <a:r>
              <a:t/>
            </a:r>
            <a:endParaRPr b="0" i="0" sz="1400" u="none" cap="none" strike="noStrike">
              <a:solidFill>
                <a:schemeClr val="dk1"/>
              </a:solidFill>
              <a:latin typeface="Calibri"/>
              <a:ea typeface="Calibri"/>
              <a:cs typeface="Calibri"/>
              <a:sym typeface="Calibri"/>
            </a:endParaRPr>
          </a:p>
        </p:txBody>
      </p:sp>
      <p:sp>
        <p:nvSpPr>
          <p:cNvPr id="1075" name="Google Shape;1075;p26"/>
          <p:cNvSpPr/>
          <p:nvPr/>
        </p:nvSpPr>
        <p:spPr>
          <a:xfrm>
            <a:off x="1188720" y="2596896"/>
            <a:ext cx="27432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800"/>
              <a:buFont typeface="Cambria"/>
              <a:buNone/>
            </a:pPr>
            <a:r>
              <a:t/>
            </a:r>
            <a:endParaRPr b="0" i="0" sz="1800" u="none" cap="none" strike="noStrike">
              <a:solidFill>
                <a:schemeClr val="dk1"/>
              </a:solidFill>
              <a:latin typeface="Calibri"/>
              <a:ea typeface="Calibri"/>
              <a:cs typeface="Calibri"/>
              <a:sym typeface="Calibri"/>
            </a:endParaRPr>
          </a:p>
        </p:txBody>
      </p:sp>
      <p:sp>
        <p:nvSpPr>
          <p:cNvPr id="1076" name="Google Shape;1076;p26"/>
          <p:cNvSpPr/>
          <p:nvPr/>
        </p:nvSpPr>
        <p:spPr>
          <a:xfrm>
            <a:off x="1188720" y="2944368"/>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3600"/>
              <a:buFont typeface="Cambria"/>
              <a:buNone/>
            </a:pPr>
            <a:r>
              <a:t/>
            </a:r>
            <a:endParaRPr b="0" i="0" sz="3600" u="none" cap="none" strike="noStrike">
              <a:solidFill>
                <a:schemeClr val="dk1"/>
              </a:solidFill>
              <a:latin typeface="Calibri"/>
              <a:ea typeface="Calibri"/>
              <a:cs typeface="Calibri"/>
              <a:sym typeface="Calibri"/>
            </a:endParaRPr>
          </a:p>
        </p:txBody>
      </p:sp>
      <p:sp>
        <p:nvSpPr>
          <p:cNvPr id="1077" name="Google Shape;1077;p26"/>
          <p:cNvSpPr/>
          <p:nvPr/>
        </p:nvSpPr>
        <p:spPr>
          <a:xfrm>
            <a:off x="1188720" y="3383280"/>
            <a:ext cx="2743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1078" name="Google Shape;1078;p26"/>
          <p:cNvSpPr/>
          <p:nvPr/>
        </p:nvSpPr>
        <p:spPr>
          <a:xfrm>
            <a:off x="1188720" y="3602736"/>
            <a:ext cx="2743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D8B"/>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1079" name="Google Shape;1079;p26"/>
          <p:cNvSpPr/>
          <p:nvPr/>
        </p:nvSpPr>
        <p:spPr>
          <a:xfrm>
            <a:off x="1234440" y="3858768"/>
            <a:ext cx="768096" cy="182880"/>
          </a:xfrm>
          <a:prstGeom prst="roundRect">
            <a:avLst>
              <a:gd fmla="val 20000" name="adj"/>
            </a:avLst>
          </a:prstGeom>
          <a:solidFill>
            <a:srgbClr val="80C0A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6"/>
          <p:cNvSpPr/>
          <p:nvPr/>
        </p:nvSpPr>
        <p:spPr>
          <a:xfrm>
            <a:off x="1234440" y="3858768"/>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1081" name="Google Shape;1081;p26"/>
          <p:cNvSpPr/>
          <p:nvPr/>
        </p:nvSpPr>
        <p:spPr>
          <a:xfrm>
            <a:off x="1234440" y="4114800"/>
            <a:ext cx="2432304" cy="182880"/>
          </a:xfrm>
          <a:prstGeom prst="roundRect">
            <a:avLst>
              <a:gd fmla="val 20000" name="adj"/>
            </a:avLst>
          </a:prstGeom>
          <a:solidFill>
            <a:srgbClr val="3A8C7E">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6"/>
          <p:cNvSpPr/>
          <p:nvPr/>
        </p:nvSpPr>
        <p:spPr>
          <a:xfrm>
            <a:off x="1234440" y="4114800"/>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Fridge ✓ Recommended  3.0d</a:t>
            </a:r>
            <a:endParaRPr b="0" i="0" sz="900" u="none" cap="none" strike="noStrike">
              <a:solidFill>
                <a:schemeClr val="dk1"/>
              </a:solidFill>
              <a:latin typeface="Calibri"/>
              <a:ea typeface="Calibri"/>
              <a:cs typeface="Calibri"/>
              <a:sym typeface="Calibri"/>
            </a:endParaRPr>
          </a:p>
        </p:txBody>
      </p:sp>
      <p:sp>
        <p:nvSpPr>
          <p:cNvPr id="1083" name="Google Shape;1083;p26"/>
          <p:cNvSpPr/>
          <p:nvPr/>
        </p:nvSpPr>
        <p:spPr>
          <a:xfrm>
            <a:off x="1234440" y="4370832"/>
            <a:ext cx="2560320" cy="182880"/>
          </a:xfrm>
          <a:prstGeom prst="roundRect">
            <a:avLst>
              <a:gd fmla="val 20000" name="adj"/>
            </a:avLst>
          </a:prstGeom>
          <a:solidFill>
            <a:srgbClr val="3B5F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6"/>
          <p:cNvSpPr/>
          <p:nvPr/>
        </p:nvSpPr>
        <p:spPr>
          <a:xfrm>
            <a:off x="1234440" y="4370832"/>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Freezer  29.6d</a:t>
            </a:r>
            <a:endParaRPr b="0" i="0" sz="900" u="none" cap="none" strike="noStrike">
              <a:solidFill>
                <a:schemeClr val="dk1"/>
              </a:solidFill>
              <a:latin typeface="Calibri"/>
              <a:ea typeface="Calibri"/>
              <a:cs typeface="Calibri"/>
              <a:sym typeface="Calibri"/>
            </a:endParaRPr>
          </a:p>
        </p:txBody>
      </p:sp>
      <p:sp>
        <p:nvSpPr>
          <p:cNvPr id="1085" name="Google Shape;1085;p26"/>
          <p:cNvSpPr/>
          <p:nvPr/>
        </p:nvSpPr>
        <p:spPr>
          <a:xfrm>
            <a:off x="4956048" y="1005840"/>
            <a:ext cx="3803904" cy="1572768"/>
          </a:xfrm>
          <a:prstGeom prst="roundRect">
            <a:avLst>
              <a:gd fmla="val 6977" name="adj"/>
            </a:avLst>
          </a:prstGeom>
          <a:solidFill>
            <a:srgbClr val="FFF8E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6"/>
          <p:cNvSpPr/>
          <p:nvPr/>
        </p:nvSpPr>
        <p:spPr>
          <a:xfrm>
            <a:off x="5102352" y="1078992"/>
            <a:ext cx="35478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Patient Profile</a:t>
            </a:r>
            <a:endParaRPr b="0" i="0" sz="1200" u="none" cap="none" strike="noStrike">
              <a:solidFill>
                <a:schemeClr val="dk1"/>
              </a:solidFill>
              <a:latin typeface="Calibri"/>
              <a:ea typeface="Calibri"/>
              <a:cs typeface="Calibri"/>
              <a:sym typeface="Calibri"/>
            </a:endParaRPr>
          </a:p>
        </p:txBody>
      </p:sp>
      <p:sp>
        <p:nvSpPr>
          <p:cNvPr id="1087" name="Google Shape;1087;p26"/>
          <p:cNvSpPr/>
          <p:nvPr/>
        </p:nvSpPr>
        <p:spPr>
          <a:xfrm>
            <a:off x="5102352" y="1335024"/>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Fruit:</a:t>
            </a:r>
            <a:endParaRPr b="0" i="0" sz="1050" u="none" cap="none" strike="noStrike">
              <a:solidFill>
                <a:schemeClr val="dk1"/>
              </a:solidFill>
              <a:latin typeface="Calibri"/>
              <a:ea typeface="Calibri"/>
              <a:cs typeface="Calibri"/>
              <a:sym typeface="Calibri"/>
            </a:endParaRPr>
          </a:p>
        </p:txBody>
      </p:sp>
      <p:sp>
        <p:nvSpPr>
          <p:cNvPr id="1088" name="Google Shape;1088;p26"/>
          <p:cNvSpPr/>
          <p:nvPr/>
        </p:nvSpPr>
        <p:spPr>
          <a:xfrm>
            <a:off x="6492240" y="1335024"/>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Banana</a:t>
            </a:r>
            <a:endParaRPr b="0" i="0" sz="1050" u="none" cap="none" strike="noStrike">
              <a:solidFill>
                <a:schemeClr val="dk1"/>
              </a:solidFill>
              <a:latin typeface="Calibri"/>
              <a:ea typeface="Calibri"/>
              <a:cs typeface="Calibri"/>
              <a:sym typeface="Calibri"/>
            </a:endParaRPr>
          </a:p>
        </p:txBody>
      </p:sp>
      <p:sp>
        <p:nvSpPr>
          <p:cNvPr id="1089" name="Google Shape;1089;p26"/>
          <p:cNvSpPr/>
          <p:nvPr/>
        </p:nvSpPr>
        <p:spPr>
          <a:xfrm>
            <a:off x="5102352" y="1591056"/>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Classifier output:</a:t>
            </a:r>
            <a:endParaRPr b="0" i="0" sz="1050" u="none" cap="none" strike="noStrike">
              <a:solidFill>
                <a:schemeClr val="dk1"/>
              </a:solidFill>
              <a:latin typeface="Calibri"/>
              <a:ea typeface="Calibri"/>
              <a:cs typeface="Calibri"/>
              <a:sym typeface="Calibri"/>
            </a:endParaRPr>
          </a:p>
        </p:txBody>
      </p:sp>
      <p:sp>
        <p:nvSpPr>
          <p:cNvPr id="1090" name="Google Shape;1090;p26"/>
          <p:cNvSpPr/>
          <p:nvPr/>
        </p:nvSpPr>
        <p:spPr>
          <a:xfrm>
            <a:off x="6492240" y="1591056"/>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Banana(5-10)</a:t>
            </a:r>
            <a:endParaRPr b="0" i="0" sz="1050" u="none" cap="none" strike="noStrike">
              <a:solidFill>
                <a:schemeClr val="dk1"/>
              </a:solidFill>
              <a:latin typeface="Calibri"/>
              <a:ea typeface="Calibri"/>
              <a:cs typeface="Calibri"/>
              <a:sym typeface="Calibri"/>
            </a:endParaRPr>
          </a:p>
        </p:txBody>
      </p:sp>
      <p:sp>
        <p:nvSpPr>
          <p:cNvPr id="1091" name="Google Shape;1091;p26"/>
          <p:cNvSpPr/>
          <p:nvPr/>
        </p:nvSpPr>
        <p:spPr>
          <a:xfrm>
            <a:off x="5102352" y="1847088"/>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Freshness score F:</a:t>
            </a:r>
            <a:endParaRPr b="0" i="0" sz="1050" u="none" cap="none" strike="noStrike">
              <a:solidFill>
                <a:schemeClr val="dk1"/>
              </a:solidFill>
              <a:latin typeface="Calibri"/>
              <a:ea typeface="Calibri"/>
              <a:cs typeface="Calibri"/>
              <a:sym typeface="Calibri"/>
            </a:endParaRPr>
          </a:p>
        </p:txBody>
      </p:sp>
      <p:sp>
        <p:nvSpPr>
          <p:cNvPr id="1092" name="Google Shape;1092;p26"/>
          <p:cNvSpPr/>
          <p:nvPr/>
        </p:nvSpPr>
        <p:spPr>
          <a:xfrm>
            <a:off x="6492240" y="1847088"/>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0.72</a:t>
            </a:r>
            <a:endParaRPr b="0" i="0" sz="1050" u="none" cap="none" strike="noStrike">
              <a:solidFill>
                <a:schemeClr val="dk1"/>
              </a:solidFill>
              <a:latin typeface="Calibri"/>
              <a:ea typeface="Calibri"/>
              <a:cs typeface="Calibri"/>
              <a:sym typeface="Calibri"/>
            </a:endParaRPr>
          </a:p>
        </p:txBody>
      </p:sp>
      <p:sp>
        <p:nvSpPr>
          <p:cNvPr id="1093" name="Google Shape;1093;p26"/>
          <p:cNvSpPr/>
          <p:nvPr/>
        </p:nvSpPr>
        <p:spPr>
          <a:xfrm>
            <a:off x="5102352" y="2103120"/>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Confidence:</a:t>
            </a:r>
            <a:endParaRPr b="0" i="0" sz="1050" u="none" cap="none" strike="noStrike">
              <a:solidFill>
                <a:schemeClr val="dk1"/>
              </a:solidFill>
              <a:latin typeface="Calibri"/>
              <a:ea typeface="Calibri"/>
              <a:cs typeface="Calibri"/>
              <a:sym typeface="Calibri"/>
            </a:endParaRPr>
          </a:p>
        </p:txBody>
      </p:sp>
      <p:sp>
        <p:nvSpPr>
          <p:cNvPr id="1094" name="Google Shape;1094;p26"/>
          <p:cNvSpPr/>
          <p:nvPr/>
        </p:nvSpPr>
        <p:spPr>
          <a:xfrm>
            <a:off x="6492240" y="2103120"/>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50"/>
              <a:buFont typeface="Calibri"/>
              <a:buNone/>
            </a:pPr>
            <a:r>
              <a:rPr b="1" i="0" lang="en-US" sz="1050" u="none" cap="none" strike="noStrike">
                <a:solidFill>
                  <a:srgbClr val="3A8C7E"/>
                </a:solidFill>
                <a:latin typeface="Calibri"/>
                <a:ea typeface="Calibri"/>
                <a:cs typeface="Calibri"/>
                <a:sym typeface="Calibri"/>
              </a:rPr>
              <a:t>72%</a:t>
            </a:r>
            <a:endParaRPr b="0" i="0" sz="1050" u="none" cap="none" strike="noStrike">
              <a:solidFill>
                <a:schemeClr val="dk1"/>
              </a:solidFill>
              <a:latin typeface="Calibri"/>
              <a:ea typeface="Calibri"/>
              <a:cs typeface="Calibri"/>
              <a:sym typeface="Calibri"/>
            </a:endParaRPr>
          </a:p>
        </p:txBody>
      </p:sp>
      <p:sp>
        <p:nvSpPr>
          <p:cNvPr id="1095" name="Google Shape;1095;p26"/>
          <p:cNvSpPr/>
          <p:nvPr/>
        </p:nvSpPr>
        <p:spPr>
          <a:xfrm>
            <a:off x="4956048" y="2670048"/>
            <a:ext cx="3803904" cy="2084832"/>
          </a:xfrm>
          <a:prstGeom prst="roundRect">
            <a:avLst>
              <a:gd fmla="val 526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6"/>
          <p:cNvSpPr/>
          <p:nvPr/>
        </p:nvSpPr>
        <p:spPr>
          <a:xfrm>
            <a:off x="5102352" y="2743200"/>
            <a:ext cx="35478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Calculation Trace</a:t>
            </a:r>
            <a:endParaRPr b="0" i="0" sz="1200" u="none" cap="none" strike="noStrike">
              <a:solidFill>
                <a:schemeClr val="dk1"/>
              </a:solidFill>
              <a:latin typeface="Calibri"/>
              <a:ea typeface="Calibri"/>
              <a:cs typeface="Calibri"/>
              <a:sym typeface="Calibri"/>
            </a:endParaRPr>
          </a:p>
        </p:txBody>
      </p:sp>
      <p:sp>
        <p:nvSpPr>
          <p:cNvPr id="1097" name="Google Shape;1097;p26"/>
          <p:cNvSpPr/>
          <p:nvPr/>
        </p:nvSpPr>
        <p:spPr>
          <a:xfrm>
            <a:off x="5102352" y="2980944"/>
            <a:ext cx="354787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F^1.5 = 0.72^1.5 = 0.611</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T(fridge, banana 4°C, optimal 13-15°C) = 0.82</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R(Nearly Ripe, F≥0.70) = 0.85</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D(fridge) = 7 × 0.611 × 0.82 × 0.85 = 2.98 days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N = 2.98 / 7 = 0.426</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C = (0.72 × 0.6) + (0.426 × 0.4) = 0.602</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 EAT SOON (C ≥ 0.40)</a:t>
            </a:r>
            <a:endParaRPr b="0" i="0" sz="1050" u="none" cap="none" strike="noStrike">
              <a:solidFill>
                <a:schemeClr val="dk1"/>
              </a:solidFill>
              <a:latin typeface="Calibri"/>
              <a:ea typeface="Calibri"/>
              <a:cs typeface="Calibri"/>
              <a:sym typeface="Calibri"/>
            </a:endParaRPr>
          </a:p>
        </p:txBody>
      </p:sp>
      <p:sp>
        <p:nvSpPr>
          <p:cNvPr id="1098" name="Google Shape;1098;p26"/>
          <p:cNvSpPr/>
          <p:nvPr/>
        </p:nvSpPr>
        <p:spPr>
          <a:xfrm>
            <a:off x="4956048" y="4828032"/>
            <a:ext cx="3803904" cy="256032"/>
          </a:xfrm>
          <a:prstGeom prst="rect">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6"/>
          <p:cNvSpPr/>
          <p:nvPr/>
        </p:nvSpPr>
        <p:spPr>
          <a:xfrm>
            <a:off x="5102352" y="4846320"/>
            <a:ext cx="35661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00"/>
              <a:buFont typeface="Calibri"/>
              <a:buNone/>
            </a:pPr>
            <a:r>
              <a:rPr b="1" i="0" lang="en-US" sz="1000" u="none" cap="none" strike="noStrike">
                <a:solidFill>
                  <a:srgbClr val="3A8C7E"/>
                </a:solidFill>
                <a:latin typeface="Calibri"/>
                <a:ea typeface="Calibri"/>
                <a:cs typeface="Calibri"/>
                <a:sym typeface="Calibri"/>
              </a:rPr>
              <a:t>Ethylene note: Banana is a PRODUCER and SENSITIVE — store away from strawberries, grapes, kiwi.</a:t>
            </a:r>
            <a:endParaRPr b="0" i="0" sz="1000" u="none" cap="none" strike="noStrike">
              <a:solidFill>
                <a:schemeClr val="dk1"/>
              </a:solidFill>
              <a:latin typeface="Calibri"/>
              <a:ea typeface="Calibri"/>
              <a:cs typeface="Calibri"/>
              <a:sym typeface="Calibri"/>
            </a:endParaRPr>
          </a:p>
        </p:txBody>
      </p:sp>
      <p:pic>
        <p:nvPicPr>
          <p:cNvPr id="1100" name="Google Shape;1100;p26"/>
          <p:cNvPicPr preferRelativeResize="0"/>
          <p:nvPr/>
        </p:nvPicPr>
        <p:blipFill>
          <a:blip r:embed="rId3">
            <a:alphaModFix/>
          </a:blip>
          <a:stretch>
            <a:fillRect/>
          </a:stretch>
        </p:blipFill>
        <p:spPr>
          <a:xfrm>
            <a:off x="1234450" y="950975"/>
            <a:ext cx="3240625" cy="36027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105" name="Shape 1105"/>
        <p:cNvGrpSpPr/>
        <p:nvPr/>
      </p:nvGrpSpPr>
      <p:grpSpPr>
        <a:xfrm>
          <a:off x="0" y="0"/>
          <a:ext cx="0" cy="0"/>
          <a:chOff x="0" y="0"/>
          <a:chExt cx="0" cy="0"/>
        </a:xfrm>
      </p:grpSpPr>
      <p:sp>
        <p:nvSpPr>
          <p:cNvPr id="1106" name="Google Shape;1106;p27"/>
          <p:cNvSpPr/>
          <p:nvPr/>
        </p:nvSpPr>
        <p:spPr>
          <a:xfrm>
            <a:off x="7589520" y="182880"/>
            <a:ext cx="1005840" cy="100584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7"/>
          <p:cNvSpPr/>
          <p:nvPr/>
        </p:nvSpPr>
        <p:spPr>
          <a:xfrm>
            <a:off x="7589520" y="182880"/>
            <a:ext cx="670560" cy="67056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7"/>
          <p:cNvSpPr/>
          <p:nvPr/>
        </p:nvSpPr>
        <p:spPr>
          <a:xfrm>
            <a:off x="7589520" y="182880"/>
            <a:ext cx="335280" cy="33528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7"/>
          <p:cNvSpPr/>
          <p:nvPr/>
        </p:nvSpPr>
        <p:spPr>
          <a:xfrm>
            <a:off x="-365760" y="3474720"/>
            <a:ext cx="1645920" cy="16459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7"/>
          <p:cNvSpPr/>
          <p:nvPr/>
        </p:nvSpPr>
        <p:spPr>
          <a:xfrm>
            <a:off x="-94183" y="3746297"/>
            <a:ext cx="1102766" cy="110276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7"/>
          <p:cNvSpPr/>
          <p:nvPr/>
        </p:nvSpPr>
        <p:spPr>
          <a:xfrm>
            <a:off x="144475" y="3984955"/>
            <a:ext cx="625450" cy="625450"/>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7"/>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Live System: FRESH — Apple Scan (Contrast Case)</a:t>
            </a:r>
            <a:endParaRPr b="0" i="0" sz="2800" u="none" cap="none" strike="noStrike">
              <a:solidFill>
                <a:schemeClr val="dk1"/>
              </a:solidFill>
              <a:latin typeface="Calibri"/>
              <a:ea typeface="Calibri"/>
              <a:cs typeface="Calibri"/>
              <a:sym typeface="Calibri"/>
            </a:endParaRPr>
          </a:p>
        </p:txBody>
      </p:sp>
      <p:cxnSp>
        <p:nvCxnSpPr>
          <p:cNvPr id="1113" name="Google Shape;1113;p27"/>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114" name="Google Shape;1114;p27"/>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115" name="Google Shape;1115;p27"/>
          <p:cNvSpPr/>
          <p:nvPr/>
        </p:nvSpPr>
        <p:spPr>
          <a:xfrm>
            <a:off x="384048" y="1005840"/>
            <a:ext cx="4389120" cy="3749040"/>
          </a:xfrm>
          <a:prstGeom prst="roundRect">
            <a:avLst>
              <a:gd fmla="val 2927" name="adj"/>
            </a:avLst>
          </a:prstGeom>
          <a:solidFill>
            <a:srgbClr val="E8E8E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7"/>
          <p:cNvSpPr/>
          <p:nvPr/>
        </p:nvSpPr>
        <p:spPr>
          <a:xfrm>
            <a:off x="1097225" y="1161275"/>
            <a:ext cx="2926200" cy="3200400"/>
          </a:xfrm>
          <a:prstGeom prst="roundRect">
            <a:avLst>
              <a:gd fmla="val 9375" name="adj"/>
            </a:avLst>
          </a:prstGeom>
          <a:solidFill>
            <a:srgbClr val="FFFFFF"/>
          </a:solidFill>
          <a:ln>
            <a:noFill/>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7"/>
          <p:cNvSpPr/>
          <p:nvPr/>
        </p:nvSpPr>
        <p:spPr>
          <a:xfrm>
            <a:off x="1188720" y="1828800"/>
            <a:ext cx="2743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400"/>
              <a:buFont typeface="Cambria"/>
              <a:buNone/>
            </a:pPr>
            <a:r>
              <a:rPr b="1" i="0" lang="en-US" sz="1400" u="none" cap="none" strike="noStrike">
                <a:solidFill>
                  <a:srgbClr val="1A2B4A"/>
                </a:solidFill>
                <a:latin typeface="Cambria"/>
                <a:ea typeface="Cambria"/>
                <a:cs typeface="Cambria"/>
                <a:sym typeface="Cambria"/>
              </a:rPr>
              <a:t>fresco</a:t>
            </a:r>
            <a:endParaRPr b="0" i="0" sz="1400" u="none" cap="none" strike="noStrike">
              <a:solidFill>
                <a:schemeClr val="dk1"/>
              </a:solidFill>
              <a:latin typeface="Calibri"/>
              <a:ea typeface="Calibri"/>
              <a:cs typeface="Calibri"/>
              <a:sym typeface="Calibri"/>
            </a:endParaRPr>
          </a:p>
        </p:txBody>
      </p:sp>
      <p:sp>
        <p:nvSpPr>
          <p:cNvPr id="1118" name="Google Shape;1118;p27"/>
          <p:cNvSpPr/>
          <p:nvPr/>
        </p:nvSpPr>
        <p:spPr>
          <a:xfrm>
            <a:off x="1828800" y="2176272"/>
            <a:ext cx="1463040" cy="347472"/>
          </a:xfrm>
          <a:prstGeom prst="roundRect">
            <a:avLst>
              <a:gd fmla="val 50000" name="adj"/>
            </a:avLst>
          </a:prstGeom>
          <a:solidFill>
            <a:srgbClr val="2E7D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7"/>
          <p:cNvSpPr/>
          <p:nvPr/>
        </p:nvSpPr>
        <p:spPr>
          <a:xfrm>
            <a:off x="1828800" y="2176272"/>
            <a:ext cx="14631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FRESH</a:t>
            </a:r>
            <a:endParaRPr b="0" i="0" sz="1100" u="none" cap="none" strike="noStrike">
              <a:solidFill>
                <a:schemeClr val="dk1"/>
              </a:solidFill>
              <a:latin typeface="Calibri"/>
              <a:ea typeface="Calibri"/>
              <a:cs typeface="Calibri"/>
              <a:sym typeface="Calibri"/>
            </a:endParaRPr>
          </a:p>
        </p:txBody>
      </p:sp>
      <p:sp>
        <p:nvSpPr>
          <p:cNvPr id="1120" name="Google Shape;1120;p27"/>
          <p:cNvSpPr/>
          <p:nvPr/>
        </p:nvSpPr>
        <p:spPr>
          <a:xfrm>
            <a:off x="1188720" y="2596896"/>
            <a:ext cx="27432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800"/>
              <a:buFont typeface="Cambria"/>
              <a:buNone/>
            </a:pPr>
            <a:r>
              <a:rPr b="1" i="0" lang="en-US" sz="1800" u="none" cap="none" strike="noStrike">
                <a:solidFill>
                  <a:srgbClr val="1A2B4A"/>
                </a:solidFill>
                <a:latin typeface="Cambria"/>
                <a:ea typeface="Cambria"/>
                <a:cs typeface="Cambria"/>
                <a:sym typeface="Cambria"/>
              </a:rPr>
              <a:t>Apple</a:t>
            </a:r>
            <a:endParaRPr b="0" i="0" sz="1800" u="none" cap="none" strike="noStrike">
              <a:solidFill>
                <a:schemeClr val="dk1"/>
              </a:solidFill>
              <a:latin typeface="Calibri"/>
              <a:ea typeface="Calibri"/>
              <a:cs typeface="Calibri"/>
              <a:sym typeface="Calibri"/>
            </a:endParaRPr>
          </a:p>
        </p:txBody>
      </p:sp>
      <p:sp>
        <p:nvSpPr>
          <p:cNvPr id="1121" name="Google Shape;1121;p27"/>
          <p:cNvSpPr/>
          <p:nvPr/>
        </p:nvSpPr>
        <p:spPr>
          <a:xfrm>
            <a:off x="1188720" y="2944368"/>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32"/>
              </a:buClr>
              <a:buSzPts val="3600"/>
              <a:buFont typeface="Cambria"/>
              <a:buNone/>
            </a:pPr>
            <a:r>
              <a:rPr b="1" i="0" lang="en-US" sz="3600" u="none" cap="none" strike="noStrike">
                <a:solidFill>
                  <a:srgbClr val="2E7D32"/>
                </a:solidFill>
                <a:latin typeface="Cambria"/>
                <a:ea typeface="Cambria"/>
                <a:cs typeface="Cambria"/>
                <a:sym typeface="Cambria"/>
              </a:rPr>
              <a:t>22</a:t>
            </a:r>
            <a:endParaRPr b="0" i="0" sz="3600" u="none" cap="none" strike="noStrike">
              <a:solidFill>
                <a:schemeClr val="dk1"/>
              </a:solidFill>
              <a:latin typeface="Calibri"/>
              <a:ea typeface="Calibri"/>
              <a:cs typeface="Calibri"/>
              <a:sym typeface="Calibri"/>
            </a:endParaRPr>
          </a:p>
        </p:txBody>
      </p:sp>
      <p:sp>
        <p:nvSpPr>
          <p:cNvPr id="1122" name="Google Shape;1122;p27"/>
          <p:cNvSpPr/>
          <p:nvPr/>
        </p:nvSpPr>
        <p:spPr>
          <a:xfrm>
            <a:off x="1188720" y="3383280"/>
            <a:ext cx="2743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5568"/>
              </a:buClr>
              <a:buSzPts val="1100"/>
              <a:buFont typeface="Calibri"/>
              <a:buNone/>
            </a:pPr>
            <a:r>
              <a:rPr b="0" i="0" lang="en-US" sz="1100" u="none" cap="none" strike="noStrike">
                <a:solidFill>
                  <a:srgbClr val="4A5568"/>
                </a:solidFill>
                <a:latin typeface="Calibri"/>
                <a:ea typeface="Calibri"/>
                <a:cs typeface="Calibri"/>
                <a:sym typeface="Calibri"/>
              </a:rPr>
              <a:t>days left</a:t>
            </a:r>
            <a:endParaRPr b="0" i="0" sz="1100" u="none" cap="none" strike="noStrike">
              <a:solidFill>
                <a:schemeClr val="dk1"/>
              </a:solidFill>
              <a:latin typeface="Calibri"/>
              <a:ea typeface="Calibri"/>
              <a:cs typeface="Calibri"/>
              <a:sym typeface="Calibri"/>
            </a:endParaRPr>
          </a:p>
        </p:txBody>
      </p:sp>
      <p:sp>
        <p:nvSpPr>
          <p:cNvPr id="1123" name="Google Shape;1123;p27"/>
          <p:cNvSpPr/>
          <p:nvPr/>
        </p:nvSpPr>
        <p:spPr>
          <a:xfrm>
            <a:off x="1188720" y="3602736"/>
            <a:ext cx="2743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D8B"/>
              </a:buClr>
              <a:buSzPts val="1000"/>
              <a:buFont typeface="Calibri"/>
              <a:buNone/>
            </a:pPr>
            <a:r>
              <a:rPr b="0" i="1" lang="en-US" sz="1000" u="none" cap="none" strike="noStrike">
                <a:solidFill>
                  <a:srgbClr val="607D8B"/>
                </a:solidFill>
                <a:latin typeface="Calibri"/>
                <a:ea typeface="Calibri"/>
                <a:cs typeface="Calibri"/>
                <a:sym typeface="Calibri"/>
              </a:rPr>
              <a:t>Fresh · 91% confidence</a:t>
            </a:r>
            <a:endParaRPr b="0" i="0" sz="1000" u="none" cap="none" strike="noStrike">
              <a:solidFill>
                <a:schemeClr val="dk1"/>
              </a:solidFill>
              <a:latin typeface="Calibri"/>
              <a:ea typeface="Calibri"/>
              <a:cs typeface="Calibri"/>
              <a:sym typeface="Calibri"/>
            </a:endParaRPr>
          </a:p>
        </p:txBody>
      </p:sp>
      <p:sp>
        <p:nvSpPr>
          <p:cNvPr id="1124" name="Google Shape;1124;p27"/>
          <p:cNvSpPr/>
          <p:nvPr/>
        </p:nvSpPr>
        <p:spPr>
          <a:xfrm>
            <a:off x="1234440" y="3858768"/>
            <a:ext cx="1463040" cy="182880"/>
          </a:xfrm>
          <a:prstGeom prst="roundRect">
            <a:avLst>
              <a:gd fmla="val 20000" name="adj"/>
            </a:avLst>
          </a:prstGeom>
          <a:solidFill>
            <a:srgbClr val="80B09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7"/>
          <p:cNvSpPr/>
          <p:nvPr/>
        </p:nvSpPr>
        <p:spPr>
          <a:xfrm>
            <a:off x="1234440" y="3858768"/>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Room Temp  16.8d</a:t>
            </a:r>
            <a:endParaRPr b="0" i="0" sz="900" u="none" cap="none" strike="noStrike">
              <a:solidFill>
                <a:schemeClr val="dk1"/>
              </a:solidFill>
              <a:latin typeface="Calibri"/>
              <a:ea typeface="Calibri"/>
              <a:cs typeface="Calibri"/>
              <a:sym typeface="Calibri"/>
            </a:endParaRPr>
          </a:p>
        </p:txBody>
      </p:sp>
      <p:sp>
        <p:nvSpPr>
          <p:cNvPr id="1126" name="Google Shape;1126;p27"/>
          <p:cNvSpPr/>
          <p:nvPr/>
        </p:nvSpPr>
        <p:spPr>
          <a:xfrm>
            <a:off x="1234440" y="4114800"/>
            <a:ext cx="1920240" cy="182880"/>
          </a:xfrm>
          <a:prstGeom prst="roundRect">
            <a:avLst>
              <a:gd fmla="val 20000" name="adj"/>
            </a:avLst>
          </a:prstGeom>
          <a:solidFill>
            <a:srgbClr val="3A8C7E">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7"/>
          <p:cNvSpPr/>
          <p:nvPr/>
        </p:nvSpPr>
        <p:spPr>
          <a:xfrm>
            <a:off x="1234440" y="4114800"/>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Fridge ✓ Recommended  22.0d</a:t>
            </a:r>
            <a:endParaRPr b="0" i="0" sz="900" u="none" cap="none" strike="noStrike">
              <a:solidFill>
                <a:schemeClr val="dk1"/>
              </a:solidFill>
              <a:latin typeface="Calibri"/>
              <a:ea typeface="Calibri"/>
              <a:cs typeface="Calibri"/>
              <a:sym typeface="Calibri"/>
            </a:endParaRPr>
          </a:p>
        </p:txBody>
      </p:sp>
      <p:sp>
        <p:nvSpPr>
          <p:cNvPr id="1128" name="Google Shape;1128;p27"/>
          <p:cNvSpPr/>
          <p:nvPr/>
        </p:nvSpPr>
        <p:spPr>
          <a:xfrm>
            <a:off x="1234440" y="4370832"/>
            <a:ext cx="2468880" cy="182880"/>
          </a:xfrm>
          <a:prstGeom prst="roundRect">
            <a:avLst>
              <a:gd fmla="val 20000" name="adj"/>
            </a:avLst>
          </a:prstGeom>
          <a:solidFill>
            <a:srgbClr val="3B5FA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7"/>
          <p:cNvSpPr/>
          <p:nvPr/>
        </p:nvSpPr>
        <p:spPr>
          <a:xfrm>
            <a:off x="1234440" y="4370832"/>
            <a:ext cx="2651760" cy="182880"/>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Freezer  28.5d</a:t>
            </a:r>
            <a:endParaRPr b="0" i="0" sz="900" u="none" cap="none" strike="noStrike">
              <a:solidFill>
                <a:schemeClr val="dk1"/>
              </a:solidFill>
              <a:latin typeface="Calibri"/>
              <a:ea typeface="Calibri"/>
              <a:cs typeface="Calibri"/>
              <a:sym typeface="Calibri"/>
            </a:endParaRPr>
          </a:p>
        </p:txBody>
      </p:sp>
      <p:sp>
        <p:nvSpPr>
          <p:cNvPr id="1130" name="Google Shape;1130;p27"/>
          <p:cNvSpPr/>
          <p:nvPr/>
        </p:nvSpPr>
        <p:spPr>
          <a:xfrm>
            <a:off x="4956048" y="1005840"/>
            <a:ext cx="3803904" cy="1572768"/>
          </a:xfrm>
          <a:prstGeom prst="roundRect">
            <a:avLst>
              <a:gd fmla="val 6977" name="adj"/>
            </a:avLst>
          </a:prstGeom>
          <a:solidFill>
            <a:srgbClr val="E8F5E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7"/>
          <p:cNvSpPr/>
          <p:nvPr/>
        </p:nvSpPr>
        <p:spPr>
          <a:xfrm>
            <a:off x="5102352" y="1078992"/>
            <a:ext cx="35478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Patient Profile</a:t>
            </a:r>
            <a:endParaRPr b="0" i="0" sz="1200" u="none" cap="none" strike="noStrike">
              <a:solidFill>
                <a:schemeClr val="dk1"/>
              </a:solidFill>
              <a:latin typeface="Calibri"/>
              <a:ea typeface="Calibri"/>
              <a:cs typeface="Calibri"/>
              <a:sym typeface="Calibri"/>
            </a:endParaRPr>
          </a:p>
        </p:txBody>
      </p:sp>
      <p:sp>
        <p:nvSpPr>
          <p:cNvPr id="1132" name="Google Shape;1132;p27"/>
          <p:cNvSpPr/>
          <p:nvPr/>
        </p:nvSpPr>
        <p:spPr>
          <a:xfrm>
            <a:off x="5102352" y="1335024"/>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Fruit:</a:t>
            </a:r>
            <a:endParaRPr b="0" i="0" sz="1050" u="none" cap="none" strike="noStrike">
              <a:solidFill>
                <a:schemeClr val="dk1"/>
              </a:solidFill>
              <a:latin typeface="Calibri"/>
              <a:ea typeface="Calibri"/>
              <a:cs typeface="Calibri"/>
              <a:sym typeface="Calibri"/>
            </a:endParaRPr>
          </a:p>
        </p:txBody>
      </p:sp>
      <p:sp>
        <p:nvSpPr>
          <p:cNvPr id="1133" name="Google Shape;1133;p27"/>
          <p:cNvSpPr/>
          <p:nvPr/>
        </p:nvSpPr>
        <p:spPr>
          <a:xfrm>
            <a:off x="6492240" y="1335024"/>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50"/>
              <a:buFont typeface="Calibri"/>
              <a:buNone/>
            </a:pPr>
            <a:r>
              <a:rPr b="1" i="0" lang="en-US" sz="1050" u="none" cap="none" strike="noStrike">
                <a:solidFill>
                  <a:srgbClr val="2E7D32"/>
                </a:solidFill>
                <a:latin typeface="Calibri"/>
                <a:ea typeface="Calibri"/>
                <a:cs typeface="Calibri"/>
                <a:sym typeface="Calibri"/>
              </a:rPr>
              <a:t>Apple</a:t>
            </a:r>
            <a:endParaRPr b="0" i="0" sz="1050" u="none" cap="none" strike="noStrike">
              <a:solidFill>
                <a:schemeClr val="dk1"/>
              </a:solidFill>
              <a:latin typeface="Calibri"/>
              <a:ea typeface="Calibri"/>
              <a:cs typeface="Calibri"/>
              <a:sym typeface="Calibri"/>
            </a:endParaRPr>
          </a:p>
        </p:txBody>
      </p:sp>
      <p:sp>
        <p:nvSpPr>
          <p:cNvPr id="1134" name="Google Shape;1134;p27"/>
          <p:cNvSpPr/>
          <p:nvPr/>
        </p:nvSpPr>
        <p:spPr>
          <a:xfrm>
            <a:off x="5102352" y="1591056"/>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Classifier output:</a:t>
            </a:r>
            <a:endParaRPr b="0" i="0" sz="1050" u="none" cap="none" strike="noStrike">
              <a:solidFill>
                <a:schemeClr val="dk1"/>
              </a:solidFill>
              <a:latin typeface="Calibri"/>
              <a:ea typeface="Calibri"/>
              <a:cs typeface="Calibri"/>
              <a:sym typeface="Calibri"/>
            </a:endParaRPr>
          </a:p>
        </p:txBody>
      </p:sp>
      <p:sp>
        <p:nvSpPr>
          <p:cNvPr id="1135" name="Google Shape;1135;p27"/>
          <p:cNvSpPr/>
          <p:nvPr/>
        </p:nvSpPr>
        <p:spPr>
          <a:xfrm>
            <a:off x="6492240" y="1591056"/>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50"/>
              <a:buFont typeface="Calibri"/>
              <a:buNone/>
            </a:pPr>
            <a:r>
              <a:rPr b="1" i="0" lang="en-US" sz="1050" u="none" cap="none" strike="noStrike">
                <a:solidFill>
                  <a:srgbClr val="2E7D32"/>
                </a:solidFill>
                <a:latin typeface="Calibri"/>
                <a:ea typeface="Calibri"/>
                <a:cs typeface="Calibri"/>
                <a:sym typeface="Calibri"/>
              </a:rPr>
              <a:t>Apple(1-5)</a:t>
            </a:r>
            <a:endParaRPr b="0" i="0" sz="1050" u="none" cap="none" strike="noStrike">
              <a:solidFill>
                <a:schemeClr val="dk1"/>
              </a:solidFill>
              <a:latin typeface="Calibri"/>
              <a:ea typeface="Calibri"/>
              <a:cs typeface="Calibri"/>
              <a:sym typeface="Calibri"/>
            </a:endParaRPr>
          </a:p>
        </p:txBody>
      </p:sp>
      <p:sp>
        <p:nvSpPr>
          <p:cNvPr id="1136" name="Google Shape;1136;p27"/>
          <p:cNvSpPr/>
          <p:nvPr/>
        </p:nvSpPr>
        <p:spPr>
          <a:xfrm>
            <a:off x="5102352" y="1847088"/>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Freshness score F:</a:t>
            </a:r>
            <a:endParaRPr b="0" i="0" sz="1050" u="none" cap="none" strike="noStrike">
              <a:solidFill>
                <a:schemeClr val="dk1"/>
              </a:solidFill>
              <a:latin typeface="Calibri"/>
              <a:ea typeface="Calibri"/>
              <a:cs typeface="Calibri"/>
              <a:sym typeface="Calibri"/>
            </a:endParaRPr>
          </a:p>
        </p:txBody>
      </p:sp>
      <p:sp>
        <p:nvSpPr>
          <p:cNvPr id="1137" name="Google Shape;1137;p27"/>
          <p:cNvSpPr/>
          <p:nvPr/>
        </p:nvSpPr>
        <p:spPr>
          <a:xfrm>
            <a:off x="6492240" y="1847088"/>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50"/>
              <a:buFont typeface="Calibri"/>
              <a:buNone/>
            </a:pPr>
            <a:r>
              <a:rPr b="1" i="0" lang="en-US" sz="1050" u="none" cap="none" strike="noStrike">
                <a:solidFill>
                  <a:srgbClr val="2E7D32"/>
                </a:solidFill>
                <a:latin typeface="Calibri"/>
                <a:ea typeface="Calibri"/>
                <a:cs typeface="Calibri"/>
                <a:sym typeface="Calibri"/>
              </a:rPr>
              <a:t>0.90</a:t>
            </a:r>
            <a:endParaRPr b="0" i="0" sz="1050" u="none" cap="none" strike="noStrike">
              <a:solidFill>
                <a:schemeClr val="dk1"/>
              </a:solidFill>
              <a:latin typeface="Calibri"/>
              <a:ea typeface="Calibri"/>
              <a:cs typeface="Calibri"/>
              <a:sym typeface="Calibri"/>
            </a:endParaRPr>
          </a:p>
        </p:txBody>
      </p:sp>
      <p:sp>
        <p:nvSpPr>
          <p:cNvPr id="1138" name="Google Shape;1138;p27"/>
          <p:cNvSpPr/>
          <p:nvPr/>
        </p:nvSpPr>
        <p:spPr>
          <a:xfrm>
            <a:off x="5102352" y="2103120"/>
            <a:ext cx="13716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1" i="0" lang="en-US" sz="1050" u="none" cap="none" strike="noStrike">
                <a:solidFill>
                  <a:srgbClr val="4A5568"/>
                </a:solidFill>
                <a:latin typeface="Calibri"/>
                <a:ea typeface="Calibri"/>
                <a:cs typeface="Calibri"/>
                <a:sym typeface="Calibri"/>
              </a:rPr>
              <a:t>Confidence:</a:t>
            </a:r>
            <a:endParaRPr b="0" i="0" sz="1050" u="none" cap="none" strike="noStrike">
              <a:solidFill>
                <a:schemeClr val="dk1"/>
              </a:solidFill>
              <a:latin typeface="Calibri"/>
              <a:ea typeface="Calibri"/>
              <a:cs typeface="Calibri"/>
              <a:sym typeface="Calibri"/>
            </a:endParaRPr>
          </a:p>
        </p:txBody>
      </p:sp>
      <p:sp>
        <p:nvSpPr>
          <p:cNvPr id="1139" name="Google Shape;1139;p27"/>
          <p:cNvSpPr/>
          <p:nvPr/>
        </p:nvSpPr>
        <p:spPr>
          <a:xfrm>
            <a:off x="6492240" y="2103120"/>
            <a:ext cx="2103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32"/>
              </a:buClr>
              <a:buSzPts val="1050"/>
              <a:buFont typeface="Calibri"/>
              <a:buNone/>
            </a:pPr>
            <a:r>
              <a:rPr b="1" i="0" lang="en-US" sz="1050" u="none" cap="none" strike="noStrike">
                <a:solidFill>
                  <a:srgbClr val="2E7D32"/>
                </a:solidFill>
                <a:latin typeface="Calibri"/>
                <a:ea typeface="Calibri"/>
                <a:cs typeface="Calibri"/>
                <a:sym typeface="Calibri"/>
              </a:rPr>
              <a:t>91%</a:t>
            </a:r>
            <a:endParaRPr b="0" i="0" sz="1050" u="none" cap="none" strike="noStrike">
              <a:solidFill>
                <a:schemeClr val="dk1"/>
              </a:solidFill>
              <a:latin typeface="Calibri"/>
              <a:ea typeface="Calibri"/>
              <a:cs typeface="Calibri"/>
              <a:sym typeface="Calibri"/>
            </a:endParaRPr>
          </a:p>
        </p:txBody>
      </p:sp>
      <p:sp>
        <p:nvSpPr>
          <p:cNvPr id="1140" name="Google Shape;1140;p27"/>
          <p:cNvSpPr/>
          <p:nvPr/>
        </p:nvSpPr>
        <p:spPr>
          <a:xfrm>
            <a:off x="4956048" y="2670048"/>
            <a:ext cx="3803904" cy="2084832"/>
          </a:xfrm>
          <a:prstGeom prst="roundRect">
            <a:avLst>
              <a:gd fmla="val 5263"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7"/>
          <p:cNvSpPr/>
          <p:nvPr/>
        </p:nvSpPr>
        <p:spPr>
          <a:xfrm>
            <a:off x="5102352" y="2743200"/>
            <a:ext cx="35478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Calculation Trace</a:t>
            </a:r>
            <a:endParaRPr b="0" i="0" sz="1200" u="none" cap="none" strike="noStrike">
              <a:solidFill>
                <a:schemeClr val="dk1"/>
              </a:solidFill>
              <a:latin typeface="Calibri"/>
              <a:ea typeface="Calibri"/>
              <a:cs typeface="Calibri"/>
              <a:sym typeface="Calibri"/>
            </a:endParaRPr>
          </a:p>
        </p:txBody>
      </p:sp>
      <p:sp>
        <p:nvSpPr>
          <p:cNvPr id="1142" name="Google Shape;1142;p27"/>
          <p:cNvSpPr/>
          <p:nvPr/>
        </p:nvSpPr>
        <p:spPr>
          <a:xfrm>
            <a:off x="5102352" y="2980944"/>
            <a:ext cx="354787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F^1.5 = 0.90^1.5 = 0.854</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T(fridge, apple 4°C, optimal 1-4°C) = 1.00</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R(Unripe, F≥0.85) = 1.00</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D(fridge) = 30 × 0.854 × 1.00 × 1.00 = 25.6 days</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N = 25.6 / 30 = 0.853</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C = (0.90 × 0.6) + (0.853 × 0.4) = 0.881</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A5568"/>
              </a:buClr>
              <a:buSzPts val="1050"/>
              <a:buFont typeface="Courier New"/>
              <a:buNone/>
            </a:pPr>
            <a:r>
              <a:rPr b="0" i="0" lang="en-US" sz="1050" u="none" cap="none" strike="noStrike">
                <a:solidFill>
                  <a:srgbClr val="4A5568"/>
                </a:solidFill>
                <a:latin typeface="Courier New"/>
                <a:ea typeface="Courier New"/>
                <a:cs typeface="Courier New"/>
                <a:sym typeface="Courier New"/>
              </a:rPr>
              <a:t>→ FRESH (C ≥ 0.70)</a:t>
            </a:r>
            <a:endParaRPr b="0" i="0" sz="1050" u="none" cap="none" strike="noStrike">
              <a:solidFill>
                <a:schemeClr val="dk1"/>
              </a:solidFill>
              <a:latin typeface="Calibri"/>
              <a:ea typeface="Calibri"/>
              <a:cs typeface="Calibri"/>
              <a:sym typeface="Calibri"/>
            </a:endParaRPr>
          </a:p>
        </p:txBody>
      </p:sp>
      <p:sp>
        <p:nvSpPr>
          <p:cNvPr id="1143" name="Google Shape;1143;p27"/>
          <p:cNvSpPr/>
          <p:nvPr/>
        </p:nvSpPr>
        <p:spPr>
          <a:xfrm>
            <a:off x="4956048" y="4828032"/>
            <a:ext cx="3803904" cy="256032"/>
          </a:xfrm>
          <a:prstGeom prst="rect">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7"/>
          <p:cNvSpPr/>
          <p:nvPr/>
        </p:nvSpPr>
        <p:spPr>
          <a:xfrm>
            <a:off x="5102352" y="4846320"/>
            <a:ext cx="35661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000"/>
              <a:buFont typeface="Calibri"/>
              <a:buNone/>
            </a:pPr>
            <a:r>
              <a:rPr b="1" i="0" lang="en-US" sz="1000" u="none" cap="none" strike="noStrike">
                <a:solidFill>
                  <a:srgbClr val="3A8C7E"/>
                </a:solidFill>
                <a:latin typeface="Calibri"/>
                <a:ea typeface="Calibri"/>
                <a:cs typeface="Calibri"/>
                <a:sym typeface="Calibri"/>
              </a:rPr>
              <a:t>Ethylene note: Apple is both a PRODUCER and SENSITIVE — keep away from other sensitive fruit. Models agree: no borderline warning.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149" name="Shape 1149"/>
        <p:cNvGrpSpPr/>
        <p:nvPr/>
      </p:nvGrpSpPr>
      <p:grpSpPr>
        <a:xfrm>
          <a:off x="0" y="0"/>
          <a:ext cx="0" cy="0"/>
          <a:chOff x="0" y="0"/>
          <a:chExt cx="0" cy="0"/>
        </a:xfrm>
      </p:grpSpPr>
      <p:cxnSp>
        <p:nvCxnSpPr>
          <p:cNvPr id="1150" name="Google Shape;1150;p28"/>
          <p:cNvCxnSpPr/>
          <p:nvPr/>
        </p:nvCxnSpPr>
        <p:spPr>
          <a:xfrm rot="-2700000">
            <a:off x="18288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1" name="Google Shape;1151;p28"/>
          <p:cNvCxnSpPr/>
          <p:nvPr/>
        </p:nvCxnSpPr>
        <p:spPr>
          <a:xfrm rot="-2700000">
            <a:off x="34747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2" name="Google Shape;1152;p28"/>
          <p:cNvCxnSpPr/>
          <p:nvPr/>
        </p:nvCxnSpPr>
        <p:spPr>
          <a:xfrm rot="-2700000">
            <a:off x="512064"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3" name="Google Shape;1153;p28"/>
          <p:cNvCxnSpPr/>
          <p:nvPr/>
        </p:nvCxnSpPr>
        <p:spPr>
          <a:xfrm rot="-2700000">
            <a:off x="676656"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4" name="Google Shape;1154;p28"/>
          <p:cNvCxnSpPr/>
          <p:nvPr/>
        </p:nvCxnSpPr>
        <p:spPr>
          <a:xfrm rot="-2700000">
            <a:off x="841248"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5" name="Google Shape;1155;p28"/>
          <p:cNvCxnSpPr/>
          <p:nvPr/>
        </p:nvCxnSpPr>
        <p:spPr>
          <a:xfrm rot="-2700000">
            <a:off x="1005840"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156" name="Google Shape;1156;p28"/>
          <p:cNvCxnSpPr/>
          <p:nvPr/>
        </p:nvCxnSpPr>
        <p:spPr>
          <a:xfrm rot="-2700000">
            <a:off x="1170432" y="1828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1157" name="Google Shape;1157;p28"/>
          <p:cNvSpPr/>
          <p:nvPr/>
        </p:nvSpPr>
        <p:spPr>
          <a:xfrm>
            <a:off x="8092440"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8"/>
          <p:cNvSpPr/>
          <p:nvPr/>
        </p:nvSpPr>
        <p:spPr>
          <a:xfrm>
            <a:off x="8293608"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8"/>
          <p:cNvSpPr/>
          <p:nvPr/>
        </p:nvSpPr>
        <p:spPr>
          <a:xfrm>
            <a:off x="8494776"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8"/>
          <p:cNvSpPr/>
          <p:nvPr/>
        </p:nvSpPr>
        <p:spPr>
          <a:xfrm>
            <a:off x="8695944"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8"/>
          <p:cNvSpPr/>
          <p:nvPr/>
        </p:nvSpPr>
        <p:spPr>
          <a:xfrm>
            <a:off x="8897112" y="384048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8"/>
          <p:cNvSpPr/>
          <p:nvPr/>
        </p:nvSpPr>
        <p:spPr>
          <a:xfrm>
            <a:off x="8092440"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8"/>
          <p:cNvSpPr/>
          <p:nvPr/>
        </p:nvSpPr>
        <p:spPr>
          <a:xfrm>
            <a:off x="8293608"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8"/>
          <p:cNvSpPr/>
          <p:nvPr/>
        </p:nvSpPr>
        <p:spPr>
          <a:xfrm>
            <a:off x="8494776"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8"/>
          <p:cNvSpPr/>
          <p:nvPr/>
        </p:nvSpPr>
        <p:spPr>
          <a:xfrm>
            <a:off x="8695944"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8"/>
          <p:cNvSpPr/>
          <p:nvPr/>
        </p:nvSpPr>
        <p:spPr>
          <a:xfrm>
            <a:off x="8897112" y="404164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8"/>
          <p:cNvSpPr/>
          <p:nvPr/>
        </p:nvSpPr>
        <p:spPr>
          <a:xfrm>
            <a:off x="8092440"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8"/>
          <p:cNvSpPr/>
          <p:nvPr/>
        </p:nvSpPr>
        <p:spPr>
          <a:xfrm>
            <a:off x="8293608"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8"/>
          <p:cNvSpPr/>
          <p:nvPr/>
        </p:nvSpPr>
        <p:spPr>
          <a:xfrm>
            <a:off x="8494776"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8"/>
          <p:cNvSpPr/>
          <p:nvPr/>
        </p:nvSpPr>
        <p:spPr>
          <a:xfrm>
            <a:off x="8695944"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8"/>
          <p:cNvSpPr/>
          <p:nvPr/>
        </p:nvSpPr>
        <p:spPr>
          <a:xfrm>
            <a:off x="8897112" y="424281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8"/>
          <p:cNvSpPr/>
          <p:nvPr/>
        </p:nvSpPr>
        <p:spPr>
          <a:xfrm>
            <a:off x="8092440"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8"/>
          <p:cNvSpPr/>
          <p:nvPr/>
        </p:nvSpPr>
        <p:spPr>
          <a:xfrm>
            <a:off x="8293608"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8"/>
          <p:cNvSpPr/>
          <p:nvPr/>
        </p:nvSpPr>
        <p:spPr>
          <a:xfrm>
            <a:off x="8494776"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8"/>
          <p:cNvSpPr/>
          <p:nvPr/>
        </p:nvSpPr>
        <p:spPr>
          <a:xfrm>
            <a:off x="8695944"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8"/>
          <p:cNvSpPr/>
          <p:nvPr/>
        </p:nvSpPr>
        <p:spPr>
          <a:xfrm>
            <a:off x="8897112" y="444398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8"/>
          <p:cNvSpPr/>
          <p:nvPr/>
        </p:nvSpPr>
        <p:spPr>
          <a:xfrm>
            <a:off x="8092440"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8"/>
          <p:cNvSpPr/>
          <p:nvPr/>
        </p:nvSpPr>
        <p:spPr>
          <a:xfrm>
            <a:off x="8293608"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8"/>
          <p:cNvSpPr/>
          <p:nvPr/>
        </p:nvSpPr>
        <p:spPr>
          <a:xfrm>
            <a:off x="8494776"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8"/>
          <p:cNvSpPr/>
          <p:nvPr/>
        </p:nvSpPr>
        <p:spPr>
          <a:xfrm>
            <a:off x="8695944"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8"/>
          <p:cNvSpPr/>
          <p:nvPr/>
        </p:nvSpPr>
        <p:spPr>
          <a:xfrm>
            <a:off x="8897112" y="464515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8"/>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Evaluation Results</a:t>
            </a:r>
            <a:endParaRPr b="0" i="0" sz="2800" u="none" cap="none" strike="noStrike">
              <a:solidFill>
                <a:schemeClr val="dk1"/>
              </a:solidFill>
              <a:latin typeface="Calibri"/>
              <a:ea typeface="Calibri"/>
              <a:cs typeface="Calibri"/>
              <a:sym typeface="Calibri"/>
            </a:endParaRPr>
          </a:p>
        </p:txBody>
      </p:sp>
      <p:sp>
        <p:nvSpPr>
          <p:cNvPr id="1183" name="Google Shape;1183;p28"/>
          <p:cNvSpPr/>
          <p:nvPr/>
        </p:nvSpPr>
        <p:spPr>
          <a:xfrm>
            <a:off x="411480" y="841248"/>
            <a:ext cx="83210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8C7E"/>
              </a:buClr>
              <a:buSzPts val="1400"/>
              <a:buFont typeface="Calibri"/>
              <a:buNone/>
            </a:pPr>
            <a:r>
              <a:rPr b="1" i="0" lang="en-US" sz="1400" u="none" cap="none" strike="noStrike">
                <a:solidFill>
                  <a:srgbClr val="3A8C7E"/>
                </a:solidFill>
                <a:latin typeface="Calibri"/>
                <a:ea typeface="Calibri"/>
                <a:cs typeface="Calibri"/>
                <a:sym typeface="Calibri"/>
              </a:rPr>
              <a:t>All metrics on held-out test set  ·  280 images  ·  20 per class</a:t>
            </a:r>
            <a:endParaRPr b="0" i="0" sz="1400" u="none" cap="none" strike="noStrike">
              <a:solidFill>
                <a:schemeClr val="dk1"/>
              </a:solidFill>
              <a:latin typeface="Calibri"/>
              <a:ea typeface="Calibri"/>
              <a:cs typeface="Calibri"/>
              <a:sym typeface="Calibri"/>
            </a:endParaRPr>
          </a:p>
        </p:txBody>
      </p:sp>
      <p:cxnSp>
        <p:nvCxnSpPr>
          <p:cNvPr id="1184" name="Google Shape;1184;p28"/>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185" name="Google Shape;1185;p28"/>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graphicFrame>
        <p:nvGraphicFramePr>
          <p:cNvPr id="1186" name="Google Shape;1186;p28"/>
          <p:cNvGraphicFramePr/>
          <p:nvPr/>
        </p:nvGraphicFramePr>
        <p:xfrm>
          <a:off x="384048" y="1005840"/>
          <a:ext cx="3000000" cy="3000000"/>
        </p:xfrm>
        <a:graphic>
          <a:graphicData uri="http://schemas.openxmlformats.org/drawingml/2006/table">
            <a:tbl>
              <a:tblPr>
                <a:noFill/>
                <a:tableStyleId>{7A406C37-5A5E-4BF0-9AAD-7423E5C8C803}</a:tableStyleId>
              </a:tblPr>
              <a:tblGrid>
                <a:gridCol w="2377450"/>
                <a:gridCol w="1280150"/>
                <a:gridCol w="4718300"/>
              </a:tblGrid>
              <a:tr h="2933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Class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Top-1 Accuracy</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Notes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1A2B4A"/>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94%</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Strong — clear visual cues at early stage</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Apple(5-10)</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89%</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Minor confusion with Apple(10-15)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Apple(10-15)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87%</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Browning onset mimics late stage slightly</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92%</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Green-yellow transition distinctive</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Banana(5-10)</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91%</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Peak yellow stage — easy identification</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Banana(10-15)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88%</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Brown speckles beginning</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Banana(15-20)</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86%</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Heavy browning approaches Expired class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Carrot / Tomato classes (avg)</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85%</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Training diversity — out-of-distribution for fruit photos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293375">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Expired (catch-all)</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3A8C7E"/>
                        </a:buClr>
                        <a:buSzPts val="1100"/>
                        <a:buFont typeface="Calibri"/>
                        <a:buNone/>
                      </a:pPr>
                      <a:r>
                        <a:rPr lang="en-US" sz="1100" u="none" cap="none" strike="noStrike">
                          <a:solidFill>
                            <a:srgbClr val="3A8C7E"/>
                          </a:solidFill>
                        </a:rPr>
                        <a:t>91%</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100"/>
                        <a:buFont typeface="Calibri"/>
                        <a:buNone/>
                      </a:pPr>
                      <a:r>
                        <a:rPr lang="en-US" sz="1100" u="none" cap="none" strike="noStrike">
                          <a:solidFill>
                            <a:srgbClr val="4A5568"/>
                          </a:solidFill>
                        </a:rPr>
                        <a:t>Probability masking removes false positives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4F7F9"/>
                    </a:solidFill>
                  </a:tcPr>
                </a:tc>
              </a:tr>
              <a:tr h="293375">
                <a:tc>
                  <a:txBody>
                    <a:bodyPr/>
                    <a:lstStyle/>
                    <a:p>
                      <a:pPr indent="0" lvl="0" marL="0" marR="0" rtl="0" algn="l">
                        <a:spcBef>
                          <a:spcPts val="0"/>
                        </a:spcBef>
                        <a:spcAft>
                          <a:spcPts val="0"/>
                        </a:spcAft>
                        <a:buClr>
                          <a:srgbClr val="1A2B4A"/>
                        </a:buClr>
                        <a:buSzPts val="1200"/>
                        <a:buFont typeface="Calibri"/>
                        <a:buNone/>
                      </a:pPr>
                      <a:r>
                        <a:rPr b="1" lang="en-US" sz="1200" u="none" cap="none" strike="noStrike">
                          <a:solidFill>
                            <a:srgbClr val="1A2B4A"/>
                          </a:solidFill>
                        </a:rPr>
                        <a:t>Overall Top-1</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A8C7E"/>
                        </a:buClr>
                        <a:buSzPts val="1300"/>
                        <a:buFont typeface="Calibri"/>
                        <a:buNone/>
                      </a:pPr>
                      <a:r>
                        <a:rPr b="1" lang="en-US" sz="1300" u="none" cap="none" strike="noStrike">
                          <a:solidFill>
                            <a:srgbClr val="3A8C7E"/>
                          </a:solidFill>
                        </a:rPr>
                        <a:t>89.3%</a:t>
                      </a:r>
                      <a:endParaRPr sz="13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4A5568"/>
                        </a:buClr>
                        <a:buSzPts val="1100"/>
                        <a:buFont typeface="Calibri"/>
                        <a:buNone/>
                      </a:pPr>
                      <a:r>
                        <a:rPr b="1" lang="en-US" sz="1100" u="none" cap="none" strike="noStrike">
                          <a:solidFill>
                            <a:srgbClr val="4A5568"/>
                          </a:solidFill>
                        </a:rPr>
                        <a:t>Held-out test set (280 images)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E8F5F1"/>
                    </a:solidFill>
                  </a:tcPr>
                </a:tc>
              </a:tr>
              <a:tr h="293375">
                <a:tc>
                  <a:txBody>
                    <a:bodyPr/>
                    <a:lstStyle/>
                    <a:p>
                      <a:pPr indent="0" lvl="0" marL="0" marR="0" rtl="0" algn="l">
                        <a:spcBef>
                          <a:spcPts val="0"/>
                        </a:spcBef>
                        <a:spcAft>
                          <a:spcPts val="0"/>
                        </a:spcAft>
                        <a:buClr>
                          <a:srgbClr val="1A2B4A"/>
                        </a:buClr>
                        <a:buSzPts val="1200"/>
                        <a:buFont typeface="Calibri"/>
                        <a:buNone/>
                      </a:pPr>
                      <a:r>
                        <a:rPr b="1" lang="en-US" sz="1200" u="none" cap="none" strike="noStrike">
                          <a:solidFill>
                            <a:srgbClr val="1A2B4A"/>
                          </a:solidFill>
                        </a:rPr>
                        <a:t>Overall Top-3</a:t>
                      </a:r>
                      <a:endParaRPr sz="12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7D32"/>
                        </a:buClr>
                        <a:buSzPts val="1300"/>
                        <a:buFont typeface="Calibri"/>
                        <a:buNone/>
                      </a:pPr>
                      <a:r>
                        <a:rPr b="1" lang="en-US" sz="1300" u="none" cap="none" strike="noStrike">
                          <a:solidFill>
                            <a:srgbClr val="2E7D32"/>
                          </a:solidFill>
                        </a:rPr>
                        <a:t>97.5%</a:t>
                      </a:r>
                      <a:endParaRPr sz="13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4A5568"/>
                        </a:buClr>
                        <a:buSzPts val="1100"/>
                        <a:buFont typeface="Calibri"/>
                        <a:buNone/>
                      </a:pPr>
                      <a:r>
                        <a:rPr b="1" lang="en-US" sz="1100" u="none" cap="none" strike="noStrike">
                          <a:solidFill>
                            <a:srgbClr val="4A5568"/>
                          </a:solidFill>
                        </a:rPr>
                        <a:t>Correct class in top-3 predictions</a:t>
                      </a:r>
                      <a:endParaRPr sz="1100" u="none" cap="none" strike="noStrike"/>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E8F5F1"/>
                    </a:solidFill>
                  </a:tcPr>
                </a:tc>
              </a:tr>
            </a:tbl>
          </a:graphicData>
        </a:graphic>
      </p:graphicFrame>
      <p:sp>
        <p:nvSpPr>
          <p:cNvPr id="1187" name="Google Shape;1187;p28"/>
          <p:cNvSpPr/>
          <p:nvPr/>
        </p:nvSpPr>
        <p:spPr>
          <a:xfrm>
            <a:off x="384048" y="4590288"/>
            <a:ext cx="8375904" cy="475488"/>
          </a:xfrm>
          <a:prstGeom prst="roundRect">
            <a:avLst>
              <a:gd fmla="val 23077" name="adj"/>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8"/>
          <p:cNvSpPr/>
          <p:nvPr/>
        </p:nvSpPr>
        <p:spPr>
          <a:xfrm>
            <a:off x="548640" y="4617720"/>
            <a:ext cx="81381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050"/>
              <a:buFont typeface="Calibri"/>
              <a:buNone/>
            </a:pPr>
            <a:r>
              <a:rPr b="0" i="0" lang="en-US" sz="1050" u="none" cap="none" strike="noStrike">
                <a:solidFill>
                  <a:srgbClr val="1A2B4A"/>
                </a:solidFill>
                <a:latin typeface="Calibri"/>
                <a:ea typeface="Calibri"/>
                <a:cs typeface="Calibri"/>
                <a:sym typeface="Calibri"/>
              </a:rPr>
              <a:t>End-to-end test (20 real smartphone images · 3 lighting conditions · 3 backgrounds):  18/20 correct  ·  2 misses: Apple under dim morning light — freshness score off by one band  ·  Inference: 380 ms avg (4.2 s cold start — warmup call eliminates for production)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4A"/>
        </a:solidFill>
      </p:bgPr>
    </p:bg>
    <p:spTree>
      <p:nvGrpSpPr>
        <p:cNvPr id="1193" name="Shape 1193"/>
        <p:cNvGrpSpPr/>
        <p:nvPr/>
      </p:nvGrpSpPr>
      <p:grpSpPr>
        <a:xfrm>
          <a:off x="0" y="0"/>
          <a:ext cx="0" cy="0"/>
          <a:chOff x="0" y="0"/>
          <a:chExt cx="0" cy="0"/>
        </a:xfrm>
      </p:grpSpPr>
      <p:sp>
        <p:nvSpPr>
          <p:cNvPr id="1194" name="Google Shape;1194;p29"/>
          <p:cNvSpPr/>
          <p:nvPr/>
        </p:nvSpPr>
        <p:spPr>
          <a:xfrm>
            <a:off x="-457200" y="-91440"/>
            <a:ext cx="2377440" cy="237744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9"/>
          <p:cNvSpPr/>
          <p:nvPr/>
        </p:nvSpPr>
        <p:spPr>
          <a:xfrm>
            <a:off x="-64922" y="300838"/>
            <a:ext cx="1592885" cy="1592885"/>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9"/>
          <p:cNvSpPr/>
          <p:nvPr/>
        </p:nvSpPr>
        <p:spPr>
          <a:xfrm>
            <a:off x="279806" y="645566"/>
            <a:ext cx="903427" cy="903427"/>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9"/>
          <p:cNvSpPr/>
          <p:nvPr/>
        </p:nvSpPr>
        <p:spPr>
          <a:xfrm>
            <a:off x="8092440"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9"/>
          <p:cNvSpPr/>
          <p:nvPr/>
        </p:nvSpPr>
        <p:spPr>
          <a:xfrm>
            <a:off x="8293608"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9"/>
          <p:cNvSpPr/>
          <p:nvPr/>
        </p:nvSpPr>
        <p:spPr>
          <a:xfrm>
            <a:off x="8494776"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9"/>
          <p:cNvSpPr/>
          <p:nvPr/>
        </p:nvSpPr>
        <p:spPr>
          <a:xfrm>
            <a:off x="8695944"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9"/>
          <p:cNvSpPr/>
          <p:nvPr/>
        </p:nvSpPr>
        <p:spPr>
          <a:xfrm>
            <a:off x="8897112"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9"/>
          <p:cNvSpPr/>
          <p:nvPr/>
        </p:nvSpPr>
        <p:spPr>
          <a:xfrm>
            <a:off x="8092440"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9"/>
          <p:cNvSpPr/>
          <p:nvPr/>
        </p:nvSpPr>
        <p:spPr>
          <a:xfrm>
            <a:off x="8293608"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9"/>
          <p:cNvSpPr/>
          <p:nvPr/>
        </p:nvSpPr>
        <p:spPr>
          <a:xfrm>
            <a:off x="8494776"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9"/>
          <p:cNvSpPr/>
          <p:nvPr/>
        </p:nvSpPr>
        <p:spPr>
          <a:xfrm>
            <a:off x="8695944"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9"/>
          <p:cNvSpPr/>
          <p:nvPr/>
        </p:nvSpPr>
        <p:spPr>
          <a:xfrm>
            <a:off x="8897112"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9"/>
          <p:cNvSpPr/>
          <p:nvPr/>
        </p:nvSpPr>
        <p:spPr>
          <a:xfrm>
            <a:off x="8092440"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9"/>
          <p:cNvSpPr/>
          <p:nvPr/>
        </p:nvSpPr>
        <p:spPr>
          <a:xfrm>
            <a:off x="8293608"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9"/>
          <p:cNvSpPr/>
          <p:nvPr/>
        </p:nvSpPr>
        <p:spPr>
          <a:xfrm>
            <a:off x="8494776"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9"/>
          <p:cNvSpPr/>
          <p:nvPr/>
        </p:nvSpPr>
        <p:spPr>
          <a:xfrm>
            <a:off x="8695944"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9"/>
          <p:cNvSpPr/>
          <p:nvPr/>
        </p:nvSpPr>
        <p:spPr>
          <a:xfrm>
            <a:off x="8897112"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9"/>
          <p:cNvSpPr/>
          <p:nvPr/>
        </p:nvSpPr>
        <p:spPr>
          <a:xfrm>
            <a:off x="8092440"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9"/>
          <p:cNvSpPr/>
          <p:nvPr/>
        </p:nvSpPr>
        <p:spPr>
          <a:xfrm>
            <a:off x="8293608"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9"/>
          <p:cNvSpPr/>
          <p:nvPr/>
        </p:nvSpPr>
        <p:spPr>
          <a:xfrm>
            <a:off x="8494776"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9"/>
          <p:cNvSpPr/>
          <p:nvPr/>
        </p:nvSpPr>
        <p:spPr>
          <a:xfrm>
            <a:off x="8695944"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9"/>
          <p:cNvSpPr/>
          <p:nvPr/>
        </p:nvSpPr>
        <p:spPr>
          <a:xfrm>
            <a:off x="8897112"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9"/>
          <p:cNvSpPr/>
          <p:nvPr/>
        </p:nvSpPr>
        <p:spPr>
          <a:xfrm>
            <a:off x="8092440"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9"/>
          <p:cNvSpPr/>
          <p:nvPr/>
        </p:nvSpPr>
        <p:spPr>
          <a:xfrm>
            <a:off x="8293608"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9"/>
          <p:cNvSpPr/>
          <p:nvPr/>
        </p:nvSpPr>
        <p:spPr>
          <a:xfrm>
            <a:off x="8494776"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9"/>
          <p:cNvSpPr/>
          <p:nvPr/>
        </p:nvSpPr>
        <p:spPr>
          <a:xfrm>
            <a:off x="8695944"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9"/>
          <p:cNvSpPr/>
          <p:nvPr/>
        </p:nvSpPr>
        <p:spPr>
          <a:xfrm>
            <a:off x="8897112"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9"/>
          <p:cNvSpPr/>
          <p:nvPr/>
        </p:nvSpPr>
        <p:spPr>
          <a:xfrm>
            <a:off x="457200" y="237744"/>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000"/>
              <a:buFont typeface="Cambria"/>
              <a:buNone/>
            </a:pPr>
            <a:r>
              <a:rPr b="1" i="0" lang="en-US" sz="2000" u="none" cap="none" strike="noStrike">
                <a:solidFill>
                  <a:srgbClr val="3A8C7E"/>
                </a:solidFill>
                <a:latin typeface="Cambria"/>
                <a:ea typeface="Cambria"/>
                <a:cs typeface="Cambria"/>
                <a:sym typeface="Cambria"/>
              </a:rPr>
              <a:t>Headline Performance</a:t>
            </a:r>
            <a:endParaRPr b="0" i="0" sz="2000" u="none" cap="none" strike="noStrike">
              <a:solidFill>
                <a:schemeClr val="dk1"/>
              </a:solidFill>
              <a:latin typeface="Calibri"/>
              <a:ea typeface="Calibri"/>
              <a:cs typeface="Calibri"/>
              <a:sym typeface="Calibri"/>
            </a:endParaRPr>
          </a:p>
        </p:txBody>
      </p:sp>
      <p:sp>
        <p:nvSpPr>
          <p:cNvPr id="1223" name="Google Shape;1223;p29"/>
          <p:cNvSpPr/>
          <p:nvPr/>
        </p:nvSpPr>
        <p:spPr>
          <a:xfrm>
            <a:off x="457200" y="749808"/>
            <a:ext cx="8229600"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200"/>
              <a:buFont typeface="Cambria"/>
              <a:buNone/>
            </a:pPr>
            <a:r>
              <a:rPr b="1" i="0" lang="en-US" sz="7200" u="none" cap="none" strike="noStrike">
                <a:solidFill>
                  <a:srgbClr val="FFFFFF"/>
                </a:solidFill>
                <a:latin typeface="Cambria"/>
                <a:ea typeface="Cambria"/>
                <a:cs typeface="Cambria"/>
                <a:sym typeface="Cambria"/>
              </a:rPr>
              <a:t>89.3%</a:t>
            </a:r>
            <a:endParaRPr b="0" i="0" sz="7200" u="none" cap="none" strike="noStrike">
              <a:solidFill>
                <a:schemeClr val="dk1"/>
              </a:solidFill>
              <a:latin typeface="Calibri"/>
              <a:ea typeface="Calibri"/>
              <a:cs typeface="Calibri"/>
              <a:sym typeface="Calibri"/>
            </a:endParaRPr>
          </a:p>
        </p:txBody>
      </p:sp>
      <p:sp>
        <p:nvSpPr>
          <p:cNvPr id="1224" name="Google Shape;1224;p29"/>
          <p:cNvSpPr/>
          <p:nvPr/>
        </p:nvSpPr>
        <p:spPr>
          <a:xfrm>
            <a:off x="914400" y="2029968"/>
            <a:ext cx="731520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EC8"/>
              </a:buClr>
              <a:buSzPts val="1600"/>
              <a:buFont typeface="Calibri"/>
              <a:buNone/>
            </a:pPr>
            <a:r>
              <a:rPr b="0" i="0" lang="en-US" sz="1600" u="none" cap="none" strike="noStrike">
                <a:solidFill>
                  <a:srgbClr val="8BAEC8"/>
                </a:solidFill>
                <a:latin typeface="Calibri"/>
                <a:ea typeface="Calibri"/>
                <a:cs typeface="Calibri"/>
                <a:sym typeface="Calibri"/>
              </a:rPr>
              <a:t>Top-1 Classification Accuracy on held-out test set</a:t>
            </a:r>
            <a:endParaRPr b="0" i="0" sz="1600" u="none" cap="none" strike="noStrike">
              <a:solidFill>
                <a:schemeClr val="dk1"/>
              </a:solidFill>
              <a:latin typeface="Calibri"/>
              <a:ea typeface="Calibri"/>
              <a:cs typeface="Calibri"/>
              <a:sym typeface="Calibri"/>
            </a:endParaRPr>
          </a:p>
        </p:txBody>
      </p:sp>
      <p:sp>
        <p:nvSpPr>
          <p:cNvPr id="1225" name="Google Shape;1225;p29"/>
          <p:cNvSpPr/>
          <p:nvPr/>
        </p:nvSpPr>
        <p:spPr>
          <a:xfrm>
            <a:off x="384048"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9"/>
          <p:cNvSpPr/>
          <p:nvPr/>
        </p:nvSpPr>
        <p:spPr>
          <a:xfrm>
            <a:off x="384048"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ambria"/>
              <a:buNone/>
            </a:pPr>
            <a:r>
              <a:rPr b="1" i="0" lang="en-US" sz="2200" u="none" cap="none" strike="noStrike">
                <a:solidFill>
                  <a:srgbClr val="3A8C7E"/>
                </a:solidFill>
                <a:latin typeface="Cambria"/>
                <a:ea typeface="Cambria"/>
                <a:cs typeface="Cambria"/>
                <a:sym typeface="Cambria"/>
              </a:rPr>
              <a:t>97.5%</a:t>
            </a:r>
            <a:endParaRPr b="0" i="0" sz="2200" u="none" cap="none" strike="noStrike">
              <a:solidFill>
                <a:schemeClr val="dk1"/>
              </a:solidFill>
              <a:latin typeface="Calibri"/>
              <a:ea typeface="Calibri"/>
              <a:cs typeface="Calibri"/>
              <a:sym typeface="Calibri"/>
            </a:endParaRPr>
          </a:p>
        </p:txBody>
      </p:sp>
      <p:sp>
        <p:nvSpPr>
          <p:cNvPr id="1227" name="Google Shape;1227;p29"/>
          <p:cNvSpPr/>
          <p:nvPr/>
        </p:nvSpPr>
        <p:spPr>
          <a:xfrm>
            <a:off x="384048"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Top-3</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Accuracy</a:t>
            </a:r>
            <a:endParaRPr b="0" i="0" sz="1000" u="none" cap="none" strike="noStrike">
              <a:solidFill>
                <a:schemeClr val="dk1"/>
              </a:solidFill>
              <a:latin typeface="Calibri"/>
              <a:ea typeface="Calibri"/>
              <a:cs typeface="Calibri"/>
              <a:sym typeface="Calibri"/>
            </a:endParaRPr>
          </a:p>
        </p:txBody>
      </p:sp>
      <p:sp>
        <p:nvSpPr>
          <p:cNvPr id="1228" name="Google Shape;1228;p29"/>
          <p:cNvSpPr/>
          <p:nvPr/>
        </p:nvSpPr>
        <p:spPr>
          <a:xfrm>
            <a:off x="2084832"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9"/>
          <p:cNvSpPr/>
          <p:nvPr/>
        </p:nvSpPr>
        <p:spPr>
          <a:xfrm>
            <a:off x="2084832"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ambria"/>
              <a:buNone/>
            </a:pPr>
            <a:r>
              <a:rPr b="1" i="0" lang="en-US" sz="2200" u="none" cap="none" strike="noStrike">
                <a:solidFill>
                  <a:srgbClr val="3A8C7E"/>
                </a:solidFill>
                <a:latin typeface="Cambria"/>
                <a:ea typeface="Cambria"/>
                <a:cs typeface="Cambria"/>
                <a:sym typeface="Cambria"/>
              </a:rPr>
              <a:t>91.4%</a:t>
            </a:r>
            <a:endParaRPr b="0" i="0" sz="2200" u="none" cap="none" strike="noStrike">
              <a:solidFill>
                <a:schemeClr val="dk1"/>
              </a:solidFill>
              <a:latin typeface="Calibri"/>
              <a:ea typeface="Calibri"/>
              <a:cs typeface="Calibri"/>
              <a:sym typeface="Calibri"/>
            </a:endParaRPr>
          </a:p>
        </p:txBody>
      </p:sp>
      <p:sp>
        <p:nvSpPr>
          <p:cNvPr id="1230" name="Google Shape;1230;p29"/>
          <p:cNvSpPr/>
          <p:nvPr/>
        </p:nvSpPr>
        <p:spPr>
          <a:xfrm>
            <a:off x="2084832"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Validation</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Accuracy</a:t>
            </a:r>
            <a:endParaRPr b="0" i="0" sz="1000" u="none" cap="none" strike="noStrike">
              <a:solidFill>
                <a:schemeClr val="dk1"/>
              </a:solidFill>
              <a:latin typeface="Calibri"/>
              <a:ea typeface="Calibri"/>
              <a:cs typeface="Calibri"/>
              <a:sym typeface="Calibri"/>
            </a:endParaRPr>
          </a:p>
        </p:txBody>
      </p:sp>
      <p:sp>
        <p:nvSpPr>
          <p:cNvPr id="1231" name="Google Shape;1231;p29"/>
          <p:cNvSpPr/>
          <p:nvPr/>
        </p:nvSpPr>
        <p:spPr>
          <a:xfrm>
            <a:off x="3785616"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9"/>
          <p:cNvSpPr/>
          <p:nvPr/>
        </p:nvSpPr>
        <p:spPr>
          <a:xfrm>
            <a:off x="3785616"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ambria"/>
              <a:buNone/>
            </a:pPr>
            <a:r>
              <a:rPr b="1" i="0" lang="en-US" sz="2200" u="none" cap="none" strike="noStrike">
                <a:solidFill>
                  <a:srgbClr val="3A8C7E"/>
                </a:solidFill>
                <a:latin typeface="Cambria"/>
                <a:ea typeface="Cambria"/>
                <a:cs typeface="Cambria"/>
                <a:sym typeface="Cambria"/>
              </a:rPr>
              <a:t>18/20</a:t>
            </a:r>
            <a:endParaRPr b="0" i="0" sz="2200" u="none" cap="none" strike="noStrike">
              <a:solidFill>
                <a:schemeClr val="dk1"/>
              </a:solidFill>
              <a:latin typeface="Calibri"/>
              <a:ea typeface="Calibri"/>
              <a:cs typeface="Calibri"/>
              <a:sym typeface="Calibri"/>
            </a:endParaRPr>
          </a:p>
        </p:txBody>
      </p:sp>
      <p:sp>
        <p:nvSpPr>
          <p:cNvPr id="1233" name="Google Shape;1233;p29"/>
          <p:cNvSpPr/>
          <p:nvPr/>
        </p:nvSpPr>
        <p:spPr>
          <a:xfrm>
            <a:off x="3785616"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End-to-End</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Test Correct</a:t>
            </a:r>
            <a:endParaRPr b="0" i="0" sz="1000" u="none" cap="none" strike="noStrike">
              <a:solidFill>
                <a:schemeClr val="dk1"/>
              </a:solidFill>
              <a:latin typeface="Calibri"/>
              <a:ea typeface="Calibri"/>
              <a:cs typeface="Calibri"/>
              <a:sym typeface="Calibri"/>
            </a:endParaRPr>
          </a:p>
        </p:txBody>
      </p:sp>
      <p:sp>
        <p:nvSpPr>
          <p:cNvPr id="1234" name="Google Shape;1234;p29"/>
          <p:cNvSpPr/>
          <p:nvPr/>
        </p:nvSpPr>
        <p:spPr>
          <a:xfrm>
            <a:off x="5486400"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9"/>
          <p:cNvSpPr/>
          <p:nvPr/>
        </p:nvSpPr>
        <p:spPr>
          <a:xfrm>
            <a:off x="5486400"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800"/>
              <a:buFont typeface="Cambria"/>
              <a:buNone/>
            </a:pPr>
            <a:r>
              <a:rPr b="1" i="0" lang="en-US" sz="1800" u="none" cap="none" strike="noStrike">
                <a:solidFill>
                  <a:srgbClr val="3A8C7E"/>
                </a:solidFill>
                <a:latin typeface="Cambria"/>
                <a:ea typeface="Cambria"/>
                <a:cs typeface="Cambria"/>
                <a:sym typeface="Cambria"/>
              </a:rPr>
              <a:t>~380ms</a:t>
            </a:r>
            <a:endParaRPr b="0" i="0" sz="1800" u="none" cap="none" strike="noStrike">
              <a:solidFill>
                <a:schemeClr val="dk1"/>
              </a:solidFill>
              <a:latin typeface="Calibri"/>
              <a:ea typeface="Calibri"/>
              <a:cs typeface="Calibri"/>
              <a:sym typeface="Calibri"/>
            </a:endParaRPr>
          </a:p>
        </p:txBody>
      </p:sp>
      <p:sp>
        <p:nvSpPr>
          <p:cNvPr id="1236" name="Google Shape;1236;p29"/>
          <p:cNvSpPr/>
          <p:nvPr/>
        </p:nvSpPr>
        <p:spPr>
          <a:xfrm>
            <a:off x="5486400"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Inference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(CPU, warmed)</a:t>
            </a:r>
            <a:endParaRPr b="0" i="0" sz="1000" u="none" cap="none" strike="noStrike">
              <a:solidFill>
                <a:schemeClr val="dk1"/>
              </a:solidFill>
              <a:latin typeface="Calibri"/>
              <a:ea typeface="Calibri"/>
              <a:cs typeface="Calibri"/>
              <a:sym typeface="Calibri"/>
            </a:endParaRPr>
          </a:p>
        </p:txBody>
      </p:sp>
      <p:sp>
        <p:nvSpPr>
          <p:cNvPr id="1237" name="Google Shape;1237;p29"/>
          <p:cNvSpPr/>
          <p:nvPr/>
        </p:nvSpPr>
        <p:spPr>
          <a:xfrm>
            <a:off x="7187184" y="2505456"/>
            <a:ext cx="1572768" cy="877824"/>
          </a:xfrm>
          <a:prstGeom prst="roundRect">
            <a:avLst>
              <a:gd fmla="val 10417" name="adj"/>
            </a:avLst>
          </a:prstGeom>
          <a:solidFill>
            <a:srgbClr val="FFFFFF">
              <a:alpha val="1215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9"/>
          <p:cNvSpPr/>
          <p:nvPr/>
        </p:nvSpPr>
        <p:spPr>
          <a:xfrm>
            <a:off x="7187184" y="2542032"/>
            <a:ext cx="157276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2200"/>
              <a:buFont typeface="Cambria"/>
              <a:buNone/>
            </a:pPr>
            <a:r>
              <a:rPr b="1" i="0" lang="en-US" sz="2200" u="none" cap="none" strike="noStrike">
                <a:solidFill>
                  <a:srgbClr val="3A8C7E"/>
                </a:solidFill>
                <a:latin typeface="Cambria"/>
                <a:ea typeface="Cambria"/>
                <a:cs typeface="Cambria"/>
                <a:sym typeface="Cambria"/>
              </a:rPr>
              <a:t>42</a:t>
            </a:r>
            <a:endParaRPr b="0" i="0" sz="2200" u="none" cap="none" strike="noStrike">
              <a:solidFill>
                <a:schemeClr val="dk1"/>
              </a:solidFill>
              <a:latin typeface="Calibri"/>
              <a:ea typeface="Calibri"/>
              <a:cs typeface="Calibri"/>
              <a:sym typeface="Calibri"/>
            </a:endParaRPr>
          </a:p>
        </p:txBody>
      </p:sp>
      <p:sp>
        <p:nvSpPr>
          <p:cNvPr id="1239" name="Google Shape;1239;p29"/>
          <p:cNvSpPr/>
          <p:nvPr/>
        </p:nvSpPr>
        <p:spPr>
          <a:xfrm>
            <a:off x="7187184" y="2999232"/>
            <a:ext cx="1572768" cy="34747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Fruit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Varieties</a:t>
            </a:r>
            <a:endParaRPr b="0" i="0" sz="1000" u="none" cap="none" strike="noStrike">
              <a:solidFill>
                <a:schemeClr val="dk1"/>
              </a:solidFill>
              <a:latin typeface="Calibri"/>
              <a:ea typeface="Calibri"/>
              <a:cs typeface="Calibri"/>
              <a:sym typeface="Calibri"/>
            </a:endParaRPr>
          </a:p>
        </p:txBody>
      </p:sp>
      <p:sp>
        <p:nvSpPr>
          <p:cNvPr id="1240" name="Google Shape;1240;p29"/>
          <p:cNvSpPr/>
          <p:nvPr/>
        </p:nvSpPr>
        <p:spPr>
          <a:xfrm>
            <a:off x="384048" y="3493008"/>
            <a:ext cx="8375904" cy="512064"/>
          </a:xfrm>
          <a:prstGeom prst="rect">
            <a:avLst/>
          </a:prstGeom>
          <a:solidFill>
            <a:srgbClr val="FFFFFF"/>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9"/>
          <p:cNvSpPr/>
          <p:nvPr/>
        </p:nvSpPr>
        <p:spPr>
          <a:xfrm>
            <a:off x="384048" y="3493008"/>
            <a:ext cx="8375904" cy="512064"/>
          </a:xfrm>
          <a:prstGeom prst="roundRect">
            <a:avLst>
              <a:gd fmla="val 14286" name="adj"/>
            </a:avLst>
          </a:prstGeom>
          <a:solidFill>
            <a:srgbClr val="3A8C7E">
              <a:alpha val="80000"/>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9"/>
          <p:cNvSpPr/>
          <p:nvPr/>
        </p:nvSpPr>
        <p:spPr>
          <a:xfrm>
            <a:off x="548640" y="3529584"/>
            <a:ext cx="81381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Surpasses nearest comparable benchmark (Hu et al., 2024: EfficientNet on produce grading) in resource efficiency  ·  11.6 MB vs 97 MB ResNet-50  ·  CPU-only inference  ·  Full PWA deployment — no precedent in reviewed literature.</a:t>
            </a:r>
            <a:endParaRPr b="0" i="0" sz="1150" u="none" cap="none" strike="noStrike">
              <a:solidFill>
                <a:schemeClr val="dk1"/>
              </a:solidFill>
              <a:latin typeface="Calibri"/>
              <a:ea typeface="Calibri"/>
              <a:cs typeface="Calibri"/>
              <a:sym typeface="Calibri"/>
            </a:endParaRPr>
          </a:p>
        </p:txBody>
      </p:sp>
      <p:sp>
        <p:nvSpPr>
          <p:cNvPr id="1243" name="Google Shape;1243;p29"/>
          <p:cNvSpPr/>
          <p:nvPr/>
        </p:nvSpPr>
        <p:spPr>
          <a:xfrm>
            <a:off x="457200" y="4114800"/>
            <a:ext cx="3657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EC8"/>
              </a:buClr>
              <a:buSzPts val="1100"/>
              <a:buFont typeface="Calibri"/>
              <a:buNone/>
            </a:pPr>
            <a:r>
              <a:rPr b="0" i="0" lang="en-US" sz="1100" u="none" cap="none" strike="noStrike">
                <a:solidFill>
                  <a:srgbClr val="8BAEC8"/>
                </a:solidFill>
                <a:latin typeface="Calibri"/>
                <a:ea typeface="Calibri"/>
                <a:cs typeface="Calibri"/>
                <a:sym typeface="Calibri"/>
              </a:rPr>
              <a:t>Training accuracy by epoch block (fine-tuning phase):</a:t>
            </a:r>
            <a:endParaRPr b="0" i="0" sz="1100" u="none" cap="none" strike="noStrike">
              <a:solidFill>
                <a:schemeClr val="dk1"/>
              </a:solidFill>
              <a:latin typeface="Calibri"/>
              <a:ea typeface="Calibri"/>
              <a:cs typeface="Calibri"/>
              <a:sym typeface="Calibri"/>
            </a:endParaRPr>
          </a:p>
        </p:txBody>
      </p:sp>
      <p:sp>
        <p:nvSpPr>
          <p:cNvPr id="1244" name="Google Shape;1244;p29"/>
          <p:cNvSpPr/>
          <p:nvPr/>
        </p:nvSpPr>
        <p:spPr>
          <a:xfrm>
            <a:off x="457200" y="4370832"/>
            <a:ext cx="1288755"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9"/>
          <p:cNvSpPr/>
          <p:nvPr/>
        </p:nvSpPr>
        <p:spPr>
          <a:xfrm>
            <a:off x="457200"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1-5: 87%</a:t>
            </a:r>
            <a:endParaRPr b="0" i="0" sz="900" u="none" cap="none" strike="noStrike">
              <a:solidFill>
                <a:schemeClr val="dk1"/>
              </a:solidFill>
              <a:latin typeface="Calibri"/>
              <a:ea typeface="Calibri"/>
              <a:cs typeface="Calibri"/>
              <a:sym typeface="Calibri"/>
            </a:endParaRPr>
          </a:p>
        </p:txBody>
      </p:sp>
      <p:sp>
        <p:nvSpPr>
          <p:cNvPr id="1246" name="Google Shape;1246;p29"/>
          <p:cNvSpPr/>
          <p:nvPr/>
        </p:nvSpPr>
        <p:spPr>
          <a:xfrm>
            <a:off x="2139696" y="4370832"/>
            <a:ext cx="1303569"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9"/>
          <p:cNvSpPr/>
          <p:nvPr/>
        </p:nvSpPr>
        <p:spPr>
          <a:xfrm>
            <a:off x="2139696"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6-10: 88%</a:t>
            </a:r>
            <a:endParaRPr b="0" i="0" sz="900" u="none" cap="none" strike="noStrike">
              <a:solidFill>
                <a:schemeClr val="dk1"/>
              </a:solidFill>
              <a:latin typeface="Calibri"/>
              <a:ea typeface="Calibri"/>
              <a:cs typeface="Calibri"/>
              <a:sym typeface="Calibri"/>
            </a:endParaRPr>
          </a:p>
        </p:txBody>
      </p:sp>
      <p:sp>
        <p:nvSpPr>
          <p:cNvPr id="1248" name="Google Shape;1248;p29"/>
          <p:cNvSpPr/>
          <p:nvPr/>
        </p:nvSpPr>
        <p:spPr>
          <a:xfrm>
            <a:off x="3822192" y="4370832"/>
            <a:ext cx="1348008"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9"/>
          <p:cNvSpPr/>
          <p:nvPr/>
        </p:nvSpPr>
        <p:spPr>
          <a:xfrm>
            <a:off x="3822192"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11-15: 91%</a:t>
            </a:r>
            <a:endParaRPr b="0" i="0" sz="900" u="none" cap="none" strike="noStrike">
              <a:solidFill>
                <a:schemeClr val="dk1"/>
              </a:solidFill>
              <a:latin typeface="Calibri"/>
              <a:ea typeface="Calibri"/>
              <a:cs typeface="Calibri"/>
              <a:sym typeface="Calibri"/>
            </a:endParaRPr>
          </a:p>
        </p:txBody>
      </p:sp>
      <p:sp>
        <p:nvSpPr>
          <p:cNvPr id="1250" name="Google Shape;1250;p29"/>
          <p:cNvSpPr/>
          <p:nvPr/>
        </p:nvSpPr>
        <p:spPr>
          <a:xfrm>
            <a:off x="5504688" y="4370832"/>
            <a:ext cx="1333195"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9"/>
          <p:cNvSpPr/>
          <p:nvPr/>
        </p:nvSpPr>
        <p:spPr>
          <a:xfrm>
            <a:off x="5504688"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16-20: 90%</a:t>
            </a:r>
            <a:endParaRPr b="0" i="0" sz="900" u="none" cap="none" strike="noStrike">
              <a:solidFill>
                <a:schemeClr val="dk1"/>
              </a:solidFill>
              <a:latin typeface="Calibri"/>
              <a:ea typeface="Calibri"/>
              <a:cs typeface="Calibri"/>
              <a:sym typeface="Calibri"/>
            </a:endParaRPr>
          </a:p>
        </p:txBody>
      </p:sp>
      <p:sp>
        <p:nvSpPr>
          <p:cNvPr id="1252" name="Google Shape;1252;p29"/>
          <p:cNvSpPr/>
          <p:nvPr/>
        </p:nvSpPr>
        <p:spPr>
          <a:xfrm>
            <a:off x="7187184" y="4370832"/>
            <a:ext cx="1348008" cy="164592"/>
          </a:xfrm>
          <a:prstGeom prst="roundRect">
            <a:avLst>
              <a:gd fmla="val 22222" name="adj"/>
            </a:avLst>
          </a:prstGeom>
          <a:solidFill>
            <a:srgbClr val="3A8C7E">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9"/>
          <p:cNvSpPr/>
          <p:nvPr/>
        </p:nvSpPr>
        <p:spPr>
          <a:xfrm>
            <a:off x="7187184" y="4370832"/>
            <a:ext cx="1627632" cy="164592"/>
          </a:xfrm>
          <a:prstGeom prst="rect">
            <a:avLst/>
          </a:prstGeom>
          <a:noFill/>
          <a:ln>
            <a:noFill/>
          </a:ln>
        </p:spPr>
        <p:txBody>
          <a:bodyPr anchorCtr="0" anchor="ctr" bIns="25400" lIns="25400" spcFirstLastPara="1" rIns="25400" wrap="square" tIns="25400">
            <a:noAutofit/>
          </a:bodyPr>
          <a:lstStyle/>
          <a:p>
            <a:pPr indent="0" lvl="0" marL="0" marR="0" rtl="0" algn="l">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Ep 21-25: 91%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258" name="Shape 1258"/>
        <p:cNvGrpSpPr/>
        <p:nvPr/>
      </p:nvGrpSpPr>
      <p:grpSpPr>
        <a:xfrm>
          <a:off x="0" y="0"/>
          <a:ext cx="0" cy="0"/>
          <a:chOff x="0" y="0"/>
          <a:chExt cx="0" cy="0"/>
        </a:xfrm>
      </p:grpSpPr>
      <p:sp>
        <p:nvSpPr>
          <p:cNvPr id="1259" name="Google Shape;1259;p30"/>
          <p:cNvSpPr/>
          <p:nvPr/>
        </p:nvSpPr>
        <p:spPr>
          <a:xfrm rot="2700000">
            <a:off x="-91440" y="3566160"/>
            <a:ext cx="1097280" cy="109728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0"/>
          <p:cNvSpPr/>
          <p:nvPr/>
        </p:nvSpPr>
        <p:spPr>
          <a:xfrm rot="2700000">
            <a:off x="91440" y="3749040"/>
            <a:ext cx="731520" cy="73152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0"/>
          <p:cNvSpPr/>
          <p:nvPr/>
        </p:nvSpPr>
        <p:spPr>
          <a:xfrm rot="2700000">
            <a:off x="274320" y="3931920"/>
            <a:ext cx="365760" cy="36576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0"/>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0"/>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0"/>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0"/>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0"/>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0"/>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0"/>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0"/>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0"/>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0"/>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0"/>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0"/>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0"/>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0"/>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0"/>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0"/>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0"/>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0"/>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0"/>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0"/>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0"/>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0"/>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0"/>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0"/>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0"/>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0"/>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Beats the State of the Art</a:t>
            </a:r>
            <a:endParaRPr b="0" i="0" sz="2800" u="none" cap="none" strike="noStrike">
              <a:solidFill>
                <a:schemeClr val="dk1"/>
              </a:solidFill>
              <a:latin typeface="Calibri"/>
              <a:ea typeface="Calibri"/>
              <a:cs typeface="Calibri"/>
              <a:sym typeface="Calibri"/>
            </a:endParaRPr>
          </a:p>
        </p:txBody>
      </p:sp>
      <p:cxnSp>
        <p:nvCxnSpPr>
          <p:cNvPr id="1288" name="Google Shape;1288;p30"/>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289" name="Google Shape;1289;p30"/>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graphicFrame>
        <p:nvGraphicFramePr>
          <p:cNvPr id="1290" name="Google Shape;1290;p30"/>
          <p:cNvGraphicFramePr/>
          <p:nvPr/>
        </p:nvGraphicFramePr>
        <p:xfrm>
          <a:off x="384048" y="987552"/>
          <a:ext cx="3000000" cy="3000000"/>
        </p:xfrm>
        <a:graphic>
          <a:graphicData uri="http://schemas.openxmlformats.org/drawingml/2006/table">
            <a:tbl>
              <a:tblPr>
                <a:noFill/>
                <a:tableStyleId>{7A406C37-5A5E-4BF0-9AAD-7423E5C8C803}</a:tableStyleId>
              </a:tblPr>
              <a:tblGrid>
                <a:gridCol w="1508750"/>
                <a:gridCol w="1920250"/>
                <a:gridCol w="658375"/>
                <a:gridCol w="658375"/>
                <a:gridCol w="658375"/>
                <a:gridCol w="731525"/>
                <a:gridCol w="2240275"/>
              </a:tblGrid>
              <a:tr h="418000">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Study</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Approach</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Camera</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Shelf-Life</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Ethylene</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Deployment</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c>
                  <a:txBody>
                    <a:bodyPr/>
                    <a:lstStyle/>
                    <a:p>
                      <a:pPr indent="0" lvl="0" marL="0" marR="0" rtl="0" algn="ctr">
                        <a:spcBef>
                          <a:spcPts val="0"/>
                        </a:spcBef>
                        <a:spcAft>
                          <a:spcPts val="0"/>
                        </a:spcAft>
                        <a:buClr>
                          <a:srgbClr val="FFFFFF"/>
                        </a:buClr>
                        <a:buSzPts val="1050"/>
                        <a:buFont typeface="Calibri"/>
                        <a:buNone/>
                      </a:pPr>
                      <a:r>
                        <a:rPr b="1" lang="en-US" sz="1050" u="none" cap="none" strike="noStrike">
                          <a:solidFill>
                            <a:srgbClr val="FFFFFF"/>
                          </a:solidFill>
                        </a:rPr>
                        <a:t>Notes</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1A2B4A"/>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Fu et al. (2022)</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ResNet-50 classification</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Single fruit type; no shelf-life</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Hu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Mobile EfficientNet</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97 MB model; vegetables only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Wang et al. (2025)</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IoT sensor array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Hardware-dependent; inaccessible</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Vasquez et al. (2024)</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Fuzzy logic (lab)</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No camera; theoretical only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FFFFF"/>
                    </a:solidFill>
                  </a:tcPr>
                </a:tc>
              </a:tr>
              <a:tr h="418000">
                <a:tc>
                  <a:txBody>
                    <a:bodyPr/>
                    <a:lstStyle/>
                    <a:p>
                      <a:pPr indent="0" lvl="0" marL="0" marR="0" rtl="0" algn="l">
                        <a:spcBef>
                          <a:spcPts val="0"/>
                        </a:spcBef>
                        <a:spcAft>
                          <a:spcPts val="0"/>
                        </a:spcAft>
                        <a:buClr>
                          <a:srgbClr val="1A2B4A"/>
                        </a:buClr>
                        <a:buSzPts val="1050"/>
                        <a:buFont typeface="Calibri"/>
                        <a:buNone/>
                      </a:pPr>
                      <a:r>
                        <a:rPr b="1" lang="en-US" sz="1050" u="none" cap="none" strike="noStrike">
                          <a:solidFill>
                            <a:srgbClr val="1A2B4A"/>
                          </a:solidFill>
                        </a:rPr>
                        <a:t>Watkins (2006)</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Post-harvest biology ref.</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9E9E9E"/>
                        </a:buClr>
                        <a:buSzPts val="1300"/>
                        <a:buFont typeface="Calibri"/>
                        <a:buNone/>
                      </a:pPr>
                      <a:r>
                        <a:rPr lang="en-US" sz="1300" u="none" cap="none" strike="noStrike">
                          <a:solidFill>
                            <a:srgbClr val="9E9E9E"/>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9E9E9E"/>
                        </a:buClr>
                        <a:buSzPts val="1300"/>
                        <a:buFont typeface="Calibri"/>
                        <a:buNone/>
                      </a:pPr>
                      <a:r>
                        <a:rPr lang="en-US" sz="1300" u="none" cap="none" strike="noStrike">
                          <a:solidFill>
                            <a:srgbClr val="9E9E9E"/>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2E7D32"/>
                        </a:buClr>
                        <a:buSzPts val="1300"/>
                        <a:buFont typeface="Calibri"/>
                        <a:buNone/>
                      </a:pPr>
                      <a:r>
                        <a:rPr lang="en-US" sz="1300" u="none" cap="none" strike="noStrike">
                          <a:solidFill>
                            <a:srgbClr val="2E7D32"/>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ctr">
                        <a:spcBef>
                          <a:spcPts val="0"/>
                        </a:spcBef>
                        <a:spcAft>
                          <a:spcPts val="0"/>
                        </a:spcAft>
                        <a:buClr>
                          <a:srgbClr val="C0392B"/>
                        </a:buClr>
                        <a:buSzPts val="1300"/>
                        <a:buFont typeface="Calibri"/>
                        <a:buNone/>
                      </a:pPr>
                      <a:r>
                        <a:rPr lang="en-US" sz="1300" u="none" cap="none" strike="noStrike">
                          <a:solidFill>
                            <a:srgbClr val="C0392B"/>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c>
                  <a:txBody>
                    <a:bodyPr/>
                    <a:lstStyle/>
                    <a:p>
                      <a:pPr indent="0" lvl="0" marL="0" marR="0" rtl="0" algn="l">
                        <a:spcBef>
                          <a:spcPts val="0"/>
                        </a:spcBef>
                        <a:spcAft>
                          <a:spcPts val="0"/>
                        </a:spcAft>
                        <a:buClr>
                          <a:srgbClr val="4A5568"/>
                        </a:buClr>
                        <a:buSzPts val="1000"/>
                        <a:buFont typeface="Calibri"/>
                        <a:buNone/>
                      </a:pPr>
                      <a:r>
                        <a:rPr lang="en-US" sz="1000" u="none" cap="none" strike="noStrike">
                          <a:solidFill>
                            <a:srgbClr val="4A5568"/>
                          </a:solidFill>
                        </a:rPr>
                        <a:t>Academic ref — no consumer tool</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F4F7F9"/>
                    </a:solidFill>
                  </a:tcPr>
                </a:tc>
              </a:tr>
              <a:tr h="41800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rPr>
                        <a:t>FRESCO (Proposed)</a:t>
                      </a:r>
                      <a:endParaRPr sz="105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MobileNetV2 + D=B×F^1.5×T×R + Ethylene Graph + PWA</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ctr">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ctr">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ctr">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ctr">
                        <a:spcBef>
                          <a:spcPts val="0"/>
                        </a:spcBef>
                        <a:spcAft>
                          <a:spcPts val="0"/>
                        </a:spcAft>
                        <a:buClr>
                          <a:srgbClr val="A8FFD8"/>
                        </a:buClr>
                        <a:buSzPts val="1300"/>
                        <a:buFont typeface="Calibri"/>
                        <a:buNone/>
                      </a:pPr>
                      <a:r>
                        <a:rPr b="1" lang="en-US" sz="1300" u="none" cap="none" strike="noStrike">
                          <a:solidFill>
                            <a:srgbClr val="A8FFD8"/>
                          </a:solidFill>
                        </a:rPr>
                        <a:t>✓</a:t>
                      </a:r>
                      <a:endParaRPr sz="13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rPr>
                        <a:t>89.3% Top-1 · 42 fruits · CPU-only</a:t>
                      </a:r>
                      <a:endParaRPr sz="1000" u="none" cap="none" strike="noStrike"/>
                    </a:p>
                  </a:txBody>
                  <a:tcPr marT="45725" marB="45725" marR="91450" marL="91450">
                    <a:lnL cap="flat" cmpd="sng" w="9525">
                      <a:solidFill>
                        <a:srgbClr val="D1D5DB"/>
                      </a:solidFill>
                      <a:prstDash val="solid"/>
                      <a:round/>
                      <a:headEnd len="sm" w="sm" type="none"/>
                      <a:tailEnd len="sm" w="sm" type="none"/>
                    </a:lnL>
                    <a:lnR cap="flat" cmpd="sng" w="9525">
                      <a:solidFill>
                        <a:srgbClr val="D1D5DB"/>
                      </a:solidFill>
                      <a:prstDash val="solid"/>
                      <a:round/>
                      <a:headEnd len="sm" w="sm" type="none"/>
                      <a:tailEnd len="sm" w="sm" type="none"/>
                    </a:lnR>
                    <a:lnT cap="flat" cmpd="sng" w="9525">
                      <a:solidFill>
                        <a:srgbClr val="D1D5DB"/>
                      </a:solidFill>
                      <a:prstDash val="solid"/>
                      <a:round/>
                      <a:headEnd len="sm" w="sm" type="none"/>
                      <a:tailEnd len="sm" w="sm" type="none"/>
                    </a:lnT>
                    <a:lnB cap="flat" cmpd="sng" w="9525">
                      <a:solidFill>
                        <a:srgbClr val="D1D5DB"/>
                      </a:solidFill>
                      <a:prstDash val="solid"/>
                      <a:round/>
                      <a:headEnd len="sm" w="sm" type="none"/>
                      <a:tailEnd len="sm" w="sm" type="none"/>
                    </a:lnB>
                    <a:solidFill>
                      <a:srgbClr val="3A8C7E"/>
                    </a:solidFill>
                  </a:tcPr>
                </a:tc>
              </a:tr>
            </a:tbl>
          </a:graphicData>
        </a:graphic>
      </p:graphicFrame>
      <p:sp>
        <p:nvSpPr>
          <p:cNvPr id="1291" name="Google Shape;1291;p30"/>
          <p:cNvSpPr/>
          <p:nvPr/>
        </p:nvSpPr>
        <p:spPr>
          <a:xfrm>
            <a:off x="384048" y="3986784"/>
            <a:ext cx="8375904" cy="475488"/>
          </a:xfrm>
          <a:prstGeom prst="roundRect">
            <a:avLst>
              <a:gd fmla="val 23077" name="adj"/>
            </a:avLst>
          </a:prstGeom>
          <a:solidFill>
            <a:srgbClr val="E8F5F1"/>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0"/>
          <p:cNvSpPr/>
          <p:nvPr/>
        </p:nvSpPr>
        <p:spPr>
          <a:xfrm>
            <a:off x="548640" y="4023360"/>
            <a:ext cx="8138160"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150"/>
              <a:buFont typeface="Calibri"/>
              <a:buNone/>
            </a:pPr>
            <a:r>
              <a:rPr b="1" i="0" lang="en-US" sz="1150" u="none" cap="none" strike="noStrike">
                <a:solidFill>
                  <a:srgbClr val="3A8C7E"/>
                </a:solidFill>
                <a:latin typeface="Calibri"/>
                <a:ea typeface="Calibri"/>
                <a:cs typeface="Calibri"/>
                <a:sym typeface="Calibri"/>
              </a:rPr>
              <a:t>Fresco is the only system in this table that combines smartphone-camera classification + multi-factor shelf-life estimation + ethylene storage warnings + live PWA deployment simultaneously.</a:t>
            </a:r>
            <a:endParaRPr b="0" i="0" sz="1150" u="none" cap="none" strike="noStrike">
              <a:solidFill>
                <a:schemeClr val="dk1"/>
              </a:solidFill>
              <a:latin typeface="Calibri"/>
              <a:ea typeface="Calibri"/>
              <a:cs typeface="Calibri"/>
              <a:sym typeface="Calibri"/>
            </a:endParaRPr>
          </a:p>
        </p:txBody>
      </p:sp>
      <p:sp>
        <p:nvSpPr>
          <p:cNvPr id="1293" name="Google Shape;1293;p30"/>
          <p:cNvSpPr/>
          <p:nvPr/>
        </p:nvSpPr>
        <p:spPr>
          <a:xfrm>
            <a:off x="384048" y="4517136"/>
            <a:ext cx="8375904" cy="402336"/>
          </a:xfrm>
          <a:prstGeom prst="rect">
            <a:avLst/>
          </a:prstGeom>
          <a:solidFill>
            <a:srgbClr val="E3EE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0"/>
          <p:cNvSpPr/>
          <p:nvPr/>
        </p:nvSpPr>
        <p:spPr>
          <a:xfrm>
            <a:off x="548640" y="4553712"/>
            <a:ext cx="8138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2B4A"/>
              </a:buClr>
              <a:buSzPts val="1100"/>
              <a:buFont typeface="Calibri"/>
              <a:buNone/>
            </a:pPr>
            <a:r>
              <a:rPr b="0" i="0" lang="en-US" sz="1100" u="none" cap="none" strike="noStrike">
                <a:solidFill>
                  <a:srgbClr val="1A2B4A"/>
                </a:solidFill>
                <a:latin typeface="Calibri"/>
                <a:ea typeface="Calibri"/>
                <a:cs typeface="Calibri"/>
                <a:sym typeface="Calibri"/>
              </a:rPr>
              <a:t>At 11.6 MB and ~380 ms CPU inference, Fresco is the smallest and most deployment-efficient food-freshness AI system reviewed. No GPU required. No hardware beyond a smartphone.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299" name="Shape 1299"/>
        <p:cNvGrpSpPr/>
        <p:nvPr/>
      </p:nvGrpSpPr>
      <p:grpSpPr>
        <a:xfrm>
          <a:off x="0" y="0"/>
          <a:ext cx="0" cy="0"/>
          <a:chOff x="0" y="0"/>
          <a:chExt cx="0" cy="0"/>
        </a:xfrm>
      </p:grpSpPr>
      <p:sp>
        <p:nvSpPr>
          <p:cNvPr id="1300" name="Google Shape;1300;p31"/>
          <p:cNvSpPr/>
          <p:nvPr/>
        </p:nvSpPr>
        <p:spPr>
          <a:xfrm>
            <a:off x="7680960" y="18288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1"/>
          <p:cNvSpPr/>
          <p:nvPr/>
        </p:nvSpPr>
        <p:spPr>
          <a:xfrm>
            <a:off x="7982712" y="48463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1"/>
          <p:cNvSpPr/>
          <p:nvPr/>
        </p:nvSpPr>
        <p:spPr>
          <a:xfrm>
            <a:off x="8247888" y="74980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3" name="Google Shape;1303;p31"/>
          <p:cNvCxnSpPr/>
          <p:nvPr/>
        </p:nvCxnSpPr>
        <p:spPr>
          <a:xfrm rot="-2700000">
            <a:off x="182880"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04" name="Google Shape;1304;p31"/>
          <p:cNvCxnSpPr/>
          <p:nvPr/>
        </p:nvCxnSpPr>
        <p:spPr>
          <a:xfrm rot="-2700000">
            <a:off x="347472"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05" name="Google Shape;1305;p31"/>
          <p:cNvCxnSpPr/>
          <p:nvPr/>
        </p:nvCxnSpPr>
        <p:spPr>
          <a:xfrm rot="-2700000">
            <a:off x="512064"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06" name="Google Shape;1306;p31"/>
          <p:cNvCxnSpPr/>
          <p:nvPr/>
        </p:nvCxnSpPr>
        <p:spPr>
          <a:xfrm rot="-2700000">
            <a:off x="676656"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07" name="Google Shape;1307;p31"/>
          <p:cNvCxnSpPr/>
          <p:nvPr/>
        </p:nvCxnSpPr>
        <p:spPr>
          <a:xfrm rot="-2700000">
            <a:off x="841248"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308" name="Google Shape;1308;p31"/>
          <p:cNvCxnSpPr/>
          <p:nvPr/>
        </p:nvCxnSpPr>
        <p:spPr>
          <a:xfrm rot="-2700000">
            <a:off x="1005840" y="411480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1309" name="Google Shape;1309;p31"/>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Contributions to Knowledge</a:t>
            </a:r>
            <a:endParaRPr b="0" i="0" sz="2800" u="none" cap="none" strike="noStrike">
              <a:solidFill>
                <a:schemeClr val="dk1"/>
              </a:solidFill>
              <a:latin typeface="Calibri"/>
              <a:ea typeface="Calibri"/>
              <a:cs typeface="Calibri"/>
              <a:sym typeface="Calibri"/>
            </a:endParaRPr>
          </a:p>
        </p:txBody>
      </p:sp>
      <p:cxnSp>
        <p:nvCxnSpPr>
          <p:cNvPr id="1310" name="Google Shape;1310;p31"/>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311" name="Google Shape;1311;p31"/>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312" name="Google Shape;1312;p31"/>
          <p:cNvSpPr/>
          <p:nvPr/>
        </p:nvSpPr>
        <p:spPr>
          <a:xfrm>
            <a:off x="384048" y="1005840"/>
            <a:ext cx="4114800" cy="1572768"/>
          </a:xfrm>
          <a:prstGeom prst="roundRect">
            <a:avLst>
              <a:gd fmla="val 69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1"/>
          <p:cNvSpPr/>
          <p:nvPr/>
        </p:nvSpPr>
        <p:spPr>
          <a:xfrm>
            <a:off x="512064" y="1133856"/>
            <a:ext cx="457200" cy="45720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1"/>
          <p:cNvSpPr/>
          <p:nvPr/>
        </p:nvSpPr>
        <p:spPr>
          <a:xfrm>
            <a:off x="512064" y="113385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01</a:t>
            </a:r>
            <a:endParaRPr b="0" i="0" sz="1500" u="none" cap="none" strike="noStrike">
              <a:solidFill>
                <a:schemeClr val="dk1"/>
              </a:solidFill>
              <a:latin typeface="Calibri"/>
              <a:ea typeface="Calibri"/>
              <a:cs typeface="Calibri"/>
              <a:sym typeface="Calibri"/>
            </a:endParaRPr>
          </a:p>
        </p:txBody>
      </p:sp>
      <p:sp>
        <p:nvSpPr>
          <p:cNvPr id="1315" name="Google Shape;1315;p31"/>
          <p:cNvSpPr/>
          <p:nvPr/>
        </p:nvSpPr>
        <p:spPr>
          <a:xfrm>
            <a:off x="1060704" y="1133856"/>
            <a:ext cx="33467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Novel Multi-Factor Shelf-Life Formula</a:t>
            </a:r>
            <a:endParaRPr b="0" i="0" sz="1150" u="none" cap="none" strike="noStrike">
              <a:solidFill>
                <a:schemeClr val="dk1"/>
              </a:solidFill>
              <a:latin typeface="Calibri"/>
              <a:ea typeface="Calibri"/>
              <a:cs typeface="Calibri"/>
              <a:sym typeface="Calibri"/>
            </a:endParaRPr>
          </a:p>
        </p:txBody>
      </p:sp>
      <p:sp>
        <p:nvSpPr>
          <p:cNvPr id="1316" name="Google Shape;1316;p31"/>
          <p:cNvSpPr/>
          <p:nvPr/>
        </p:nvSpPr>
        <p:spPr>
          <a:xfrm>
            <a:off x="512064" y="1609344"/>
            <a:ext cx="389534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formula D = B × F^1.5 × T × R introduces a non-linear freshness exponent grounded in food-science evidence that quality degrades acceleratingly with age. This is a contribution over linear formulas in prior work (Vasquez et al., 2024). All three adjustment factors (temperature deviation, ripeness stage, non-linear decay) are independently justified and calibrated.</a:t>
            </a:r>
            <a:endParaRPr b="0" i="0" sz="1050" u="none" cap="none" strike="noStrike">
              <a:solidFill>
                <a:schemeClr val="dk1"/>
              </a:solidFill>
              <a:latin typeface="Calibri"/>
              <a:ea typeface="Calibri"/>
              <a:cs typeface="Calibri"/>
              <a:sym typeface="Calibri"/>
            </a:endParaRPr>
          </a:p>
        </p:txBody>
      </p:sp>
      <p:sp>
        <p:nvSpPr>
          <p:cNvPr id="1317" name="Google Shape;1317;p31"/>
          <p:cNvSpPr/>
          <p:nvPr/>
        </p:nvSpPr>
        <p:spPr>
          <a:xfrm>
            <a:off x="512064" y="2432304"/>
            <a:ext cx="3895344"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00"/>
              <a:buFont typeface="Calibri"/>
              <a:buNone/>
            </a:pPr>
            <a:r>
              <a:rPr b="0" i="1" lang="en-US" sz="900" u="none" cap="none" strike="noStrike">
                <a:solidFill>
                  <a:srgbClr val="607D8B"/>
                </a:solidFill>
                <a:latin typeface="Calibri"/>
                <a:ea typeface="Calibri"/>
                <a:cs typeface="Calibri"/>
                <a:sym typeface="Calibri"/>
              </a:rPr>
              <a:t>(Kader, 2002; Jay et al., 2005)</a:t>
            </a:r>
            <a:endParaRPr b="0" i="0" sz="900" u="none" cap="none" strike="noStrike">
              <a:solidFill>
                <a:schemeClr val="dk1"/>
              </a:solidFill>
              <a:latin typeface="Calibri"/>
              <a:ea typeface="Calibri"/>
              <a:cs typeface="Calibri"/>
              <a:sym typeface="Calibri"/>
            </a:endParaRPr>
          </a:p>
        </p:txBody>
      </p:sp>
      <p:sp>
        <p:nvSpPr>
          <p:cNvPr id="1318" name="Google Shape;1318;p31"/>
          <p:cNvSpPr/>
          <p:nvPr/>
        </p:nvSpPr>
        <p:spPr>
          <a:xfrm>
            <a:off x="4636008" y="1005840"/>
            <a:ext cx="4114800" cy="1572768"/>
          </a:xfrm>
          <a:prstGeom prst="roundRect">
            <a:avLst>
              <a:gd fmla="val 69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1"/>
          <p:cNvSpPr/>
          <p:nvPr/>
        </p:nvSpPr>
        <p:spPr>
          <a:xfrm>
            <a:off x="4764024" y="1133856"/>
            <a:ext cx="457200" cy="45720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1"/>
          <p:cNvSpPr/>
          <p:nvPr/>
        </p:nvSpPr>
        <p:spPr>
          <a:xfrm>
            <a:off x="4764024" y="113385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02</a:t>
            </a:r>
            <a:endParaRPr b="0" i="0" sz="1500" u="none" cap="none" strike="noStrike">
              <a:solidFill>
                <a:schemeClr val="dk1"/>
              </a:solidFill>
              <a:latin typeface="Calibri"/>
              <a:ea typeface="Calibri"/>
              <a:cs typeface="Calibri"/>
              <a:sym typeface="Calibri"/>
            </a:endParaRPr>
          </a:p>
        </p:txBody>
      </p:sp>
      <p:sp>
        <p:nvSpPr>
          <p:cNvPr id="1321" name="Google Shape;1321;p31"/>
          <p:cNvSpPr/>
          <p:nvPr/>
        </p:nvSpPr>
        <p:spPr>
          <a:xfrm>
            <a:off x="5312664" y="1133856"/>
            <a:ext cx="33467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First Consumer-Facing Ethylene Compatibility Engine</a:t>
            </a:r>
            <a:endParaRPr b="0" i="0" sz="1150" u="none" cap="none" strike="noStrike">
              <a:solidFill>
                <a:schemeClr val="dk1"/>
              </a:solidFill>
              <a:latin typeface="Calibri"/>
              <a:ea typeface="Calibri"/>
              <a:cs typeface="Calibri"/>
              <a:sym typeface="Calibri"/>
            </a:endParaRPr>
          </a:p>
        </p:txBody>
      </p:sp>
      <p:sp>
        <p:nvSpPr>
          <p:cNvPr id="1322" name="Google Shape;1322;p31"/>
          <p:cNvSpPr/>
          <p:nvPr/>
        </p:nvSpPr>
        <p:spPr>
          <a:xfrm>
            <a:off x="4764024" y="1609344"/>
            <a:ext cx="389534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Post-harvest biology has known about ethylene-mediated storage interactions for 50+ years (Watkins, 2006; Saltveit, 1999). No consumer-facing application had ever implemented this knowledge as a live conflict-detection tool. Fresco's bidirectional conflict graph and pairwise checking algorithm bring this industrial knowledge to the smartphone for the first time.</a:t>
            </a:r>
            <a:endParaRPr b="0" i="0" sz="1050" u="none" cap="none" strike="noStrike">
              <a:solidFill>
                <a:schemeClr val="dk1"/>
              </a:solidFill>
              <a:latin typeface="Calibri"/>
              <a:ea typeface="Calibri"/>
              <a:cs typeface="Calibri"/>
              <a:sym typeface="Calibri"/>
            </a:endParaRPr>
          </a:p>
        </p:txBody>
      </p:sp>
      <p:sp>
        <p:nvSpPr>
          <p:cNvPr id="1323" name="Google Shape;1323;p31"/>
          <p:cNvSpPr/>
          <p:nvPr/>
        </p:nvSpPr>
        <p:spPr>
          <a:xfrm>
            <a:off x="4764024" y="2432304"/>
            <a:ext cx="3895344"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00"/>
              <a:buFont typeface="Calibri"/>
              <a:buNone/>
            </a:pPr>
            <a:r>
              <a:rPr b="0" i="1" lang="en-US" sz="900" u="none" cap="none" strike="noStrike">
                <a:solidFill>
                  <a:srgbClr val="607D8B"/>
                </a:solidFill>
                <a:latin typeface="Calibri"/>
                <a:ea typeface="Calibri"/>
                <a:cs typeface="Calibri"/>
                <a:sym typeface="Calibri"/>
              </a:rPr>
              <a:t>(Watkins, 2006; Saltveit, 1999)</a:t>
            </a:r>
            <a:endParaRPr b="0" i="0" sz="900" u="none" cap="none" strike="noStrike">
              <a:solidFill>
                <a:schemeClr val="dk1"/>
              </a:solidFill>
              <a:latin typeface="Calibri"/>
              <a:ea typeface="Calibri"/>
              <a:cs typeface="Calibri"/>
              <a:sym typeface="Calibri"/>
            </a:endParaRPr>
          </a:p>
        </p:txBody>
      </p:sp>
      <p:sp>
        <p:nvSpPr>
          <p:cNvPr id="1324" name="Google Shape;1324;p31"/>
          <p:cNvSpPr/>
          <p:nvPr/>
        </p:nvSpPr>
        <p:spPr>
          <a:xfrm>
            <a:off x="384048" y="2688336"/>
            <a:ext cx="4114800" cy="1572768"/>
          </a:xfrm>
          <a:prstGeom prst="roundRect">
            <a:avLst>
              <a:gd fmla="val 69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1"/>
          <p:cNvSpPr/>
          <p:nvPr/>
        </p:nvSpPr>
        <p:spPr>
          <a:xfrm>
            <a:off x="512064" y="2816352"/>
            <a:ext cx="457200" cy="45720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1"/>
          <p:cNvSpPr/>
          <p:nvPr/>
        </p:nvSpPr>
        <p:spPr>
          <a:xfrm>
            <a:off x="512064" y="28163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03</a:t>
            </a:r>
            <a:endParaRPr b="0" i="0" sz="1500" u="none" cap="none" strike="noStrike">
              <a:solidFill>
                <a:schemeClr val="dk1"/>
              </a:solidFill>
              <a:latin typeface="Calibri"/>
              <a:ea typeface="Calibri"/>
              <a:cs typeface="Calibri"/>
              <a:sym typeface="Calibri"/>
            </a:endParaRPr>
          </a:p>
        </p:txBody>
      </p:sp>
      <p:sp>
        <p:nvSpPr>
          <p:cNvPr id="1327" name="Google Shape;1327;p31"/>
          <p:cNvSpPr/>
          <p:nvPr/>
        </p:nvSpPr>
        <p:spPr>
          <a:xfrm>
            <a:off x="1060704" y="2816352"/>
            <a:ext cx="33467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Resource-Feasible AI for Nigerian Food Systems</a:t>
            </a:r>
            <a:endParaRPr b="0" i="0" sz="1150" u="none" cap="none" strike="noStrike">
              <a:solidFill>
                <a:schemeClr val="dk1"/>
              </a:solidFill>
              <a:latin typeface="Calibri"/>
              <a:ea typeface="Calibri"/>
              <a:cs typeface="Calibri"/>
              <a:sym typeface="Calibri"/>
            </a:endParaRPr>
          </a:p>
        </p:txBody>
      </p:sp>
      <p:sp>
        <p:nvSpPr>
          <p:cNvPr id="1328" name="Google Shape;1328;p31"/>
          <p:cNvSpPr/>
          <p:nvPr/>
        </p:nvSpPr>
        <p:spPr>
          <a:xfrm>
            <a:off x="512064" y="3291840"/>
            <a:ext cx="389534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full system — including training the classifier, serving predictions, and running the PWA — operates on commodity CPU hardware with zero cloud GPU dependency. At 11.6 MB, the model loads at startup and infers in ~380 ms on a free-tier Render instance. Designed specifically for the resource-constrained Nigerian primary market context where IoT sensor systems (Wang et al., 2025) are economically inaccessible.</a:t>
            </a:r>
            <a:endParaRPr b="0" i="0" sz="1050" u="none" cap="none" strike="noStrike">
              <a:solidFill>
                <a:schemeClr val="dk1"/>
              </a:solidFill>
              <a:latin typeface="Calibri"/>
              <a:ea typeface="Calibri"/>
              <a:cs typeface="Calibri"/>
              <a:sym typeface="Calibri"/>
            </a:endParaRPr>
          </a:p>
        </p:txBody>
      </p:sp>
      <p:sp>
        <p:nvSpPr>
          <p:cNvPr id="1329" name="Google Shape;1329;p31"/>
          <p:cNvSpPr/>
          <p:nvPr/>
        </p:nvSpPr>
        <p:spPr>
          <a:xfrm>
            <a:off x="512064" y="4114800"/>
            <a:ext cx="3895344"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00"/>
              <a:buFont typeface="Calibri"/>
              <a:buNone/>
            </a:pPr>
            <a:r>
              <a:rPr b="0" i="1" lang="en-US" sz="900" u="none" cap="none" strike="noStrike">
                <a:solidFill>
                  <a:srgbClr val="607D8B"/>
                </a:solidFill>
                <a:latin typeface="Calibri"/>
                <a:ea typeface="Calibri"/>
                <a:cs typeface="Calibri"/>
                <a:sym typeface="Calibri"/>
              </a:rPr>
              <a:t>(Mureșan &amp; Oltean, 2018; FAO, 2019)</a:t>
            </a:r>
            <a:endParaRPr b="0" i="0" sz="900" u="none" cap="none" strike="noStrike">
              <a:solidFill>
                <a:schemeClr val="dk1"/>
              </a:solidFill>
              <a:latin typeface="Calibri"/>
              <a:ea typeface="Calibri"/>
              <a:cs typeface="Calibri"/>
              <a:sym typeface="Calibri"/>
            </a:endParaRPr>
          </a:p>
        </p:txBody>
      </p:sp>
      <p:sp>
        <p:nvSpPr>
          <p:cNvPr id="1330" name="Google Shape;1330;p31"/>
          <p:cNvSpPr/>
          <p:nvPr/>
        </p:nvSpPr>
        <p:spPr>
          <a:xfrm>
            <a:off x="4636008" y="2688336"/>
            <a:ext cx="4114800" cy="1572768"/>
          </a:xfrm>
          <a:prstGeom prst="roundRect">
            <a:avLst>
              <a:gd fmla="val 6977"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1"/>
          <p:cNvSpPr/>
          <p:nvPr/>
        </p:nvSpPr>
        <p:spPr>
          <a:xfrm>
            <a:off x="4764024" y="2816352"/>
            <a:ext cx="457200" cy="457200"/>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1"/>
          <p:cNvSpPr/>
          <p:nvPr/>
        </p:nvSpPr>
        <p:spPr>
          <a:xfrm>
            <a:off x="4764024" y="281635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04</a:t>
            </a:r>
            <a:endParaRPr b="0" i="0" sz="1500" u="none" cap="none" strike="noStrike">
              <a:solidFill>
                <a:schemeClr val="dk1"/>
              </a:solidFill>
              <a:latin typeface="Calibri"/>
              <a:ea typeface="Calibri"/>
              <a:cs typeface="Calibri"/>
              <a:sym typeface="Calibri"/>
            </a:endParaRPr>
          </a:p>
        </p:txBody>
      </p:sp>
      <p:sp>
        <p:nvSpPr>
          <p:cNvPr id="1333" name="Google Shape;1333;p31"/>
          <p:cNvSpPr/>
          <p:nvPr/>
        </p:nvSpPr>
        <p:spPr>
          <a:xfrm>
            <a:off x="5312664" y="2816352"/>
            <a:ext cx="33467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150"/>
              <a:buFont typeface="Calibri"/>
              <a:buNone/>
            </a:pPr>
            <a:r>
              <a:rPr b="1" i="0" lang="en-US" sz="1150" u="none" cap="none" strike="noStrike">
                <a:solidFill>
                  <a:srgbClr val="1A2B4A"/>
                </a:solidFill>
                <a:latin typeface="Calibri"/>
                <a:ea typeface="Calibri"/>
                <a:cs typeface="Calibri"/>
                <a:sym typeface="Calibri"/>
              </a:rPr>
              <a:t>Reproducible, End-to-End Deployed Pipeline</a:t>
            </a:r>
            <a:endParaRPr b="0" i="0" sz="1150" u="none" cap="none" strike="noStrike">
              <a:solidFill>
                <a:schemeClr val="dk1"/>
              </a:solidFill>
              <a:latin typeface="Calibri"/>
              <a:ea typeface="Calibri"/>
              <a:cs typeface="Calibri"/>
              <a:sym typeface="Calibri"/>
            </a:endParaRPr>
          </a:p>
        </p:txBody>
      </p:sp>
      <p:sp>
        <p:nvSpPr>
          <p:cNvPr id="1334" name="Google Shape;1334;p31"/>
          <p:cNvSpPr/>
          <p:nvPr/>
        </p:nvSpPr>
        <p:spPr>
          <a:xfrm>
            <a:off x="4764024" y="3291840"/>
            <a:ext cx="389534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The system is not a notebook experiment. It is a live FastAPI + Next.js React Progressive Web Application, installable from a browser, serving real-time predictions. Fixed random_state=42, pinned library versions, and documented preprocessing steps ensure any researcher with the Fruits-360 dataset can reproduce numerically identical classification results.</a:t>
            </a:r>
            <a:endParaRPr b="0" i="0" sz="1050" u="none" cap="none" strike="noStrike">
              <a:solidFill>
                <a:schemeClr val="dk1"/>
              </a:solidFill>
              <a:latin typeface="Calibri"/>
              <a:ea typeface="Calibri"/>
              <a:cs typeface="Calibri"/>
              <a:sym typeface="Calibri"/>
            </a:endParaRPr>
          </a:p>
        </p:txBody>
      </p:sp>
      <p:sp>
        <p:nvSpPr>
          <p:cNvPr id="1335" name="Google Shape;1335;p31"/>
          <p:cNvSpPr/>
          <p:nvPr/>
        </p:nvSpPr>
        <p:spPr>
          <a:xfrm>
            <a:off x="4764024" y="4114800"/>
            <a:ext cx="3895344"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07D8B"/>
              </a:buClr>
              <a:buSzPts val="900"/>
              <a:buFont typeface="Calibri"/>
              <a:buNone/>
            </a:pPr>
            <a:r>
              <a:rPr b="0" i="1" lang="en-US" sz="900" u="none" cap="none" strike="noStrike">
                <a:solidFill>
                  <a:srgbClr val="607D8B"/>
                </a:solidFill>
                <a:latin typeface="Calibri"/>
                <a:ea typeface="Calibri"/>
                <a:cs typeface="Calibri"/>
                <a:sym typeface="Calibri"/>
              </a:rPr>
              <a:t>(Sandler et al., 2018)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340" name="Shape 1340"/>
        <p:cNvGrpSpPr/>
        <p:nvPr/>
      </p:nvGrpSpPr>
      <p:grpSpPr>
        <a:xfrm>
          <a:off x="0" y="0"/>
          <a:ext cx="0" cy="0"/>
          <a:chOff x="0" y="0"/>
          <a:chExt cx="0" cy="0"/>
        </a:xfrm>
      </p:grpSpPr>
      <p:sp>
        <p:nvSpPr>
          <p:cNvPr id="1341" name="Google Shape;1341;p32"/>
          <p:cNvSpPr/>
          <p:nvPr/>
        </p:nvSpPr>
        <p:spPr>
          <a:xfrm>
            <a:off x="7589520" y="182880"/>
            <a:ext cx="1005840" cy="1005840"/>
          </a:xfrm>
          <a:prstGeom prst="rect">
            <a:avLst/>
          </a:prstGeom>
          <a:noFill/>
          <a:ln cap="flat" cmpd="sng" w="12700">
            <a:solidFill>
              <a:srgbClr val="1A2B4A">
                <a:alpha val="7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2"/>
          <p:cNvSpPr/>
          <p:nvPr/>
        </p:nvSpPr>
        <p:spPr>
          <a:xfrm>
            <a:off x="7589520" y="182880"/>
            <a:ext cx="670560" cy="670560"/>
          </a:xfrm>
          <a:prstGeom prst="rect">
            <a:avLst/>
          </a:prstGeom>
          <a:noFill/>
          <a:ln cap="flat" cmpd="sng" w="12700">
            <a:solidFill>
              <a:srgbClr val="1A2B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2"/>
          <p:cNvSpPr/>
          <p:nvPr/>
        </p:nvSpPr>
        <p:spPr>
          <a:xfrm>
            <a:off x="7589520" y="182880"/>
            <a:ext cx="335280" cy="335280"/>
          </a:xfrm>
          <a:prstGeom prst="rect">
            <a:avLst/>
          </a:prstGeom>
          <a:noFill/>
          <a:ln cap="flat" cmpd="sng" w="12700">
            <a:solidFill>
              <a:srgbClr val="1A2B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2"/>
          <p:cNvSpPr/>
          <p:nvPr/>
        </p:nvSpPr>
        <p:spPr>
          <a:xfrm>
            <a:off x="411480" y="4846320"/>
            <a:ext cx="1280160" cy="109728"/>
          </a:xfrm>
          <a:prstGeom prst="roundRect">
            <a:avLst>
              <a:gd fmla="val 50000" name="adj"/>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2"/>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Limitations</a:t>
            </a:r>
            <a:endParaRPr b="0" i="0" sz="2800" u="none" cap="none" strike="noStrike">
              <a:solidFill>
                <a:schemeClr val="dk1"/>
              </a:solidFill>
              <a:latin typeface="Calibri"/>
              <a:ea typeface="Calibri"/>
              <a:cs typeface="Calibri"/>
              <a:sym typeface="Calibri"/>
            </a:endParaRPr>
          </a:p>
        </p:txBody>
      </p:sp>
      <p:cxnSp>
        <p:nvCxnSpPr>
          <p:cNvPr id="1346" name="Google Shape;1346;p32"/>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347" name="Google Shape;1347;p32"/>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348" name="Google Shape;1348;p32"/>
          <p:cNvSpPr/>
          <p:nvPr/>
        </p:nvSpPr>
        <p:spPr>
          <a:xfrm>
            <a:off x="384048" y="100584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2"/>
          <p:cNvSpPr/>
          <p:nvPr/>
        </p:nvSpPr>
        <p:spPr>
          <a:xfrm>
            <a:off x="566928" y="107899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Classifier Covers 4 of 42 Fruit Types</a:t>
            </a:r>
            <a:endParaRPr b="0" i="0" sz="1150" u="none" cap="none" strike="noStrike">
              <a:solidFill>
                <a:schemeClr val="dk1"/>
              </a:solidFill>
              <a:latin typeface="Calibri"/>
              <a:ea typeface="Calibri"/>
              <a:cs typeface="Calibri"/>
              <a:sym typeface="Calibri"/>
            </a:endParaRPr>
          </a:p>
        </p:txBody>
      </p:sp>
      <p:sp>
        <p:nvSpPr>
          <p:cNvPr id="1350" name="Google Shape;1350;p32"/>
          <p:cNvSpPr/>
          <p:nvPr/>
        </p:nvSpPr>
        <p:spPr>
          <a:xfrm>
            <a:off x="566928" y="135331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Automatic AI classification covers Apple and Banana in the production pipeline (Carrot and Tomato exist in training but not the production database). The other 38 fruits in the catalogue require manual selection. Training a high-quality 42-fruit classifier at multiple ripeness stages would require ~10,000+ labelled images per fruit — beyond a final-year project's scope.</a:t>
            </a:r>
            <a:endParaRPr b="0" i="0" sz="1050" u="none" cap="none" strike="noStrike">
              <a:solidFill>
                <a:schemeClr val="dk1"/>
              </a:solidFill>
              <a:latin typeface="Calibri"/>
              <a:ea typeface="Calibri"/>
              <a:cs typeface="Calibri"/>
              <a:sym typeface="Calibri"/>
            </a:endParaRPr>
          </a:p>
        </p:txBody>
      </p:sp>
      <p:sp>
        <p:nvSpPr>
          <p:cNvPr id="1351" name="Google Shape;1351;p32"/>
          <p:cNvSpPr/>
          <p:nvPr/>
        </p:nvSpPr>
        <p:spPr>
          <a:xfrm>
            <a:off x="312175" y="2194549"/>
            <a:ext cx="4186800" cy="118860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2"/>
          <p:cNvSpPr/>
          <p:nvPr/>
        </p:nvSpPr>
        <p:spPr>
          <a:xfrm>
            <a:off x="566928" y="226771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Lighting Sensitivity</a:t>
            </a:r>
            <a:endParaRPr b="0" i="0" sz="1150" u="none" cap="none" strike="noStrike">
              <a:solidFill>
                <a:schemeClr val="dk1"/>
              </a:solidFill>
              <a:latin typeface="Calibri"/>
              <a:ea typeface="Calibri"/>
              <a:cs typeface="Calibri"/>
              <a:sym typeface="Calibri"/>
            </a:endParaRPr>
          </a:p>
        </p:txBody>
      </p:sp>
      <p:sp>
        <p:nvSpPr>
          <p:cNvPr id="1353" name="Google Shape;1353;p32"/>
          <p:cNvSpPr/>
          <p:nvPr/>
        </p:nvSpPr>
        <p:spPr>
          <a:xfrm>
            <a:off x="566928" y="254203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2 of 20 end-to-end test failures were apples photographed under dim morning light. The model's freshness score dropped approximately one band. No adaptive lighting compensation or CLAHE preprocessing is currently applied before classification. Fu et al. (2022) explicitly documented this limitation in CNN-based freshness assessment.</a:t>
            </a:r>
            <a:endParaRPr b="0" i="0" sz="1050" u="none" cap="none" strike="noStrike">
              <a:solidFill>
                <a:schemeClr val="dk1"/>
              </a:solidFill>
              <a:latin typeface="Calibri"/>
              <a:ea typeface="Calibri"/>
              <a:cs typeface="Calibri"/>
              <a:sym typeface="Calibri"/>
            </a:endParaRPr>
          </a:p>
        </p:txBody>
      </p:sp>
      <p:sp>
        <p:nvSpPr>
          <p:cNvPr id="1354" name="Google Shape;1354;p32"/>
          <p:cNvSpPr/>
          <p:nvPr/>
        </p:nvSpPr>
        <p:spPr>
          <a:xfrm>
            <a:off x="384048" y="338328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2"/>
          <p:cNvSpPr/>
          <p:nvPr/>
        </p:nvSpPr>
        <p:spPr>
          <a:xfrm>
            <a:off x="566928" y="345643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Reference Values, Not Validated Spoilage Data</a:t>
            </a:r>
            <a:endParaRPr b="0" i="0" sz="1150" u="none" cap="none" strike="noStrike">
              <a:solidFill>
                <a:schemeClr val="dk1"/>
              </a:solidFill>
              <a:latin typeface="Calibri"/>
              <a:ea typeface="Calibri"/>
              <a:cs typeface="Calibri"/>
              <a:sym typeface="Calibri"/>
            </a:endParaRPr>
          </a:p>
        </p:txBody>
      </p:sp>
      <p:sp>
        <p:nvSpPr>
          <p:cNvPr id="1356" name="Google Shape;1356;p32"/>
          <p:cNvSpPr/>
          <p:nvPr/>
        </p:nvSpPr>
        <p:spPr>
          <a:xfrm>
            <a:off x="566928" y="373075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Base shelf-life values come from USDA reference sources (Kader, 2002) rather than controlled spoilage experiments on these specific Fruits-360 varieties. The estimates are defensible and well-established, but systematic deviations from local Nigerian varieties are possible.</a:t>
            </a:r>
            <a:endParaRPr b="0" i="0" sz="1050" u="none" cap="none" strike="noStrike">
              <a:solidFill>
                <a:schemeClr val="dk1"/>
              </a:solidFill>
              <a:latin typeface="Calibri"/>
              <a:ea typeface="Calibri"/>
              <a:cs typeface="Calibri"/>
              <a:sym typeface="Calibri"/>
            </a:endParaRPr>
          </a:p>
        </p:txBody>
      </p:sp>
      <p:sp>
        <p:nvSpPr>
          <p:cNvPr id="1357" name="Google Shape;1357;p32"/>
          <p:cNvSpPr/>
          <p:nvPr/>
        </p:nvSpPr>
        <p:spPr>
          <a:xfrm>
            <a:off x="4645152" y="100584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2"/>
          <p:cNvSpPr/>
          <p:nvPr/>
        </p:nvSpPr>
        <p:spPr>
          <a:xfrm>
            <a:off x="4828032" y="107899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Small Minority Test Classes</a:t>
            </a:r>
            <a:endParaRPr b="0" i="0" sz="1150" u="none" cap="none" strike="noStrike">
              <a:solidFill>
                <a:schemeClr val="dk1"/>
              </a:solidFill>
              <a:latin typeface="Calibri"/>
              <a:ea typeface="Calibri"/>
              <a:cs typeface="Calibri"/>
              <a:sym typeface="Calibri"/>
            </a:endParaRPr>
          </a:p>
        </p:txBody>
      </p:sp>
      <p:sp>
        <p:nvSpPr>
          <p:cNvPr id="1359" name="Google Shape;1359;p32"/>
          <p:cNvSpPr/>
          <p:nvPr/>
        </p:nvSpPr>
        <p:spPr>
          <a:xfrm>
            <a:off x="4828032" y="135331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14 classes × 20 images = 280 test images. The confidence interval on per-class accuracy is wide at n=20. A single correct/incorrect prediction shifts class accuracy by 5 percentage points. Larger held-out sets would tighten the uncertainty bounds significantly.</a:t>
            </a:r>
            <a:endParaRPr b="0" i="0" sz="1050" u="none" cap="none" strike="noStrike">
              <a:solidFill>
                <a:schemeClr val="dk1"/>
              </a:solidFill>
              <a:latin typeface="Calibri"/>
              <a:ea typeface="Calibri"/>
              <a:cs typeface="Calibri"/>
              <a:sym typeface="Calibri"/>
            </a:endParaRPr>
          </a:p>
        </p:txBody>
      </p:sp>
      <p:sp>
        <p:nvSpPr>
          <p:cNvPr id="1360" name="Google Shape;1360;p32"/>
          <p:cNvSpPr/>
          <p:nvPr/>
        </p:nvSpPr>
        <p:spPr>
          <a:xfrm>
            <a:off x="4645152" y="2194560"/>
            <a:ext cx="4114800" cy="109728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2"/>
          <p:cNvSpPr/>
          <p:nvPr/>
        </p:nvSpPr>
        <p:spPr>
          <a:xfrm>
            <a:off x="4828032" y="226771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Notification Delivery Not Implemented</a:t>
            </a:r>
            <a:endParaRPr b="0" i="0" sz="1150" u="none" cap="none" strike="noStrike">
              <a:solidFill>
                <a:schemeClr val="dk1"/>
              </a:solidFill>
              <a:latin typeface="Calibri"/>
              <a:ea typeface="Calibri"/>
              <a:cs typeface="Calibri"/>
              <a:sym typeface="Calibri"/>
            </a:endParaRPr>
          </a:p>
        </p:txBody>
      </p:sp>
      <p:sp>
        <p:nvSpPr>
          <p:cNvPr id="1362" name="Google Shape;1362;p32"/>
          <p:cNvSpPr/>
          <p:nvPr/>
        </p:nvSpPr>
        <p:spPr>
          <a:xfrm>
            <a:off x="4828032" y="254203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Notification records are scheduled at the database level (one day before projected expiry). Push delivery to the user's device via the Web Push API is not yet implemented. Users must open the app to see expiry alerts.</a:t>
            </a:r>
            <a:endParaRPr b="0" i="0" sz="1050" u="none" cap="none" strike="noStrike">
              <a:solidFill>
                <a:schemeClr val="dk1"/>
              </a:solidFill>
              <a:latin typeface="Calibri"/>
              <a:ea typeface="Calibri"/>
              <a:cs typeface="Calibri"/>
              <a:sym typeface="Calibri"/>
            </a:endParaRPr>
          </a:p>
        </p:txBody>
      </p:sp>
      <p:sp>
        <p:nvSpPr>
          <p:cNvPr id="1363" name="Google Shape;1363;p32"/>
          <p:cNvSpPr/>
          <p:nvPr/>
        </p:nvSpPr>
        <p:spPr>
          <a:xfrm>
            <a:off x="4573150" y="3383275"/>
            <a:ext cx="4186800" cy="1188600"/>
          </a:xfrm>
          <a:prstGeom prst="roundRect">
            <a:avLst>
              <a:gd fmla="val 10000" name="adj"/>
            </a:avLst>
          </a:prstGeom>
          <a:solidFill>
            <a:srgbClr val="FFF5F5"/>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2"/>
          <p:cNvSpPr/>
          <p:nvPr/>
        </p:nvSpPr>
        <p:spPr>
          <a:xfrm>
            <a:off x="4828032" y="3456432"/>
            <a:ext cx="38404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150"/>
              <a:buFont typeface="Calibri"/>
              <a:buNone/>
            </a:pPr>
            <a:r>
              <a:rPr b="1" i="0" lang="en-US" sz="1150" u="none" cap="none" strike="noStrike">
                <a:solidFill>
                  <a:srgbClr val="C0392B"/>
                </a:solidFill>
                <a:latin typeface="Calibri"/>
                <a:ea typeface="Calibri"/>
                <a:cs typeface="Calibri"/>
                <a:sym typeface="Calibri"/>
              </a:rPr>
              <a:t>Production Deployment Partially Complete</a:t>
            </a:r>
            <a:endParaRPr b="0" i="0" sz="1150" u="none" cap="none" strike="noStrike">
              <a:solidFill>
                <a:schemeClr val="dk1"/>
              </a:solidFill>
              <a:latin typeface="Calibri"/>
              <a:ea typeface="Calibri"/>
              <a:cs typeface="Calibri"/>
              <a:sym typeface="Calibri"/>
            </a:endParaRPr>
          </a:p>
        </p:txBody>
      </p:sp>
      <p:sp>
        <p:nvSpPr>
          <p:cNvPr id="1365" name="Google Shape;1365;p32"/>
          <p:cNvSpPr/>
          <p:nvPr/>
        </p:nvSpPr>
        <p:spPr>
          <a:xfrm>
            <a:off x="4828032" y="3730752"/>
            <a:ext cx="3840480" cy="7132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System is verified end-to-end on developer hardware. Render backend deployment encountered a database URL normalisation issue (postgres:// vs postgresql+asyncpg://) that was resolved in code but requires final environment-variable configuration before full production availability.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370" name="Shape 1370"/>
        <p:cNvGrpSpPr/>
        <p:nvPr/>
      </p:nvGrpSpPr>
      <p:grpSpPr>
        <a:xfrm>
          <a:off x="0" y="0"/>
          <a:ext cx="0" cy="0"/>
          <a:chOff x="0" y="0"/>
          <a:chExt cx="0" cy="0"/>
        </a:xfrm>
      </p:grpSpPr>
      <p:sp>
        <p:nvSpPr>
          <p:cNvPr id="1371" name="Google Shape;1371;p33"/>
          <p:cNvSpPr/>
          <p:nvPr/>
        </p:nvSpPr>
        <p:spPr>
          <a:xfrm>
            <a:off x="7680960" y="182880"/>
            <a:ext cx="1828800" cy="182880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3"/>
          <p:cNvSpPr/>
          <p:nvPr/>
        </p:nvSpPr>
        <p:spPr>
          <a:xfrm>
            <a:off x="7982712" y="484632"/>
            <a:ext cx="1225296" cy="1225296"/>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3"/>
          <p:cNvSpPr/>
          <p:nvPr/>
        </p:nvSpPr>
        <p:spPr>
          <a:xfrm>
            <a:off x="8247888" y="749808"/>
            <a:ext cx="694944" cy="694944"/>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3"/>
          <p:cNvSpPr/>
          <p:nvPr/>
        </p:nvSpPr>
        <p:spPr>
          <a:xfrm rot="2700000">
            <a:off x="0" y="3657600"/>
            <a:ext cx="914400" cy="91440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3"/>
          <p:cNvSpPr/>
          <p:nvPr/>
        </p:nvSpPr>
        <p:spPr>
          <a:xfrm rot="2700000">
            <a:off x="152400" y="3810000"/>
            <a:ext cx="609600" cy="60960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3"/>
          <p:cNvSpPr/>
          <p:nvPr/>
        </p:nvSpPr>
        <p:spPr>
          <a:xfrm rot="2700000">
            <a:off x="304800" y="3962400"/>
            <a:ext cx="304800" cy="30480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3"/>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Future Work</a:t>
            </a:r>
            <a:endParaRPr b="0" i="0" sz="2800" u="none" cap="none" strike="noStrike">
              <a:solidFill>
                <a:schemeClr val="dk1"/>
              </a:solidFill>
              <a:latin typeface="Calibri"/>
              <a:ea typeface="Calibri"/>
              <a:cs typeface="Calibri"/>
              <a:sym typeface="Calibri"/>
            </a:endParaRPr>
          </a:p>
        </p:txBody>
      </p:sp>
      <p:cxnSp>
        <p:nvCxnSpPr>
          <p:cNvPr id="1378" name="Google Shape;1378;p33"/>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379" name="Google Shape;1379;p33"/>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380" name="Google Shape;1380;p33"/>
          <p:cNvSpPr/>
          <p:nvPr/>
        </p:nvSpPr>
        <p:spPr>
          <a:xfrm>
            <a:off x="346750" y="1005850"/>
            <a:ext cx="8413200" cy="822900"/>
          </a:xfrm>
          <a:prstGeom prst="roundRect">
            <a:avLst>
              <a:gd fmla="val 15385"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3"/>
          <p:cNvSpPr/>
          <p:nvPr/>
        </p:nvSpPr>
        <p:spPr>
          <a:xfrm>
            <a:off x="493776" y="116128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3"/>
          <p:cNvSpPr/>
          <p:nvPr/>
        </p:nvSpPr>
        <p:spPr>
          <a:xfrm>
            <a:off x="493776" y="11612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383" name="Google Shape;1383;p33"/>
          <p:cNvSpPr/>
          <p:nvPr/>
        </p:nvSpPr>
        <p:spPr>
          <a:xfrm>
            <a:off x="1024128" y="106070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Expand Classifier to All 42 Fruit Varieties</a:t>
            </a:r>
            <a:endParaRPr b="0" i="0" sz="1200" u="none" cap="none" strike="noStrike">
              <a:solidFill>
                <a:schemeClr val="dk1"/>
              </a:solidFill>
              <a:latin typeface="Calibri"/>
              <a:ea typeface="Calibri"/>
              <a:cs typeface="Calibri"/>
              <a:sym typeface="Calibri"/>
            </a:endParaRPr>
          </a:p>
        </p:txBody>
      </p:sp>
      <p:sp>
        <p:nvSpPr>
          <p:cNvPr id="1384" name="Google Shape;1384;p33"/>
          <p:cNvSpPr/>
          <p:nvPr/>
        </p:nvSpPr>
        <p:spPr>
          <a:xfrm>
            <a:off x="1024128" y="131673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Train a full 42-fruit × ripeness-stage classifier using community-contributed photographs. Each variety needs ~3,000–5,000 labelled images across age stages. Investigate whether indigenous Nigerian varieties (pawpaw, soursop, star apple, ube) can be sourced through a structured photo-submission campaign via the PWA itself — turning the app into its own training data pipeline.</a:t>
            </a:r>
            <a:endParaRPr b="0" i="0" sz="1050" u="none" cap="none" strike="noStrike">
              <a:solidFill>
                <a:schemeClr val="dk1"/>
              </a:solidFill>
              <a:latin typeface="Calibri"/>
              <a:ea typeface="Calibri"/>
              <a:cs typeface="Calibri"/>
              <a:sym typeface="Calibri"/>
            </a:endParaRPr>
          </a:p>
        </p:txBody>
      </p:sp>
      <p:sp>
        <p:nvSpPr>
          <p:cNvPr id="1385" name="Google Shape;1385;p33"/>
          <p:cNvSpPr/>
          <p:nvPr/>
        </p:nvSpPr>
        <p:spPr>
          <a:xfrm>
            <a:off x="346750" y="1828800"/>
            <a:ext cx="8413200" cy="803400"/>
          </a:xfrm>
          <a:prstGeom prst="roundRect">
            <a:avLst>
              <a:gd fmla="val 15385"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3"/>
          <p:cNvSpPr/>
          <p:nvPr/>
        </p:nvSpPr>
        <p:spPr>
          <a:xfrm>
            <a:off x="493776" y="198424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3"/>
          <p:cNvSpPr/>
          <p:nvPr/>
        </p:nvSpPr>
        <p:spPr>
          <a:xfrm>
            <a:off x="493776" y="19842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1388" name="Google Shape;1388;p33"/>
          <p:cNvSpPr/>
          <p:nvPr/>
        </p:nvSpPr>
        <p:spPr>
          <a:xfrm>
            <a:off x="1024128" y="188366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Adaptive Lighting Compensation (CLAHE)</a:t>
            </a:r>
            <a:endParaRPr b="0" i="0" sz="1200" u="none" cap="none" strike="noStrike">
              <a:solidFill>
                <a:schemeClr val="dk1"/>
              </a:solidFill>
              <a:latin typeface="Calibri"/>
              <a:ea typeface="Calibri"/>
              <a:cs typeface="Calibri"/>
              <a:sym typeface="Calibri"/>
            </a:endParaRPr>
          </a:p>
        </p:txBody>
      </p:sp>
      <p:sp>
        <p:nvSpPr>
          <p:cNvPr id="1389" name="Google Shape;1389;p33"/>
          <p:cNvSpPr/>
          <p:nvPr/>
        </p:nvSpPr>
        <p:spPr>
          <a:xfrm>
            <a:off x="1024128" y="213969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Apply Contrast Limited Adaptive Histogram Equalisation to the input image before classification. CLAHE is a standard, well-tested technique (OpenCV, 5 lines of code) that reduces the freshness-score sensitivity to lighting conditions — directly addressing the 2 dim-light failures in end-to-end testing.</a:t>
            </a:r>
            <a:endParaRPr b="0" i="0" sz="1050" u="none" cap="none" strike="noStrike">
              <a:solidFill>
                <a:schemeClr val="dk1"/>
              </a:solidFill>
              <a:latin typeface="Calibri"/>
              <a:ea typeface="Calibri"/>
              <a:cs typeface="Calibri"/>
              <a:sym typeface="Calibri"/>
            </a:endParaRPr>
          </a:p>
        </p:txBody>
      </p:sp>
      <p:sp>
        <p:nvSpPr>
          <p:cNvPr id="1390" name="Google Shape;1390;p33"/>
          <p:cNvSpPr/>
          <p:nvPr/>
        </p:nvSpPr>
        <p:spPr>
          <a:xfrm>
            <a:off x="384050" y="2651749"/>
            <a:ext cx="8376000" cy="803400"/>
          </a:xfrm>
          <a:prstGeom prst="roundRect">
            <a:avLst>
              <a:gd fmla="val 15385"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3"/>
          <p:cNvSpPr/>
          <p:nvPr/>
        </p:nvSpPr>
        <p:spPr>
          <a:xfrm>
            <a:off x="493776" y="280720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3"/>
          <p:cNvSpPr/>
          <p:nvPr/>
        </p:nvSpPr>
        <p:spPr>
          <a:xfrm>
            <a:off x="493776" y="280720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1393" name="Google Shape;1393;p33"/>
          <p:cNvSpPr/>
          <p:nvPr/>
        </p:nvSpPr>
        <p:spPr>
          <a:xfrm>
            <a:off x="1024128" y="270662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On-Device TensorFlow Lite Inference</a:t>
            </a:r>
            <a:endParaRPr b="0" i="0" sz="1200" u="none" cap="none" strike="noStrike">
              <a:solidFill>
                <a:schemeClr val="dk1"/>
              </a:solidFill>
              <a:latin typeface="Calibri"/>
              <a:ea typeface="Calibri"/>
              <a:cs typeface="Calibri"/>
              <a:sym typeface="Calibri"/>
            </a:endParaRPr>
          </a:p>
        </p:txBody>
      </p:sp>
      <p:sp>
        <p:nvSpPr>
          <p:cNvPr id="1394" name="Google Shape;1394;p33"/>
          <p:cNvSpPr/>
          <p:nvPr/>
        </p:nvSpPr>
        <p:spPr>
          <a:xfrm>
            <a:off x="1024128" y="296265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Convert the trained MobileNetV2 model to TensorFlow Lite format (&lt;4 MB with int8 quantisation) for embedding directly in the React Native or Flutter mobile app. This eliminates the server round-trip for classification, reducing scan latency to &lt;50 ms and enabling fully offline freshness scoring.</a:t>
            </a:r>
            <a:endParaRPr b="0" i="0" sz="1050" u="none" cap="none" strike="noStrike">
              <a:solidFill>
                <a:schemeClr val="dk1"/>
              </a:solidFill>
              <a:latin typeface="Calibri"/>
              <a:ea typeface="Calibri"/>
              <a:cs typeface="Calibri"/>
              <a:sym typeface="Calibri"/>
            </a:endParaRPr>
          </a:p>
        </p:txBody>
      </p:sp>
      <p:sp>
        <p:nvSpPr>
          <p:cNvPr id="1395" name="Google Shape;1395;p33"/>
          <p:cNvSpPr/>
          <p:nvPr/>
        </p:nvSpPr>
        <p:spPr>
          <a:xfrm>
            <a:off x="346750" y="3474725"/>
            <a:ext cx="8413200" cy="803400"/>
          </a:xfrm>
          <a:prstGeom prst="roundRect">
            <a:avLst>
              <a:gd fmla="val 15385" name="adj"/>
            </a:avLst>
          </a:prstGeom>
          <a:solidFill>
            <a:srgbClr val="F0F4F8"/>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3"/>
          <p:cNvSpPr/>
          <p:nvPr/>
        </p:nvSpPr>
        <p:spPr>
          <a:xfrm>
            <a:off x="493776" y="363016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3"/>
          <p:cNvSpPr/>
          <p:nvPr/>
        </p:nvSpPr>
        <p:spPr>
          <a:xfrm>
            <a:off x="493776" y="363016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1398" name="Google Shape;1398;p33"/>
          <p:cNvSpPr/>
          <p:nvPr/>
        </p:nvSpPr>
        <p:spPr>
          <a:xfrm>
            <a:off x="1024128" y="352958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Push Notification Delivery</a:t>
            </a:r>
            <a:endParaRPr b="0" i="0" sz="1200" u="none" cap="none" strike="noStrike">
              <a:solidFill>
                <a:schemeClr val="dk1"/>
              </a:solidFill>
              <a:latin typeface="Calibri"/>
              <a:ea typeface="Calibri"/>
              <a:cs typeface="Calibri"/>
              <a:sym typeface="Calibri"/>
            </a:endParaRPr>
          </a:p>
        </p:txBody>
      </p:sp>
      <p:sp>
        <p:nvSpPr>
          <p:cNvPr id="1399" name="Google Shape;1399;p33"/>
          <p:cNvSpPr/>
          <p:nvPr/>
        </p:nvSpPr>
        <p:spPr>
          <a:xfrm>
            <a:off x="1024128" y="378561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Implement the Web Push API service worker handler and FastAPI push-sending endpoint to deliver scheduled expiry alerts to the user's device. The notification records are already being created in the database — push delivery is the missing last step in the inventory tracking flow.</a:t>
            </a:r>
            <a:endParaRPr b="0" i="0" sz="1050" u="none" cap="none" strike="noStrike">
              <a:solidFill>
                <a:schemeClr val="dk1"/>
              </a:solidFill>
              <a:latin typeface="Calibri"/>
              <a:ea typeface="Calibri"/>
              <a:cs typeface="Calibri"/>
              <a:sym typeface="Calibri"/>
            </a:endParaRPr>
          </a:p>
        </p:txBody>
      </p:sp>
      <p:sp>
        <p:nvSpPr>
          <p:cNvPr id="1400" name="Google Shape;1400;p33"/>
          <p:cNvSpPr/>
          <p:nvPr/>
        </p:nvSpPr>
        <p:spPr>
          <a:xfrm>
            <a:off x="346750" y="4297674"/>
            <a:ext cx="8413200" cy="822900"/>
          </a:xfrm>
          <a:prstGeom prst="roundRect">
            <a:avLst>
              <a:gd fmla="val 15385" name="adj"/>
            </a:avLst>
          </a:prstGeom>
          <a:solidFill>
            <a:srgbClr val="F4F7F9"/>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3"/>
          <p:cNvSpPr/>
          <p:nvPr/>
        </p:nvSpPr>
        <p:spPr>
          <a:xfrm>
            <a:off x="493776" y="4453128"/>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3"/>
          <p:cNvSpPr/>
          <p:nvPr/>
        </p:nvSpPr>
        <p:spPr>
          <a:xfrm>
            <a:off x="493776" y="445312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1403" name="Google Shape;1403;p33"/>
          <p:cNvSpPr/>
          <p:nvPr/>
        </p:nvSpPr>
        <p:spPr>
          <a:xfrm>
            <a:off x="1024128" y="4352544"/>
            <a:ext cx="7589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200"/>
              <a:buFont typeface="Calibri"/>
              <a:buNone/>
            </a:pPr>
            <a:r>
              <a:rPr b="1" i="0" lang="en-US" sz="1200" u="none" cap="none" strike="noStrike">
                <a:solidFill>
                  <a:srgbClr val="1A2B4A"/>
                </a:solidFill>
                <a:latin typeface="Calibri"/>
                <a:ea typeface="Calibri"/>
                <a:cs typeface="Calibri"/>
                <a:sym typeface="Calibri"/>
              </a:rPr>
              <a:t>Longitudinal Spoilage Validation Study</a:t>
            </a:r>
            <a:endParaRPr b="0" i="0" sz="1200" u="none" cap="none" strike="noStrike">
              <a:solidFill>
                <a:schemeClr val="dk1"/>
              </a:solidFill>
              <a:latin typeface="Calibri"/>
              <a:ea typeface="Calibri"/>
              <a:cs typeface="Calibri"/>
              <a:sym typeface="Calibri"/>
            </a:endParaRPr>
          </a:p>
        </p:txBody>
      </p:sp>
      <p:sp>
        <p:nvSpPr>
          <p:cNvPr id="1404" name="Google Shape;1404;p33"/>
          <p:cNvSpPr/>
          <p:nvPr/>
        </p:nvSpPr>
        <p:spPr>
          <a:xfrm>
            <a:off x="1024128" y="4608576"/>
            <a:ext cx="7589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1050"/>
              <a:buFont typeface="Calibri"/>
              <a:buNone/>
            </a:pPr>
            <a:r>
              <a:rPr b="0" i="0" lang="en-US" sz="1050" u="none" cap="none" strike="noStrike">
                <a:solidFill>
                  <a:srgbClr val="4A5568"/>
                </a:solidFill>
                <a:latin typeface="Calibri"/>
                <a:ea typeface="Calibri"/>
                <a:cs typeface="Calibri"/>
                <a:sym typeface="Calibri"/>
              </a:rPr>
              <a:t>Purchase 200 units each of 10 fruit varieties. Photograph and score each unit daily from purchase to visible spoilage. Compare Fresco's day-0 shelf-life estimate against the actual observed spoilage date. This would produce the first empirical validation of the multi-factor formula against real spoilage trajectories, supporting a research publication.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409" name="Shape 1409"/>
        <p:cNvGrpSpPr/>
        <p:nvPr/>
      </p:nvGrpSpPr>
      <p:grpSpPr>
        <a:xfrm>
          <a:off x="0" y="0"/>
          <a:ext cx="0" cy="0"/>
          <a:chOff x="0" y="0"/>
          <a:chExt cx="0" cy="0"/>
        </a:xfrm>
      </p:grpSpPr>
      <p:sp>
        <p:nvSpPr>
          <p:cNvPr id="1410" name="Google Shape;1410;p34"/>
          <p:cNvSpPr/>
          <p:nvPr/>
        </p:nvSpPr>
        <p:spPr>
          <a:xfrm rot="-900000">
            <a:off x="7863840" y="182880"/>
            <a:ext cx="777240" cy="201168"/>
          </a:xfrm>
          <a:prstGeom prst="rect">
            <a:avLst/>
          </a:prstGeom>
          <a:solidFill>
            <a:srgbClr val="1A2B4A">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4"/>
          <p:cNvSpPr/>
          <p:nvPr/>
        </p:nvSpPr>
        <p:spPr>
          <a:xfrm rot="-900000">
            <a:off x="8065008" y="274320"/>
            <a:ext cx="777240" cy="201168"/>
          </a:xfrm>
          <a:prstGeom prst="rect">
            <a:avLst/>
          </a:prstGeom>
          <a:solidFill>
            <a:srgbClr val="3B5FA0">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4"/>
          <p:cNvSpPr/>
          <p:nvPr/>
        </p:nvSpPr>
        <p:spPr>
          <a:xfrm rot="-900000">
            <a:off x="8266176" y="365760"/>
            <a:ext cx="777240" cy="201168"/>
          </a:xfrm>
          <a:prstGeom prst="rect">
            <a:avLst/>
          </a:prstGeom>
          <a:solidFill>
            <a:srgbClr val="3A8C7E">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4"/>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References</a:t>
            </a:r>
            <a:endParaRPr b="0" i="0" sz="2800" u="none" cap="none" strike="noStrike">
              <a:solidFill>
                <a:schemeClr val="dk1"/>
              </a:solidFill>
              <a:latin typeface="Calibri"/>
              <a:ea typeface="Calibri"/>
              <a:cs typeface="Calibri"/>
              <a:sym typeface="Calibri"/>
            </a:endParaRPr>
          </a:p>
        </p:txBody>
      </p:sp>
      <p:cxnSp>
        <p:nvCxnSpPr>
          <p:cNvPr id="1414" name="Google Shape;1414;p34"/>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415" name="Google Shape;1415;p34"/>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416" name="Google Shape;1416;p34"/>
          <p:cNvSpPr/>
          <p:nvPr/>
        </p:nvSpPr>
        <p:spPr>
          <a:xfrm>
            <a:off x="411480" y="1005840"/>
            <a:ext cx="4160520" cy="3950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FAO. (2019). The State of Food and Agriculture 2019: Moving Forward on Food Loss and Waste Reduction. Food and Agriculture Organization of the United Nations.</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Fu, L., Sun, S., Li, R., &amp; Wang, S. (2022). Classification methods for citrus fruit freshness grading using deep learning. Computers and Electronics in Agriculture, 193, 106679.</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Hu, G., Zhang, K., &amp; Wang, L. (2024). Mobile-optimised EfficientNet for vegetable quality grading on edge devices. Expert Systems with Applications, 238, 121872.</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Jay, J. M., Loessner, M. J., &amp; Golden, D. A. (2005). Modern Food Microbiology (7th ed.). Springer.</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Kader, A. A. (Ed.). (2002). Postharvest Technology of Horticultural Crops (3rd ed.). University of California Agriculture and Natural Resources.</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Mureșan, H., &amp; Oltean, M. (2018). Fruit recognition from images using deep learning. Acta Universitatis Sapientiae Informatica, 10(1), 26–42.</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Patel, R., Desai, A., &amp; Shah, P. (2024). Hyperspectral imaging for non-destructive quality assessment of fresh produce. Journal of Food Science, 89(3), 1234–1248.</a:t>
            </a:r>
            <a:endParaRPr b="0" i="0" sz="950" u="none" cap="none" strike="noStrike">
              <a:solidFill>
                <a:schemeClr val="dk1"/>
              </a:solidFill>
              <a:latin typeface="Calibri"/>
              <a:ea typeface="Calibri"/>
              <a:cs typeface="Calibri"/>
              <a:sym typeface="Calibri"/>
            </a:endParaRPr>
          </a:p>
        </p:txBody>
      </p:sp>
      <p:sp>
        <p:nvSpPr>
          <p:cNvPr id="1417" name="Google Shape;1417;p34"/>
          <p:cNvSpPr/>
          <p:nvPr/>
        </p:nvSpPr>
        <p:spPr>
          <a:xfrm>
            <a:off x="4663440" y="1005840"/>
            <a:ext cx="4114800" cy="39502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Saltveit, M. E. (1999). Effect of ethylene on quality of fresh fruits and vegetables. Postharvest Biology and Technology, 15(3), 279–292.</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Sandler, M., Howard, A., Zhu, M., Zhmoginov, A., &amp; Chen, L.-C. (2018). MobileNetV2: Inverted residuals and linear bottlenecks. Proceedings of the IEEE CVPR, 4510–4520.</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Tournas, V. H. (2005). Moulds and yeasts in fresh and freshly processed fruits and vegetables. Microbial Ecology in Health and Disease, 17(1), 27–33.</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Vasquez, R., Torres, J., &amp; Mendoza, P. (2024). Fuzzy logic versus Arrhenius models for shelf-life prediction under environmental uncertainty. Journal of Food Engineering, 367, 111892.</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Wang, Z., Li, M., &amp; Zhao, R. (2025). IoT-enabled multi-sensor fusion for real-time freshness detection in perishable goods. Sensors and Actuators B: Chemical, 398, 134723.</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Watkins, C. B. (2006). The use of 1-methylcyclopropene (1-MCP) on fruits and vegetables. Biotechnology Advances, 24(4), 389–409.</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200"/>
              </a:spcBef>
              <a:spcAft>
                <a:spcPts val="0"/>
              </a:spcAft>
              <a:buClr>
                <a:srgbClr val="4A5568"/>
              </a:buClr>
              <a:buSzPts val="950"/>
              <a:buFont typeface="Calibri"/>
              <a:buNone/>
            </a:pPr>
            <a:r>
              <a:rPr b="0" i="0" lang="en-US" sz="950" u="none" cap="none" strike="noStrike">
                <a:solidFill>
                  <a:srgbClr val="4A5568"/>
                </a:solidFill>
                <a:latin typeface="Calibri"/>
                <a:ea typeface="Calibri"/>
                <a:cs typeface="Calibri"/>
                <a:sym typeface="Calibri"/>
              </a:rPr>
              <a:t>Zadeh, L. A. (1965). Fuzzy sets. Information and Control, 8(3), 338–353.</a:t>
            </a:r>
            <a:endParaRPr b="0" i="0" sz="950" u="none" cap="none" strike="noStrike">
              <a:solidFill>
                <a:schemeClr val="dk1"/>
              </a:solidFill>
              <a:latin typeface="Calibri"/>
              <a:ea typeface="Calibri"/>
              <a:cs typeface="Calibri"/>
              <a:sym typeface="Calibri"/>
            </a:endParaRPr>
          </a:p>
        </p:txBody>
      </p:sp>
      <p:cxnSp>
        <p:nvCxnSpPr>
          <p:cNvPr id="1418" name="Google Shape;1418;p34"/>
          <p:cNvCxnSpPr/>
          <p:nvPr/>
        </p:nvCxnSpPr>
        <p:spPr>
          <a:xfrm>
            <a:off x="4517136" y="1005840"/>
            <a:ext cx="0" cy="3950208"/>
          </a:xfrm>
          <a:prstGeom prst="straightConnector1">
            <a:avLst/>
          </a:prstGeom>
          <a:noFill/>
          <a:ln cap="flat" cmpd="sng" w="9525">
            <a:solidFill>
              <a:srgbClr val="CBD5E1"/>
            </a:solidFill>
            <a:prstDash val="solid"/>
            <a:round/>
            <a:headEnd len="sm" w="sm" type="none"/>
            <a:tailEnd len="sm" w="sm"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BEBEB"/>
        </a:solidFill>
      </p:bgPr>
    </p:bg>
    <p:spTree>
      <p:nvGrpSpPr>
        <p:cNvPr id="1423" name="Shape 1423"/>
        <p:cNvGrpSpPr/>
        <p:nvPr/>
      </p:nvGrpSpPr>
      <p:grpSpPr>
        <a:xfrm>
          <a:off x="0" y="0"/>
          <a:ext cx="0" cy="0"/>
          <a:chOff x="0" y="0"/>
          <a:chExt cx="0" cy="0"/>
        </a:xfrm>
      </p:grpSpPr>
      <p:sp>
        <p:nvSpPr>
          <p:cNvPr id="1424" name="Google Shape;1424;p35"/>
          <p:cNvSpPr/>
          <p:nvPr/>
        </p:nvSpPr>
        <p:spPr>
          <a:xfrm>
            <a:off x="8092440"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5"/>
          <p:cNvSpPr/>
          <p:nvPr/>
        </p:nvSpPr>
        <p:spPr>
          <a:xfrm>
            <a:off x="8293608"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5"/>
          <p:cNvSpPr/>
          <p:nvPr/>
        </p:nvSpPr>
        <p:spPr>
          <a:xfrm>
            <a:off x="8494776"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5"/>
          <p:cNvSpPr/>
          <p:nvPr/>
        </p:nvSpPr>
        <p:spPr>
          <a:xfrm>
            <a:off x="8695944"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5"/>
          <p:cNvSpPr/>
          <p:nvPr/>
        </p:nvSpPr>
        <p:spPr>
          <a:xfrm>
            <a:off x="8897112" y="27432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5"/>
          <p:cNvSpPr/>
          <p:nvPr/>
        </p:nvSpPr>
        <p:spPr>
          <a:xfrm>
            <a:off x="8092440"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5"/>
          <p:cNvSpPr/>
          <p:nvPr/>
        </p:nvSpPr>
        <p:spPr>
          <a:xfrm>
            <a:off x="8293608"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5"/>
          <p:cNvSpPr/>
          <p:nvPr/>
        </p:nvSpPr>
        <p:spPr>
          <a:xfrm>
            <a:off x="8494776"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5"/>
          <p:cNvSpPr/>
          <p:nvPr/>
        </p:nvSpPr>
        <p:spPr>
          <a:xfrm>
            <a:off x="8695944"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5"/>
          <p:cNvSpPr/>
          <p:nvPr/>
        </p:nvSpPr>
        <p:spPr>
          <a:xfrm>
            <a:off x="8897112" y="47548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5"/>
          <p:cNvSpPr/>
          <p:nvPr/>
        </p:nvSpPr>
        <p:spPr>
          <a:xfrm>
            <a:off x="8092440"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5"/>
          <p:cNvSpPr/>
          <p:nvPr/>
        </p:nvSpPr>
        <p:spPr>
          <a:xfrm>
            <a:off x="8293608"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5"/>
          <p:cNvSpPr/>
          <p:nvPr/>
        </p:nvSpPr>
        <p:spPr>
          <a:xfrm>
            <a:off x="8494776"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5"/>
          <p:cNvSpPr/>
          <p:nvPr/>
        </p:nvSpPr>
        <p:spPr>
          <a:xfrm>
            <a:off x="8695944"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5"/>
          <p:cNvSpPr/>
          <p:nvPr/>
        </p:nvSpPr>
        <p:spPr>
          <a:xfrm>
            <a:off x="8897112" y="67665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5"/>
          <p:cNvSpPr/>
          <p:nvPr/>
        </p:nvSpPr>
        <p:spPr>
          <a:xfrm>
            <a:off x="8092440"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5"/>
          <p:cNvSpPr/>
          <p:nvPr/>
        </p:nvSpPr>
        <p:spPr>
          <a:xfrm>
            <a:off x="8293608"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5"/>
          <p:cNvSpPr/>
          <p:nvPr/>
        </p:nvSpPr>
        <p:spPr>
          <a:xfrm>
            <a:off x="8494776"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5"/>
          <p:cNvSpPr/>
          <p:nvPr/>
        </p:nvSpPr>
        <p:spPr>
          <a:xfrm>
            <a:off x="8695944"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5"/>
          <p:cNvSpPr/>
          <p:nvPr/>
        </p:nvSpPr>
        <p:spPr>
          <a:xfrm>
            <a:off x="8897112" y="87782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5"/>
          <p:cNvSpPr/>
          <p:nvPr/>
        </p:nvSpPr>
        <p:spPr>
          <a:xfrm>
            <a:off x="8092440"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a:off x="8293608"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5"/>
          <p:cNvSpPr/>
          <p:nvPr/>
        </p:nvSpPr>
        <p:spPr>
          <a:xfrm>
            <a:off x="8494776"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5"/>
          <p:cNvSpPr/>
          <p:nvPr/>
        </p:nvSpPr>
        <p:spPr>
          <a:xfrm>
            <a:off x="8695944"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8897112" y="107899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49" name="Google Shape;1449;p35"/>
          <p:cNvCxnSpPr/>
          <p:nvPr/>
        </p:nvCxnSpPr>
        <p:spPr>
          <a:xfrm rot="-2700000">
            <a:off x="182880"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50" name="Google Shape;1450;p35"/>
          <p:cNvCxnSpPr/>
          <p:nvPr/>
        </p:nvCxnSpPr>
        <p:spPr>
          <a:xfrm rot="-2700000">
            <a:off x="347472"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51" name="Google Shape;1451;p35"/>
          <p:cNvCxnSpPr/>
          <p:nvPr/>
        </p:nvCxnSpPr>
        <p:spPr>
          <a:xfrm rot="-2700000">
            <a:off x="512064"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52" name="Google Shape;1452;p35"/>
          <p:cNvCxnSpPr/>
          <p:nvPr/>
        </p:nvCxnSpPr>
        <p:spPr>
          <a:xfrm rot="-2700000">
            <a:off x="676656"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53" name="Google Shape;1453;p35"/>
          <p:cNvCxnSpPr/>
          <p:nvPr/>
        </p:nvCxnSpPr>
        <p:spPr>
          <a:xfrm rot="-2700000">
            <a:off x="841248"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54" name="Google Shape;1454;p35"/>
          <p:cNvCxnSpPr/>
          <p:nvPr/>
        </p:nvCxnSpPr>
        <p:spPr>
          <a:xfrm rot="-2700000">
            <a:off x="1005840"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cxnSp>
        <p:nvCxnSpPr>
          <p:cNvPr id="1455" name="Google Shape;1455;p35"/>
          <p:cNvCxnSpPr/>
          <p:nvPr/>
        </p:nvCxnSpPr>
        <p:spPr>
          <a:xfrm rot="-2700000">
            <a:off x="1170432" y="3840480"/>
            <a:ext cx="457200" cy="0"/>
          </a:xfrm>
          <a:prstGeom prst="straightConnector1">
            <a:avLst/>
          </a:prstGeom>
          <a:noFill/>
          <a:ln cap="flat" cmpd="sng" w="12700">
            <a:solidFill>
              <a:srgbClr val="1A2B4A">
                <a:alpha val="27843"/>
              </a:srgbClr>
            </a:solidFill>
            <a:prstDash val="solid"/>
            <a:round/>
            <a:headEnd len="sm" w="sm" type="none"/>
            <a:tailEnd len="sm" w="sm" type="none"/>
          </a:ln>
        </p:spPr>
      </p:cxnSp>
      <p:sp>
        <p:nvSpPr>
          <p:cNvPr id="1456" name="Google Shape;1456;p35"/>
          <p:cNvSpPr/>
          <p:nvPr/>
        </p:nvSpPr>
        <p:spPr>
          <a:xfrm>
            <a:off x="411480" y="292608"/>
            <a:ext cx="8321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2800"/>
              <a:buFont typeface="Cambria"/>
              <a:buNone/>
            </a:pPr>
            <a:r>
              <a:rPr b="1" i="0" lang="en-US" sz="2800" u="none" cap="none" strike="noStrike">
                <a:solidFill>
                  <a:srgbClr val="1A2B4A"/>
                </a:solidFill>
                <a:latin typeface="Cambria"/>
                <a:ea typeface="Cambria"/>
                <a:cs typeface="Cambria"/>
                <a:sym typeface="Cambria"/>
              </a:rPr>
              <a:t>Definition of Terms (cont.)</a:t>
            </a:r>
            <a:endParaRPr b="0" i="0" sz="2800" u="none" cap="none" strike="noStrike">
              <a:solidFill>
                <a:schemeClr val="dk1"/>
              </a:solidFill>
              <a:latin typeface="Calibri"/>
              <a:ea typeface="Calibri"/>
              <a:cs typeface="Calibri"/>
              <a:sym typeface="Calibri"/>
            </a:endParaRPr>
          </a:p>
        </p:txBody>
      </p:sp>
      <p:cxnSp>
        <p:nvCxnSpPr>
          <p:cNvPr id="1457" name="Google Shape;1457;p35"/>
          <p:cNvCxnSpPr/>
          <p:nvPr/>
        </p:nvCxnSpPr>
        <p:spPr>
          <a:xfrm>
            <a:off x="411480" y="868680"/>
            <a:ext cx="8229600" cy="0"/>
          </a:xfrm>
          <a:prstGeom prst="straightConnector1">
            <a:avLst/>
          </a:prstGeom>
          <a:noFill/>
          <a:ln cap="flat" cmpd="sng" w="19050">
            <a:solidFill>
              <a:srgbClr val="3A8C7E">
                <a:alpha val="60000"/>
              </a:srgbClr>
            </a:solidFill>
            <a:prstDash val="solid"/>
            <a:round/>
            <a:headEnd len="sm" w="sm" type="none"/>
            <a:tailEnd len="sm" w="sm" type="none"/>
          </a:ln>
        </p:spPr>
      </p:cxnSp>
      <p:cxnSp>
        <p:nvCxnSpPr>
          <p:cNvPr id="1458" name="Google Shape;1458;p35"/>
          <p:cNvCxnSpPr/>
          <p:nvPr/>
        </p:nvCxnSpPr>
        <p:spPr>
          <a:xfrm>
            <a:off x="411480" y="950976"/>
            <a:ext cx="8229600" cy="0"/>
          </a:xfrm>
          <a:prstGeom prst="straightConnector1">
            <a:avLst/>
          </a:prstGeom>
          <a:noFill/>
          <a:ln cap="flat" cmpd="sng" w="10150">
            <a:solidFill>
              <a:srgbClr val="1A2B4A">
                <a:alpha val="45098"/>
              </a:srgbClr>
            </a:solidFill>
            <a:prstDash val="solid"/>
            <a:round/>
            <a:headEnd len="sm" w="sm" type="none"/>
            <a:tailEnd len="sm" w="sm" type="none"/>
          </a:ln>
        </p:spPr>
      </p:cxnSp>
      <p:sp>
        <p:nvSpPr>
          <p:cNvPr id="1459" name="Google Shape;1459;p35"/>
          <p:cNvSpPr/>
          <p:nvPr/>
        </p:nvSpPr>
        <p:spPr>
          <a:xfrm>
            <a:off x="484632" y="100584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5"/>
          <p:cNvSpPr/>
          <p:nvPr/>
        </p:nvSpPr>
        <p:spPr>
          <a:xfrm>
            <a:off x="484632" y="10058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IX</a:t>
            </a:r>
            <a:endParaRPr b="0" i="0" sz="1100" u="none" cap="none" strike="noStrike">
              <a:solidFill>
                <a:schemeClr val="dk1"/>
              </a:solidFill>
              <a:latin typeface="Calibri"/>
              <a:ea typeface="Calibri"/>
              <a:cs typeface="Calibri"/>
              <a:sym typeface="Calibri"/>
            </a:endParaRPr>
          </a:p>
        </p:txBody>
      </p:sp>
      <p:sp>
        <p:nvSpPr>
          <p:cNvPr id="1461" name="Google Shape;1461;p35"/>
          <p:cNvSpPr/>
          <p:nvPr/>
        </p:nvSpPr>
        <p:spPr>
          <a:xfrm>
            <a:off x="1005840" y="100584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FastAPI</a:t>
            </a:r>
            <a:endParaRPr b="0" i="0" sz="1300" u="none" cap="none" strike="noStrike">
              <a:solidFill>
                <a:schemeClr val="dk1"/>
              </a:solidFill>
              <a:latin typeface="Calibri"/>
              <a:ea typeface="Calibri"/>
              <a:cs typeface="Calibri"/>
              <a:sym typeface="Calibri"/>
            </a:endParaRPr>
          </a:p>
        </p:txBody>
      </p:sp>
      <p:sp>
        <p:nvSpPr>
          <p:cNvPr id="1462" name="Google Shape;1462;p35"/>
          <p:cNvSpPr/>
          <p:nvPr/>
        </p:nvSpPr>
        <p:spPr>
          <a:xfrm>
            <a:off x="1005840" y="126187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Python asynchronous web framework used to expose the trained model and business logic as a REST JSON API. Auto-generates OpenAPI documentation from type annotations. Handles concurrent scan requests without blocking through asyncio.</a:t>
            </a:r>
            <a:endParaRPr b="0" i="0" sz="1150" u="none" cap="none" strike="noStrike">
              <a:solidFill>
                <a:schemeClr val="dk1"/>
              </a:solidFill>
              <a:latin typeface="Calibri"/>
              <a:ea typeface="Calibri"/>
              <a:cs typeface="Calibri"/>
              <a:sym typeface="Calibri"/>
            </a:endParaRPr>
          </a:p>
        </p:txBody>
      </p:sp>
      <p:sp>
        <p:nvSpPr>
          <p:cNvPr id="1463" name="Google Shape;1463;p35"/>
          <p:cNvSpPr/>
          <p:nvPr/>
        </p:nvSpPr>
        <p:spPr>
          <a:xfrm>
            <a:off x="484632" y="196596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5"/>
          <p:cNvSpPr/>
          <p:nvPr/>
        </p:nvSpPr>
        <p:spPr>
          <a:xfrm>
            <a:off x="484632" y="19659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X</a:t>
            </a:r>
            <a:endParaRPr b="0" i="0" sz="1100" u="none" cap="none" strike="noStrike">
              <a:solidFill>
                <a:schemeClr val="dk1"/>
              </a:solidFill>
              <a:latin typeface="Calibri"/>
              <a:ea typeface="Calibri"/>
              <a:cs typeface="Calibri"/>
              <a:sym typeface="Calibri"/>
            </a:endParaRPr>
          </a:p>
        </p:txBody>
      </p:sp>
      <p:sp>
        <p:nvSpPr>
          <p:cNvPr id="1465" name="Google Shape;1465;p35"/>
          <p:cNvSpPr/>
          <p:nvPr/>
        </p:nvSpPr>
        <p:spPr>
          <a:xfrm>
            <a:off x="1005840" y="196596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SQLAlchemy 2.0 (ORM)</a:t>
            </a:r>
            <a:endParaRPr b="0" i="0" sz="1300" u="none" cap="none" strike="noStrike">
              <a:solidFill>
                <a:schemeClr val="dk1"/>
              </a:solidFill>
              <a:latin typeface="Calibri"/>
              <a:ea typeface="Calibri"/>
              <a:cs typeface="Calibri"/>
              <a:sym typeface="Calibri"/>
            </a:endParaRPr>
          </a:p>
        </p:txBody>
      </p:sp>
      <p:sp>
        <p:nvSpPr>
          <p:cNvPr id="1466" name="Google Shape;1466;p35"/>
          <p:cNvSpPr/>
          <p:nvPr/>
        </p:nvSpPr>
        <p:spPr>
          <a:xfrm>
            <a:off x="1005840" y="222199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Object-Relational Mapper that abstracts database differences. Allows Fresco to run against MySQL in development, PostgreSQL in production, and SQLite for testing using identical application code — via a URL normalisation function at startup.</a:t>
            </a:r>
            <a:endParaRPr b="0" i="0" sz="1150" u="none" cap="none" strike="noStrike">
              <a:solidFill>
                <a:schemeClr val="dk1"/>
              </a:solidFill>
              <a:latin typeface="Calibri"/>
              <a:ea typeface="Calibri"/>
              <a:cs typeface="Calibri"/>
              <a:sym typeface="Calibri"/>
            </a:endParaRPr>
          </a:p>
        </p:txBody>
      </p:sp>
      <p:sp>
        <p:nvSpPr>
          <p:cNvPr id="1467" name="Google Shape;1467;p35"/>
          <p:cNvSpPr/>
          <p:nvPr/>
        </p:nvSpPr>
        <p:spPr>
          <a:xfrm>
            <a:off x="484632" y="292608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5"/>
          <p:cNvSpPr/>
          <p:nvPr/>
        </p:nvSpPr>
        <p:spPr>
          <a:xfrm>
            <a:off x="484632" y="292608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XI</a:t>
            </a:r>
            <a:endParaRPr b="0" i="0" sz="1100" u="none" cap="none" strike="noStrike">
              <a:solidFill>
                <a:schemeClr val="dk1"/>
              </a:solidFill>
              <a:latin typeface="Calibri"/>
              <a:ea typeface="Calibri"/>
              <a:cs typeface="Calibri"/>
              <a:sym typeface="Calibri"/>
            </a:endParaRPr>
          </a:p>
        </p:txBody>
      </p:sp>
      <p:sp>
        <p:nvSpPr>
          <p:cNvPr id="1469" name="Google Shape;1469;p35"/>
          <p:cNvSpPr/>
          <p:nvPr/>
        </p:nvSpPr>
        <p:spPr>
          <a:xfrm>
            <a:off x="1005840" y="292608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JWT Authentication</a:t>
            </a:r>
            <a:endParaRPr b="0" i="0" sz="1300" u="none" cap="none" strike="noStrike">
              <a:solidFill>
                <a:schemeClr val="dk1"/>
              </a:solidFill>
              <a:latin typeface="Calibri"/>
              <a:ea typeface="Calibri"/>
              <a:cs typeface="Calibri"/>
              <a:sym typeface="Calibri"/>
            </a:endParaRPr>
          </a:p>
        </p:txBody>
      </p:sp>
      <p:sp>
        <p:nvSpPr>
          <p:cNvPr id="1470" name="Google Shape;1470;p35"/>
          <p:cNvSpPr/>
          <p:nvPr/>
        </p:nvSpPr>
        <p:spPr>
          <a:xfrm>
            <a:off x="1005840" y="318211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JSON Web Token — a signed, stateless authentication credential. Fresco issues a 30-minute JWT on login, signed with HS256. Protected endpoints verify the token signature cryptographically; no session state is stored on the server.</a:t>
            </a:r>
            <a:endParaRPr b="0" i="0" sz="1150" u="none" cap="none" strike="noStrike">
              <a:solidFill>
                <a:schemeClr val="dk1"/>
              </a:solidFill>
              <a:latin typeface="Calibri"/>
              <a:ea typeface="Calibri"/>
              <a:cs typeface="Calibri"/>
              <a:sym typeface="Calibri"/>
            </a:endParaRPr>
          </a:p>
        </p:txBody>
      </p:sp>
      <p:sp>
        <p:nvSpPr>
          <p:cNvPr id="1471" name="Google Shape;1471;p35"/>
          <p:cNvSpPr/>
          <p:nvPr/>
        </p:nvSpPr>
        <p:spPr>
          <a:xfrm>
            <a:off x="484632" y="3886200"/>
            <a:ext cx="402336" cy="402336"/>
          </a:xfrm>
          <a:prstGeom prst="ellipse">
            <a:avLst/>
          </a:prstGeom>
          <a:solidFill>
            <a:srgbClr val="3A8C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5"/>
          <p:cNvSpPr/>
          <p:nvPr/>
        </p:nvSpPr>
        <p:spPr>
          <a:xfrm>
            <a:off x="484632" y="388620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XII</a:t>
            </a:r>
            <a:endParaRPr b="0" i="0" sz="1100" u="none" cap="none" strike="noStrike">
              <a:solidFill>
                <a:schemeClr val="dk1"/>
              </a:solidFill>
              <a:latin typeface="Calibri"/>
              <a:ea typeface="Calibri"/>
              <a:cs typeface="Calibri"/>
              <a:sym typeface="Calibri"/>
            </a:endParaRPr>
          </a:p>
        </p:txBody>
      </p:sp>
      <p:sp>
        <p:nvSpPr>
          <p:cNvPr id="1473" name="Google Shape;1473;p35"/>
          <p:cNvSpPr/>
          <p:nvPr/>
        </p:nvSpPr>
        <p:spPr>
          <a:xfrm>
            <a:off x="1005840" y="3886200"/>
            <a:ext cx="7680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B4A"/>
              </a:buClr>
              <a:buSzPts val="1300"/>
              <a:buFont typeface="Calibri"/>
              <a:buNone/>
            </a:pPr>
            <a:r>
              <a:rPr b="1" i="0" lang="en-US" sz="1300" u="none" cap="none" strike="noStrike">
                <a:solidFill>
                  <a:srgbClr val="1A2B4A"/>
                </a:solidFill>
                <a:latin typeface="Calibri"/>
                <a:ea typeface="Calibri"/>
                <a:cs typeface="Calibri"/>
                <a:sym typeface="Calibri"/>
              </a:rPr>
              <a:t>Progressive Web App (PWA)</a:t>
            </a:r>
            <a:endParaRPr b="0" i="0" sz="1300" u="none" cap="none" strike="noStrike">
              <a:solidFill>
                <a:schemeClr val="dk1"/>
              </a:solidFill>
              <a:latin typeface="Calibri"/>
              <a:ea typeface="Calibri"/>
              <a:cs typeface="Calibri"/>
              <a:sym typeface="Calibri"/>
            </a:endParaRPr>
          </a:p>
        </p:txBody>
      </p:sp>
      <p:sp>
        <p:nvSpPr>
          <p:cNvPr id="1474" name="Google Shape;1474;p35"/>
          <p:cNvSpPr/>
          <p:nvPr/>
        </p:nvSpPr>
        <p:spPr>
          <a:xfrm>
            <a:off x="1005840" y="4142232"/>
            <a:ext cx="7635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568"/>
              </a:buClr>
              <a:buSzPts val="1150"/>
              <a:buFont typeface="Calibri"/>
              <a:buNone/>
            </a:pPr>
            <a:r>
              <a:rPr b="0" i="0" lang="en-US" sz="1150" u="none" cap="none" strike="noStrike">
                <a:solidFill>
                  <a:srgbClr val="4A5568"/>
                </a:solidFill>
                <a:latin typeface="Calibri"/>
                <a:ea typeface="Calibri"/>
                <a:cs typeface="Calibri"/>
                <a:sym typeface="Calibri"/>
              </a:rPr>
              <a:t>A web application that meets the three criteria: served over HTTPS, has a Web App Manifest, and registers a Service Worker. When these criteria are met, modern browsers offer the 'Add to Home Screen' prompt — enabling installation without an app store.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B4A"/>
        </a:solidFill>
      </p:bgPr>
    </p:bg>
    <p:spTree>
      <p:nvGrpSpPr>
        <p:cNvPr id="1479" name="Shape 1479"/>
        <p:cNvGrpSpPr/>
        <p:nvPr/>
      </p:nvGrpSpPr>
      <p:grpSpPr>
        <a:xfrm>
          <a:off x="0" y="0"/>
          <a:ext cx="0" cy="0"/>
          <a:chOff x="0" y="0"/>
          <a:chExt cx="0" cy="0"/>
        </a:xfrm>
      </p:grpSpPr>
      <p:sp>
        <p:nvSpPr>
          <p:cNvPr id="1480" name="Google Shape;1480;p36"/>
          <p:cNvSpPr/>
          <p:nvPr/>
        </p:nvSpPr>
        <p:spPr>
          <a:xfrm>
            <a:off x="-640080" y="91440"/>
            <a:ext cx="2560320" cy="2560320"/>
          </a:xfrm>
          <a:prstGeom prst="ellipse">
            <a:avLst/>
          </a:prstGeom>
          <a:noFill/>
          <a:ln cap="flat" cmpd="sng" w="19050">
            <a:solidFill>
              <a:srgbClr val="1A2B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6"/>
          <p:cNvSpPr/>
          <p:nvPr/>
        </p:nvSpPr>
        <p:spPr>
          <a:xfrm>
            <a:off x="-217627" y="513893"/>
            <a:ext cx="1715414" cy="1715414"/>
          </a:xfrm>
          <a:prstGeom prst="ellipse">
            <a:avLst/>
          </a:prstGeom>
          <a:noFill/>
          <a:ln cap="flat" cmpd="sng" w="19050">
            <a:solidFill>
              <a:srgbClr val="3B5FA0">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6"/>
          <p:cNvSpPr/>
          <p:nvPr/>
        </p:nvSpPr>
        <p:spPr>
          <a:xfrm>
            <a:off x="153619" y="885139"/>
            <a:ext cx="972922" cy="972922"/>
          </a:xfrm>
          <a:prstGeom prst="ellipse">
            <a:avLst/>
          </a:prstGeom>
          <a:noFill/>
          <a:ln cap="flat" cmpd="sng" w="19050">
            <a:solidFill>
              <a:srgbClr val="3A8C7E">
                <a:alpha val="3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6"/>
          <p:cNvSpPr/>
          <p:nvPr/>
        </p:nvSpPr>
        <p:spPr>
          <a:xfrm>
            <a:off x="8092440"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6"/>
          <p:cNvSpPr/>
          <p:nvPr/>
        </p:nvSpPr>
        <p:spPr>
          <a:xfrm>
            <a:off x="8293608"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6"/>
          <p:cNvSpPr/>
          <p:nvPr/>
        </p:nvSpPr>
        <p:spPr>
          <a:xfrm>
            <a:off x="8494776"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6"/>
          <p:cNvSpPr/>
          <p:nvPr/>
        </p:nvSpPr>
        <p:spPr>
          <a:xfrm>
            <a:off x="8695944"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6"/>
          <p:cNvSpPr/>
          <p:nvPr/>
        </p:nvSpPr>
        <p:spPr>
          <a:xfrm>
            <a:off x="8897112" y="4114800"/>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6"/>
          <p:cNvSpPr/>
          <p:nvPr/>
        </p:nvSpPr>
        <p:spPr>
          <a:xfrm>
            <a:off x="8092440"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6"/>
          <p:cNvSpPr/>
          <p:nvPr/>
        </p:nvSpPr>
        <p:spPr>
          <a:xfrm>
            <a:off x="8293608"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6"/>
          <p:cNvSpPr/>
          <p:nvPr/>
        </p:nvSpPr>
        <p:spPr>
          <a:xfrm>
            <a:off x="8494776"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6"/>
          <p:cNvSpPr/>
          <p:nvPr/>
        </p:nvSpPr>
        <p:spPr>
          <a:xfrm>
            <a:off x="8695944"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6"/>
          <p:cNvSpPr/>
          <p:nvPr/>
        </p:nvSpPr>
        <p:spPr>
          <a:xfrm>
            <a:off x="8897112" y="4315968"/>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6"/>
          <p:cNvSpPr/>
          <p:nvPr/>
        </p:nvSpPr>
        <p:spPr>
          <a:xfrm>
            <a:off x="8092440"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6"/>
          <p:cNvSpPr/>
          <p:nvPr/>
        </p:nvSpPr>
        <p:spPr>
          <a:xfrm>
            <a:off x="8293608"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6"/>
          <p:cNvSpPr/>
          <p:nvPr/>
        </p:nvSpPr>
        <p:spPr>
          <a:xfrm>
            <a:off x="8494776"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6"/>
          <p:cNvSpPr/>
          <p:nvPr/>
        </p:nvSpPr>
        <p:spPr>
          <a:xfrm>
            <a:off x="8695944"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6"/>
          <p:cNvSpPr/>
          <p:nvPr/>
        </p:nvSpPr>
        <p:spPr>
          <a:xfrm>
            <a:off x="8897112" y="4517136"/>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6"/>
          <p:cNvSpPr/>
          <p:nvPr/>
        </p:nvSpPr>
        <p:spPr>
          <a:xfrm>
            <a:off x="8092440"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6"/>
          <p:cNvSpPr/>
          <p:nvPr/>
        </p:nvSpPr>
        <p:spPr>
          <a:xfrm>
            <a:off x="8293608"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6"/>
          <p:cNvSpPr/>
          <p:nvPr/>
        </p:nvSpPr>
        <p:spPr>
          <a:xfrm>
            <a:off x="8494776"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6"/>
          <p:cNvSpPr/>
          <p:nvPr/>
        </p:nvSpPr>
        <p:spPr>
          <a:xfrm>
            <a:off x="8695944"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6"/>
          <p:cNvSpPr/>
          <p:nvPr/>
        </p:nvSpPr>
        <p:spPr>
          <a:xfrm>
            <a:off x="8897112" y="4718304"/>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6"/>
          <p:cNvSpPr/>
          <p:nvPr/>
        </p:nvSpPr>
        <p:spPr>
          <a:xfrm>
            <a:off x="8092440"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6"/>
          <p:cNvSpPr/>
          <p:nvPr/>
        </p:nvSpPr>
        <p:spPr>
          <a:xfrm>
            <a:off x="8293608"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6"/>
          <p:cNvSpPr/>
          <p:nvPr/>
        </p:nvSpPr>
        <p:spPr>
          <a:xfrm>
            <a:off x="8494776"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6"/>
          <p:cNvSpPr/>
          <p:nvPr/>
        </p:nvSpPr>
        <p:spPr>
          <a:xfrm>
            <a:off x="8695944"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6"/>
          <p:cNvSpPr/>
          <p:nvPr/>
        </p:nvSpPr>
        <p:spPr>
          <a:xfrm>
            <a:off x="8897112" y="4919472"/>
            <a:ext cx="64008" cy="64008"/>
          </a:xfrm>
          <a:prstGeom prst="ellipse">
            <a:avLst/>
          </a:prstGeom>
          <a:solidFill>
            <a:srgbClr val="1A2B4A">
              <a:alpha val="2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6"/>
          <p:cNvSpPr/>
          <p:nvPr/>
        </p:nvSpPr>
        <p:spPr>
          <a:xfrm rot="2700000">
            <a:off x="7726680" y="3154680"/>
            <a:ext cx="1371600" cy="1371600"/>
          </a:xfrm>
          <a:prstGeom prst="rect">
            <a:avLst/>
          </a:prstGeom>
          <a:noFill/>
          <a:ln cap="flat" cmpd="sng" w="12700">
            <a:solidFill>
              <a:srgbClr val="1A2B4A">
                <a:alpha val="8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6"/>
          <p:cNvSpPr/>
          <p:nvPr/>
        </p:nvSpPr>
        <p:spPr>
          <a:xfrm rot="2700000">
            <a:off x="7898130" y="3326130"/>
            <a:ext cx="1028700" cy="1028700"/>
          </a:xfrm>
          <a:prstGeom prst="rect">
            <a:avLst/>
          </a:prstGeom>
          <a:noFill/>
          <a:ln cap="flat" cmpd="sng" w="12700">
            <a:solidFill>
              <a:srgbClr val="1A2B4A">
                <a:alpha val="7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6"/>
          <p:cNvSpPr/>
          <p:nvPr/>
        </p:nvSpPr>
        <p:spPr>
          <a:xfrm rot="2700000">
            <a:off x="8069580" y="3497580"/>
            <a:ext cx="685800" cy="685800"/>
          </a:xfrm>
          <a:prstGeom prst="rect">
            <a:avLst/>
          </a:prstGeom>
          <a:noFill/>
          <a:ln cap="flat" cmpd="sng" w="12700">
            <a:solidFill>
              <a:srgbClr val="1A2B4A">
                <a:alpha val="6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6"/>
          <p:cNvSpPr/>
          <p:nvPr/>
        </p:nvSpPr>
        <p:spPr>
          <a:xfrm rot="2700000">
            <a:off x="8241030" y="3669030"/>
            <a:ext cx="342900" cy="342900"/>
          </a:xfrm>
          <a:prstGeom prst="rect">
            <a:avLst/>
          </a:prstGeom>
          <a:noFill/>
          <a:ln cap="flat" cmpd="sng" w="12700">
            <a:solidFill>
              <a:srgbClr val="1A2B4A">
                <a:alpha val="5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6"/>
          <p:cNvSpPr/>
          <p:nvPr/>
        </p:nvSpPr>
        <p:spPr>
          <a:xfrm>
            <a:off x="457200" y="731520"/>
            <a:ext cx="822960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6400"/>
              <a:buFont typeface="Cambria"/>
              <a:buNone/>
            </a:pPr>
            <a:r>
              <a:rPr b="1" i="0" lang="en-US" sz="6400" u="none" cap="none" strike="noStrike">
                <a:solidFill>
                  <a:srgbClr val="3A8C7E"/>
                </a:solidFill>
                <a:latin typeface="Cambria"/>
                <a:ea typeface="Cambria"/>
                <a:cs typeface="Cambria"/>
                <a:sym typeface="Cambria"/>
              </a:rPr>
              <a:t>Thank You.</a:t>
            </a:r>
            <a:endParaRPr b="0" i="0" sz="6400" u="none" cap="none" strike="noStrike">
              <a:solidFill>
                <a:schemeClr val="dk1"/>
              </a:solidFill>
              <a:latin typeface="Calibri"/>
              <a:ea typeface="Calibri"/>
              <a:cs typeface="Calibri"/>
              <a:sym typeface="Calibri"/>
            </a:endParaRPr>
          </a:p>
        </p:txBody>
      </p:sp>
      <p:sp>
        <p:nvSpPr>
          <p:cNvPr id="1513" name="Google Shape;1513;p36"/>
          <p:cNvSpPr/>
          <p:nvPr/>
        </p:nvSpPr>
        <p:spPr>
          <a:xfrm>
            <a:off x="457200" y="1938528"/>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Questions are welcome.</a:t>
            </a:r>
            <a:endParaRPr b="0" i="0" sz="2000" u="none" cap="none" strike="noStrike">
              <a:solidFill>
                <a:schemeClr val="dk1"/>
              </a:solidFill>
              <a:latin typeface="Calibri"/>
              <a:ea typeface="Calibri"/>
              <a:cs typeface="Calibri"/>
              <a:sym typeface="Calibri"/>
            </a:endParaRPr>
          </a:p>
        </p:txBody>
      </p:sp>
      <p:cxnSp>
        <p:nvCxnSpPr>
          <p:cNvPr id="1514" name="Google Shape;1514;p36"/>
          <p:cNvCxnSpPr/>
          <p:nvPr/>
        </p:nvCxnSpPr>
        <p:spPr>
          <a:xfrm>
            <a:off x="2926080" y="2505456"/>
            <a:ext cx="3291840" cy="0"/>
          </a:xfrm>
          <a:prstGeom prst="straightConnector1">
            <a:avLst/>
          </a:prstGeom>
          <a:noFill/>
          <a:ln cap="flat" cmpd="sng" w="15225">
            <a:solidFill>
              <a:srgbClr val="3A8C7E"/>
            </a:solidFill>
            <a:prstDash val="solid"/>
            <a:round/>
            <a:headEnd len="sm" w="sm" type="none"/>
            <a:tailEnd len="sm" w="sm" type="none"/>
          </a:ln>
        </p:spPr>
      </p:cxnSp>
      <p:sp>
        <p:nvSpPr>
          <p:cNvPr id="1515" name="Google Shape;1515;p36"/>
          <p:cNvSpPr/>
          <p:nvPr/>
        </p:nvSpPr>
        <p:spPr>
          <a:xfrm>
            <a:off x="457200" y="2651760"/>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Shadamoro Jeremiah  ·  AUL/CMP/22/082</a:t>
            </a:r>
            <a:endParaRPr b="0" i="0" sz="1300" u="none" cap="none" strike="noStrike">
              <a:solidFill>
                <a:schemeClr val="dk1"/>
              </a:solidFill>
              <a:latin typeface="Calibri"/>
              <a:ea typeface="Calibri"/>
              <a:cs typeface="Calibri"/>
              <a:sym typeface="Calibri"/>
            </a:endParaRPr>
          </a:p>
        </p:txBody>
      </p:sp>
      <p:sp>
        <p:nvSpPr>
          <p:cNvPr id="1516" name="Google Shape;1516;p36"/>
          <p:cNvSpPr/>
          <p:nvPr/>
        </p:nvSpPr>
        <p:spPr>
          <a:xfrm>
            <a:off x="457200" y="2962656"/>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Olofu Possible Ada'inaka  ·  AUL/IFT/22/009</a:t>
            </a:r>
            <a:endParaRPr b="0" i="0" sz="1300" u="none" cap="none" strike="noStrike">
              <a:solidFill>
                <a:schemeClr val="dk1"/>
              </a:solidFill>
              <a:latin typeface="Calibri"/>
              <a:ea typeface="Calibri"/>
              <a:cs typeface="Calibri"/>
              <a:sym typeface="Calibri"/>
            </a:endParaRPr>
          </a:p>
        </p:txBody>
      </p:sp>
      <p:sp>
        <p:nvSpPr>
          <p:cNvPr id="1517" name="Google Shape;1517;p36"/>
          <p:cNvSpPr/>
          <p:nvPr/>
        </p:nvSpPr>
        <p:spPr>
          <a:xfrm>
            <a:off x="457200" y="3273552"/>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EC8"/>
              </a:buClr>
              <a:buSzPts val="1200"/>
              <a:buFont typeface="Calibri"/>
              <a:buNone/>
            </a:pPr>
            <a:r>
              <a:rPr b="0" i="0" lang="en-US" sz="1200" u="none" cap="none" strike="noStrike">
                <a:solidFill>
                  <a:srgbClr val="8BAEC8"/>
                </a:solidFill>
                <a:latin typeface="Calibri"/>
                <a:ea typeface="Calibri"/>
                <a:cs typeface="Calibri"/>
                <a:sym typeface="Calibri"/>
              </a:rPr>
              <a:t>Supervisor: Dr. Babalola Asegunloluwa</a:t>
            </a:r>
            <a:endParaRPr b="0" i="0" sz="1200" u="none" cap="none" strike="noStrike">
              <a:solidFill>
                <a:schemeClr val="dk1"/>
              </a:solidFill>
              <a:latin typeface="Calibri"/>
              <a:ea typeface="Calibri"/>
              <a:cs typeface="Calibri"/>
              <a:sym typeface="Calibri"/>
            </a:endParaRPr>
          </a:p>
        </p:txBody>
      </p:sp>
      <p:sp>
        <p:nvSpPr>
          <p:cNvPr id="1518" name="Google Shape;1518;p36"/>
          <p:cNvSpPr/>
          <p:nvPr/>
        </p:nvSpPr>
        <p:spPr>
          <a:xfrm>
            <a:off x="457200" y="3584448"/>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EC8"/>
              </a:buClr>
              <a:buSzPts val="1200"/>
              <a:buFont typeface="Calibri"/>
              <a:buNone/>
            </a:pPr>
            <a:r>
              <a:rPr b="0" i="0" lang="en-US" sz="1200" u="none" cap="none" strike="noStrike">
                <a:solidFill>
                  <a:srgbClr val="8BAEC8"/>
                </a:solidFill>
                <a:latin typeface="Calibri"/>
                <a:ea typeface="Calibri"/>
                <a:cs typeface="Calibri"/>
                <a:sym typeface="Calibri"/>
              </a:rPr>
              <a:t>Department of Computing, Faculty of Science</a:t>
            </a:r>
            <a:endParaRPr b="0" i="0" sz="1200" u="none" cap="none" strike="noStrike">
              <a:solidFill>
                <a:schemeClr val="dk1"/>
              </a:solidFill>
              <a:latin typeface="Calibri"/>
              <a:ea typeface="Calibri"/>
              <a:cs typeface="Calibri"/>
              <a:sym typeface="Calibri"/>
            </a:endParaRPr>
          </a:p>
        </p:txBody>
      </p:sp>
      <p:sp>
        <p:nvSpPr>
          <p:cNvPr id="1519" name="Google Shape;1519;p36"/>
          <p:cNvSpPr/>
          <p:nvPr/>
        </p:nvSpPr>
        <p:spPr>
          <a:xfrm>
            <a:off x="457200" y="3895344"/>
            <a:ext cx="8229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AEC8"/>
              </a:buClr>
              <a:buSzPts val="1200"/>
              <a:buFont typeface="Calibri"/>
              <a:buNone/>
            </a:pPr>
            <a:r>
              <a:rPr b="0" i="0" lang="en-US" sz="1200" u="none" cap="none" strike="noStrike">
                <a:solidFill>
                  <a:srgbClr val="8BAEC8"/>
                </a:solidFill>
                <a:latin typeface="Calibri"/>
                <a:ea typeface="Calibri"/>
                <a:cs typeface="Calibri"/>
                <a:sym typeface="Calibri"/>
              </a:rPr>
              <a:t>Anchor University Lagos  ·  June 2026</a:t>
            </a:r>
            <a:endParaRPr b="0" i="0" sz="1200" u="none" cap="none" strike="noStrike">
              <a:solidFill>
                <a:schemeClr val="dk1"/>
              </a:solidFill>
              <a:latin typeface="Calibri"/>
              <a:ea typeface="Calibri"/>
              <a:cs typeface="Calibri"/>
              <a:sym typeface="Calibri"/>
            </a:endParaRPr>
          </a:p>
        </p:txBody>
      </p:sp>
      <p:sp>
        <p:nvSpPr>
          <p:cNvPr id="1520" name="Google Shape;1520;p36"/>
          <p:cNvSpPr/>
          <p:nvPr/>
        </p:nvSpPr>
        <p:spPr>
          <a:xfrm>
            <a:off x="1371600" y="4224528"/>
            <a:ext cx="6400800" cy="658368"/>
          </a:xfrm>
          <a:prstGeom prst="rect">
            <a:avLst/>
          </a:prstGeom>
          <a:solidFill>
            <a:srgbClr val="FFFFFF"/>
          </a:solidFill>
          <a:ln cap="flat" cmpd="sng" w="9525">
            <a:solidFill>
              <a:srgbClr val="1A2B4A">
                <a:alpha val="40000"/>
              </a:srgbClr>
            </a:solidFill>
            <a:prstDash val="solid"/>
            <a:round/>
            <a:headEnd len="sm" w="sm" type="none"/>
            <a:tailEnd len="sm" w="sm" type="none"/>
          </a:ln>
          <a:effectLst>
            <a:outerShdw blurRad="101600" rotWithShape="0" algn="bl" dir="2700000" dist="381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6"/>
          <p:cNvSpPr/>
          <p:nvPr/>
        </p:nvSpPr>
        <p:spPr>
          <a:xfrm>
            <a:off x="1371600" y="4224528"/>
            <a:ext cx="6400800" cy="658368"/>
          </a:xfrm>
          <a:prstGeom prst="roundRect">
            <a:avLst>
              <a:gd fmla="val 11111" name="adj"/>
            </a:avLst>
          </a:prstGeom>
          <a:solidFill>
            <a:srgbClr val="FFFFFF">
              <a:alpha val="10196"/>
            </a:srgbClr>
          </a:solidFill>
          <a:ln cap="flat" cmpd="sng" w="12700">
            <a:solidFill>
              <a:srgbClr val="3A8C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6"/>
          <p:cNvSpPr/>
          <p:nvPr/>
        </p:nvSpPr>
        <p:spPr>
          <a:xfrm>
            <a:off x="1463040" y="4261104"/>
            <a:ext cx="6217920"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8C7E"/>
              </a:buClr>
              <a:buSzPts val="1100"/>
              <a:buFont typeface="Calibri"/>
              <a:buNone/>
            </a:pPr>
            <a:r>
              <a:rPr b="1" i="0" lang="en-US" sz="1100" u="none" cap="none" strike="noStrike">
                <a:solidFill>
                  <a:srgbClr val="3A8C7E"/>
                </a:solidFill>
                <a:latin typeface="Calibri"/>
                <a:ea typeface="Calibri"/>
                <a:cs typeface="Calibri"/>
                <a:sym typeface="Calibri"/>
              </a:rPr>
              <a:t>Key Numbers:  89.3% Top-1  ·  97.5% Top-3  ·  42-fruit database  ·  11.6 MB model  ·  ~380 ms CPU inference  ·  18/20 end-to-end correct  ·  451 ethylene conflict pairs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